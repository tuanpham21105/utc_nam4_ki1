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409" r:id="rId2"/>
    <p:sldId id="1374" r:id="rId3"/>
    <p:sldId id="1376" r:id="rId4"/>
    <p:sldId id="1421" r:id="rId5"/>
    <p:sldId id="1379" r:id="rId6"/>
    <p:sldId id="1422" r:id="rId7"/>
    <p:sldId id="1385" r:id="rId8"/>
    <p:sldId id="1386" r:id="rId9"/>
    <p:sldId id="1387" r:id="rId10"/>
    <p:sldId id="1388" r:id="rId11"/>
    <p:sldId id="1423" r:id="rId12"/>
    <p:sldId id="1389" r:id="rId13"/>
    <p:sldId id="1390" r:id="rId14"/>
    <p:sldId id="1391" r:id="rId15"/>
    <p:sldId id="1392" r:id="rId16"/>
    <p:sldId id="1394" r:id="rId17"/>
    <p:sldId id="1395" r:id="rId18"/>
    <p:sldId id="1397" r:id="rId19"/>
    <p:sldId id="1424" r:id="rId20"/>
    <p:sldId id="1420" r:id="rId21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57" autoAdjust="0"/>
  </p:normalViewPr>
  <p:slideViewPr>
    <p:cSldViewPr snapToGrid="0">
      <p:cViewPr varScale="1">
        <p:scale>
          <a:sx n="106" d="100"/>
          <a:sy n="106" d="100"/>
        </p:scale>
        <p:origin x="104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12/30/2022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37845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9AD48F-6A84-425B-91DC-38359CC00E39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308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DB77E0-0643-4731-BF9E-5D4CE6D72A36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98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26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2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96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FC057C-AF1A-4F7A-A0A5-2AF4A7517F0A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80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59C54B-666E-4D5A-A8B4-A3041C8566A3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55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FFD99C-DDEE-4B5A-8CD6-61A839F9CCB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69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23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95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302E7B5-A053-4E86-8336-78E4DA609877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79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14925EE-85E7-4873-88F9-121B04E0F4ED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833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B231649-8B12-4510-A1CB-E5890EF148EC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27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AF883FF-2F58-4107-BEA6-5C2298E1F95A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75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4D377C-1700-4A4E-905A-4A8C020F95F9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39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037545-7FB3-4A1F-AEEC-458772C76451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Add a definition/description of “traditional data analysis”.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381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2696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9126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AE2494-E246-464F-AA19-05B4B0487F8D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6128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What Is Data Mining?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Mining: An Essential Step in Knowledge Discovery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Diversity of Data Types for Data Mining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Mining Various Kinds of Knowledge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Mining: Confluence of Multiple Disciplines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Applications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Society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Summary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67040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0039"/>
            <a:ext cx="12192000" cy="619125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What Is Data Mining?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1241969"/>
            <a:ext cx="11132746" cy="521297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sz="2400" b="0" i="0" u="none" strike="noStrike" baseline="0" dirty="0"/>
              <a:t>We live in a world where vast amounts of data are generated constantly and rapidly</a:t>
            </a:r>
          </a:p>
          <a:p>
            <a:pPr algn="l"/>
            <a:r>
              <a:rPr lang="en-US" sz="2400" b="1" u="none" strike="noStrike" baseline="0" dirty="0"/>
              <a:t>Data mining </a:t>
            </a:r>
            <a:r>
              <a:rPr lang="en-US" sz="2400" b="0" u="none" strike="noStrike" baseline="0" dirty="0"/>
              <a:t>is the process of discovering interesting patterns, models and other kinds of knowledge in large data sets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“Data mining”: a misnomer? It should be </a:t>
            </a:r>
            <a:r>
              <a:rPr lang="en-US" sz="2400" b="0" i="0" u="none" strike="noStrike" baseline="0" dirty="0"/>
              <a:t>“knowledge mining from data”</a:t>
            </a:r>
          </a:p>
          <a:p>
            <a:pPr lvl="1"/>
            <a:r>
              <a:rPr lang="en-US" altLang="en-US" sz="2400" dirty="0"/>
              <a:t>Other terms: </a:t>
            </a:r>
            <a:r>
              <a:rPr lang="en-US" sz="2400" b="0" i="1" u="none" strike="noStrike" baseline="0" dirty="0"/>
              <a:t>Knowledge</a:t>
            </a:r>
            <a:r>
              <a:rPr lang="en-US" sz="2400" i="1" dirty="0"/>
              <a:t> </a:t>
            </a:r>
            <a:r>
              <a:rPr lang="en-US" sz="2400" b="0" i="1" u="none" strike="noStrike" baseline="0" dirty="0"/>
              <a:t>mining from data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KDD </a:t>
            </a:r>
            <a:r>
              <a:rPr lang="en-US" sz="2400" b="0" u="none" strike="noStrike" baseline="0" dirty="0"/>
              <a:t>(</a:t>
            </a:r>
            <a:r>
              <a:rPr lang="en-US" sz="2400" b="0" i="1" u="none" strike="noStrike" baseline="0" dirty="0"/>
              <a:t>Knowledge Discovery from Data</a:t>
            </a:r>
            <a:r>
              <a:rPr lang="en-US" sz="2400" b="0" u="none" strike="noStrike" baseline="0" dirty="0"/>
              <a:t>)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pattern discovery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knowledge extraction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data analytics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information harvesting</a:t>
            </a:r>
            <a:r>
              <a:rPr lang="en-US" sz="2400" b="0" i="0" u="none" strike="noStrike" baseline="0" dirty="0"/>
              <a:t> 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sz="2400" b="0" i="0" u="none" strike="noStrike" baseline="0" dirty="0"/>
              <a:t>Data mining is a young, dynamic, and promising field</a:t>
            </a:r>
            <a:endParaRPr lang="en-GB" altLang="en-US" sz="2400" dirty="0"/>
          </a:p>
          <a:p>
            <a:pPr algn="l"/>
            <a:r>
              <a:rPr lang="en-US" altLang="en-US" sz="2400" dirty="0"/>
              <a:t>Example: </a:t>
            </a:r>
            <a:r>
              <a:rPr lang="en-US" sz="2400" i="0" u="none" strike="noStrike" baseline="0" dirty="0">
                <a:solidFill>
                  <a:srgbClr val="000000"/>
                </a:solidFill>
              </a:rPr>
              <a:t>Data mining turns a large collection of data into knowledge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</a:rPr>
              <a:t>Google’s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Flu Trends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found a close relationship between the number of people who search for flu-related info. and the number of people who have flu symptoms</a:t>
            </a:r>
          </a:p>
          <a:p>
            <a:pPr lvl="2"/>
            <a:r>
              <a:rPr lang="en-US" sz="2400" b="0" u="none" strike="noStrike" baseline="0" dirty="0">
                <a:solidFill>
                  <a:srgbClr val="000000"/>
                </a:solidFill>
              </a:rPr>
              <a:t>It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can estimate flu activity up to two weeks faster than traditional systems 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73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C9553-2A0F-AA2E-9E9A-CA15509D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0" y="1206690"/>
            <a:ext cx="8981039" cy="5330051"/>
          </a:xfrm>
          <a:prstGeom prst="rect">
            <a:avLst/>
          </a:prstGeom>
        </p:spPr>
      </p:pic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/>
              <a:t>Data Mining: An Essential Step in Knowledge Discovery</a:t>
            </a:r>
            <a:endParaRPr lang="en-US" altLang="en-US" sz="36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8458" y="2009747"/>
            <a:ext cx="4476438" cy="46265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Knowledge Discovery Process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preparation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cleaning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integration 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transformation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selection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mining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Pattern/model evaluation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Knowledge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4712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885" y="1118104"/>
            <a:ext cx="11087390" cy="5703683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Structured vs. unstructured data</a:t>
            </a:r>
          </a:p>
          <a:p>
            <a:pPr lvl="1"/>
            <a:r>
              <a:rPr lang="en-US" sz="2200" i="1" u="none" strike="noStrike" baseline="0" dirty="0"/>
              <a:t>Structured</a:t>
            </a:r>
            <a:r>
              <a:rPr lang="en-US" sz="2200" i="0" u="none" strike="noStrike" baseline="0" dirty="0"/>
              <a:t>: </a:t>
            </a:r>
            <a:r>
              <a:rPr lang="en-US" sz="2200" b="0" i="0" u="none" strike="noStrike" baseline="0" dirty="0"/>
              <a:t>uniform, record- or table-like structures, defined by data dictionaries, with a fixed set of attributes, each with a fixed set of value ranges and semantic meaning</a:t>
            </a:r>
          </a:p>
          <a:p>
            <a:pPr lvl="2"/>
            <a:r>
              <a:rPr lang="en-US" sz="2200" b="0" i="0" u="none" strike="noStrike" baseline="0" dirty="0"/>
              <a:t>Ex. Data stored in </a:t>
            </a:r>
            <a:r>
              <a:rPr lang="en-US" sz="2200" b="0" i="1" u="none" strike="noStrike" baseline="0" dirty="0"/>
              <a:t>relational databases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cubes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matrices</a:t>
            </a:r>
            <a:r>
              <a:rPr lang="en-US" sz="2200" b="0" i="0" u="none" strike="noStrike" baseline="0" dirty="0"/>
              <a:t>, and many </a:t>
            </a:r>
            <a:r>
              <a:rPr lang="en-US" sz="2200" b="0" i="1" u="none" strike="noStrike" baseline="0" dirty="0"/>
              <a:t>data warehouses</a:t>
            </a:r>
            <a:r>
              <a:rPr lang="en-US" sz="2200" b="0" i="0" u="none" strike="noStrike" baseline="0" dirty="0"/>
              <a:t> </a:t>
            </a:r>
          </a:p>
          <a:p>
            <a:pPr lvl="1"/>
            <a:r>
              <a:rPr lang="en-US" sz="2200" b="0" i="1" u="none" strike="noStrike" baseline="0" dirty="0"/>
              <a:t>Semi-structured</a:t>
            </a:r>
            <a:r>
              <a:rPr lang="en-US" sz="2200" b="0" i="0" u="none" strike="noStrike" baseline="0" dirty="0"/>
              <a:t>: allow</a:t>
            </a:r>
            <a:r>
              <a:rPr lang="en-US" sz="2200" dirty="0"/>
              <a:t> </a:t>
            </a:r>
            <a:r>
              <a:rPr lang="en-US" sz="2200" b="0" i="0" u="none" strike="noStrike" baseline="0" dirty="0"/>
              <a:t>a data object to contain a set value, a small set of heterogeneous typed values, or nested structures, or to allow the structure of objects or sub-objects to be defined flexibly and dynamically  </a:t>
            </a:r>
          </a:p>
          <a:p>
            <a:pPr lvl="1"/>
            <a:r>
              <a:rPr lang="en-US" sz="2200" b="0" i="0" u="none" strike="noStrike" baseline="0" dirty="0"/>
              <a:t>Data having </a:t>
            </a:r>
            <a:r>
              <a:rPr lang="en-US" sz="2200" b="0" i="1" u="none" strike="noStrike" baseline="0" dirty="0"/>
              <a:t>certain structures </a:t>
            </a:r>
            <a:r>
              <a:rPr lang="en-US" sz="2200" b="0" i="0" u="none" strike="noStrike" baseline="0" dirty="0"/>
              <a:t>with clearly defined semantic meaning, such as </a:t>
            </a:r>
            <a:r>
              <a:rPr lang="en-US" sz="2200" b="0" i="1" u="none" strike="noStrike" baseline="0" dirty="0"/>
              <a:t>transactional data set, sequence data set </a:t>
            </a:r>
            <a:r>
              <a:rPr lang="en-US" sz="2200" b="0" i="0" u="none" strike="noStrike" baseline="0" dirty="0"/>
              <a:t>(e.g., time-series data, gene or protein data, or Weblog data)</a:t>
            </a:r>
          </a:p>
          <a:p>
            <a:pPr lvl="1"/>
            <a:r>
              <a:rPr lang="en-US" sz="2200" b="0" i="1" u="none" strike="noStrike" baseline="0" dirty="0"/>
              <a:t>Graph or network data:  </a:t>
            </a:r>
            <a:r>
              <a:rPr lang="en-US" sz="2200" b="0" i="0" u="none" strike="noStrike" baseline="0" dirty="0"/>
              <a:t>A more sophisticated type of semi-structured data set</a:t>
            </a:r>
            <a:endParaRPr lang="en-US" sz="2200" b="0" i="1" u="none" strike="noStrike" baseline="0" dirty="0"/>
          </a:p>
          <a:p>
            <a:pPr lvl="1"/>
            <a:r>
              <a:rPr lang="en-US" sz="2200" b="0" i="1" u="none" strike="noStrike" baseline="0" dirty="0"/>
              <a:t>Unstructured data</a:t>
            </a:r>
            <a:r>
              <a:rPr lang="en-US" sz="2200" b="0" i="0" u="none" strike="noStrike" baseline="0" dirty="0"/>
              <a:t>: text data and multimedia (</a:t>
            </a:r>
            <a:r>
              <a:rPr lang="en-US" sz="2200" b="0" i="1" u="none" strike="noStrike" baseline="0" dirty="0"/>
              <a:t>e.g.</a:t>
            </a:r>
            <a:r>
              <a:rPr lang="en-US" sz="2200" b="0" i="0" u="none" strike="noStrike" baseline="0" dirty="0"/>
              <a:t>, audio, image, video) data</a:t>
            </a:r>
          </a:p>
          <a:p>
            <a:pPr algn="l"/>
            <a:r>
              <a:rPr lang="en-US" sz="2200" b="0" i="0" u="none" strike="noStrike" baseline="0" dirty="0"/>
              <a:t>The real-world data can often be a mixture of structured, semi-structured data and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36684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985" y="1140737"/>
            <a:ext cx="11247063" cy="549558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Data associated with different applications</a:t>
            </a:r>
          </a:p>
          <a:p>
            <a:pPr lvl="1"/>
            <a:r>
              <a:rPr lang="en-US" sz="2200" b="0" i="0" u="none" strike="noStrike" baseline="0" dirty="0"/>
              <a:t>Different applications: different data sets and require different data analysis methods</a:t>
            </a:r>
          </a:p>
          <a:p>
            <a:pPr lvl="2"/>
            <a:r>
              <a:rPr lang="en-US" sz="2200" b="0" i="0" u="none" strike="noStrike" baseline="0" dirty="0"/>
              <a:t>Sequence data:</a:t>
            </a:r>
            <a:r>
              <a:rPr lang="en-US" sz="2200" dirty="0"/>
              <a:t> </a:t>
            </a:r>
            <a:r>
              <a:rPr lang="en-US" sz="2200" b="0" i="1" u="none" strike="noStrike" baseline="0" dirty="0"/>
              <a:t>Biological sequences</a:t>
            </a:r>
            <a:r>
              <a:rPr lang="en-US" sz="2200" b="0" i="0" u="none" strike="noStrike" baseline="0" dirty="0"/>
              <a:t> vs. </a:t>
            </a:r>
            <a:r>
              <a:rPr lang="en-US" sz="2200" b="0" i="1" u="none" strike="noStrike" baseline="0" dirty="0"/>
              <a:t>shopping transaction sequences</a:t>
            </a:r>
          </a:p>
          <a:p>
            <a:pPr lvl="2"/>
            <a:r>
              <a:rPr lang="en-US" sz="2200" b="0" i="1" u="none" strike="noStrike" baseline="0" dirty="0"/>
              <a:t>Time-series: </a:t>
            </a:r>
            <a:r>
              <a:rPr lang="en-US" sz="2200" b="0" i="0" u="none" strike="noStrike" baseline="0" dirty="0"/>
              <a:t>ordered set of numerical values with equal time interval</a:t>
            </a:r>
          </a:p>
          <a:p>
            <a:pPr lvl="2"/>
            <a:r>
              <a:rPr lang="en-US" sz="2200" b="0" i="1" u="none" strike="noStrike" baseline="0" dirty="0"/>
              <a:t>Spatial, temporal and spatiotemporal data</a:t>
            </a:r>
          </a:p>
          <a:p>
            <a:pPr lvl="2"/>
            <a:r>
              <a:rPr lang="en-US" sz="2200" dirty="0"/>
              <a:t>G</a:t>
            </a:r>
            <a:r>
              <a:rPr lang="en-US" sz="2200" b="0" i="0" u="none" strike="noStrike" baseline="0" dirty="0"/>
              <a:t>raph and network data: Social networks, computer communication networks, biological networks, and information networks may carry rather different semantics</a:t>
            </a:r>
          </a:p>
          <a:p>
            <a:pPr lvl="1"/>
            <a:r>
              <a:rPr lang="en-US" sz="2200" b="0" i="0" u="none" strike="noStrike" baseline="0" dirty="0"/>
              <a:t>On the same data set, finding different kinds of patterns: require different mining methods</a:t>
            </a:r>
          </a:p>
          <a:p>
            <a:pPr lvl="2"/>
            <a:r>
              <a:rPr lang="en-US" sz="2200" dirty="0"/>
              <a:t>Ex. </a:t>
            </a:r>
            <a:r>
              <a:rPr lang="en-US" sz="2200" b="0" i="0" u="none" strike="noStrike" baseline="0" dirty="0"/>
              <a:t>software programs:  finding plagiarized modules vs. finding copy-and-paste bugs</a:t>
            </a:r>
          </a:p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Stored vs. streaming data</a:t>
            </a:r>
          </a:p>
          <a:p>
            <a:pPr lvl="1"/>
            <a:r>
              <a:rPr lang="en-US" sz="2200" dirty="0"/>
              <a:t>S</a:t>
            </a:r>
            <a:r>
              <a:rPr lang="en-US" sz="2200" b="0" i="0" u="none" strike="noStrike" baseline="0" dirty="0"/>
              <a:t>tored data: Finite, stored in various kinds of large data repositories</a:t>
            </a:r>
          </a:p>
          <a:p>
            <a:pPr lvl="1"/>
            <a:r>
              <a:rPr lang="en-US" sz="2200" dirty="0"/>
              <a:t>Streaming data (e.g., </a:t>
            </a:r>
            <a:r>
              <a:rPr lang="en-US" sz="2200" b="0" i="0" u="none" strike="noStrike" baseline="0" dirty="0"/>
              <a:t>video surveillance or remote sensing): Dynamic, constantly coming, infinite</a:t>
            </a:r>
            <a:r>
              <a:rPr lang="en-US" sz="2200" b="0" u="none" strike="noStrike" baseline="0" dirty="0"/>
              <a:t>, real-time response</a:t>
            </a:r>
            <a:r>
              <a:rPr lang="en-US" sz="2200" b="0" u="none" strike="noStrike" baseline="0" dirty="0">
                <a:cs typeface="Calibri" panose="020F0502020204030204" pitchFamily="34" charset="0"/>
              </a:rPr>
              <a:t>―posing challenges on effective data mining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7949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sz="4000" b="1" i="0" u="none" strike="noStrike" baseline="0" dirty="0"/>
              <a:t>Mining Various Kinds of Knowledge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475" y="1140737"/>
            <a:ext cx="11009573" cy="5495587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Multidimensional Data Summarization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Mining Frequent Patterns, Associations, and Correlations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Classification and Regression for Predictive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Cluster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Deep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Outlier Analysis</a:t>
            </a:r>
            <a:endParaRPr lang="en-US" sz="2400" b="1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Are All Mining Results Interesting?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3473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63388" y="142874"/>
            <a:ext cx="10865223" cy="712692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Multidimensional Data Summarization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2353" y="1295400"/>
            <a:ext cx="7826188" cy="5230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Information integration and data warehouse construction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Data cleaning, transformation, integration, and multidimensional data model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Data cube technology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Scalable methods for computing (i.e., materializing) multidimensional aggregates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OLAP (online analytical processing)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Multidimensional concept description: Characterization and discrimination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Generalize, summarize, and contrast data characteristics, e.g., dry vs. wet region</a:t>
            </a:r>
          </a:p>
        </p:txBody>
      </p:sp>
      <p:pic>
        <p:nvPicPr>
          <p:cNvPr id="5126" name="Picture 6" descr="http://www.aussurveys.com.au/wp-content/uploads/2013/09/img-cube-graph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69" y="1843927"/>
            <a:ext cx="52387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93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rrelation 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01" y="2358982"/>
            <a:ext cx="6872694" cy="2341741"/>
          </a:xfrm>
          <a:prstGeom prst="rect">
            <a:avLst/>
          </a:prstGeom>
          <a:ln w="12700">
            <a:miter lim="400000"/>
          </a:ln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6994"/>
            <a:ext cx="12192000" cy="615635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Pattern Discovery: </a:t>
            </a:r>
            <a:r>
              <a:rPr lang="en-US" sz="4400" b="1" i="0" u="none" strike="noStrike" baseline="0" dirty="0"/>
              <a:t>Mining Frequent Patterns, Associations, and Correlations</a:t>
            </a:r>
            <a:br>
              <a:rPr lang="en-US" sz="4400" b="1" i="0" u="none" strike="noStrike" baseline="0" dirty="0"/>
            </a:br>
            <a:endParaRPr lang="en-US" altLang="en-US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528" y="1214719"/>
            <a:ext cx="10775577" cy="163605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Frequent patterns (or frequent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/>
              <a:t>What items are frequently purchased together in your Walmart?</a:t>
            </a:r>
          </a:p>
          <a:p>
            <a:r>
              <a:rPr lang="en-US" altLang="en-US" sz="2400" dirty="0"/>
              <a:t>Association and Correlation Analysis </a:t>
            </a:r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7529" y="4459941"/>
            <a:ext cx="10650072" cy="216497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typical association rule</a:t>
            </a:r>
          </a:p>
          <a:p>
            <a:pPr lvl="2"/>
            <a:r>
              <a:rPr lang="en-US" altLang="en-US" sz="2400" dirty="0"/>
              <a:t>Diaper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dirty="0"/>
              <a:t> Beer [0.5%, 75%]  (support, confidence)</a:t>
            </a:r>
          </a:p>
          <a:p>
            <a:pPr lvl="1"/>
            <a:r>
              <a:rPr lang="en-US" altLang="en-US" sz="2400" dirty="0"/>
              <a:t>Are strongly associated items also strongly correlated?</a:t>
            </a:r>
          </a:p>
          <a:p>
            <a:r>
              <a:rPr lang="en-US" altLang="en-US" sz="2400" dirty="0"/>
              <a:t>How to mine such patterns and rules efficiently in large datasets?</a:t>
            </a:r>
          </a:p>
          <a:p>
            <a:r>
              <a:rPr lang="en-US" altLang="en-US" sz="2400" dirty="0"/>
              <a:t>How to use such patterns for classification, clustering, and other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6128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80726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000" b="1" i="0" u="none" strike="noStrike" baseline="0" dirty="0"/>
              <a:t>Classification and Regression for Predictive Analysis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564" y="1201270"/>
            <a:ext cx="10972801" cy="535192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Classification and label prediction  </a:t>
            </a:r>
          </a:p>
          <a:p>
            <a:pPr lvl="1" eaLnBrk="1" hangingPunct="1"/>
            <a:r>
              <a:rPr lang="en-US" altLang="en-US" sz="2400" dirty="0"/>
              <a:t>Construct models (functions) based on some training examples</a:t>
            </a:r>
          </a:p>
          <a:p>
            <a:pPr lvl="1" eaLnBrk="1" hangingPunct="1"/>
            <a:r>
              <a:rPr lang="en-US" altLang="en-US" sz="2400" dirty="0"/>
              <a:t>Describe and distinguish classes or concepts for future prediction</a:t>
            </a:r>
          </a:p>
          <a:p>
            <a:pPr lvl="2" eaLnBrk="1" hangingPunct="1"/>
            <a:r>
              <a:rPr lang="en-US" altLang="en-US" sz="2400" dirty="0"/>
              <a:t>Ex. 1. Classify countries based on (climate)</a:t>
            </a:r>
          </a:p>
          <a:p>
            <a:pPr lvl="2" eaLnBrk="1" hangingPunct="1"/>
            <a:r>
              <a:rPr lang="en-US" altLang="en-US" sz="2400" dirty="0"/>
              <a:t>Ex. 2. Classify cars based on (gas mileage)</a:t>
            </a:r>
          </a:p>
          <a:p>
            <a:pPr lvl="1" eaLnBrk="1" hangingPunct="1"/>
            <a:r>
              <a:rPr lang="en-US" altLang="en-US" sz="2400" dirty="0"/>
              <a:t>Predict some unknown class labels</a:t>
            </a:r>
          </a:p>
          <a:p>
            <a:pPr eaLnBrk="1" hangingPunct="1"/>
            <a:r>
              <a:rPr lang="en-US" altLang="en-US" sz="2400" dirty="0"/>
              <a:t>Typical methods</a:t>
            </a:r>
          </a:p>
          <a:p>
            <a:pPr lvl="1" eaLnBrk="1" hangingPunct="1"/>
            <a:r>
              <a:rPr lang="en-US" altLang="en-US" sz="2400" dirty="0"/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/>
            <a:r>
              <a:rPr lang="en-US" altLang="en-US" sz="2400" dirty="0"/>
              <a:t>Typical applications:</a:t>
            </a:r>
          </a:p>
          <a:p>
            <a:pPr lvl="1" eaLnBrk="1" hangingPunct="1"/>
            <a:r>
              <a:rPr lang="en-US" altLang="en-US" sz="2400" dirty="0"/>
              <a:t>Credit card fraud detection, direct marketing, classifying stars, diseases,  web-pages, …</a:t>
            </a:r>
          </a:p>
        </p:txBody>
      </p:sp>
      <p:pic>
        <p:nvPicPr>
          <p:cNvPr id="6146" name="Picture 2" descr="https://upload.wikimedia.org/wikipedia/commons/thumb/6/65/Binary-classification-labeled.svg/220px-Binary-classification-label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124" y="156798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0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Cluster Analysis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706" y="1295400"/>
            <a:ext cx="6051176" cy="4442012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Unsupervised learning (i.e., Class label is unknown)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Group data to form new categories (i.e., clusters), e.g., cluster houses to find distribution patterns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Principle: Maximizing intra-class similarity &amp; minimizing interclass similarity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Many methods and applications</a:t>
            </a:r>
          </a:p>
        </p:txBody>
      </p:sp>
      <p:pic>
        <p:nvPicPr>
          <p:cNvPr id="4" name="pasted-image.tiff"/>
          <p:cNvPicPr>
            <a:picLocks noChangeAspect="1"/>
          </p:cNvPicPr>
          <p:nvPr/>
        </p:nvPicPr>
        <p:blipFill>
          <a:blip r:embed="rId3"/>
          <a:srcRect l="5639" t="5639" r="5639" b="5639"/>
          <a:stretch>
            <a:fillRect/>
          </a:stretch>
        </p:blipFill>
        <p:spPr>
          <a:xfrm>
            <a:off x="6388686" y="1230218"/>
            <a:ext cx="5168901" cy="38766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006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Deep Learning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975" y="1213918"/>
            <a:ext cx="11060050" cy="52578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300"/>
              </a:spcAft>
            </a:pPr>
            <a:r>
              <a:rPr lang="en-US" sz="2400" b="0" i="0" u="none" strike="noStrike" baseline="0" dirty="0"/>
              <a:t>Deep learning: A fast expanding dynamic frontier in machine learning </a:t>
            </a:r>
          </a:p>
          <a:p>
            <a:pPr eaLnBrk="1" hangingPunct="1">
              <a:spcAft>
                <a:spcPts val="300"/>
              </a:spcAft>
            </a:pPr>
            <a:r>
              <a:rPr lang="en-US" sz="2400" b="0" u="none" strike="noStrike" baseline="0" dirty="0"/>
              <a:t>Deep learning has developed various </a:t>
            </a:r>
            <a:r>
              <a:rPr lang="en-US" sz="2400" b="0" i="1" u="none" strike="noStrike" baseline="0" dirty="0"/>
              <a:t>neural network architectures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Feed-forward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Convolutional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Recurrent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Graph neural networks</a:t>
            </a:r>
          </a:p>
          <a:p>
            <a:pPr lvl="1">
              <a:spcAft>
                <a:spcPts val="300"/>
              </a:spcAft>
            </a:pPr>
            <a:r>
              <a:rPr lang="en-US" sz="2400" dirty="0"/>
              <a:t>Transformer</a:t>
            </a:r>
          </a:p>
          <a:p>
            <a:pPr algn="l">
              <a:spcAft>
                <a:spcPts val="300"/>
              </a:spcAft>
            </a:pPr>
            <a:r>
              <a:rPr lang="en-US" sz="2400" b="0" i="0" u="none" strike="noStrike" baseline="0" dirty="0"/>
              <a:t>Deep learning has broad applications in computer vision, natural language processing, machine translation, social network analysis, and so on</a:t>
            </a:r>
          </a:p>
          <a:p>
            <a:pPr algn="l">
              <a:spcAft>
                <a:spcPts val="300"/>
              </a:spcAft>
            </a:pPr>
            <a:r>
              <a:rPr lang="en-US" sz="2400" dirty="0"/>
              <a:t>Deep learning </a:t>
            </a:r>
            <a:r>
              <a:rPr lang="en-US" sz="2400" b="0" i="0" u="none" strike="noStrike" baseline="0" dirty="0"/>
              <a:t>has been reshaping a variety of data mining tasks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Ex. classification, clustering, outlier detection, and reinforcement learning</a:t>
            </a:r>
            <a:endParaRPr lang="en-US" altLang="en-US" sz="2400" dirty="0"/>
          </a:p>
        </p:txBody>
      </p:sp>
      <p:pic>
        <p:nvPicPr>
          <p:cNvPr id="4098" name="Picture 2" descr="Demystifying deep learning – TechTalks">
            <a:extLst>
              <a:ext uri="{FF2B5EF4-FFF2-40B4-BE49-F238E27FC236}">
                <a16:creationId xmlns:a16="http://schemas.microsoft.com/office/drawing/2014/main" id="{02177DCF-9FD0-4BFC-414F-5FAA1F5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70" y="2163780"/>
            <a:ext cx="3911097" cy="219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0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https://www.mathworks.com/matlabcentral/mlc-downloads/downloads/submissions/34795/versions/7/screensh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270" y="4269457"/>
            <a:ext cx="3343755" cy="250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photos1.blogger.com/x/blogger/5682/4111/1600/485624/Multivariate%20Outlier%20Examp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424" y="4018760"/>
            <a:ext cx="4991580" cy="275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46847" y="304800"/>
            <a:ext cx="11080377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Outlier Analysis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847" y="1195295"/>
            <a:ext cx="8308602" cy="3706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Outlier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Outlier: A data object that does not comply with the general behavior of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Noise or exception?</a:t>
            </a:r>
            <a:r>
              <a:rPr lang="en-US" altLang="en-US" sz="2400" dirty="0">
                <a:cs typeface="Tahoma" panose="020B0604030504040204" pitchFamily="34" charset="0"/>
              </a:rPr>
              <a:t>―One person’s garbage could be another person’s treasure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Methods: by product of clustering or regression analysis, 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Useful in fraud detection, rare events analysis</a:t>
            </a:r>
          </a:p>
        </p:txBody>
      </p:sp>
      <p:pic>
        <p:nvPicPr>
          <p:cNvPr id="8194" name="Picture 2" descr="Image result for outlier analys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60" y="1195295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9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planopedia.com/wp-content/uploads/2014/10/trend-analysi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552" y="1198537"/>
            <a:ext cx="3594053" cy="26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9144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r>
              <a:rPr lang="en-US" altLang="en-US" sz="4000" b="1" dirty="0"/>
              <a:t>Other Data Mining Functions: Time and Ordering: Sequential Pattern, Trend and Evolution Analysis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775" y="1362634"/>
            <a:ext cx="8884026" cy="5163671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Sequence, trend and evolution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Trend, time-series, and deviation analysis</a:t>
            </a:r>
          </a:p>
          <a:p>
            <a:pPr lvl="2"/>
            <a:r>
              <a:rPr lang="en-US" altLang="en-US" sz="2400" dirty="0"/>
              <a:t>e.g., regression and value prediction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Sequential pattern mining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buy digital camera, then buy </a:t>
            </a:r>
            <a:r>
              <a:rPr lang="en-US" altLang="en-US" sz="2400" dirty="0">
                <a:sym typeface="Wingdings" panose="05000000000000000000" pitchFamily="2" charset="2"/>
              </a:rPr>
              <a:t>large memory cards</a:t>
            </a:r>
            <a:endParaRPr lang="en-US" altLang="en-US" sz="2400" dirty="0"/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Periodicity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Motifs and biological sequence analysis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Approximate and consecutive motifs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Similarity-based analysis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Mining data streams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Ordered, time-varying, potentially infinite, data streams</a:t>
            </a:r>
          </a:p>
        </p:txBody>
      </p:sp>
      <p:pic>
        <p:nvPicPr>
          <p:cNvPr id="5" name="time series.png"/>
          <p:cNvPicPr>
            <a:picLocks noChangeAspect="1"/>
          </p:cNvPicPr>
          <p:nvPr/>
        </p:nvPicPr>
        <p:blipFill>
          <a:blip r:embed="rId4"/>
          <a:srcRect l="5041"/>
          <a:stretch>
            <a:fillRect/>
          </a:stretch>
        </p:blipFill>
        <p:spPr>
          <a:xfrm>
            <a:off x="8470528" y="3916034"/>
            <a:ext cx="2860860" cy="27743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181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email-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98" y="1253141"/>
            <a:ext cx="4042611" cy="38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91671" y="152400"/>
            <a:ext cx="10936941" cy="9144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Other Data Mining Functions: Structure and Network Analysis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6506" y="1066800"/>
            <a:ext cx="10950388" cy="569258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Graph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Finding frequent subgraphs (e.g., chemical compounds), trees (XML), substructures (web fragments)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Information network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Social networks: actors (objects, nodes) and relationships (edges)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author networks in CS, terrorist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Multiple heterogeneous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 person could be multiple information networks: friends, family, classmates, …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Links carry a lot of semantic information: Link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Web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Web is a big information network: from PageRank to Google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Analysis of Web information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Web community discovery, opinion mining, usage mining, …</a:t>
            </a:r>
          </a:p>
        </p:txBody>
      </p:sp>
    </p:spTree>
    <p:extLst>
      <p:ext uri="{BB962C8B-B14F-4D97-AF65-F5344CB8AC3E}">
        <p14:creationId xmlns:p14="http://schemas.microsoft.com/office/powerpoint/2010/main" val="940126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Evaluation of Knowledge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045" y="1143000"/>
            <a:ext cx="10874855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Are all mined knowledge interesting?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One can mine tremendous amount of “patterns” 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fit only certain dimension space (time, location, …)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not be representative, may be transient, …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Evaluation of mined knowledge </a:t>
            </a:r>
            <a:r>
              <a:rPr lang="en-US" altLang="en-US" sz="2400" dirty="0">
                <a:cs typeface="Arial" panose="020B0604020202020204" pitchFamily="34" charset="0"/>
              </a:rPr>
              <a:t>→ directly mining only interesting knowledge?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Descriptive vs. predictive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Coverage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Typicality vs. novelty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Timeliness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…</a:t>
            </a:r>
          </a:p>
        </p:txBody>
      </p:sp>
      <p:pic>
        <p:nvPicPr>
          <p:cNvPr id="10242" name="Picture 2" descr="http://ieg.worldbankgroup.org/Data/knowledge_bann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53" y="4117397"/>
            <a:ext cx="46291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4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18" y="266700"/>
            <a:ext cx="11591364" cy="762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Data Mining: Confluence of Multiple Disciplines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D8C16-FDF1-8962-8B06-F99A34BA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3" y="1417281"/>
            <a:ext cx="10523539" cy="49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36495" y="304799"/>
            <a:ext cx="10981764" cy="77993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b="1" dirty="0"/>
              <a:t>Why Confluence of Multiple Disciplines?</a:t>
            </a:r>
            <a:endParaRPr lang="en-US" altLang="en-US" b="1" u="sng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495" y="1295400"/>
            <a:ext cx="10892117" cy="5181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Tremendous amount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Algorithms must be scalable to handle big data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High-dimensionality of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Micro-array may have tens of thousands of dimensions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 complexity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Data streams and sensor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Time-series data, temporal data, sequence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Structure data, graphs, social and information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Spatial, spatiotemporal, multimedia, text and Web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Software programs, scientific simulations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New and sophisticated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5532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Applications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308847"/>
            <a:ext cx="1111583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Web page analysis: classification, clustering, ranking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Collaborative analysis &amp; recommender systems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Basket data analysis to targeted marketing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Biological and medical data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software engineering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text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social and information network analysis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Built-in (invisible data mining) functions in Google, Microsoft, LinkedIn, Meta, …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Major dedicated data mining systems/tools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SAS, MS SQL-Server Analysis Manager, Oracle Data Mining Tools)</a:t>
            </a:r>
          </a:p>
        </p:txBody>
      </p:sp>
      <p:pic>
        <p:nvPicPr>
          <p:cNvPr id="4098" name="Picture 2" descr="http://www.aia.es/wp-content/uploads/2012/09/recommendation_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429" y="1308847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207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Society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200205"/>
            <a:ext cx="10983318" cy="53454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Data mining technology may benefit society</a:t>
            </a:r>
          </a:p>
          <a:p>
            <a:pPr lvl="1">
              <a:lnSpc>
                <a:spcPct val="120000"/>
              </a:lnSpc>
            </a:pPr>
            <a:r>
              <a:rPr lang="en-US" sz="2400" b="0" i="0" u="none" strike="noStrike" baseline="0" dirty="0"/>
              <a:t>Ex.: Help scientific discovery, business management, economy recovery, and security protection (</a:t>
            </a:r>
            <a:r>
              <a:rPr lang="en-US" sz="2400" b="0" i="1" u="none" strike="noStrike" baseline="0" dirty="0"/>
              <a:t>e.g.</a:t>
            </a:r>
            <a:r>
              <a:rPr lang="en-US" sz="2400" b="0" i="0" u="none" strike="noStrike" baseline="0" dirty="0"/>
              <a:t>, the real-time discovery of intruders and cyberattacks)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Need to guard against the misuse of data mining </a:t>
            </a:r>
          </a:p>
          <a:p>
            <a:pPr lvl="1"/>
            <a:r>
              <a:rPr lang="en-US" sz="2400" b="0" i="0" u="none" strike="noStrike" baseline="0" dirty="0"/>
              <a:t>Data mining also poses the risk of unintentionally disclosing some confidential business or government information and disclosing an individual’s personal information</a:t>
            </a:r>
          </a:p>
          <a:p>
            <a:pPr algn="l"/>
            <a:r>
              <a:rPr lang="en-US" sz="2400" b="0" i="0" u="none" strike="noStrike" baseline="0" dirty="0"/>
              <a:t>Studies on data security in data mining and privacy-preserving data publishing and data mining are important, ongoing research theme </a:t>
            </a:r>
          </a:p>
          <a:p>
            <a:pPr lvl="1"/>
            <a:r>
              <a:rPr lang="en-US" sz="2400" b="0" i="0" u="none" strike="noStrike" baseline="0" dirty="0"/>
              <a:t>The philosophy is to observe data sensitivity and preserve data security and people’s privacy while performing successful data mining</a:t>
            </a:r>
          </a:p>
          <a:p>
            <a:pPr algn="l"/>
            <a:r>
              <a:rPr lang="en-US" sz="2400" b="0" i="0" u="none" strike="noStrike" baseline="0" dirty="0"/>
              <a:t>These and other related issues will be discussed throughout the book</a:t>
            </a:r>
            <a:endParaRPr lang="en-US" sz="32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758989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010400" cy="52863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259" y="1196788"/>
            <a:ext cx="10995212" cy="5455024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mining: Discovering interesting patterns and knowledge from massive amounts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KDD process includes data cleaning, data integration, data selection, transformation, data mining, pattern evaluation, and knowledge presentation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Different data mining method on a wide variety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functionalities: summarization, pattern discovery, classification, clustering, deep learning, outlier analysis, trend and outlier analysis, 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is a confluence of multiple disciplines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has broad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Promote secure data mining to benefit society</a:t>
            </a:r>
          </a:p>
        </p:txBody>
      </p:sp>
    </p:spTree>
    <p:extLst>
      <p:ext uri="{BB962C8B-B14F-4D97-AF65-F5344CB8AC3E}">
        <p14:creationId xmlns:p14="http://schemas.microsoft.com/office/powerpoint/2010/main" val="18174381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21070</TotalTime>
  <Words>1695</Words>
  <Application>Microsoft Office PowerPoint</Application>
  <PresentationFormat>Widescreen</PresentationFormat>
  <Paragraphs>205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Berlin Sans FB Demi</vt:lpstr>
      <vt:lpstr>Calibri</vt:lpstr>
      <vt:lpstr>Tahoma</vt:lpstr>
      <vt:lpstr>Wingdings</vt:lpstr>
      <vt:lpstr>Retrospect</vt:lpstr>
      <vt:lpstr>Chapter 1.  Introduction</vt:lpstr>
      <vt:lpstr>What Is Data Mining?</vt:lpstr>
      <vt:lpstr>Data Mining: An Essential Step in Knowledge Discovery</vt:lpstr>
      <vt:lpstr>Diversity of Data Types for Data Mining (I)</vt:lpstr>
      <vt:lpstr>Diversity of Data Types for Data Mining (II)</vt:lpstr>
      <vt:lpstr>Mining Various Kinds of Knowledge</vt:lpstr>
      <vt:lpstr>Multidimensional Data Summarization</vt:lpstr>
      <vt:lpstr>Pattern Discovery: Mining Frequent Patterns, Associations, and Correlations </vt:lpstr>
      <vt:lpstr>Classification and Regression for Predictive Analysis</vt:lpstr>
      <vt:lpstr>Cluster Analysis</vt:lpstr>
      <vt:lpstr>Deep Learning</vt:lpstr>
      <vt:lpstr>Outlier Analysis</vt:lpstr>
      <vt:lpstr>Other Data Mining Functions: Time and Ordering: Sequential Pattern, Trend and Evolution Analysis</vt:lpstr>
      <vt:lpstr>Other Data Mining Functions: Structure and Network Analysis</vt:lpstr>
      <vt:lpstr>Evaluation of Knowledge</vt:lpstr>
      <vt:lpstr>Data Mining: Confluence of Multiple Disciplines </vt:lpstr>
      <vt:lpstr>Why Confluence of Multiple Disciplines?</vt:lpstr>
      <vt:lpstr>Data Mining and Applications</vt:lpstr>
      <vt:lpstr>Data Mining and Society</vt:lpstr>
      <vt:lpstr>Summary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Han, Jiawei</cp:lastModifiedBy>
  <cp:revision>941</cp:revision>
  <cp:lastPrinted>2016-08-23T14:41:30Z</cp:lastPrinted>
  <dcterms:created xsi:type="dcterms:W3CDTF">2014-06-02T15:06:14Z</dcterms:created>
  <dcterms:modified xsi:type="dcterms:W3CDTF">2022-12-31T05:02:54Z</dcterms:modified>
</cp:coreProperties>
</file>