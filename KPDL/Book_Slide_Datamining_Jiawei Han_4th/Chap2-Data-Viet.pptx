
<file path=[Content_Types].xml><?xml version="1.0" encoding="utf-8"?>
<Types xmlns="http://schemas.openxmlformats.org/package/2006/content-types">
  <Default Extension="xml" ContentType="application/xml"/>
  <Default Extension="xlsx" ContentType="application/vnd.openxmlformats-officedocument.spreadsheetml.sheet"/>
  <Default Extension="jpeg" ContentType="image/jpeg"/>
  <Default Extension="rels" ContentType="application/vnd.openxmlformats-package.relationships+xml"/>
  <Default Extension="bin" ContentType="application/vnd.openxmlformats-officedocument.oleObject"/>
  <Default Extension="wmf" ContentType="image/x-wmf"/>
  <Default Extension="png" ContentType="image/png"/>
  <Default Extension="docx" ContentType="application/vnd.openxmlformats-officedocument.wordprocessingml.document"/>
  <Default Extension="jpg" ContentType="image/jpeg"/>
  <Default Extension="emf" ContentType="image/x-emf"/>
  <Default Extension="gif" ContentType="image/gif"/>
  <Default Extension="svg" ContentType="image/svg+xml"/>
  <Override PartName="/ppt/notesSlides/notesSlide106.xml" ContentType="application/vnd.openxmlformats-officedocument.presentationml.notesSlide+xml"/>
  <Override PartName="/ppt/notesSlides/notesSlide105.xml" ContentType="application/vnd.openxmlformats-officedocument.presentationml.notesSlide+xml"/>
  <Override PartName="/ppt/notesSlides/notesSlide104.xml" ContentType="application/vnd.openxmlformats-officedocument.presentationml.notesSlide+xml"/>
  <Override PartName="/ppt/notesSlides/notesSlide101.xml" ContentType="application/vnd.openxmlformats-officedocument.presentationml.notesSlide+xml"/>
  <Override PartName="/ppt/notesSlides/notesSlide100.xml" ContentType="application/vnd.openxmlformats-officedocument.presentationml.notesSlide+xml"/>
  <Override PartName="/ppt/notesSlides/notesSlide97.xml" ContentType="application/vnd.openxmlformats-officedocument.presentationml.notesSlide+xml"/>
  <Override PartName="/ppt/notesSlides/notesSlide96.xml" ContentType="application/vnd.openxmlformats-officedocument.presentationml.notesSlide+xml"/>
  <Override PartName="/ppt/notesSlides/notesSlide95.xml" ContentType="application/vnd.openxmlformats-officedocument.presentationml.notesSlide+xml"/>
  <Override PartName="/ppt/notesSlides/notesSlide94.xml" ContentType="application/vnd.openxmlformats-officedocument.presentationml.notesSlide+xml"/>
  <Override PartName="/ppt/notesSlides/notesSlide90.xml" ContentType="application/vnd.openxmlformats-officedocument.presentationml.notesSlide+xml"/>
  <Override PartName="/ppt/notesSlides/notesSlide87.xml" ContentType="application/vnd.openxmlformats-officedocument.presentationml.notesSlide+xml"/>
  <Override PartName="/ppt/notesSlides/notesSlide86.xml" ContentType="application/vnd.openxmlformats-officedocument.presentationml.notesSlide+xml"/>
  <Override PartName="/ppt/notesSlides/notesSlide85.xml" ContentType="application/vnd.openxmlformats-officedocument.presentationml.notesSlide+xml"/>
  <Override PartName="/ppt/notesSlides/notesSlide84.xml" ContentType="application/vnd.openxmlformats-officedocument.presentationml.notesSlide+xml"/>
  <Override PartName="/ppt/notesSlides/notesSlide83.xml" ContentType="application/vnd.openxmlformats-officedocument.presentationml.notesSlide+xml"/>
  <Override PartName="/ppt/notesSlides/notesSlide82.xml" ContentType="application/vnd.openxmlformats-officedocument.presentationml.notesSlide+xml"/>
  <Override PartName="/ppt/notesSlides/notesSlide81.xml" ContentType="application/vnd.openxmlformats-officedocument.presentationml.notesSlide+xml"/>
  <Override PartName="/ppt/notesSlides/notesSlide79.xml" ContentType="application/vnd.openxmlformats-officedocument.presentationml.notesSlide+xml"/>
  <Override PartName="/ppt/notesSlides/notesSlide78.xml" ContentType="application/vnd.openxmlformats-officedocument.presentationml.notesSlide+xml"/>
  <Override PartName="/ppt/notesSlides/notesSlide77.xml" ContentType="application/vnd.openxmlformats-officedocument.presentationml.notesSlide+xml"/>
  <Override PartName="/ppt/notesSlides/notesSlide76.xml" ContentType="application/vnd.openxmlformats-officedocument.presentationml.notesSlide+xml"/>
  <Override PartName="/ppt/slides/slide54.xml" ContentType="application/vnd.openxmlformats-officedocument.presentationml.slide+xml"/>
  <Override PartName="/ppt/slides/slide78.xml" ContentType="application/vnd.openxmlformats-officedocument.presentationml.slide+xml"/>
  <Override PartName="/ppt/slides/slide89.xml" ContentType="application/vnd.openxmlformats-officedocument.presentationml.slide+xml"/>
  <Override PartName="/ppt/slides/slide75.xml" ContentType="application/vnd.openxmlformats-officedocument.presentationml.slide+xml"/>
  <Override PartName="/ppt/slideMasters/slideMaster1.xml" ContentType="application/vnd.openxmlformats-officedocument.presentationml.slideMaster+xml"/>
  <Override PartName="/ppt/slides/slide14.xml" ContentType="application/vnd.openxmlformats-officedocument.presentationml.slide+xml"/>
  <Override PartName="/ppt/notesSlides/notesSlide75.xml" ContentType="application/vnd.openxmlformats-officedocument.presentationml.notesSlide+xml"/>
  <Override PartName="/ppt/slides/slide67.xml" ContentType="application/vnd.openxmlformats-officedocument.presentationml.slide+xml"/>
  <Override PartName="/ppt/slides/slide66.xml" ContentType="application/vnd.openxmlformats-officedocument.presentationml.slide+xml"/>
  <Override PartName="/ppt/slides/slide64.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slides/slide60.xml" ContentType="application/vnd.openxmlformats-officedocument.presentationml.slide+xml"/>
  <Override PartName="/ppt/slides/slide55.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notesSlides/notesSlide34.xml" ContentType="application/vnd.openxmlformats-officedocument.presentationml.notesSlide+xml"/>
  <Override PartName="/ppt/slides/slide51.xml" ContentType="application/vnd.openxmlformats-officedocument.presentationml.slide+xml"/>
  <Override PartName="/ppt/slides/slide9.xml" ContentType="application/vnd.openxmlformats-officedocument.presentationml.slide+xml"/>
  <Override PartName="/ppt/notesSlides/notesSlide9.xml" ContentType="application/vnd.openxmlformats-officedocument.presentationml.notesSlide+xml"/>
  <Override PartName="/ppt/notesSlides/notesSlide44.xml" ContentType="application/vnd.openxmlformats-officedocument.presentationml.notesSlide+xml"/>
  <Override PartName="/ppt/notesSlides/notesSlide65.xml" ContentType="application/vnd.openxmlformats-officedocument.presentationml.notesSlide+xml"/>
  <Override PartName="/ppt/slides/slide46.xml" ContentType="application/vnd.openxmlformats-officedocument.presentationml.slide+xml"/>
  <Override PartName="/ppt/notesSlides/notesSlide107.xml" ContentType="application/vnd.openxmlformats-officedocument.presentationml.notesSlide+xml"/>
  <Override PartName="/ppt/slides/slide53.xml" ContentType="application/vnd.openxmlformats-officedocument.presentationml.slide+xml"/>
  <Override PartName="/ppt/notesSlides/notesSlide48.xml" ContentType="application/vnd.openxmlformats-officedocument.presentationml.notesSlide+xml"/>
  <Override PartName="/ppt/slides/slide44.xml" ContentType="application/vnd.openxmlformats-officedocument.presentationml.slide+xml"/>
  <Override PartName="/ppt/slides/slide42.xml" ContentType="application/vnd.openxmlformats-officedocument.presentationml.slide+xml"/>
  <Override PartName="/ppt/presentation.xml" ContentType="application/vnd.openxmlformats-officedocument.presentationml.presentation.main+xml"/>
  <Override PartName="/ppt/slides/slide33.xml" ContentType="application/vnd.openxmlformats-officedocument.presentationml.slide+xml"/>
  <Override PartName="/ppt/slides/slide39.xml" ContentType="application/vnd.openxmlformats-officedocument.presentationml.slide+xml"/>
  <Override PartName="/ppt/slides/slide91.xml" ContentType="application/vnd.openxmlformats-officedocument.presentationml.slide+xml"/>
  <Override PartName="/ppt/slides/slide103.xml" ContentType="application/vnd.openxmlformats-officedocument.presentationml.slide+xml"/>
  <Override PartName="/ppt/slides/slide107.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notesSlides/notesSlide10.xml" ContentType="application/vnd.openxmlformats-officedocument.presentationml.notesSlide+xml"/>
  <Override PartName="/ppt/notesSlides/notesSlide92.xml" ContentType="application/vnd.openxmlformats-officedocument.presentationml.notesSlide+xml"/>
  <Override PartName="/ppt/slides/slide35.xml" ContentType="application/vnd.openxmlformats-officedocument.presentationml.slide+xml"/>
  <Override PartName="/ppt/notesSlides/notesSlide73.xml" ContentType="application/vnd.openxmlformats-officedocument.presentationml.notesSlide+xml"/>
  <Override PartName="/ppt/slides/slide34.xml" ContentType="application/vnd.openxmlformats-officedocument.presentationml.slide+xml"/>
  <Override PartName="/ppt/notesSlides/notesSlide47.xml" ContentType="application/vnd.openxmlformats-officedocument.presentationml.notesSlide+xml"/>
  <Override PartName="/ppt/slides/slide24.xml" ContentType="application/vnd.openxmlformats-officedocument.presentationml.slide+xml"/>
  <Override PartName="/ppt/slides/slide31.xml" ContentType="application/vnd.openxmlformats-officedocument.presentationml.slide+xml"/>
  <Override PartName="/ppt/slides/slide77.xml" ContentType="application/vnd.openxmlformats-officedocument.presentationml.slide+xml"/>
  <Override PartName="/ppt/slides/slide69.xml" ContentType="application/vnd.openxmlformats-officedocument.presentationml.slide+xml"/>
  <Override PartName="/ppt/slides/slide18.xml" ContentType="application/vnd.openxmlformats-officedocument.presentationml.slide+xml"/>
  <Override PartName="/ppt/slides/slide30.xml" ContentType="application/vnd.openxmlformats-officedocument.presentationml.slide+xml"/>
  <Override PartName="/ppt/theme/theme2.xml" ContentType="application/vnd.openxmlformats-officedocument.theme+xml"/>
  <Override PartName="/ppt/slides/slide72.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notesSlides/notesSlide27.xml" ContentType="application/vnd.openxmlformats-officedocument.presentationml.notesSlide+xml"/>
  <Override PartName="/ppt/slides/slide25.xml" ContentType="application/vnd.openxmlformats-officedocument.presentationml.slide+xml"/>
  <Override PartName="/ppt/slides/slide1.xml" ContentType="application/vnd.openxmlformats-officedocument.presentationml.slide+xml"/>
  <Override PartName="/ppt/slideLayouts/slideLayout4.xml" ContentType="application/vnd.openxmlformats-officedocument.presentationml.slideLayout+xml"/>
  <Override PartName="/ppt/slides/slide88.xml" ContentType="application/vnd.openxmlformats-officedocument.presentationml.slide+xml"/>
  <Override PartName="/ppt/slides/slide74.xml" ContentType="application/vnd.openxmlformats-officedocument.presentationml.slide+xml"/>
  <Override PartName="/ppt/slides/slide68.xml" ContentType="application/vnd.openxmlformats-officedocument.presentationml.slide+xml"/>
  <Override PartName="/ppt/slides/slide4.xml" ContentType="application/vnd.openxmlformats-officedocument.presentationml.slide+xml"/>
  <Override PartName="/ppt/slides/slide70.xml" ContentType="application/vnd.openxmlformats-officedocument.presentationml.slide+xml"/>
  <Override PartName="/ppt/slides/slide19.xml" ContentType="application/vnd.openxmlformats-officedocument.presentationml.slide+xml"/>
  <Override PartName="/ppt/notesSlides/notesSlide46.xml" ContentType="application/vnd.openxmlformats-officedocument.presentationml.notesSlide+xml"/>
  <Override PartName="/ppt/slides/slide57.xml" ContentType="application/vnd.openxmlformats-officedocument.presentationml.slide+xml"/>
  <Override PartName="/ppt/slideLayouts/slideLayout5.xml" ContentType="application/vnd.openxmlformats-officedocument.presentationml.slideLayout+xml"/>
  <Override PartName="/ppt/slides/slide41.xml" ContentType="application/vnd.openxmlformats-officedocument.presentationml.slide+xml"/>
  <Override PartName="/ppt/notesSlides/notesSlide80.xml" ContentType="application/vnd.openxmlformats-officedocument.presentationml.notesSlide+xml"/>
  <Override PartName="/ppt/slides/slide7.xml" ContentType="application/vnd.openxmlformats-officedocument.presentationml.slide+xml"/>
  <Override PartName="/ppt/tableStyles.xml" ContentType="application/vnd.openxmlformats-officedocument.presentationml.tableStyles+xml"/>
  <Override PartName="/docProps/app.xml" ContentType="application/vnd.openxmlformats-officedocument.extended-properties+xml"/>
  <Override PartName="/ppt/slides/slide58.xml" ContentType="application/vnd.openxmlformats-officedocument.presentationml.slide+xml"/>
  <Override PartName="/ppt/notesSlides/notesSlide103.xml" ContentType="application/vnd.openxmlformats-officedocument.presentationml.notesSlide+xml"/>
  <Override PartName="/ppt/notesSlides/notesSlide2.xml" ContentType="application/vnd.openxmlformats-officedocument.presentationml.notesSlide+xml"/>
  <Override PartName="/ppt/slides/slide90.xml" ContentType="application/vnd.openxmlformats-officedocument.presentationml.slide+xml"/>
  <Override PartName="/ppt/notesSlides/notesSlide70.xml" ContentType="application/vnd.openxmlformats-officedocument.presentationml.notesSlide+xml"/>
  <Override PartName="/ppt/slides/slide17.xml" ContentType="application/vnd.openxmlformats-officedocument.presentationml.slide+xml"/>
  <Override PartName="/ppt/slides/slide63.xml" ContentType="application/vnd.openxmlformats-officedocument.presentationml.slide+xml"/>
  <Override PartName="/ppt/viewProps.xml" ContentType="application/vnd.openxmlformats-officedocument.presentationml.viewProps+xml"/>
  <Override PartName="/ppt/slides/slide61.xml" ContentType="application/vnd.openxmlformats-officedocument.presentationml.slide+xml"/>
  <Override PartName="/ppt/slides/slide13.xml" ContentType="application/vnd.openxmlformats-officedocument.presentationml.slide+xml"/>
  <Override PartName="/ppt/notesSlides/notesSlide89.xml" ContentType="application/vnd.openxmlformats-officedocument.presentationml.notesSlide+xml"/>
  <Override PartName="/ppt/slides/slide104.xml" ContentType="application/vnd.openxmlformats-officedocument.presentationml.slide+xml"/>
  <Override PartName="/ppt/notesSlides/notesSlide74.xml" ContentType="application/vnd.openxmlformats-officedocument.presentationml.notesSlide+xml"/>
  <Override PartName="/ppt/slides/slide8.xml" ContentType="application/vnd.openxmlformats-officedocument.presentationml.slide+xml"/>
  <Override PartName="/ppt/theme/theme1.xml" ContentType="application/vnd.openxmlformats-officedocument.theme+xml"/>
  <Override PartName="/ppt/slides/slide3.xml" ContentType="application/vnd.openxmlformats-officedocument.presentationml.slide+xml"/>
  <Override PartName="/ppt/slides/slide32.xml" ContentType="application/vnd.openxmlformats-officedocument.presentationml.slide+xml"/>
  <Override PartName="/ppt/slides/slide73.xml" ContentType="application/vnd.openxmlformats-officedocument.presentationml.slide+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s/slide47.xml" ContentType="application/vnd.openxmlformats-officedocument.presentationml.slide+xml"/>
  <Override PartName="/ppt/slides/slide20.xml" ContentType="application/vnd.openxmlformats-officedocument.presentationml.slide+xml"/>
  <Override PartName="/ppt/notesSlides/notesSlide15.xml" ContentType="application/vnd.openxmlformats-officedocument.presentationml.notesSlide+xml"/>
  <Override PartName="/ppt/notesSlides/notesSlide49.xml" ContentType="application/vnd.openxmlformats-officedocument.presentationml.notesSlide+xml"/>
  <Override PartName="/ppt/slideLayouts/slideLayout8.xml" ContentType="application/vnd.openxmlformats-officedocument.presentationml.slideLayout+xml"/>
  <Override PartName="/docProps/core.xml" ContentType="application/vnd.openxmlformats-package.core-properties+xml"/>
  <Override PartName="/ppt/notesSlides/notesSlide102.xml" ContentType="application/vnd.openxmlformats-officedocument.presentationml.notesSlide+xml"/>
  <Override PartName="/ppt/slides/slide10.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notesSlides/notesSlide3.xml" ContentType="application/vnd.openxmlformats-officedocument.presentationml.notesSlide+xml"/>
  <Override PartName="/ppt/slides/slide28.xml" ContentType="application/vnd.openxmlformats-officedocument.presentationml.slide+xml"/>
  <Override PartName="/ppt/slides/slide38.xml" ContentType="application/vnd.openxmlformats-officedocument.presentationml.slide+xml"/>
  <Override PartName="/ppt/slides/slide11.xml" ContentType="application/vnd.openxmlformats-officedocument.presentationml.slide+xml"/>
  <Override PartName="/ppt/notesSlides/notesSlide98.xml" ContentType="application/vnd.openxmlformats-officedocument.presentationml.notesSlide+xml"/>
  <Override PartName="/ppt/slides/slide96.xml" ContentType="application/vnd.openxmlformats-officedocument.presentationml.slide+xml"/>
  <Override PartName="/ppt/slides/slide99.xml" ContentType="application/vnd.openxmlformats-officedocument.presentationml.slide+xml"/>
  <Override PartName="/ppt/notesSlides/notesSlide12.xml" ContentType="application/vnd.openxmlformats-officedocument.presentationml.notesSlide+xml"/>
  <Override PartName="/ppt/slides/slide2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28.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slides/slide100.xml" ContentType="application/vnd.openxmlformats-officedocument.presentationml.slide+xml"/>
  <Override PartName="/ppt/notesSlides/notesSlide30.xml" ContentType="application/vnd.openxmlformats-officedocument.presentationml.notesSlide+xml"/>
  <Override PartName="/ppt/slides/slide56.xml" ContentType="application/vnd.openxmlformats-officedocument.presentationml.slide+xml"/>
  <Override PartName="/ppt/notesSlides/notesSlide40.xml" ContentType="application/vnd.openxmlformats-officedocument.presentationml.notesSlide+xml"/>
  <Override PartName="/ppt/slides/slide85.xml" ContentType="application/vnd.openxmlformats-officedocument.presentationml.slide+xml"/>
  <Override PartName="/ppt/slides/slide23.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Slides/notesSlide99.xml" ContentType="application/vnd.openxmlformats-officedocument.presentationml.notes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2.xml" ContentType="application/vnd.openxmlformats-officedocument.presentationml.slide+xml"/>
  <Override PartName="/ppt/slides/slide26.xml" ContentType="application/vnd.openxmlformats-officedocument.presentationml.slide+xml"/>
  <Override PartName="/ppt/notesSlides/notesSlide17.xml" ContentType="application/vnd.openxmlformats-officedocument.presentationml.notesSlide+xml"/>
  <Override PartName="/ppt/slides/slide93.xml" ContentType="application/vnd.openxmlformats-officedocument.presentationml.slide+xml"/>
  <Override PartName="/ppt/slides/slide95.xml" ContentType="application/vnd.openxmlformats-officedocument.presentationml.slide+xml"/>
  <Override PartName="/ppt/notesSlides/notesSlide1.xml" ContentType="application/vnd.openxmlformats-officedocument.presentationml.notesSlide+xml"/>
  <Override PartName="/ppt/slides/slide98.xml" ContentType="application/vnd.openxmlformats-officedocument.presentationml.slide+xml"/>
  <Override PartName="/ppt/slideLayouts/slideLayout1.xml" ContentType="application/vnd.openxmlformats-officedocument.presentationml.slideLayout+xml"/>
  <Override PartName="/ppt/slides/slide101.xml" ContentType="application/vnd.openxmlformats-officedocument.presentationml.slide+xml"/>
  <Override PartName="/ppt/notesSlides/notesSlide36.xml" ContentType="application/vnd.openxmlformats-officedocument.presentationml.notesSlide+xml"/>
  <Override PartName="/ppt/slides/slide102.xml" ContentType="application/vnd.openxmlformats-officedocument.presentationml.slide+xml"/>
  <Override PartName="/ppt/slides/slide49.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2.xml" ContentType="application/vnd.openxmlformats-officedocument.presentationml.slide+xml"/>
  <Override PartName="/ppt/notesSlides/notesSlide71.xml" ContentType="application/vnd.openxmlformats-officedocument.presentationml.notesSlide+xml"/>
  <Override PartName="/ppt/notesSlides/notesSlide6.xml" ContentType="application/vnd.openxmlformats-officedocument.presentationml.notesSlide+xml"/>
  <Override PartName="/ppt/notesSlides/notesSlide61.xml" ContentType="application/vnd.openxmlformats-officedocument.presentationml.notesSlide+xml"/>
  <Override PartName="/ppt/slides/slide92.xml" ContentType="application/vnd.openxmlformats-officedocument.presentationml.slide+xml"/>
  <Override PartName="/ppt/notesSlides/notesSlide7.xml" ContentType="application/vnd.openxmlformats-officedocument.presentationml.notesSlide+xml"/>
  <Override PartName="/ppt/notesSlides/notesSlide88.xml" ContentType="application/vnd.openxmlformats-officedocument.presentationml.notesSlide+xml"/>
  <Override PartName="/ppt/slides/slide27.xml" ContentType="application/vnd.openxmlformats-officedocument.presentationml.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notesSlides/notesSlide33.xml" ContentType="application/vnd.openxmlformats-officedocument.presentationml.notesSlide+xml"/>
  <Override PartName="/ppt/notesSlides/notesSlide91.xml" ContentType="application/vnd.openxmlformats-officedocument.presentationml.notesSlide+xml"/>
  <Override PartName="/ppt/slides/slide108.xml" ContentType="application/vnd.openxmlformats-officedocument.presentationml.slide+xml"/>
  <Override PartName="/ppt/notesSlides/notesSlide72.xml" ContentType="application/vnd.openxmlformats-officedocument.presentationml.notesSlide+xml"/>
  <Override PartName="/ppt/notesSlides/notesSlide11.xml" ContentType="application/vnd.openxmlformats-officedocument.presentationml.notesSlide+xml"/>
  <Override PartName="/ppt/slides/slide50.xml" ContentType="application/vnd.openxmlformats-officedocument.presentationml.slide+xml"/>
  <Override PartName="/ppt/notesSlides/notesSlide55.xml" ContentType="application/vnd.openxmlformats-officedocument.presentationml.notesSlide+xml"/>
  <Override PartName="/ppt/slides/slide97.xml" ContentType="application/vnd.openxmlformats-officedocument.presentationml.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4.xml" ContentType="application/vnd.openxmlformats-officedocument.presentationml.notesSlide+xml"/>
  <Override PartName="/ppt/slides/slide59.xml" ContentType="application/vnd.openxmlformats-officedocument.presentationml.slide+xml"/>
  <Override PartName="/ppt/notesSlides/notesSlide42.xml" ContentType="application/vnd.openxmlformats-officedocument.presentationml.notesSlide+xml"/>
  <Override PartName="/ppt/notesSlides/notesSlide18.xml" ContentType="application/vnd.openxmlformats-officedocument.presentationml.notesSlide+xml"/>
  <Override PartName="/ppt/notesSlides/notesSlide52.xml" ContentType="application/vnd.openxmlformats-officedocument.presentationml.notesSlide+xml"/>
  <Override PartName="/ppt/notesSlides/notesSlide68.xml" ContentType="application/vnd.openxmlformats-officedocument.presentationml.notesSlide+xml"/>
  <Override PartName="/ppt/notesSlides/notesSlide108.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67.xml" ContentType="application/vnd.openxmlformats-officedocument.presentationml.notesSlide+xml"/>
  <Override PartName="/ppt/slides/slide71.xml" ContentType="application/vnd.openxmlformats-officedocument.presentationml.slide+xml"/>
  <Override PartName="/ppt/notesSlides/notesSlide22.xml" ContentType="application/vnd.openxmlformats-officedocument.presentationml.notesSlide+xml"/>
  <Override PartName="/ppt/notesSlides/notesSlide56.xml" ContentType="application/vnd.openxmlformats-officedocument.presentationml.notesSlide+xml"/>
  <Override PartName="/ppt/slides/slide65.xml" ContentType="application/vnd.openxmlformats-officedocument.presentationml.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slides/slide76.xml" ContentType="application/vnd.openxmlformats-officedocument.presentationml.slide+xml"/>
  <Override PartName="/ppt/notesSlides/notesSlide26.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slides/slide40.xml" ContentType="application/vnd.openxmlformats-officedocument.presentationml.slide+xml"/>
  <Override PartName="/ppt/notesSlides/notesSlide35.xml" ContentType="application/vnd.openxmlformats-officedocument.presentationml.notesSlide+xml"/>
  <Override PartName="/ppt/notesSlides/notesSlide62.xml" ContentType="application/vnd.openxmlformats-officedocument.presentationml.notesSlide+xml"/>
  <Override PartName="/ppt/notesSlides/notesSlide20.xml" ContentType="application/vnd.openxmlformats-officedocument.presentationml.notesSlide+xml"/>
  <Override PartName="/ppt/notesSlides/notesSlide38.xml" ContentType="application/vnd.openxmlformats-officedocument.presentationml.notesSlide+xml"/>
  <Override PartName="/ppt/slides/slide22.xml" ContentType="application/vnd.openxmlformats-officedocument.presentationml.slide+xml"/>
  <Override PartName="/ppt/notesSlides/notesSlide39.xml" ContentType="application/vnd.openxmlformats-officedocument.presentationml.notesSlide+xml"/>
  <Override PartName="/ppt/notesSlides/notesSlide53.xml" ContentType="application/vnd.openxmlformats-officedocument.presentationml.notesSlide+xml"/>
  <Override PartName="/ppt/notesSlides/notesSlide45.xml" ContentType="application/vnd.openxmlformats-officedocument.presentationml.notesSlide+xml"/>
  <Override PartName="/ppt/notesSlides/notesSlide41.xml" ContentType="application/vnd.openxmlformats-officedocument.presentationml.notesSlide+xml"/>
  <Override PartName="/ppt/notesSlides/notesSlide16.xml" ContentType="application/vnd.openxmlformats-officedocument.presentationml.notesSlide+xml"/>
  <Override PartName="/ppt/notesSlides/notesSlide43.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4.xml" ContentType="application/vnd.openxmlformats-officedocument.presentationml.notesSlide+xml"/>
  <Override PartName="/ppt/notesSlides/notesSlide57.xml" ContentType="application/vnd.openxmlformats-officedocument.presentationml.notesSlide+xml"/>
  <Override PartName="/ppt/slides/slide43.xml" ContentType="application/vnd.openxmlformats-officedocument.presentationml.slide+xml"/>
  <Override PartName="/ppt/slides/slide94.xml" ContentType="application/vnd.openxmlformats-officedocument.presentationml.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29.xml" ContentType="application/vnd.openxmlformats-officedocument.presentationml.notesSlide+xml"/>
  <Override PartName="/ppt/notesSlides/notesSlide60.xml" ContentType="application/vnd.openxmlformats-officedocument.presentationml.notesSlide+xml"/>
  <Override PartName="/ppt/slides/slide45.xml" ContentType="application/vnd.openxmlformats-officedocument.presentationml.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37.xml" ContentType="application/vnd.openxmlformats-officedocument.presentationml.notesSlide+xml"/>
  <Override PartName="/ppt/notesSlides/notesSlide66.xml" ContentType="application/vnd.openxmlformats-officedocument.presentationml.notesSlide+xml"/>
  <Override PartName="/ppt/notesSlides/notesSlide93.xml" ContentType="application/vnd.openxmlformats-officedocument.presentationml.notesSlide+xml"/>
  <Override PartName="/ppt/notesSlides/notesSlide69.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1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Lst>
  <p:sldSz cx="12192000" cy="6858000"/>
  <p:notesSz cx="7010400" cy="9296400"/>
  <p:defaultTextStyle>
    <a:defPPr>
      <a:defRPr lang="en-US"/>
    </a:defPPr>
    <a:lvl1pPr marL="0" algn="l" defTabSz="457178" rtl="0">
      <a:defRPr sz="1900">
        <a:solidFill>
          <a:schemeClr val="tx1"/>
        </a:solidFill>
        <a:latin typeface="+mn-lt"/>
        <a:ea typeface="+mn-ea"/>
        <a:cs typeface="+mn-cs"/>
      </a:defRPr>
    </a:lvl1pPr>
    <a:lvl2pPr marL="457178" algn="l" defTabSz="457178" rtl="0">
      <a:defRPr sz="1900">
        <a:solidFill>
          <a:schemeClr val="tx1"/>
        </a:solidFill>
        <a:latin typeface="+mn-lt"/>
        <a:ea typeface="+mn-ea"/>
        <a:cs typeface="+mn-cs"/>
      </a:defRPr>
    </a:lvl2pPr>
    <a:lvl3pPr marL="914354" algn="l" defTabSz="457178" rtl="0">
      <a:defRPr sz="1900">
        <a:solidFill>
          <a:schemeClr val="tx1"/>
        </a:solidFill>
        <a:latin typeface="+mn-lt"/>
        <a:ea typeface="+mn-ea"/>
        <a:cs typeface="+mn-cs"/>
      </a:defRPr>
    </a:lvl3pPr>
    <a:lvl4pPr marL="1371532" algn="l" defTabSz="457178" rtl="0">
      <a:defRPr sz="1900">
        <a:solidFill>
          <a:schemeClr val="tx1"/>
        </a:solidFill>
        <a:latin typeface="+mn-lt"/>
        <a:ea typeface="+mn-ea"/>
        <a:cs typeface="+mn-cs"/>
      </a:defRPr>
    </a:lvl4pPr>
    <a:lvl5pPr marL="1828709" algn="l" defTabSz="457178" rtl="0">
      <a:defRPr sz="1900">
        <a:solidFill>
          <a:schemeClr val="tx1"/>
        </a:solidFill>
        <a:latin typeface="+mn-lt"/>
        <a:ea typeface="+mn-ea"/>
        <a:cs typeface="+mn-cs"/>
      </a:defRPr>
    </a:lvl5pPr>
    <a:lvl6pPr marL="2285886" algn="l" defTabSz="457178" rtl="0">
      <a:defRPr sz="1900">
        <a:solidFill>
          <a:schemeClr val="tx1"/>
        </a:solidFill>
        <a:latin typeface="+mn-lt"/>
        <a:ea typeface="+mn-ea"/>
        <a:cs typeface="+mn-cs"/>
      </a:defRPr>
    </a:lvl6pPr>
    <a:lvl7pPr marL="2743062" algn="l" defTabSz="457178" rtl="0">
      <a:defRPr sz="1900">
        <a:solidFill>
          <a:schemeClr val="tx1"/>
        </a:solidFill>
        <a:latin typeface="+mn-lt"/>
        <a:ea typeface="+mn-ea"/>
        <a:cs typeface="+mn-cs"/>
      </a:defRPr>
    </a:lvl7pPr>
    <a:lvl8pPr marL="3200240" algn="l" defTabSz="457178" rtl="0">
      <a:defRPr sz="1900">
        <a:solidFill>
          <a:schemeClr val="tx1"/>
        </a:solidFill>
        <a:latin typeface="+mn-lt"/>
        <a:ea typeface="+mn-ea"/>
        <a:cs typeface="+mn-cs"/>
      </a:defRPr>
    </a:lvl8pPr>
    <a:lvl9pPr marL="3657418" algn="l" defTabSz="457178" rtl="0">
      <a:defRPr sz="19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6" d="100"/>
          <a:sy n="106" d="100"/>
        </p:scale>
        <p:origin x="1044" y="54"/>
      </p:cViewPr>
      <p:guideLst>
        <p:guide pos="2160" orient="horz"/>
        <p:guide pos="384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slide" Target="slides/slide86.xml"/><Relationship Id="rId90" Type="http://schemas.openxmlformats.org/officeDocument/2006/relationships/slide" Target="slides/slide87.xml"/><Relationship Id="rId91" Type="http://schemas.openxmlformats.org/officeDocument/2006/relationships/slide" Target="slides/slide88.xml"/><Relationship Id="rId92" Type="http://schemas.openxmlformats.org/officeDocument/2006/relationships/slide" Target="slides/slide89.xml"/><Relationship Id="rId93" Type="http://schemas.openxmlformats.org/officeDocument/2006/relationships/slide" Target="slides/slide90.xml"/><Relationship Id="rId94" Type="http://schemas.openxmlformats.org/officeDocument/2006/relationships/slide" Target="slides/slide91.xml"/><Relationship Id="rId95" Type="http://schemas.openxmlformats.org/officeDocument/2006/relationships/slide" Target="slides/slide92.xml"/><Relationship Id="rId96" Type="http://schemas.openxmlformats.org/officeDocument/2006/relationships/slide" Target="slides/slide93.xml"/><Relationship Id="rId97" Type="http://schemas.openxmlformats.org/officeDocument/2006/relationships/slide" Target="slides/slide94.xml"/><Relationship Id="rId98" Type="http://schemas.openxmlformats.org/officeDocument/2006/relationships/slide" Target="slides/slide95.xml"/><Relationship Id="rId99" Type="http://schemas.openxmlformats.org/officeDocument/2006/relationships/slide" Target="slides/slide96.xml"/><Relationship Id="rId100" Type="http://schemas.openxmlformats.org/officeDocument/2006/relationships/slide" Target="slides/slide97.xml"/><Relationship Id="rId101" Type="http://schemas.openxmlformats.org/officeDocument/2006/relationships/slide" Target="slides/slide98.xml"/><Relationship Id="rId102" Type="http://schemas.openxmlformats.org/officeDocument/2006/relationships/slide" Target="slides/slide99.xml"/><Relationship Id="rId103" Type="http://schemas.openxmlformats.org/officeDocument/2006/relationships/slide" Target="slides/slide100.xml"/><Relationship Id="rId104" Type="http://schemas.openxmlformats.org/officeDocument/2006/relationships/slide" Target="slides/slide101.xml"/><Relationship Id="rId105" Type="http://schemas.openxmlformats.org/officeDocument/2006/relationships/slide" Target="slides/slide102.xml"/><Relationship Id="rId106" Type="http://schemas.openxmlformats.org/officeDocument/2006/relationships/slide" Target="slides/slide103.xml"/><Relationship Id="rId107" Type="http://schemas.openxmlformats.org/officeDocument/2006/relationships/slide" Target="slides/slide104.xml"/><Relationship Id="rId108" Type="http://schemas.openxmlformats.org/officeDocument/2006/relationships/slide" Target="slides/slide105.xml"/><Relationship Id="rId109" Type="http://schemas.openxmlformats.org/officeDocument/2006/relationships/slide" Target="slides/slide106.xml"/><Relationship Id="rId110" Type="http://schemas.openxmlformats.org/officeDocument/2006/relationships/slide" Target="slides/slide107.xml"/><Relationship Id="rId111" Type="http://schemas.openxmlformats.org/officeDocument/2006/relationships/slide" Target="slides/slide108.xml"/><Relationship Id="rId112" Type="http://schemas.openxmlformats.org/officeDocument/2006/relationships/notesMaster" Target="notesMasters/notesMaster1.xml"/><Relationship Id="rId113" Type="http://schemas.openxmlformats.org/officeDocument/2006/relationships/presProps" Target="presProps.xml" /><Relationship Id="rId114" Type="http://schemas.openxmlformats.org/officeDocument/2006/relationships/tableStyles" Target="tableStyles.xml" /><Relationship Id="rId115"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906484168" name="Header Placeholder 1"/>
          <p:cNvSpPr>
            <a:spLocks noGrp="1"/>
          </p:cNvSpPr>
          <p:nvPr>
            <p:ph type="hdr" sz="quarter"/>
          </p:nvPr>
        </p:nvSpPr>
        <p:spPr bwMode="auto">
          <a:xfrm>
            <a:off x="0" y="0"/>
            <a:ext cx="3037840" cy="466434"/>
          </a:xfrm>
          <a:prstGeom prst="rect">
            <a:avLst/>
          </a:prstGeom>
        </p:spPr>
        <p:txBody>
          <a:bodyPr vert="horz" lIns="93167" tIns="46584" rIns="93167" bIns="46584" rtlCol="0"/>
          <a:lstStyle>
            <a:lvl1pPr algn="l">
              <a:defRPr sz="1200"/>
            </a:lvl1pPr>
          </a:lstStyle>
          <a:p>
            <a:pPr>
              <a:defRPr/>
            </a:pPr>
            <a:endParaRPr lang="en-US"/>
          </a:p>
        </p:txBody>
      </p:sp>
      <p:sp>
        <p:nvSpPr>
          <p:cNvPr id="1507722991" name="Date Placeholder 2"/>
          <p:cNvSpPr>
            <a:spLocks noGrp="1"/>
          </p:cNvSpPr>
          <p:nvPr>
            <p:ph type="dt" idx="1"/>
          </p:nvPr>
        </p:nvSpPr>
        <p:spPr bwMode="auto">
          <a:xfrm>
            <a:off x="3970938" y="0"/>
            <a:ext cx="3037840" cy="466434"/>
          </a:xfrm>
          <a:prstGeom prst="rect">
            <a:avLst/>
          </a:prstGeom>
        </p:spPr>
        <p:txBody>
          <a:bodyPr vert="horz" lIns="93167" tIns="46584" rIns="93167" bIns="46584" rtlCol="0"/>
          <a:lstStyle>
            <a:lvl1pPr algn="r">
              <a:defRPr sz="1200"/>
            </a:lvl1pPr>
          </a:lstStyle>
          <a:p>
            <a:pPr>
              <a:defRPr/>
            </a:pPr>
            <a:fld id="{F87AF23C-6CAB-4A6A-B3BC-A88F610E0570}" type="datetimeFigureOut">
              <a:rPr lang="en-US"/>
              <a:t>5/28/2023</a:t>
            </a:fld>
            <a:endParaRPr lang="en-US"/>
          </a:p>
        </p:txBody>
      </p:sp>
      <p:sp>
        <p:nvSpPr>
          <p:cNvPr id="1232637809" name="Slide Image Placeholder 3"/>
          <p:cNvSpPr>
            <a:spLocks noChangeAspect="1" noGrp="1" noRot="1"/>
          </p:cNvSpPr>
          <p:nvPr>
            <p:ph type="sldImg" idx="2"/>
          </p:nvPr>
        </p:nvSpPr>
        <p:spPr bwMode="auto">
          <a:xfrm>
            <a:off x="717550" y="1162050"/>
            <a:ext cx="5575300" cy="3136900"/>
          </a:xfrm>
          <a:prstGeom prst="rect">
            <a:avLst/>
          </a:prstGeom>
          <a:noFill/>
          <a:ln w="12700">
            <a:solidFill>
              <a:prstClr val="black"/>
            </a:solidFill>
          </a:ln>
        </p:spPr>
        <p:txBody>
          <a:bodyPr vert="horz" lIns="93167" tIns="46584" rIns="93167" bIns="46584" rtlCol="0" anchor="ctr"/>
          <a:lstStyle/>
          <a:p>
            <a:pPr>
              <a:defRPr/>
            </a:pPr>
            <a:endParaRPr lang="en-US"/>
          </a:p>
        </p:txBody>
      </p:sp>
      <p:sp>
        <p:nvSpPr>
          <p:cNvPr id="1603722375" name="Notes Placeholder 4"/>
          <p:cNvSpPr>
            <a:spLocks noGrp="1"/>
          </p:cNvSpPr>
          <p:nvPr>
            <p:ph type="body" sz="quarter" idx="3"/>
          </p:nvPr>
        </p:nvSpPr>
        <p:spPr bwMode="auto">
          <a:xfrm>
            <a:off x="701040" y="4473892"/>
            <a:ext cx="5608320" cy="3660458"/>
          </a:xfrm>
          <a:prstGeom prst="rect">
            <a:avLst/>
          </a:prstGeom>
        </p:spPr>
        <p:txBody>
          <a:bodyPr vert="horz" lIns="93167" tIns="46584" rIns="93167" bIns="46584"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827209145" name="Footer Placeholder 5"/>
          <p:cNvSpPr>
            <a:spLocks noGrp="1"/>
          </p:cNvSpPr>
          <p:nvPr>
            <p:ph type="ftr" sz="quarter" idx="4"/>
          </p:nvPr>
        </p:nvSpPr>
        <p:spPr bwMode="auto">
          <a:xfrm>
            <a:off x="0" y="8829969"/>
            <a:ext cx="3037840" cy="466433"/>
          </a:xfrm>
          <a:prstGeom prst="rect">
            <a:avLst/>
          </a:prstGeom>
        </p:spPr>
        <p:txBody>
          <a:bodyPr vert="horz" lIns="93167" tIns="46584" rIns="93167" bIns="46584" rtlCol="0" anchor="b"/>
          <a:lstStyle>
            <a:lvl1pPr algn="l">
              <a:defRPr sz="1200"/>
            </a:lvl1pPr>
          </a:lstStyle>
          <a:p>
            <a:pPr>
              <a:defRPr/>
            </a:pPr>
            <a:endParaRPr lang="en-US"/>
          </a:p>
        </p:txBody>
      </p:sp>
      <p:sp>
        <p:nvSpPr>
          <p:cNvPr id="569446725" name="Slide Number Placeholder 6"/>
          <p:cNvSpPr>
            <a:spLocks noGrp="1"/>
          </p:cNvSpPr>
          <p:nvPr>
            <p:ph type="sldNum" sz="quarter" idx="5"/>
          </p:nvPr>
        </p:nvSpPr>
        <p:spPr bwMode="auto">
          <a:xfrm>
            <a:off x="3970938" y="8829969"/>
            <a:ext cx="3037840" cy="466433"/>
          </a:xfrm>
          <a:prstGeom prst="rect">
            <a:avLst/>
          </a:prstGeom>
        </p:spPr>
        <p:txBody>
          <a:bodyPr vert="horz" lIns="93167" tIns="46584" rIns="93167" bIns="46584" rtlCol="0" anchor="b"/>
          <a:lstStyle>
            <a:lvl1pPr algn="r">
              <a:defRPr sz="1200"/>
            </a:lvl1pPr>
          </a:lstStyle>
          <a:p>
            <a:pPr>
              <a:defRPr/>
            </a:pPr>
            <a:fld id="{A6F8110F-5CB8-4B7A-89C2-96B671E6053B}"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354" rtl="0">
      <a:defRPr sz="1200">
        <a:solidFill>
          <a:schemeClr val="tx1"/>
        </a:solidFill>
        <a:latin typeface="+mn-lt"/>
        <a:ea typeface="+mn-ea"/>
        <a:cs typeface="+mn-cs"/>
      </a:defRPr>
    </a:lvl1pPr>
    <a:lvl2pPr marL="457178" algn="l" defTabSz="914354" rtl="0">
      <a:defRPr sz="1200">
        <a:solidFill>
          <a:schemeClr val="tx1"/>
        </a:solidFill>
        <a:latin typeface="+mn-lt"/>
        <a:ea typeface="+mn-ea"/>
        <a:cs typeface="+mn-cs"/>
      </a:defRPr>
    </a:lvl2pPr>
    <a:lvl3pPr marL="914354" algn="l" defTabSz="914354" rtl="0">
      <a:defRPr sz="1200">
        <a:solidFill>
          <a:schemeClr val="tx1"/>
        </a:solidFill>
        <a:latin typeface="+mn-lt"/>
        <a:ea typeface="+mn-ea"/>
        <a:cs typeface="+mn-cs"/>
      </a:defRPr>
    </a:lvl3pPr>
    <a:lvl4pPr marL="1371532" algn="l" defTabSz="914354" rtl="0">
      <a:defRPr sz="1200">
        <a:solidFill>
          <a:schemeClr val="tx1"/>
        </a:solidFill>
        <a:latin typeface="+mn-lt"/>
        <a:ea typeface="+mn-ea"/>
        <a:cs typeface="+mn-cs"/>
      </a:defRPr>
    </a:lvl4pPr>
    <a:lvl5pPr marL="1828709" algn="l" defTabSz="914354" rtl="0">
      <a:defRPr sz="1200">
        <a:solidFill>
          <a:schemeClr val="tx1"/>
        </a:solidFill>
        <a:latin typeface="+mn-lt"/>
        <a:ea typeface="+mn-ea"/>
        <a:cs typeface="+mn-cs"/>
      </a:defRPr>
    </a:lvl5pPr>
    <a:lvl6pPr marL="2285886" algn="l" defTabSz="914354" rtl="0">
      <a:defRPr sz="1200">
        <a:solidFill>
          <a:schemeClr val="tx1"/>
        </a:solidFill>
        <a:latin typeface="+mn-lt"/>
        <a:ea typeface="+mn-ea"/>
        <a:cs typeface="+mn-cs"/>
      </a:defRPr>
    </a:lvl6pPr>
    <a:lvl7pPr marL="2743062" algn="l" defTabSz="914354" rtl="0">
      <a:defRPr sz="1200">
        <a:solidFill>
          <a:schemeClr val="tx1"/>
        </a:solidFill>
        <a:latin typeface="+mn-lt"/>
        <a:ea typeface="+mn-ea"/>
        <a:cs typeface="+mn-cs"/>
      </a:defRPr>
    </a:lvl7pPr>
    <a:lvl8pPr marL="3200240" algn="l" defTabSz="914354" rtl="0">
      <a:defRPr sz="1200">
        <a:solidFill>
          <a:schemeClr val="tx1"/>
        </a:solidFill>
        <a:latin typeface="+mn-lt"/>
        <a:ea typeface="+mn-ea"/>
        <a:cs typeface="+mn-cs"/>
      </a:defRPr>
    </a:lvl8pPr>
    <a:lvl9pPr marL="3657418" algn="l" defTabSz="914354"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6599136" name="Rectangle 7"/>
          <p:cNvSpPr>
            <a:spLocks noChangeArrowheads="1" noGrp="1"/>
          </p:cNvSpPr>
          <p:nvPr>
            <p:ph type="sldNum" sz="quarter" idx="5"/>
          </p:nvPr>
        </p:nvSpPr>
        <p:spPr bwMode="auto">
          <a:prstGeom prst="rect">
            <a:avLst/>
          </a:prstGeom>
          <a:noFill/>
          <a:ln/>
        </p:spPr>
        <p:txBody>
          <a:bodyPr/>
          <a:lstStyle>
            <a:lvl1pPr defTabSz="931863">
              <a:defRPr sz="2800">
                <a:solidFill>
                  <a:schemeClr val="tx1"/>
                </a:solidFill>
                <a:latin typeface="Tahoma"/>
              </a:defRPr>
            </a:lvl1pPr>
            <a:lvl2pPr marL="742950" indent="-285750" defTabSz="931863">
              <a:defRPr sz="2800">
                <a:solidFill>
                  <a:schemeClr val="tx1"/>
                </a:solidFill>
                <a:latin typeface="Tahoma"/>
              </a:defRPr>
            </a:lvl2pPr>
            <a:lvl3pPr marL="1143000" indent="-228600" defTabSz="931863">
              <a:defRPr sz="2800">
                <a:solidFill>
                  <a:schemeClr val="tx1"/>
                </a:solidFill>
                <a:latin typeface="Tahoma"/>
              </a:defRPr>
            </a:lvl3pPr>
            <a:lvl4pPr marL="1600200" indent="-228600" defTabSz="931863">
              <a:defRPr sz="2800">
                <a:solidFill>
                  <a:schemeClr val="tx1"/>
                </a:solidFill>
                <a:latin typeface="Tahoma"/>
              </a:defRPr>
            </a:lvl4pPr>
            <a:lvl5pPr marL="2057400" indent="-228600" defTabSz="931863">
              <a:defRPr sz="2800">
                <a:solidFill>
                  <a:schemeClr val="tx1"/>
                </a:solidFill>
                <a:latin typeface="Tahoma"/>
              </a:defRPr>
            </a:lvl5pPr>
            <a:lvl6pPr marL="2514600" indent="-228600" defTabSz="931863">
              <a:spcBef>
                <a:spcPts val="0"/>
              </a:spcBef>
              <a:spcAft>
                <a:spcPts val="0"/>
              </a:spcAft>
              <a:defRPr sz="2800">
                <a:solidFill>
                  <a:schemeClr val="tx1"/>
                </a:solidFill>
                <a:latin typeface="Tahoma"/>
              </a:defRPr>
            </a:lvl6pPr>
            <a:lvl7pPr marL="2971800" indent="-228600" defTabSz="931863">
              <a:spcBef>
                <a:spcPts val="0"/>
              </a:spcBef>
              <a:spcAft>
                <a:spcPts val="0"/>
              </a:spcAft>
              <a:defRPr sz="2800">
                <a:solidFill>
                  <a:schemeClr val="tx1"/>
                </a:solidFill>
                <a:latin typeface="Tahoma"/>
              </a:defRPr>
            </a:lvl7pPr>
            <a:lvl8pPr marL="3429000" indent="-228600" defTabSz="931863">
              <a:spcBef>
                <a:spcPts val="0"/>
              </a:spcBef>
              <a:spcAft>
                <a:spcPts val="0"/>
              </a:spcAft>
              <a:defRPr sz="2800">
                <a:solidFill>
                  <a:schemeClr val="tx1"/>
                </a:solidFill>
                <a:latin typeface="Tahoma"/>
              </a:defRPr>
            </a:lvl8pPr>
            <a:lvl9pPr marL="3886200" indent="-228600" defTabSz="931863">
              <a:spcBef>
                <a:spcPts val="0"/>
              </a:spcBef>
              <a:spcAft>
                <a:spcPts val="0"/>
              </a:spcAft>
              <a:defRPr sz="2800">
                <a:solidFill>
                  <a:schemeClr val="tx1"/>
                </a:solidFill>
                <a:latin typeface="Tahoma"/>
              </a:defRPr>
            </a:lvl9pPr>
          </a:lstStyle>
          <a:p>
            <a:pPr>
              <a:defRPr/>
            </a:pPr>
            <a:fld id="{29BE47E6-A684-41E8-A8D2-AEB21EE26F6A}" type="slidenum">
              <a:rPr lang="en-US" sz="1200"/>
              <a:t>1</a:t>
            </a:fld>
            <a:endParaRPr lang="en-US" sz="1200"/>
          </a:p>
        </p:txBody>
      </p:sp>
      <p:sp>
        <p:nvSpPr>
          <p:cNvPr id="1410427063" name="Rectangle 2"/>
          <p:cNvSpPr>
            <a:spLocks noChangeArrowheads="1" noChangeAspect="1" noGrp="1" noRot="1" noTextEdit="1"/>
          </p:cNvSpPr>
          <p:nvPr>
            <p:ph type="sldImg"/>
          </p:nvPr>
        </p:nvSpPr>
        <p:spPr bwMode="auto">
          <a:ln/>
        </p:spPr>
      </p:sp>
      <p:sp>
        <p:nvSpPr>
          <p:cNvPr id="137508504" name="Rectangle 3"/>
          <p:cNvSpPr>
            <a:spLocks noChangeArrowheads="1" noGrp="1"/>
          </p:cNvSpPr>
          <p:nvPr>
            <p:ph type="body" idx="1"/>
          </p:nvPr>
        </p:nvSpPr>
        <p:spPr bwMode="auto">
          <a:prstGeom prst="rect">
            <a:avLst/>
          </a:prstGeom>
          <a:noFill/>
          <a:ln/>
        </p:spPr>
        <p:txBody>
          <a:bodyPr/>
          <a:lstStyle/>
          <a:p>
            <a:pPr>
              <a:defRPr/>
            </a:pPr>
            <a:endParaRPr lang="en-US" b="1"/>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13444810" name="Rectangle 7"/>
          <p:cNvSpPr>
            <a:spLocks noChangeArrowheads="1" noGrp="1"/>
          </p:cNvSpPr>
          <p:nvPr>
            <p:ph type="sldNum" sz="quarter" idx="5"/>
          </p:nvPr>
        </p:nvSpPr>
        <p:spPr bwMode="auto">
          <a:prstGeom prst="rect">
            <a:avLst/>
          </a:prstGeom>
          <a:noFill/>
          <a:ln/>
        </p:spPr>
        <p:txBody>
          <a:bodyPr/>
          <a:lstStyle>
            <a:lvl1pPr defTabSz="931863">
              <a:defRPr sz="2800">
                <a:solidFill>
                  <a:schemeClr val="tx1"/>
                </a:solidFill>
                <a:latin typeface="Tahoma"/>
              </a:defRPr>
            </a:lvl1pPr>
            <a:lvl2pPr marL="742950" indent="-285750" defTabSz="931863">
              <a:defRPr sz="2800">
                <a:solidFill>
                  <a:schemeClr val="tx1"/>
                </a:solidFill>
                <a:latin typeface="Tahoma"/>
              </a:defRPr>
            </a:lvl2pPr>
            <a:lvl3pPr marL="1143000" indent="-228600" defTabSz="931863">
              <a:defRPr sz="2800">
                <a:solidFill>
                  <a:schemeClr val="tx1"/>
                </a:solidFill>
                <a:latin typeface="Tahoma"/>
              </a:defRPr>
            </a:lvl3pPr>
            <a:lvl4pPr marL="1600200" indent="-228600" defTabSz="931863">
              <a:defRPr sz="2800">
                <a:solidFill>
                  <a:schemeClr val="tx1"/>
                </a:solidFill>
                <a:latin typeface="Tahoma"/>
              </a:defRPr>
            </a:lvl4pPr>
            <a:lvl5pPr marL="2057400" indent="-228600" defTabSz="931863">
              <a:defRPr sz="2800">
                <a:solidFill>
                  <a:schemeClr val="tx1"/>
                </a:solidFill>
                <a:latin typeface="Tahoma"/>
              </a:defRPr>
            </a:lvl5pPr>
            <a:lvl6pPr marL="2514600" indent="-228600" defTabSz="931863">
              <a:spcBef>
                <a:spcPts val="0"/>
              </a:spcBef>
              <a:spcAft>
                <a:spcPts val="0"/>
              </a:spcAft>
              <a:defRPr sz="2800">
                <a:solidFill>
                  <a:schemeClr val="tx1"/>
                </a:solidFill>
                <a:latin typeface="Tahoma"/>
              </a:defRPr>
            </a:lvl6pPr>
            <a:lvl7pPr marL="2971800" indent="-228600" defTabSz="931863">
              <a:spcBef>
                <a:spcPts val="0"/>
              </a:spcBef>
              <a:spcAft>
                <a:spcPts val="0"/>
              </a:spcAft>
              <a:defRPr sz="2800">
                <a:solidFill>
                  <a:schemeClr val="tx1"/>
                </a:solidFill>
                <a:latin typeface="Tahoma"/>
              </a:defRPr>
            </a:lvl7pPr>
            <a:lvl8pPr marL="3429000" indent="-228600" defTabSz="931863">
              <a:spcBef>
                <a:spcPts val="0"/>
              </a:spcBef>
              <a:spcAft>
                <a:spcPts val="0"/>
              </a:spcAft>
              <a:defRPr sz="2800">
                <a:solidFill>
                  <a:schemeClr val="tx1"/>
                </a:solidFill>
                <a:latin typeface="Tahoma"/>
              </a:defRPr>
            </a:lvl8pPr>
            <a:lvl9pPr marL="3886200" indent="-228600" defTabSz="931863">
              <a:spcBef>
                <a:spcPts val="0"/>
              </a:spcBef>
              <a:spcAft>
                <a:spcPts val="0"/>
              </a:spcAft>
              <a:defRPr sz="2800">
                <a:solidFill>
                  <a:schemeClr val="tx1"/>
                </a:solidFill>
                <a:latin typeface="Tahoma"/>
              </a:defRPr>
            </a:lvl9pPr>
          </a:lstStyle>
          <a:p>
            <a:pPr>
              <a:defRPr/>
            </a:pPr>
            <a:fld id="{BAD32829-D2BA-444B-B42E-B3758B849273}" type="slidenum">
              <a:rPr lang="en-US" sz="1200"/>
              <a:t>2</a:t>
            </a:fld>
            <a:endParaRPr lang="en-US" sz="1200"/>
          </a:p>
        </p:txBody>
      </p:sp>
      <p:sp>
        <p:nvSpPr>
          <p:cNvPr id="1036563467" name="Rectangle 2"/>
          <p:cNvSpPr>
            <a:spLocks noChangeArrowheads="1" noChangeAspect="1" noGrp="1" noRot="1" noTextEdit="1"/>
          </p:cNvSpPr>
          <p:nvPr>
            <p:ph type="sldImg"/>
          </p:nvPr>
        </p:nvSpPr>
        <p:spPr bwMode="auto">
          <a:ln/>
        </p:spPr>
      </p:sp>
      <p:sp>
        <p:nvSpPr>
          <p:cNvPr id="125788547"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0183062" name="Rectangle 7"/>
          <p:cNvSpPr>
            <a:spLocks noChangeArrowheads="1" noGrp="1"/>
          </p:cNvSpPr>
          <p:nvPr>
            <p:ph type="sldNum" sz="quarter" idx="5"/>
          </p:nvPr>
        </p:nvSpPr>
        <p:spPr bwMode="auto">
          <a:prstGeom prst="rect">
            <a:avLst/>
          </a:prstGeom>
          <a:noFill/>
          <a:ln/>
        </p:spPr>
        <p:txBody>
          <a:bodyPr/>
          <a:lstStyle>
            <a:lvl1pPr defTabSz="931863">
              <a:defRPr sz="2800">
                <a:solidFill>
                  <a:schemeClr val="tx1"/>
                </a:solidFill>
                <a:latin typeface="Tahoma"/>
              </a:defRPr>
            </a:lvl1pPr>
            <a:lvl2pPr marL="742950" indent="-285750" defTabSz="931863">
              <a:defRPr sz="2800">
                <a:solidFill>
                  <a:schemeClr val="tx1"/>
                </a:solidFill>
                <a:latin typeface="Tahoma"/>
              </a:defRPr>
            </a:lvl2pPr>
            <a:lvl3pPr marL="1143000" indent="-228600" defTabSz="931863">
              <a:defRPr sz="2800">
                <a:solidFill>
                  <a:schemeClr val="tx1"/>
                </a:solidFill>
                <a:latin typeface="Tahoma"/>
              </a:defRPr>
            </a:lvl3pPr>
            <a:lvl4pPr marL="1600200" indent="-228600" defTabSz="931863">
              <a:defRPr sz="2800">
                <a:solidFill>
                  <a:schemeClr val="tx1"/>
                </a:solidFill>
                <a:latin typeface="Tahoma"/>
              </a:defRPr>
            </a:lvl4pPr>
            <a:lvl5pPr marL="2057400" indent="-228600" defTabSz="931863">
              <a:defRPr sz="2800">
                <a:solidFill>
                  <a:schemeClr val="tx1"/>
                </a:solidFill>
                <a:latin typeface="Tahoma"/>
              </a:defRPr>
            </a:lvl5pPr>
            <a:lvl6pPr marL="2514600" indent="-228600" defTabSz="931863">
              <a:spcBef>
                <a:spcPts val="0"/>
              </a:spcBef>
              <a:spcAft>
                <a:spcPts val="0"/>
              </a:spcAft>
              <a:defRPr sz="2800">
                <a:solidFill>
                  <a:schemeClr val="tx1"/>
                </a:solidFill>
                <a:latin typeface="Tahoma"/>
              </a:defRPr>
            </a:lvl6pPr>
            <a:lvl7pPr marL="2971800" indent="-228600" defTabSz="931863">
              <a:spcBef>
                <a:spcPts val="0"/>
              </a:spcBef>
              <a:spcAft>
                <a:spcPts val="0"/>
              </a:spcAft>
              <a:defRPr sz="2800">
                <a:solidFill>
                  <a:schemeClr val="tx1"/>
                </a:solidFill>
                <a:latin typeface="Tahoma"/>
              </a:defRPr>
            </a:lvl7pPr>
            <a:lvl8pPr marL="3429000" indent="-228600" defTabSz="931863">
              <a:spcBef>
                <a:spcPts val="0"/>
              </a:spcBef>
              <a:spcAft>
                <a:spcPts val="0"/>
              </a:spcAft>
              <a:defRPr sz="2800">
                <a:solidFill>
                  <a:schemeClr val="tx1"/>
                </a:solidFill>
                <a:latin typeface="Tahoma"/>
              </a:defRPr>
            </a:lvl8pPr>
            <a:lvl9pPr marL="3886200" indent="-228600" defTabSz="931863">
              <a:spcBef>
                <a:spcPts val="0"/>
              </a:spcBef>
              <a:spcAft>
                <a:spcPts val="0"/>
              </a:spcAft>
              <a:defRPr sz="2800">
                <a:solidFill>
                  <a:schemeClr val="tx1"/>
                </a:solidFill>
                <a:latin typeface="Tahoma"/>
              </a:defRPr>
            </a:lvl9pPr>
          </a:lstStyle>
          <a:p>
            <a:pPr>
              <a:defRPr/>
            </a:pPr>
            <a:fld id="{BAD32829-D2BA-444B-B42E-B3758B849273}" type="slidenum">
              <a:rPr lang="en-US" sz="1200"/>
              <a:t>3</a:t>
            </a:fld>
            <a:endParaRPr lang="en-US" sz="1200"/>
          </a:p>
        </p:txBody>
      </p:sp>
      <p:sp>
        <p:nvSpPr>
          <p:cNvPr id="655603247" name="Rectangle 2"/>
          <p:cNvSpPr>
            <a:spLocks noChangeArrowheads="1" noChangeAspect="1" noGrp="1" noRot="1" noTextEdit="1"/>
          </p:cNvSpPr>
          <p:nvPr>
            <p:ph type="sldImg"/>
          </p:nvPr>
        </p:nvSpPr>
        <p:spPr bwMode="auto">
          <a:ln/>
        </p:spPr>
      </p:sp>
      <p:sp>
        <p:nvSpPr>
          <p:cNvPr id="816098987"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45898468" name="Rectangle 7"/>
          <p:cNvSpPr>
            <a:spLocks noChangeArrowheads="1" noGrp="1"/>
          </p:cNvSpPr>
          <p:nvPr>
            <p:ph type="sldNum" sz="quarter" idx="5"/>
          </p:nvPr>
        </p:nvSpPr>
        <p:spPr bwMode="auto">
          <a:prstGeom prst="rect">
            <a:avLst/>
          </a:prstGeom>
          <a:noFill/>
          <a:ln/>
        </p:spPr>
        <p:txBody>
          <a:bodyPr/>
          <a:lstStyle>
            <a:lvl1pPr defTabSz="931863">
              <a:defRPr sz="2800">
                <a:solidFill>
                  <a:schemeClr val="tx1"/>
                </a:solidFill>
                <a:latin typeface="Tahoma"/>
              </a:defRPr>
            </a:lvl1pPr>
            <a:lvl2pPr marL="742950" indent="-285750" defTabSz="931863">
              <a:defRPr sz="2800">
                <a:solidFill>
                  <a:schemeClr val="tx1"/>
                </a:solidFill>
                <a:latin typeface="Tahoma"/>
              </a:defRPr>
            </a:lvl2pPr>
            <a:lvl3pPr marL="1143000" indent="-228600" defTabSz="931863">
              <a:defRPr sz="2800">
                <a:solidFill>
                  <a:schemeClr val="tx1"/>
                </a:solidFill>
                <a:latin typeface="Tahoma"/>
              </a:defRPr>
            </a:lvl3pPr>
            <a:lvl4pPr marL="1600200" indent="-228600" defTabSz="931863">
              <a:defRPr sz="2800">
                <a:solidFill>
                  <a:schemeClr val="tx1"/>
                </a:solidFill>
                <a:latin typeface="Tahoma"/>
              </a:defRPr>
            </a:lvl4pPr>
            <a:lvl5pPr marL="2057400" indent="-228600" defTabSz="931863">
              <a:defRPr sz="2800">
                <a:solidFill>
                  <a:schemeClr val="tx1"/>
                </a:solidFill>
                <a:latin typeface="Tahoma"/>
              </a:defRPr>
            </a:lvl5pPr>
            <a:lvl6pPr marL="2514600" indent="-228600" defTabSz="931863">
              <a:spcBef>
                <a:spcPts val="0"/>
              </a:spcBef>
              <a:spcAft>
                <a:spcPts val="0"/>
              </a:spcAft>
              <a:defRPr sz="2800">
                <a:solidFill>
                  <a:schemeClr val="tx1"/>
                </a:solidFill>
                <a:latin typeface="Tahoma"/>
              </a:defRPr>
            </a:lvl6pPr>
            <a:lvl7pPr marL="2971800" indent="-228600" defTabSz="931863">
              <a:spcBef>
                <a:spcPts val="0"/>
              </a:spcBef>
              <a:spcAft>
                <a:spcPts val="0"/>
              </a:spcAft>
              <a:defRPr sz="2800">
                <a:solidFill>
                  <a:schemeClr val="tx1"/>
                </a:solidFill>
                <a:latin typeface="Tahoma"/>
              </a:defRPr>
            </a:lvl7pPr>
            <a:lvl8pPr marL="3429000" indent="-228600" defTabSz="931863">
              <a:spcBef>
                <a:spcPts val="0"/>
              </a:spcBef>
              <a:spcAft>
                <a:spcPts val="0"/>
              </a:spcAft>
              <a:defRPr sz="2800">
                <a:solidFill>
                  <a:schemeClr val="tx1"/>
                </a:solidFill>
                <a:latin typeface="Tahoma"/>
              </a:defRPr>
            </a:lvl8pPr>
            <a:lvl9pPr marL="3886200" indent="-228600" defTabSz="931863">
              <a:spcBef>
                <a:spcPts val="0"/>
              </a:spcBef>
              <a:spcAft>
                <a:spcPts val="0"/>
              </a:spcAft>
              <a:defRPr sz="2800">
                <a:solidFill>
                  <a:schemeClr val="tx1"/>
                </a:solidFill>
                <a:latin typeface="Tahoma"/>
              </a:defRPr>
            </a:lvl9pPr>
          </a:lstStyle>
          <a:p>
            <a:pPr>
              <a:defRPr/>
            </a:pPr>
            <a:fld id="{BAD32829-D2BA-444B-B42E-B3758B849273}" type="slidenum">
              <a:rPr lang="en-US" sz="1200"/>
              <a:t>4</a:t>
            </a:fld>
            <a:endParaRPr lang="en-US" sz="1200"/>
          </a:p>
        </p:txBody>
      </p:sp>
      <p:sp>
        <p:nvSpPr>
          <p:cNvPr id="1664382854" name="Rectangle 2"/>
          <p:cNvSpPr>
            <a:spLocks noChangeArrowheads="1" noChangeAspect="1" noGrp="1" noRot="1" noTextEdit="1"/>
          </p:cNvSpPr>
          <p:nvPr>
            <p:ph type="sldImg"/>
          </p:nvPr>
        </p:nvSpPr>
        <p:spPr bwMode="auto">
          <a:ln/>
        </p:spPr>
      </p:sp>
      <p:sp>
        <p:nvSpPr>
          <p:cNvPr id="1027990683"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899108" name="Rectangle 7"/>
          <p:cNvSpPr>
            <a:spLocks noChangeArrowheads="1" noGrp="1"/>
          </p:cNvSpPr>
          <p:nvPr>
            <p:ph type="sldNum" sz="quarter" idx="5"/>
          </p:nvPr>
        </p:nvSpPr>
        <p:spPr bwMode="auto">
          <a:prstGeom prst="rect">
            <a:avLst/>
          </a:prstGeom>
          <a:noFill/>
          <a:ln/>
        </p:spPr>
        <p:txBody>
          <a:bodyPr/>
          <a:lstStyle>
            <a:lvl1pPr defTabSz="931863">
              <a:defRPr sz="2800">
                <a:solidFill>
                  <a:schemeClr val="tx1"/>
                </a:solidFill>
                <a:latin typeface="Tahoma"/>
              </a:defRPr>
            </a:lvl1pPr>
            <a:lvl2pPr marL="742950" indent="-285750" defTabSz="931863">
              <a:defRPr sz="2800">
                <a:solidFill>
                  <a:schemeClr val="tx1"/>
                </a:solidFill>
                <a:latin typeface="Tahoma"/>
              </a:defRPr>
            </a:lvl2pPr>
            <a:lvl3pPr marL="1143000" indent="-228600" defTabSz="931863">
              <a:defRPr sz="2800">
                <a:solidFill>
                  <a:schemeClr val="tx1"/>
                </a:solidFill>
                <a:latin typeface="Tahoma"/>
              </a:defRPr>
            </a:lvl3pPr>
            <a:lvl4pPr marL="1600200" indent="-228600" defTabSz="931863">
              <a:defRPr sz="2800">
                <a:solidFill>
                  <a:schemeClr val="tx1"/>
                </a:solidFill>
                <a:latin typeface="Tahoma"/>
              </a:defRPr>
            </a:lvl4pPr>
            <a:lvl5pPr marL="2057400" indent="-228600" defTabSz="931863">
              <a:defRPr sz="2800">
                <a:solidFill>
                  <a:schemeClr val="tx1"/>
                </a:solidFill>
                <a:latin typeface="Tahoma"/>
              </a:defRPr>
            </a:lvl5pPr>
            <a:lvl6pPr marL="2514600" indent="-228600" defTabSz="931863">
              <a:spcBef>
                <a:spcPts val="0"/>
              </a:spcBef>
              <a:spcAft>
                <a:spcPts val="0"/>
              </a:spcAft>
              <a:defRPr sz="2800">
                <a:solidFill>
                  <a:schemeClr val="tx1"/>
                </a:solidFill>
                <a:latin typeface="Tahoma"/>
              </a:defRPr>
            </a:lvl6pPr>
            <a:lvl7pPr marL="2971800" indent="-228600" defTabSz="931863">
              <a:spcBef>
                <a:spcPts val="0"/>
              </a:spcBef>
              <a:spcAft>
                <a:spcPts val="0"/>
              </a:spcAft>
              <a:defRPr sz="2800">
                <a:solidFill>
                  <a:schemeClr val="tx1"/>
                </a:solidFill>
                <a:latin typeface="Tahoma"/>
              </a:defRPr>
            </a:lvl7pPr>
            <a:lvl8pPr marL="3429000" indent="-228600" defTabSz="931863">
              <a:spcBef>
                <a:spcPts val="0"/>
              </a:spcBef>
              <a:spcAft>
                <a:spcPts val="0"/>
              </a:spcAft>
              <a:defRPr sz="2800">
                <a:solidFill>
                  <a:schemeClr val="tx1"/>
                </a:solidFill>
                <a:latin typeface="Tahoma"/>
              </a:defRPr>
            </a:lvl8pPr>
            <a:lvl9pPr marL="3886200" indent="-228600" defTabSz="931863">
              <a:spcBef>
                <a:spcPts val="0"/>
              </a:spcBef>
              <a:spcAft>
                <a:spcPts val="0"/>
              </a:spcAft>
              <a:defRPr sz="2800">
                <a:solidFill>
                  <a:schemeClr val="tx1"/>
                </a:solidFill>
                <a:latin typeface="Tahoma"/>
              </a:defRPr>
            </a:lvl9pPr>
          </a:lstStyle>
          <a:p>
            <a:pPr>
              <a:defRPr/>
            </a:pPr>
            <a:fld id="{BAD32829-D2BA-444B-B42E-B3758B849273}" type="slidenum">
              <a:rPr lang="en-US" sz="1200"/>
              <a:t>5</a:t>
            </a:fld>
            <a:endParaRPr lang="en-US" sz="1200"/>
          </a:p>
        </p:txBody>
      </p:sp>
      <p:sp>
        <p:nvSpPr>
          <p:cNvPr id="494105958" name="Rectangle 2"/>
          <p:cNvSpPr>
            <a:spLocks noChangeArrowheads="1" noChangeAspect="1" noGrp="1" noRot="1" noTextEdit="1"/>
          </p:cNvSpPr>
          <p:nvPr>
            <p:ph type="sldImg"/>
          </p:nvPr>
        </p:nvSpPr>
        <p:spPr bwMode="auto">
          <a:ln/>
        </p:spPr>
      </p:sp>
      <p:sp>
        <p:nvSpPr>
          <p:cNvPr id="393520084"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1377729"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99A9A000-695C-426A-A955-BCB5691A07F3}" type="slidenum">
              <a:rPr lang="en-US"/>
              <a:t>6</a:t>
            </a:fld>
            <a:endParaRPr lang="en-US"/>
          </a:p>
        </p:txBody>
      </p:sp>
      <p:sp>
        <p:nvSpPr>
          <p:cNvPr id="1913642534" name="Rectangle 2"/>
          <p:cNvSpPr>
            <a:spLocks noChangeArrowheads="1" noChangeAspect="1" noGrp="1" noRot="1" noTextEdit="1"/>
          </p:cNvSpPr>
          <p:nvPr>
            <p:ph type="sldImg"/>
          </p:nvPr>
        </p:nvSpPr>
        <p:spPr bwMode="auto">
          <a:xfrm>
            <a:off x="346075" y="698500"/>
            <a:ext cx="6192837" cy="3484563"/>
          </a:xfrm>
          <a:ln/>
        </p:spPr>
      </p:sp>
      <p:sp>
        <p:nvSpPr>
          <p:cNvPr id="2064150426" name="Rectangle 3"/>
          <p:cNvSpPr>
            <a:spLocks noChangeArrowheads="1" noGrp="1"/>
          </p:cNvSpPr>
          <p:nvPr>
            <p:ph type="body" idx="1"/>
          </p:nvPr>
        </p:nvSpPr>
        <p:spPr bwMode="auto">
          <a:xfrm>
            <a:off x="917575" y="4414838"/>
            <a:ext cx="5046663" cy="4183062"/>
          </a:xfrm>
          <a:prstGeom prst="rect">
            <a:avLst/>
          </a:prstGeom>
          <a:noFill/>
          <a:ln/>
        </p:spPr>
        <p:txBody>
          <a:bodyPr lIns="90747" tIns="45373" rIns="90747" bIns="45373"/>
          <a:lstStyle/>
          <a:p>
            <a:pPr>
              <a:defRPr/>
            </a:pP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00431197" name="Slide Image Placeholder 1"/>
          <p:cNvSpPr>
            <a:spLocks noChangeAspect="1" noGrp="1" noRot="1" noTextEdit="1"/>
          </p:cNvSpPr>
          <p:nvPr>
            <p:ph type="sldImg"/>
          </p:nvPr>
        </p:nvSpPr>
        <p:spPr bwMode="auto">
          <a:ln/>
        </p:spPr>
      </p:sp>
      <p:sp>
        <p:nvSpPr>
          <p:cNvPr id="1347569333" name="Notes Placeholder 2"/>
          <p:cNvSpPr>
            <a:spLocks noGrp="1"/>
          </p:cNvSpPr>
          <p:nvPr>
            <p:ph type="body" idx="1"/>
          </p:nvPr>
        </p:nvSpPr>
        <p:spPr bwMode="auto">
          <a:prstGeom prst="rect">
            <a:avLst/>
          </a:prstGeom>
          <a:noFill/>
          <a:ln/>
        </p:spPr>
        <p:txBody>
          <a:bodyPr/>
          <a:lstStyle/>
          <a:p>
            <a:pPr>
              <a:defRPr/>
            </a:pPr>
            <a:endParaRPr lang="en-US"/>
          </a:p>
        </p:txBody>
      </p:sp>
      <p:sp>
        <p:nvSpPr>
          <p:cNvPr id="111571423" name="Slide Number Placeholder 3"/>
          <p:cNvSpPr>
            <a:spLocks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740EA108-B661-449A-8B49-8ED13120A001}"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1029014" name="Slide Image Placeholder 1"/>
          <p:cNvSpPr>
            <a:spLocks noChangeAspect="1" noGrp="1" noRot="1" noTextEdit="1"/>
          </p:cNvSpPr>
          <p:nvPr>
            <p:ph type="sldImg"/>
          </p:nvPr>
        </p:nvSpPr>
        <p:spPr bwMode="auto">
          <a:ln/>
        </p:spPr>
      </p:sp>
      <p:sp>
        <p:nvSpPr>
          <p:cNvPr id="1552745964" name="Notes Placeholder 2"/>
          <p:cNvSpPr>
            <a:spLocks noGrp="1"/>
          </p:cNvSpPr>
          <p:nvPr>
            <p:ph type="body" idx="1"/>
          </p:nvPr>
        </p:nvSpPr>
        <p:spPr bwMode="auto">
          <a:prstGeom prst="rect">
            <a:avLst/>
          </a:prstGeom>
          <a:noFill/>
          <a:ln/>
        </p:spPr>
        <p:txBody>
          <a:bodyPr/>
          <a:lstStyle/>
          <a:p>
            <a:pPr>
              <a:defRPr/>
            </a:pPr>
            <a:endParaRPr lang="en-US"/>
          </a:p>
        </p:txBody>
      </p:sp>
      <p:sp>
        <p:nvSpPr>
          <p:cNvPr id="1788607724" name="Slide Number Placeholder 3"/>
          <p:cNvSpPr>
            <a:spLocks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1E1E230E-4AD5-40B1-BE3E-2B62A0E13469}"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8339840"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4DD4C30E-8644-4685-AE37-561BF0C21D59}" type="slidenum">
              <a:rPr lang="en-US"/>
              <a:t>9</a:t>
            </a:fld>
            <a:endParaRPr lang="en-US"/>
          </a:p>
        </p:txBody>
      </p:sp>
      <p:sp>
        <p:nvSpPr>
          <p:cNvPr id="2020615370" name="Rectangle 2"/>
          <p:cNvSpPr>
            <a:spLocks noChangeArrowheads="1" noChangeAspect="1" noGrp="1" noRot="1" noTextEdit="1"/>
          </p:cNvSpPr>
          <p:nvPr>
            <p:ph type="sldImg"/>
          </p:nvPr>
        </p:nvSpPr>
        <p:spPr bwMode="auto">
          <a:xfrm>
            <a:off x="346075" y="698500"/>
            <a:ext cx="6192837" cy="3484563"/>
          </a:xfrm>
          <a:ln/>
        </p:spPr>
      </p:sp>
      <p:sp>
        <p:nvSpPr>
          <p:cNvPr id="1558206434" name="Rectangle 3"/>
          <p:cNvSpPr>
            <a:spLocks noChangeArrowheads="1" noGrp="1"/>
          </p:cNvSpPr>
          <p:nvPr>
            <p:ph type="body" idx="1"/>
          </p:nvPr>
        </p:nvSpPr>
        <p:spPr bwMode="auto">
          <a:xfrm>
            <a:off x="917575" y="4414838"/>
            <a:ext cx="5046663" cy="4183062"/>
          </a:xfrm>
          <a:prstGeom prst="rect">
            <a:avLst/>
          </a:prstGeom>
          <a:noFill/>
          <a:ln/>
        </p:spPr>
        <p:txBody>
          <a:bodyPr lIns="90747" tIns="45373" rIns="90747" bIns="45373"/>
          <a:lstStyle/>
          <a:p>
            <a:pPr>
              <a:defRPr/>
            </a:pP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60180334"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4E515979-15B8-40FE-999C-378DAE3E647C}" type="slidenum">
              <a:rPr lang="en-US"/>
              <a:t>10</a:t>
            </a:fld>
            <a:endParaRPr lang="en-US"/>
          </a:p>
        </p:txBody>
      </p:sp>
      <p:sp>
        <p:nvSpPr>
          <p:cNvPr id="1476102672" name="Rectangle 2"/>
          <p:cNvSpPr>
            <a:spLocks noChangeArrowheads="1" noChangeAspect="1" noGrp="1" noRot="1" noTextEdit="1"/>
          </p:cNvSpPr>
          <p:nvPr>
            <p:ph type="sldImg"/>
          </p:nvPr>
        </p:nvSpPr>
        <p:spPr bwMode="auto">
          <a:xfrm>
            <a:off x="346075" y="698500"/>
            <a:ext cx="6192837" cy="3484563"/>
          </a:xfrm>
          <a:ln/>
        </p:spPr>
      </p:sp>
      <p:sp>
        <p:nvSpPr>
          <p:cNvPr id="75048342" name="Rectangle 3"/>
          <p:cNvSpPr>
            <a:spLocks noChangeArrowheads="1" noGrp="1"/>
          </p:cNvSpPr>
          <p:nvPr>
            <p:ph type="body" idx="1"/>
          </p:nvPr>
        </p:nvSpPr>
        <p:spPr bwMode="auto">
          <a:xfrm>
            <a:off x="917575" y="4414838"/>
            <a:ext cx="5046663" cy="4183062"/>
          </a:xfrm>
          <a:prstGeom prst="rect">
            <a:avLst/>
          </a:prstGeom>
          <a:noFill/>
          <a:ln/>
        </p:spPr>
        <p:txBody>
          <a:bodyPr lIns="90747" tIns="45373" rIns="90747" bIns="45373"/>
          <a:lstStyle/>
          <a:p>
            <a:pPr>
              <a:defRPr/>
            </a:pP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58008255"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B45DDDA9-5F3C-4F15-8095-45AACD1E7848}" type="slidenum">
              <a:rPr lang="en-US"/>
              <a:t>11</a:t>
            </a:fld>
            <a:endParaRPr lang="en-US"/>
          </a:p>
        </p:txBody>
      </p:sp>
      <p:sp>
        <p:nvSpPr>
          <p:cNvPr id="230347866" name="Rectangle 2"/>
          <p:cNvSpPr>
            <a:spLocks noChangeArrowheads="1" noChangeAspect="1" noGrp="1" noRot="1" noTextEdit="1"/>
          </p:cNvSpPr>
          <p:nvPr>
            <p:ph type="sldImg"/>
          </p:nvPr>
        </p:nvSpPr>
        <p:spPr bwMode="auto">
          <a:xfrm>
            <a:off x="346075" y="698500"/>
            <a:ext cx="6192837" cy="3484563"/>
          </a:xfrm>
          <a:ln/>
        </p:spPr>
      </p:sp>
      <p:sp>
        <p:nvSpPr>
          <p:cNvPr id="988988766" name="Rectangle 3"/>
          <p:cNvSpPr>
            <a:spLocks noChangeArrowheads="1" noGrp="1"/>
          </p:cNvSpPr>
          <p:nvPr>
            <p:ph type="body" idx="1"/>
          </p:nvPr>
        </p:nvSpPr>
        <p:spPr bwMode="auto">
          <a:xfrm>
            <a:off x="917575" y="4414838"/>
            <a:ext cx="5046663" cy="4183062"/>
          </a:xfrm>
          <a:prstGeom prst="rect">
            <a:avLst/>
          </a:prstGeom>
          <a:noFill/>
          <a:ln/>
        </p:spPr>
        <p:txBody>
          <a:bodyPr lIns="90747" tIns="45373" rIns="90747" bIns="45373"/>
          <a:lstStyle/>
          <a:p>
            <a:pPr>
              <a:defRPr/>
            </a:pP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24138944" name="Rectangle 7"/>
          <p:cNvSpPr>
            <a:spLocks noChangeArrowheads="1" noGrp="1"/>
          </p:cNvSpPr>
          <p:nvPr>
            <p:ph type="sldNum" sz="quarter" idx="5"/>
          </p:nvPr>
        </p:nvSpPr>
        <p:spPr bwMode="auto">
          <a:prstGeom prst="rect">
            <a:avLst/>
          </a:prstGeom>
          <a:noFill/>
          <a:ln/>
        </p:spPr>
        <p:txBody>
          <a:bodyPr/>
          <a:lstStyle>
            <a:lvl1pPr defTabSz="931863">
              <a:defRPr sz="2800">
                <a:solidFill>
                  <a:schemeClr val="tx1"/>
                </a:solidFill>
                <a:latin typeface="Tahoma"/>
              </a:defRPr>
            </a:lvl1pPr>
            <a:lvl2pPr marL="742950" indent="-285750" defTabSz="931863">
              <a:defRPr sz="2800">
                <a:solidFill>
                  <a:schemeClr val="tx1"/>
                </a:solidFill>
                <a:latin typeface="Tahoma"/>
              </a:defRPr>
            </a:lvl2pPr>
            <a:lvl3pPr marL="1143000" indent="-228600" defTabSz="931863">
              <a:defRPr sz="2800">
                <a:solidFill>
                  <a:schemeClr val="tx1"/>
                </a:solidFill>
                <a:latin typeface="Tahoma"/>
              </a:defRPr>
            </a:lvl3pPr>
            <a:lvl4pPr marL="1600200" indent="-228600" defTabSz="931863">
              <a:defRPr sz="2800">
                <a:solidFill>
                  <a:schemeClr val="tx1"/>
                </a:solidFill>
                <a:latin typeface="Tahoma"/>
              </a:defRPr>
            </a:lvl4pPr>
            <a:lvl5pPr marL="2057400" indent="-228600" defTabSz="931863">
              <a:defRPr sz="2800">
                <a:solidFill>
                  <a:schemeClr val="tx1"/>
                </a:solidFill>
                <a:latin typeface="Tahoma"/>
              </a:defRPr>
            </a:lvl5pPr>
            <a:lvl6pPr marL="2514600" indent="-228600" defTabSz="931863">
              <a:spcBef>
                <a:spcPts val="0"/>
              </a:spcBef>
              <a:spcAft>
                <a:spcPts val="0"/>
              </a:spcAft>
              <a:defRPr sz="2800">
                <a:solidFill>
                  <a:schemeClr val="tx1"/>
                </a:solidFill>
                <a:latin typeface="Tahoma"/>
              </a:defRPr>
            </a:lvl6pPr>
            <a:lvl7pPr marL="2971800" indent="-228600" defTabSz="931863">
              <a:spcBef>
                <a:spcPts val="0"/>
              </a:spcBef>
              <a:spcAft>
                <a:spcPts val="0"/>
              </a:spcAft>
              <a:defRPr sz="2800">
                <a:solidFill>
                  <a:schemeClr val="tx1"/>
                </a:solidFill>
                <a:latin typeface="Tahoma"/>
              </a:defRPr>
            </a:lvl7pPr>
            <a:lvl8pPr marL="3429000" indent="-228600" defTabSz="931863">
              <a:spcBef>
                <a:spcPts val="0"/>
              </a:spcBef>
              <a:spcAft>
                <a:spcPts val="0"/>
              </a:spcAft>
              <a:defRPr sz="2800">
                <a:solidFill>
                  <a:schemeClr val="tx1"/>
                </a:solidFill>
                <a:latin typeface="Tahoma"/>
              </a:defRPr>
            </a:lvl8pPr>
            <a:lvl9pPr marL="3886200" indent="-228600" defTabSz="931863">
              <a:spcBef>
                <a:spcPts val="0"/>
              </a:spcBef>
              <a:spcAft>
                <a:spcPts val="0"/>
              </a:spcAft>
              <a:defRPr sz="2800">
                <a:solidFill>
                  <a:schemeClr val="tx1"/>
                </a:solidFill>
                <a:latin typeface="Tahoma"/>
              </a:defRPr>
            </a:lvl9pPr>
          </a:lstStyle>
          <a:p>
            <a:pPr>
              <a:defRPr/>
            </a:pPr>
            <a:fld id="{29BE47E6-A684-41E8-A8D2-AEB21EE26F6A}" type="slidenum">
              <a:rPr lang="en-US" sz="1200"/>
              <a:t>12</a:t>
            </a:fld>
            <a:endParaRPr lang="en-US" sz="1200"/>
          </a:p>
        </p:txBody>
      </p:sp>
      <p:sp>
        <p:nvSpPr>
          <p:cNvPr id="401668211" name="Rectangle 2"/>
          <p:cNvSpPr>
            <a:spLocks noChangeArrowheads="1" noChangeAspect="1" noGrp="1" noRot="1" noTextEdit="1"/>
          </p:cNvSpPr>
          <p:nvPr>
            <p:ph type="sldImg"/>
          </p:nvPr>
        </p:nvSpPr>
        <p:spPr bwMode="auto">
          <a:ln/>
        </p:spPr>
      </p:sp>
      <p:sp>
        <p:nvSpPr>
          <p:cNvPr id="921357905" name="Rectangle 3"/>
          <p:cNvSpPr>
            <a:spLocks noChangeArrowheads="1" noGrp="1"/>
          </p:cNvSpPr>
          <p:nvPr>
            <p:ph type="body" idx="1"/>
          </p:nvPr>
        </p:nvSpPr>
        <p:spPr bwMode="auto">
          <a:prstGeom prst="rect">
            <a:avLst/>
          </a:prstGeom>
          <a:noFill/>
          <a:ln/>
        </p:spPr>
        <p:txBody>
          <a:bodyPr/>
          <a:lstStyle/>
          <a:p>
            <a:pPr>
              <a:defRPr/>
            </a:pPr>
            <a:endParaRPr lang="en-US" b="1"/>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03847452"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F2661ED2-B1EC-46F8-953E-02CB7FE315D6}" type="slidenum">
              <a:rPr lang="en-US"/>
              <a:t>13</a:t>
            </a:fld>
            <a:endParaRPr lang="en-US"/>
          </a:p>
        </p:txBody>
      </p:sp>
      <p:sp>
        <p:nvSpPr>
          <p:cNvPr id="391066566" name="Rectangle 2"/>
          <p:cNvSpPr>
            <a:spLocks noChangeArrowheads="1" noChangeAspect="1" noGrp="1" noRot="1" noTextEdit="1"/>
          </p:cNvSpPr>
          <p:nvPr>
            <p:ph type="sldImg"/>
          </p:nvPr>
        </p:nvSpPr>
        <p:spPr bwMode="auto">
          <a:xfrm>
            <a:off x="293688" y="677863"/>
            <a:ext cx="6294437" cy="3541712"/>
          </a:xfrm>
          <a:ln/>
        </p:spPr>
      </p:sp>
      <p:sp>
        <p:nvSpPr>
          <p:cNvPr id="1122329375" name="Rectangle 3"/>
          <p:cNvSpPr>
            <a:spLocks noChangeArrowheads="1" noGrp="1"/>
          </p:cNvSpPr>
          <p:nvPr>
            <p:ph type="body" idx="1"/>
          </p:nvPr>
        </p:nvSpPr>
        <p:spPr bwMode="auto">
          <a:xfrm>
            <a:off x="908050" y="4446588"/>
            <a:ext cx="5065713" cy="4144962"/>
          </a:xfrm>
          <a:prstGeom prst="rect">
            <a:avLst/>
          </a:prstGeom>
          <a:noFill/>
          <a:ln/>
        </p:spPr>
        <p:txBody>
          <a:bodyPr lIns="91262" tIns="45631" rIns="91262" bIns="45631"/>
          <a:lstStyle/>
          <a:p>
            <a:pPr>
              <a:defRPr/>
            </a:pPr>
            <a:r>
              <a:rPr lang="en-US"/>
              <a:t>Note to self (MK): last part of slide does not clearly match slides that follow</a:t>
            </a:r>
            <a:endParaRPr/>
          </a:p>
          <a:p>
            <a:pPr>
              <a:defRPr/>
            </a:pPr>
            <a:r>
              <a:rPr lang="en-US"/>
              <a:t>Introduction slides: </a:t>
            </a:r>
            <a:endParaRPr/>
          </a:p>
          <a:p>
            <a:pPr>
              <a:defRPr/>
            </a:pPr>
            <a:r>
              <a:rPr lang="en-US"/>
              <a:t>In the current version, we only talk about numeric data.  Can we add some materials about non-numeric data.</a:t>
            </a:r>
            <a:endParaRPr/>
          </a:p>
          <a:p>
            <a:pPr>
              <a:defRPr/>
            </a:pPr>
            <a:endParaRPr lang="en-US"/>
          </a:p>
          <a:p>
            <a:pPr>
              <a:defRPr/>
            </a:pPr>
            <a:r>
              <a:rPr lang="en-US"/>
              <a:t>   - text statistics, TF/IDF</a:t>
            </a:r>
            <a:endParaRPr/>
          </a:p>
          <a:p>
            <a:pPr>
              <a:defRPr/>
            </a:pPr>
            <a:r>
              <a:rPr lang="en-US"/>
              <a:t>   - visualization of text statistics such as word cloud</a:t>
            </a:r>
            <a:endParaRPr/>
          </a:p>
          <a:p>
            <a:pPr>
              <a:defRPr/>
            </a:pPr>
            <a:r>
              <a:rPr lang="en-US"/>
              <a:t>   - distribution of Internet (IN, SCC, OUT, …)</a:t>
            </a:r>
            <a:endParaRPr/>
          </a:p>
          <a:p>
            <a:pPr>
              <a:defRPr/>
            </a:pPr>
            <a:r>
              <a:rPr lang="en-US"/>
              <a:t>   - visualization of social relationship (e.g., http://renlifang.msra.cn/)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5453280"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5A45C59A-5665-4F90-B74D-3558B1173576}" type="slidenum">
              <a:rPr lang="en-US"/>
              <a:t>14</a:t>
            </a:fld>
            <a:endParaRPr lang="en-US"/>
          </a:p>
        </p:txBody>
      </p:sp>
      <p:sp>
        <p:nvSpPr>
          <p:cNvPr id="1677745237" name="Rectangle 2"/>
          <p:cNvSpPr>
            <a:spLocks noChangeArrowheads="1" noChangeAspect="1" noGrp="1" noRot="1" noTextEdit="1"/>
          </p:cNvSpPr>
          <p:nvPr>
            <p:ph type="sldImg"/>
          </p:nvPr>
        </p:nvSpPr>
        <p:spPr bwMode="auto">
          <a:xfrm>
            <a:off x="293688" y="677863"/>
            <a:ext cx="6294437" cy="3541712"/>
          </a:xfrm>
          <a:ln/>
        </p:spPr>
      </p:sp>
      <p:sp>
        <p:nvSpPr>
          <p:cNvPr id="519048271" name="Rectangle 3"/>
          <p:cNvSpPr>
            <a:spLocks noChangeArrowheads="1" noGrp="1"/>
          </p:cNvSpPr>
          <p:nvPr>
            <p:ph type="body" idx="1"/>
          </p:nvPr>
        </p:nvSpPr>
        <p:spPr bwMode="auto">
          <a:xfrm>
            <a:off x="908050" y="4446588"/>
            <a:ext cx="5065713" cy="4144962"/>
          </a:xfrm>
          <a:prstGeom prst="rect">
            <a:avLst/>
          </a:prstGeom>
          <a:noFill/>
          <a:ln/>
        </p:spPr>
        <p:txBody>
          <a:bodyPr lIns="91262" tIns="45631" rIns="91262" bIns="45631"/>
          <a:lstStyle/>
          <a:p>
            <a:pPr>
              <a:defRPr/>
            </a:pP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6601123"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5A45C59A-5665-4F90-B74D-3558B1173576}" type="slidenum">
              <a:rPr lang="en-US"/>
              <a:t>15</a:t>
            </a:fld>
            <a:endParaRPr lang="en-US"/>
          </a:p>
        </p:txBody>
      </p:sp>
      <p:sp>
        <p:nvSpPr>
          <p:cNvPr id="471346582" name="Rectangle 2"/>
          <p:cNvSpPr>
            <a:spLocks noChangeArrowheads="1" noChangeAspect="1" noGrp="1" noRot="1" noTextEdit="1"/>
          </p:cNvSpPr>
          <p:nvPr>
            <p:ph type="sldImg"/>
          </p:nvPr>
        </p:nvSpPr>
        <p:spPr bwMode="auto">
          <a:xfrm>
            <a:off x="293688" y="677863"/>
            <a:ext cx="6294437" cy="3541712"/>
          </a:xfrm>
          <a:ln/>
        </p:spPr>
      </p:sp>
      <p:sp>
        <p:nvSpPr>
          <p:cNvPr id="1199497811" name="Rectangle 3"/>
          <p:cNvSpPr>
            <a:spLocks noChangeArrowheads="1" noGrp="1"/>
          </p:cNvSpPr>
          <p:nvPr>
            <p:ph type="body" idx="1"/>
          </p:nvPr>
        </p:nvSpPr>
        <p:spPr bwMode="auto">
          <a:xfrm>
            <a:off x="908050" y="4446588"/>
            <a:ext cx="5065713" cy="4144962"/>
          </a:xfrm>
          <a:prstGeom prst="rect">
            <a:avLst/>
          </a:prstGeom>
          <a:noFill/>
          <a:ln/>
        </p:spPr>
        <p:txBody>
          <a:bodyPr lIns="91262" tIns="45631" rIns="91262" bIns="45631"/>
          <a:lstStyle/>
          <a:p>
            <a:pPr>
              <a:defRPr/>
            </a:pP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4230670"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5A45C59A-5665-4F90-B74D-3558B1173576}" type="slidenum">
              <a:rPr lang="en-US"/>
              <a:t>16</a:t>
            </a:fld>
            <a:endParaRPr lang="en-US"/>
          </a:p>
        </p:txBody>
      </p:sp>
      <p:sp>
        <p:nvSpPr>
          <p:cNvPr id="1673786491" name="Rectangle 2"/>
          <p:cNvSpPr>
            <a:spLocks noChangeArrowheads="1" noChangeAspect="1" noGrp="1" noRot="1" noTextEdit="1"/>
          </p:cNvSpPr>
          <p:nvPr>
            <p:ph type="sldImg"/>
          </p:nvPr>
        </p:nvSpPr>
        <p:spPr bwMode="auto">
          <a:xfrm>
            <a:off x="293688" y="677863"/>
            <a:ext cx="6294437" cy="3541712"/>
          </a:xfrm>
          <a:ln/>
        </p:spPr>
      </p:sp>
      <p:sp>
        <p:nvSpPr>
          <p:cNvPr id="277458387" name="Rectangle 3"/>
          <p:cNvSpPr>
            <a:spLocks noChangeArrowheads="1" noGrp="1"/>
          </p:cNvSpPr>
          <p:nvPr>
            <p:ph type="body" idx="1"/>
          </p:nvPr>
        </p:nvSpPr>
        <p:spPr bwMode="auto">
          <a:xfrm>
            <a:off x="908050" y="4446588"/>
            <a:ext cx="5065713" cy="4144962"/>
          </a:xfrm>
          <a:prstGeom prst="rect">
            <a:avLst/>
          </a:prstGeom>
          <a:noFill/>
          <a:ln/>
        </p:spPr>
        <p:txBody>
          <a:bodyPr lIns="91262" tIns="45631" rIns="91262" bIns="45631"/>
          <a:lstStyle/>
          <a:p>
            <a:pPr>
              <a:defRPr/>
            </a:pP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23198016"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192074F7-FA56-40C6-8B2F-46DCAFDDCD7E}" type="slidenum">
              <a:rPr lang="en-US"/>
              <a:t>17</a:t>
            </a:fld>
            <a:endParaRPr lang="en-US"/>
          </a:p>
        </p:txBody>
      </p:sp>
      <p:sp>
        <p:nvSpPr>
          <p:cNvPr id="418272020" name="Rectangle 2"/>
          <p:cNvSpPr>
            <a:spLocks noChangeArrowheads="1" noChangeAspect="1" noGrp="1" noRot="1" noTextEdit="1"/>
          </p:cNvSpPr>
          <p:nvPr>
            <p:ph type="sldImg"/>
          </p:nvPr>
        </p:nvSpPr>
        <p:spPr bwMode="auto">
          <a:ln/>
        </p:spPr>
      </p:sp>
      <p:sp>
        <p:nvSpPr>
          <p:cNvPr id="1610130036"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81714191"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9E8AEE24-0EA3-4E09-9472-5755CE69974E}" type="slidenum">
              <a:rPr lang="en-US"/>
              <a:t>18</a:t>
            </a:fld>
            <a:endParaRPr lang="en-US"/>
          </a:p>
        </p:txBody>
      </p:sp>
      <p:sp>
        <p:nvSpPr>
          <p:cNvPr id="685898374" name="Rectangle 2"/>
          <p:cNvSpPr>
            <a:spLocks noChangeArrowheads="1" noChangeAspect="1" noGrp="1" noRot="1" noTextEdit="1"/>
          </p:cNvSpPr>
          <p:nvPr>
            <p:ph type="sldImg"/>
          </p:nvPr>
        </p:nvSpPr>
        <p:spPr bwMode="auto">
          <a:ln/>
        </p:spPr>
      </p:sp>
      <p:sp>
        <p:nvSpPr>
          <p:cNvPr id="118155291"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8577502"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22F6A872-0A59-46E4-B192-72E475259C41}" type="slidenum">
              <a:rPr lang="en-US"/>
              <a:t>19</a:t>
            </a:fld>
            <a:endParaRPr lang="en-US"/>
          </a:p>
        </p:txBody>
      </p:sp>
      <p:sp>
        <p:nvSpPr>
          <p:cNvPr id="1219794836" name="Rectangle 2"/>
          <p:cNvSpPr>
            <a:spLocks noChangeArrowheads="1" noChangeAspect="1" noGrp="1" noRot="1" noTextEdit="1"/>
          </p:cNvSpPr>
          <p:nvPr>
            <p:ph type="sldImg"/>
          </p:nvPr>
        </p:nvSpPr>
        <p:spPr bwMode="auto">
          <a:xfrm>
            <a:off x="293688" y="677863"/>
            <a:ext cx="6294437" cy="3541712"/>
          </a:xfrm>
          <a:ln/>
        </p:spPr>
      </p:sp>
      <p:sp>
        <p:nvSpPr>
          <p:cNvPr id="386616153" name="Rectangle 3"/>
          <p:cNvSpPr>
            <a:spLocks noChangeArrowheads="1" noGrp="1"/>
          </p:cNvSpPr>
          <p:nvPr>
            <p:ph type="body" idx="1"/>
          </p:nvPr>
        </p:nvSpPr>
        <p:spPr bwMode="auto">
          <a:xfrm>
            <a:off x="908050" y="4446588"/>
            <a:ext cx="5065713" cy="4144962"/>
          </a:xfrm>
          <a:prstGeom prst="rect">
            <a:avLst/>
          </a:prstGeom>
          <a:noFill/>
          <a:ln/>
        </p:spPr>
        <p:txBody>
          <a:bodyPr lIns="91262" tIns="45631" rIns="91262" bIns="45631"/>
          <a:lstStyle/>
          <a:p>
            <a:pPr>
              <a:defRPr/>
            </a:pPr>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4998930" name="Rectangle 2"/>
          <p:cNvSpPr>
            <a:spLocks noChangeArrowheads="1" noChangeAspect="1" noGrp="1" noRot="1" noTextEdit="1"/>
          </p:cNvSpPr>
          <p:nvPr>
            <p:ph type="sldImg"/>
          </p:nvPr>
        </p:nvSpPr>
        <p:spPr bwMode="auto">
          <a:ln/>
        </p:spPr>
      </p:sp>
      <p:sp>
        <p:nvSpPr>
          <p:cNvPr id="667096396"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85006995" name="Rectangle 2"/>
          <p:cNvSpPr>
            <a:spLocks noChangeArrowheads="1" noChangeAspect="1" noGrp="1" noRot="1" noTextEdit="1"/>
          </p:cNvSpPr>
          <p:nvPr>
            <p:ph type="sldImg"/>
          </p:nvPr>
        </p:nvSpPr>
        <p:spPr bwMode="auto">
          <a:ln/>
        </p:spPr>
      </p:sp>
      <p:sp>
        <p:nvSpPr>
          <p:cNvPr id="403748406"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683182" name="Rectangle 2"/>
          <p:cNvSpPr>
            <a:spLocks noChangeArrowheads="1" noChangeAspect="1" noGrp="1" noRot="1" noTextEdit="1"/>
          </p:cNvSpPr>
          <p:nvPr>
            <p:ph type="sldImg"/>
          </p:nvPr>
        </p:nvSpPr>
        <p:spPr bwMode="auto">
          <a:ln/>
        </p:spPr>
      </p:sp>
      <p:sp>
        <p:nvSpPr>
          <p:cNvPr id="1526173441"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98191048" name="Rectangle 2"/>
          <p:cNvSpPr>
            <a:spLocks noChangeArrowheads="1" noChangeAspect="1" noGrp="1" noRot="1" noTextEdit="1"/>
          </p:cNvSpPr>
          <p:nvPr>
            <p:ph type="sldImg"/>
          </p:nvPr>
        </p:nvSpPr>
        <p:spPr bwMode="auto">
          <a:ln/>
        </p:spPr>
      </p:sp>
      <p:sp>
        <p:nvSpPr>
          <p:cNvPr id="963779217"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5054867" name="Rectangle 2"/>
          <p:cNvSpPr>
            <a:spLocks noChangeArrowheads="1" noChangeAspect="1" noGrp="1" noRot="1" noTextEdit="1"/>
          </p:cNvSpPr>
          <p:nvPr>
            <p:ph type="sldImg"/>
          </p:nvPr>
        </p:nvSpPr>
        <p:spPr bwMode="auto">
          <a:ln/>
        </p:spPr>
      </p:sp>
      <p:sp>
        <p:nvSpPr>
          <p:cNvPr id="773384318"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0086609" name="Rectangle 7"/>
          <p:cNvSpPr>
            <a:spLocks noChangeArrowheads="1" noGrp="1"/>
          </p:cNvSpPr>
          <p:nvPr>
            <p:ph type="sldNum" sz="quarter" idx="5"/>
          </p:nvPr>
        </p:nvSpPr>
        <p:spPr bwMode="auto">
          <a:prstGeom prst="rect">
            <a:avLst/>
          </a:prstGeom>
          <a:noFill/>
          <a:ln/>
        </p:spPr>
        <p:txBody>
          <a:bodyPr/>
          <a:lstStyle>
            <a:lvl1pPr defTabSz="922287">
              <a:spcBef>
                <a:spcPts val="0"/>
              </a:spcBef>
              <a:defRPr sz="1200">
                <a:solidFill>
                  <a:schemeClr val="tx1"/>
                </a:solidFill>
                <a:latin typeface="Times New Roman"/>
              </a:defRPr>
            </a:lvl1pPr>
            <a:lvl2pPr marL="742909" indent="-285734" defTabSz="922287">
              <a:spcBef>
                <a:spcPts val="0"/>
              </a:spcBef>
              <a:defRPr sz="1200">
                <a:solidFill>
                  <a:schemeClr val="tx1"/>
                </a:solidFill>
                <a:latin typeface="Times New Roman"/>
              </a:defRPr>
            </a:lvl2pPr>
            <a:lvl3pPr marL="1142937" indent="-228587" defTabSz="922287">
              <a:spcBef>
                <a:spcPts val="0"/>
              </a:spcBef>
              <a:defRPr sz="1200">
                <a:solidFill>
                  <a:schemeClr val="tx1"/>
                </a:solidFill>
                <a:latin typeface="Times New Roman"/>
              </a:defRPr>
            </a:lvl3pPr>
            <a:lvl4pPr marL="1600111" indent="-228587" defTabSz="922287">
              <a:spcBef>
                <a:spcPts val="0"/>
              </a:spcBef>
              <a:defRPr sz="1200">
                <a:solidFill>
                  <a:schemeClr val="tx1"/>
                </a:solidFill>
                <a:latin typeface="Times New Roman"/>
              </a:defRPr>
            </a:lvl4pPr>
            <a:lvl5pPr marL="2057287" indent="-228587" defTabSz="922287">
              <a:spcBef>
                <a:spcPts val="0"/>
              </a:spcBef>
              <a:defRPr sz="1200">
                <a:solidFill>
                  <a:schemeClr val="tx1"/>
                </a:solidFill>
                <a:latin typeface="Times New Roman"/>
              </a:defRPr>
            </a:lvl5pPr>
            <a:lvl6pPr marL="2514461" indent="-228587" defTabSz="922287">
              <a:spcBef>
                <a:spcPts val="0"/>
              </a:spcBef>
              <a:spcAft>
                <a:spcPts val="0"/>
              </a:spcAft>
              <a:defRPr sz="1200">
                <a:solidFill>
                  <a:schemeClr val="tx1"/>
                </a:solidFill>
                <a:latin typeface="Times New Roman"/>
              </a:defRPr>
            </a:lvl6pPr>
            <a:lvl7pPr marL="2971635" indent="-228587" defTabSz="922287">
              <a:spcBef>
                <a:spcPts val="0"/>
              </a:spcBef>
              <a:spcAft>
                <a:spcPts val="0"/>
              </a:spcAft>
              <a:defRPr sz="1200">
                <a:solidFill>
                  <a:schemeClr val="tx1"/>
                </a:solidFill>
                <a:latin typeface="Times New Roman"/>
              </a:defRPr>
            </a:lvl7pPr>
            <a:lvl8pPr marL="3428811" indent="-228587" defTabSz="922287">
              <a:spcBef>
                <a:spcPts val="0"/>
              </a:spcBef>
              <a:spcAft>
                <a:spcPts val="0"/>
              </a:spcAft>
              <a:defRPr sz="1200">
                <a:solidFill>
                  <a:schemeClr val="tx1"/>
                </a:solidFill>
                <a:latin typeface="Times New Roman"/>
              </a:defRPr>
            </a:lvl8pPr>
            <a:lvl9pPr marL="3885985" indent="-228587" defTabSz="922287">
              <a:spcBef>
                <a:spcPts val="0"/>
              </a:spcBef>
              <a:spcAft>
                <a:spcPts val="0"/>
              </a:spcAft>
              <a:defRPr sz="1200">
                <a:solidFill>
                  <a:schemeClr val="tx1"/>
                </a:solidFill>
                <a:latin typeface="Times New Roman"/>
              </a:defRPr>
            </a:lvl9pPr>
          </a:lstStyle>
          <a:p>
            <a:pPr>
              <a:spcBef>
                <a:spcPts val="0"/>
              </a:spcBef>
              <a:defRPr/>
            </a:pPr>
            <a:fld id="{3E6BB24F-7527-415E-A4B4-B132D61B26C9}" type="slidenum">
              <a:rPr lang="en-US">
                <a:solidFill>
                  <a:prstClr val="black"/>
                </a:solidFill>
              </a:rPr>
              <a:t>25</a:t>
            </a:fld>
            <a:endParaRPr lang="en-US">
              <a:solidFill>
                <a:prstClr val="black"/>
              </a:solidFill>
            </a:endParaRPr>
          </a:p>
        </p:txBody>
      </p:sp>
      <p:sp>
        <p:nvSpPr>
          <p:cNvPr id="1872254846" name="Rectangle 2"/>
          <p:cNvSpPr>
            <a:spLocks noChangeArrowheads="1" noChangeAspect="1" noGrp="1" noRot="1" noTextEdit="1"/>
          </p:cNvSpPr>
          <p:nvPr>
            <p:ph type="sldImg"/>
          </p:nvPr>
        </p:nvSpPr>
        <p:spPr bwMode="auto">
          <a:xfrm>
            <a:off x="717550" y="1162050"/>
            <a:ext cx="5575300" cy="3136900"/>
          </a:xfrm>
          <a:ln/>
        </p:spPr>
      </p:sp>
      <p:sp>
        <p:nvSpPr>
          <p:cNvPr id="444881834"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76642698" name="Rectangle 7"/>
          <p:cNvSpPr>
            <a:spLocks noChangeArrowheads="1" noGrp="1"/>
          </p:cNvSpPr>
          <p:nvPr>
            <p:ph type="sldNum" sz="quarter" idx="5"/>
          </p:nvPr>
        </p:nvSpPr>
        <p:spPr bwMode="auto">
          <a:prstGeom prst="rect">
            <a:avLst/>
          </a:prstGeom>
          <a:noFill/>
          <a:ln/>
        </p:spPr>
        <p:txBody>
          <a:bodyPr/>
          <a:lstStyle>
            <a:lvl1pPr defTabSz="922287">
              <a:spcBef>
                <a:spcPts val="0"/>
              </a:spcBef>
              <a:defRPr sz="1200">
                <a:solidFill>
                  <a:schemeClr val="tx1"/>
                </a:solidFill>
                <a:latin typeface="Times New Roman"/>
              </a:defRPr>
            </a:lvl1pPr>
            <a:lvl2pPr marL="742909" indent="-285734" defTabSz="922287">
              <a:spcBef>
                <a:spcPts val="0"/>
              </a:spcBef>
              <a:defRPr sz="1200">
                <a:solidFill>
                  <a:schemeClr val="tx1"/>
                </a:solidFill>
                <a:latin typeface="Times New Roman"/>
              </a:defRPr>
            </a:lvl2pPr>
            <a:lvl3pPr marL="1142937" indent="-228587" defTabSz="922287">
              <a:spcBef>
                <a:spcPts val="0"/>
              </a:spcBef>
              <a:defRPr sz="1200">
                <a:solidFill>
                  <a:schemeClr val="tx1"/>
                </a:solidFill>
                <a:latin typeface="Times New Roman"/>
              </a:defRPr>
            </a:lvl3pPr>
            <a:lvl4pPr marL="1600111" indent="-228587" defTabSz="922287">
              <a:spcBef>
                <a:spcPts val="0"/>
              </a:spcBef>
              <a:defRPr sz="1200">
                <a:solidFill>
                  <a:schemeClr val="tx1"/>
                </a:solidFill>
                <a:latin typeface="Times New Roman"/>
              </a:defRPr>
            </a:lvl4pPr>
            <a:lvl5pPr marL="2057287" indent="-228587" defTabSz="922287">
              <a:spcBef>
                <a:spcPts val="0"/>
              </a:spcBef>
              <a:defRPr sz="1200">
                <a:solidFill>
                  <a:schemeClr val="tx1"/>
                </a:solidFill>
                <a:latin typeface="Times New Roman"/>
              </a:defRPr>
            </a:lvl5pPr>
            <a:lvl6pPr marL="2514461" indent="-228587" defTabSz="922287">
              <a:spcBef>
                <a:spcPts val="0"/>
              </a:spcBef>
              <a:spcAft>
                <a:spcPts val="0"/>
              </a:spcAft>
              <a:defRPr sz="1200">
                <a:solidFill>
                  <a:schemeClr val="tx1"/>
                </a:solidFill>
                <a:latin typeface="Times New Roman"/>
              </a:defRPr>
            </a:lvl6pPr>
            <a:lvl7pPr marL="2971635" indent="-228587" defTabSz="922287">
              <a:spcBef>
                <a:spcPts val="0"/>
              </a:spcBef>
              <a:spcAft>
                <a:spcPts val="0"/>
              </a:spcAft>
              <a:defRPr sz="1200">
                <a:solidFill>
                  <a:schemeClr val="tx1"/>
                </a:solidFill>
                <a:latin typeface="Times New Roman"/>
              </a:defRPr>
            </a:lvl7pPr>
            <a:lvl8pPr marL="3428811" indent="-228587" defTabSz="922287">
              <a:spcBef>
                <a:spcPts val="0"/>
              </a:spcBef>
              <a:spcAft>
                <a:spcPts val="0"/>
              </a:spcAft>
              <a:defRPr sz="1200">
                <a:solidFill>
                  <a:schemeClr val="tx1"/>
                </a:solidFill>
                <a:latin typeface="Times New Roman"/>
              </a:defRPr>
            </a:lvl8pPr>
            <a:lvl9pPr marL="3885985" indent="-228587" defTabSz="922287">
              <a:spcBef>
                <a:spcPts val="0"/>
              </a:spcBef>
              <a:spcAft>
                <a:spcPts val="0"/>
              </a:spcAft>
              <a:defRPr sz="1200">
                <a:solidFill>
                  <a:schemeClr val="tx1"/>
                </a:solidFill>
                <a:latin typeface="Times New Roman"/>
              </a:defRPr>
            </a:lvl9pPr>
          </a:lstStyle>
          <a:p>
            <a:pPr>
              <a:spcBef>
                <a:spcPts val="0"/>
              </a:spcBef>
              <a:defRPr/>
            </a:pPr>
            <a:fld id="{3E6BB24F-7527-415E-A4B4-B132D61B26C9}" type="slidenum">
              <a:rPr lang="en-US">
                <a:solidFill>
                  <a:prstClr val="black"/>
                </a:solidFill>
              </a:rPr>
              <a:t>26</a:t>
            </a:fld>
            <a:endParaRPr lang="en-US">
              <a:solidFill>
                <a:prstClr val="black"/>
              </a:solidFill>
            </a:endParaRPr>
          </a:p>
        </p:txBody>
      </p:sp>
      <p:sp>
        <p:nvSpPr>
          <p:cNvPr id="1528099161" name="Rectangle 2"/>
          <p:cNvSpPr>
            <a:spLocks noChangeArrowheads="1" noChangeAspect="1" noGrp="1" noRot="1" noTextEdit="1"/>
          </p:cNvSpPr>
          <p:nvPr>
            <p:ph type="sldImg"/>
          </p:nvPr>
        </p:nvSpPr>
        <p:spPr bwMode="auto">
          <a:xfrm>
            <a:off x="717550" y="1162050"/>
            <a:ext cx="5575300" cy="3136900"/>
          </a:xfrm>
          <a:ln/>
        </p:spPr>
      </p:sp>
      <p:sp>
        <p:nvSpPr>
          <p:cNvPr id="1746979002"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C8BF3BF-044E-F2F8-52E8-E024851204B0}"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33784794" name="Rectangle 7"/>
          <p:cNvSpPr>
            <a:spLocks noChangeArrowheads="1" noGrp="1"/>
          </p:cNvSpPr>
          <p:nvPr>
            <p:ph type="sldNum" sz="quarter" idx="5"/>
          </p:nvPr>
        </p:nvSpPr>
        <p:spPr bwMode="auto">
          <a:prstGeom prst="rect">
            <a:avLst/>
          </a:prstGeom>
          <a:noFill/>
          <a:ln/>
        </p:spPr>
        <p:txBody>
          <a:bodyPr/>
          <a:lstStyle>
            <a:lvl1pPr defTabSz="922287">
              <a:spcBef>
                <a:spcPts val="0"/>
              </a:spcBef>
              <a:defRPr sz="1200">
                <a:solidFill>
                  <a:schemeClr val="tx1"/>
                </a:solidFill>
                <a:latin typeface="Times New Roman"/>
              </a:defRPr>
            </a:lvl1pPr>
            <a:lvl2pPr marL="742909" indent="-285734" defTabSz="922287">
              <a:spcBef>
                <a:spcPts val="0"/>
              </a:spcBef>
              <a:defRPr sz="1200">
                <a:solidFill>
                  <a:schemeClr val="tx1"/>
                </a:solidFill>
                <a:latin typeface="Times New Roman"/>
              </a:defRPr>
            </a:lvl2pPr>
            <a:lvl3pPr marL="1142937" indent="-228587" defTabSz="922287">
              <a:spcBef>
                <a:spcPts val="0"/>
              </a:spcBef>
              <a:defRPr sz="1200">
                <a:solidFill>
                  <a:schemeClr val="tx1"/>
                </a:solidFill>
                <a:latin typeface="Times New Roman"/>
              </a:defRPr>
            </a:lvl3pPr>
            <a:lvl4pPr marL="1600111" indent="-228587" defTabSz="922287">
              <a:spcBef>
                <a:spcPts val="0"/>
              </a:spcBef>
              <a:defRPr sz="1200">
                <a:solidFill>
                  <a:schemeClr val="tx1"/>
                </a:solidFill>
                <a:latin typeface="Times New Roman"/>
              </a:defRPr>
            </a:lvl4pPr>
            <a:lvl5pPr marL="2057287" indent="-228587" defTabSz="922287">
              <a:spcBef>
                <a:spcPts val="0"/>
              </a:spcBef>
              <a:defRPr sz="1200">
                <a:solidFill>
                  <a:schemeClr val="tx1"/>
                </a:solidFill>
                <a:latin typeface="Times New Roman"/>
              </a:defRPr>
            </a:lvl5pPr>
            <a:lvl6pPr marL="2514461" indent="-228587" defTabSz="922287">
              <a:spcBef>
                <a:spcPts val="0"/>
              </a:spcBef>
              <a:spcAft>
                <a:spcPts val="0"/>
              </a:spcAft>
              <a:defRPr sz="1200">
                <a:solidFill>
                  <a:schemeClr val="tx1"/>
                </a:solidFill>
                <a:latin typeface="Times New Roman"/>
              </a:defRPr>
            </a:lvl6pPr>
            <a:lvl7pPr marL="2971635" indent="-228587" defTabSz="922287">
              <a:spcBef>
                <a:spcPts val="0"/>
              </a:spcBef>
              <a:spcAft>
                <a:spcPts val="0"/>
              </a:spcAft>
              <a:defRPr sz="1200">
                <a:solidFill>
                  <a:schemeClr val="tx1"/>
                </a:solidFill>
                <a:latin typeface="Times New Roman"/>
              </a:defRPr>
            </a:lvl7pPr>
            <a:lvl8pPr marL="3428811" indent="-228587" defTabSz="922287">
              <a:spcBef>
                <a:spcPts val="0"/>
              </a:spcBef>
              <a:spcAft>
                <a:spcPts val="0"/>
              </a:spcAft>
              <a:defRPr sz="1200">
                <a:solidFill>
                  <a:schemeClr val="tx1"/>
                </a:solidFill>
                <a:latin typeface="Times New Roman"/>
              </a:defRPr>
            </a:lvl8pPr>
            <a:lvl9pPr marL="3885985" indent="-228587" defTabSz="922287">
              <a:spcBef>
                <a:spcPts val="0"/>
              </a:spcBef>
              <a:spcAft>
                <a:spcPts val="0"/>
              </a:spcAft>
              <a:defRPr sz="1200">
                <a:solidFill>
                  <a:schemeClr val="tx1"/>
                </a:solidFill>
                <a:latin typeface="Times New Roman"/>
              </a:defRPr>
            </a:lvl9pPr>
          </a:lstStyle>
          <a:p>
            <a:pPr>
              <a:spcBef>
                <a:spcPts val="0"/>
              </a:spcBef>
              <a:defRPr/>
            </a:pPr>
            <a:fld id="{3E6BB24F-7527-415E-A4B4-B132D61B26C9}" type="slidenum">
              <a:rPr lang="en-US">
                <a:solidFill>
                  <a:prstClr val="black"/>
                </a:solidFill>
              </a:rPr>
              <a:t>28</a:t>
            </a:fld>
            <a:endParaRPr lang="en-US">
              <a:solidFill>
                <a:prstClr val="black"/>
              </a:solidFill>
            </a:endParaRPr>
          </a:p>
        </p:txBody>
      </p:sp>
      <p:sp>
        <p:nvSpPr>
          <p:cNvPr id="1900417723" name="Rectangle 2"/>
          <p:cNvSpPr>
            <a:spLocks noChangeArrowheads="1" noChangeAspect="1" noGrp="1" noRot="1" noTextEdit="1"/>
          </p:cNvSpPr>
          <p:nvPr>
            <p:ph type="sldImg"/>
          </p:nvPr>
        </p:nvSpPr>
        <p:spPr bwMode="auto">
          <a:xfrm>
            <a:off x="717550" y="1162050"/>
            <a:ext cx="5575300" cy="3136900"/>
          </a:xfrm>
          <a:ln/>
        </p:spPr>
      </p:sp>
      <p:sp>
        <p:nvSpPr>
          <p:cNvPr id="1937628640"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01364181" name="Rectangle 7"/>
          <p:cNvSpPr>
            <a:spLocks noChangeArrowheads="1" noGrp="1"/>
          </p:cNvSpPr>
          <p:nvPr>
            <p:ph type="sldNum" sz="quarter" idx="5"/>
          </p:nvPr>
        </p:nvSpPr>
        <p:spPr bwMode="auto">
          <a:prstGeom prst="rect">
            <a:avLst/>
          </a:prstGeom>
          <a:noFill/>
          <a:ln/>
        </p:spPr>
        <p:txBody>
          <a:bodyPr/>
          <a:lstStyle>
            <a:lvl1pPr defTabSz="922287">
              <a:spcBef>
                <a:spcPts val="0"/>
              </a:spcBef>
              <a:defRPr sz="1200">
                <a:solidFill>
                  <a:schemeClr val="tx1"/>
                </a:solidFill>
                <a:latin typeface="Times New Roman"/>
              </a:defRPr>
            </a:lvl1pPr>
            <a:lvl2pPr marL="742909" indent="-285734" defTabSz="922287">
              <a:spcBef>
                <a:spcPts val="0"/>
              </a:spcBef>
              <a:defRPr sz="1200">
                <a:solidFill>
                  <a:schemeClr val="tx1"/>
                </a:solidFill>
                <a:latin typeface="Times New Roman"/>
              </a:defRPr>
            </a:lvl2pPr>
            <a:lvl3pPr marL="1142937" indent="-228587" defTabSz="922287">
              <a:spcBef>
                <a:spcPts val="0"/>
              </a:spcBef>
              <a:defRPr sz="1200">
                <a:solidFill>
                  <a:schemeClr val="tx1"/>
                </a:solidFill>
                <a:latin typeface="Times New Roman"/>
              </a:defRPr>
            </a:lvl3pPr>
            <a:lvl4pPr marL="1600111" indent="-228587" defTabSz="922287">
              <a:spcBef>
                <a:spcPts val="0"/>
              </a:spcBef>
              <a:defRPr sz="1200">
                <a:solidFill>
                  <a:schemeClr val="tx1"/>
                </a:solidFill>
                <a:latin typeface="Times New Roman"/>
              </a:defRPr>
            </a:lvl4pPr>
            <a:lvl5pPr marL="2057287" indent="-228587" defTabSz="922287">
              <a:spcBef>
                <a:spcPts val="0"/>
              </a:spcBef>
              <a:defRPr sz="1200">
                <a:solidFill>
                  <a:schemeClr val="tx1"/>
                </a:solidFill>
                <a:latin typeface="Times New Roman"/>
              </a:defRPr>
            </a:lvl5pPr>
            <a:lvl6pPr marL="2514461" indent="-228587" defTabSz="922287">
              <a:spcBef>
                <a:spcPts val="0"/>
              </a:spcBef>
              <a:spcAft>
                <a:spcPts val="0"/>
              </a:spcAft>
              <a:defRPr sz="1200">
                <a:solidFill>
                  <a:schemeClr val="tx1"/>
                </a:solidFill>
                <a:latin typeface="Times New Roman"/>
              </a:defRPr>
            </a:lvl6pPr>
            <a:lvl7pPr marL="2971635" indent="-228587" defTabSz="922287">
              <a:spcBef>
                <a:spcPts val="0"/>
              </a:spcBef>
              <a:spcAft>
                <a:spcPts val="0"/>
              </a:spcAft>
              <a:defRPr sz="1200">
                <a:solidFill>
                  <a:schemeClr val="tx1"/>
                </a:solidFill>
                <a:latin typeface="Times New Roman"/>
              </a:defRPr>
            </a:lvl7pPr>
            <a:lvl8pPr marL="3428811" indent="-228587" defTabSz="922287">
              <a:spcBef>
                <a:spcPts val="0"/>
              </a:spcBef>
              <a:spcAft>
                <a:spcPts val="0"/>
              </a:spcAft>
              <a:defRPr sz="1200">
                <a:solidFill>
                  <a:schemeClr val="tx1"/>
                </a:solidFill>
                <a:latin typeface="Times New Roman"/>
              </a:defRPr>
            </a:lvl8pPr>
            <a:lvl9pPr marL="3885985" indent="-228587" defTabSz="922287">
              <a:spcBef>
                <a:spcPts val="0"/>
              </a:spcBef>
              <a:spcAft>
                <a:spcPts val="0"/>
              </a:spcAft>
              <a:defRPr sz="1200">
                <a:solidFill>
                  <a:schemeClr val="tx1"/>
                </a:solidFill>
                <a:latin typeface="Times New Roman"/>
              </a:defRPr>
            </a:lvl9pPr>
          </a:lstStyle>
          <a:p>
            <a:pPr>
              <a:spcBef>
                <a:spcPts val="0"/>
              </a:spcBef>
              <a:defRPr/>
            </a:pPr>
            <a:fld id="{3E6BB24F-7527-415E-A4B4-B132D61B26C9}" type="slidenum">
              <a:rPr lang="en-US">
                <a:solidFill>
                  <a:prstClr val="black"/>
                </a:solidFill>
              </a:rPr>
              <a:t>29</a:t>
            </a:fld>
            <a:endParaRPr lang="en-US">
              <a:solidFill>
                <a:prstClr val="black"/>
              </a:solidFill>
            </a:endParaRPr>
          </a:p>
        </p:txBody>
      </p:sp>
      <p:sp>
        <p:nvSpPr>
          <p:cNvPr id="1777493551" name="Rectangle 2"/>
          <p:cNvSpPr>
            <a:spLocks noChangeArrowheads="1" noChangeAspect="1" noGrp="1" noRot="1" noTextEdit="1"/>
          </p:cNvSpPr>
          <p:nvPr>
            <p:ph type="sldImg"/>
          </p:nvPr>
        </p:nvSpPr>
        <p:spPr bwMode="auto">
          <a:xfrm>
            <a:off x="717550" y="1162050"/>
            <a:ext cx="5575300" cy="3136900"/>
          </a:xfrm>
          <a:ln/>
        </p:spPr>
      </p:sp>
      <p:sp>
        <p:nvSpPr>
          <p:cNvPr id="1849682380"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4735917" name="Rectangle 7"/>
          <p:cNvSpPr>
            <a:spLocks noChangeArrowheads="1" noGrp="1"/>
          </p:cNvSpPr>
          <p:nvPr>
            <p:ph type="sldNum" sz="quarter" idx="5"/>
          </p:nvPr>
        </p:nvSpPr>
        <p:spPr bwMode="auto">
          <a:prstGeom prst="rect">
            <a:avLst/>
          </a:prstGeom>
          <a:noFill/>
          <a:ln/>
        </p:spPr>
        <p:txBody>
          <a:bodyPr/>
          <a:lstStyle>
            <a:lvl1pPr defTabSz="922287">
              <a:spcBef>
                <a:spcPts val="0"/>
              </a:spcBef>
              <a:defRPr sz="1200">
                <a:solidFill>
                  <a:schemeClr val="tx1"/>
                </a:solidFill>
                <a:latin typeface="Times New Roman"/>
              </a:defRPr>
            </a:lvl1pPr>
            <a:lvl2pPr marL="742909" indent="-285734" defTabSz="922287">
              <a:spcBef>
                <a:spcPts val="0"/>
              </a:spcBef>
              <a:defRPr sz="1200">
                <a:solidFill>
                  <a:schemeClr val="tx1"/>
                </a:solidFill>
                <a:latin typeface="Times New Roman"/>
              </a:defRPr>
            </a:lvl2pPr>
            <a:lvl3pPr marL="1142937" indent="-228587" defTabSz="922287">
              <a:spcBef>
                <a:spcPts val="0"/>
              </a:spcBef>
              <a:defRPr sz="1200">
                <a:solidFill>
                  <a:schemeClr val="tx1"/>
                </a:solidFill>
                <a:latin typeface="Times New Roman"/>
              </a:defRPr>
            </a:lvl3pPr>
            <a:lvl4pPr marL="1600111" indent="-228587" defTabSz="922287">
              <a:spcBef>
                <a:spcPts val="0"/>
              </a:spcBef>
              <a:defRPr sz="1200">
                <a:solidFill>
                  <a:schemeClr val="tx1"/>
                </a:solidFill>
                <a:latin typeface="Times New Roman"/>
              </a:defRPr>
            </a:lvl4pPr>
            <a:lvl5pPr marL="2057287" indent="-228587" defTabSz="922287">
              <a:spcBef>
                <a:spcPts val="0"/>
              </a:spcBef>
              <a:defRPr sz="1200">
                <a:solidFill>
                  <a:schemeClr val="tx1"/>
                </a:solidFill>
                <a:latin typeface="Times New Roman"/>
              </a:defRPr>
            </a:lvl5pPr>
            <a:lvl6pPr marL="2514461" indent="-228587" defTabSz="922287">
              <a:spcBef>
                <a:spcPts val="0"/>
              </a:spcBef>
              <a:spcAft>
                <a:spcPts val="0"/>
              </a:spcAft>
              <a:defRPr sz="1200">
                <a:solidFill>
                  <a:schemeClr val="tx1"/>
                </a:solidFill>
                <a:latin typeface="Times New Roman"/>
              </a:defRPr>
            </a:lvl6pPr>
            <a:lvl7pPr marL="2971635" indent="-228587" defTabSz="922287">
              <a:spcBef>
                <a:spcPts val="0"/>
              </a:spcBef>
              <a:spcAft>
                <a:spcPts val="0"/>
              </a:spcAft>
              <a:defRPr sz="1200">
                <a:solidFill>
                  <a:schemeClr val="tx1"/>
                </a:solidFill>
                <a:latin typeface="Times New Roman"/>
              </a:defRPr>
            </a:lvl7pPr>
            <a:lvl8pPr marL="3428811" indent="-228587" defTabSz="922287">
              <a:spcBef>
                <a:spcPts val="0"/>
              </a:spcBef>
              <a:spcAft>
                <a:spcPts val="0"/>
              </a:spcAft>
              <a:defRPr sz="1200">
                <a:solidFill>
                  <a:schemeClr val="tx1"/>
                </a:solidFill>
                <a:latin typeface="Times New Roman"/>
              </a:defRPr>
            </a:lvl8pPr>
            <a:lvl9pPr marL="3885985" indent="-228587" defTabSz="922287">
              <a:spcBef>
                <a:spcPts val="0"/>
              </a:spcBef>
              <a:spcAft>
                <a:spcPts val="0"/>
              </a:spcAft>
              <a:defRPr sz="1200">
                <a:solidFill>
                  <a:schemeClr val="tx1"/>
                </a:solidFill>
                <a:latin typeface="Times New Roman"/>
              </a:defRPr>
            </a:lvl9pPr>
          </a:lstStyle>
          <a:p>
            <a:pPr>
              <a:spcBef>
                <a:spcPts val="0"/>
              </a:spcBef>
              <a:defRPr/>
            </a:pPr>
            <a:fld id="{3E6BB24F-7527-415E-A4B4-B132D61B26C9}" type="slidenum">
              <a:rPr lang="en-US">
                <a:solidFill>
                  <a:prstClr val="black"/>
                </a:solidFill>
              </a:rPr>
              <a:t>30</a:t>
            </a:fld>
            <a:endParaRPr lang="en-US">
              <a:solidFill>
                <a:prstClr val="black"/>
              </a:solidFill>
            </a:endParaRPr>
          </a:p>
        </p:txBody>
      </p:sp>
      <p:sp>
        <p:nvSpPr>
          <p:cNvPr id="791919986" name="Rectangle 2"/>
          <p:cNvSpPr>
            <a:spLocks noChangeArrowheads="1" noChangeAspect="1" noGrp="1" noRot="1" noTextEdit="1"/>
          </p:cNvSpPr>
          <p:nvPr>
            <p:ph type="sldImg"/>
          </p:nvPr>
        </p:nvSpPr>
        <p:spPr bwMode="auto">
          <a:xfrm>
            <a:off x="717550" y="1162050"/>
            <a:ext cx="5575300" cy="3136900"/>
          </a:xfrm>
          <a:ln/>
        </p:spPr>
      </p:sp>
      <p:sp>
        <p:nvSpPr>
          <p:cNvPr id="1847121890"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80436085" name="Rectangle 7"/>
          <p:cNvSpPr>
            <a:spLocks noChangeArrowheads="1" noGrp="1"/>
          </p:cNvSpPr>
          <p:nvPr>
            <p:ph type="sldNum" sz="quarter" idx="5"/>
          </p:nvPr>
        </p:nvSpPr>
        <p:spPr bwMode="auto">
          <a:prstGeom prst="rect">
            <a:avLst/>
          </a:prstGeom>
          <a:noFill/>
          <a:ln/>
        </p:spPr>
        <p:txBody>
          <a:bodyPr/>
          <a:lstStyle>
            <a:lvl1pPr defTabSz="922287">
              <a:spcBef>
                <a:spcPts val="0"/>
              </a:spcBef>
              <a:defRPr sz="1200">
                <a:solidFill>
                  <a:schemeClr val="tx1"/>
                </a:solidFill>
                <a:latin typeface="Times New Roman"/>
              </a:defRPr>
            </a:lvl1pPr>
            <a:lvl2pPr marL="742909" indent="-285734" defTabSz="922287">
              <a:spcBef>
                <a:spcPts val="0"/>
              </a:spcBef>
              <a:defRPr sz="1200">
                <a:solidFill>
                  <a:schemeClr val="tx1"/>
                </a:solidFill>
                <a:latin typeface="Times New Roman"/>
              </a:defRPr>
            </a:lvl2pPr>
            <a:lvl3pPr marL="1142937" indent="-228587" defTabSz="922287">
              <a:spcBef>
                <a:spcPts val="0"/>
              </a:spcBef>
              <a:defRPr sz="1200">
                <a:solidFill>
                  <a:schemeClr val="tx1"/>
                </a:solidFill>
                <a:latin typeface="Times New Roman"/>
              </a:defRPr>
            </a:lvl3pPr>
            <a:lvl4pPr marL="1600111" indent="-228587" defTabSz="922287">
              <a:spcBef>
                <a:spcPts val="0"/>
              </a:spcBef>
              <a:defRPr sz="1200">
                <a:solidFill>
                  <a:schemeClr val="tx1"/>
                </a:solidFill>
                <a:latin typeface="Times New Roman"/>
              </a:defRPr>
            </a:lvl4pPr>
            <a:lvl5pPr marL="2057287" indent="-228587" defTabSz="922287">
              <a:spcBef>
                <a:spcPts val="0"/>
              </a:spcBef>
              <a:defRPr sz="1200">
                <a:solidFill>
                  <a:schemeClr val="tx1"/>
                </a:solidFill>
                <a:latin typeface="Times New Roman"/>
              </a:defRPr>
            </a:lvl5pPr>
            <a:lvl6pPr marL="2514461" indent="-228587" defTabSz="922287">
              <a:spcBef>
                <a:spcPts val="0"/>
              </a:spcBef>
              <a:spcAft>
                <a:spcPts val="0"/>
              </a:spcAft>
              <a:defRPr sz="1200">
                <a:solidFill>
                  <a:schemeClr val="tx1"/>
                </a:solidFill>
                <a:latin typeface="Times New Roman"/>
              </a:defRPr>
            </a:lvl6pPr>
            <a:lvl7pPr marL="2971635" indent="-228587" defTabSz="922287">
              <a:spcBef>
                <a:spcPts val="0"/>
              </a:spcBef>
              <a:spcAft>
                <a:spcPts val="0"/>
              </a:spcAft>
              <a:defRPr sz="1200">
                <a:solidFill>
                  <a:schemeClr val="tx1"/>
                </a:solidFill>
                <a:latin typeface="Times New Roman"/>
              </a:defRPr>
            </a:lvl7pPr>
            <a:lvl8pPr marL="3428811" indent="-228587" defTabSz="922287">
              <a:spcBef>
                <a:spcPts val="0"/>
              </a:spcBef>
              <a:spcAft>
                <a:spcPts val="0"/>
              </a:spcAft>
              <a:defRPr sz="1200">
                <a:solidFill>
                  <a:schemeClr val="tx1"/>
                </a:solidFill>
                <a:latin typeface="Times New Roman"/>
              </a:defRPr>
            </a:lvl8pPr>
            <a:lvl9pPr marL="3885985" indent="-228587" defTabSz="922287">
              <a:spcBef>
                <a:spcPts val="0"/>
              </a:spcBef>
              <a:spcAft>
                <a:spcPts val="0"/>
              </a:spcAft>
              <a:defRPr sz="1200">
                <a:solidFill>
                  <a:schemeClr val="tx1"/>
                </a:solidFill>
                <a:latin typeface="Times New Roman"/>
              </a:defRPr>
            </a:lvl9pPr>
          </a:lstStyle>
          <a:p>
            <a:pPr>
              <a:spcBef>
                <a:spcPts val="0"/>
              </a:spcBef>
              <a:defRPr/>
            </a:pPr>
            <a:fld id="{3E6BB24F-7527-415E-A4B4-B132D61B26C9}" type="slidenum">
              <a:rPr lang="en-US">
                <a:solidFill>
                  <a:prstClr val="black"/>
                </a:solidFill>
              </a:rPr>
              <a:t>31</a:t>
            </a:fld>
            <a:endParaRPr lang="en-US">
              <a:solidFill>
                <a:prstClr val="black"/>
              </a:solidFill>
            </a:endParaRPr>
          </a:p>
        </p:txBody>
      </p:sp>
      <p:sp>
        <p:nvSpPr>
          <p:cNvPr id="767578657" name="Rectangle 2"/>
          <p:cNvSpPr>
            <a:spLocks noChangeArrowheads="1" noChangeAspect="1" noGrp="1" noRot="1" noTextEdit="1"/>
          </p:cNvSpPr>
          <p:nvPr>
            <p:ph type="sldImg"/>
          </p:nvPr>
        </p:nvSpPr>
        <p:spPr bwMode="auto">
          <a:xfrm>
            <a:off x="717550" y="1162050"/>
            <a:ext cx="5575300" cy="3136900"/>
          </a:xfrm>
          <a:ln/>
        </p:spPr>
      </p:sp>
      <p:sp>
        <p:nvSpPr>
          <p:cNvPr id="862654526"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51814885"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EF9F399F-A00E-42D3-9E81-8DE628E50397}" type="slidenum">
              <a:rPr lang="en-US"/>
              <a:t>32</a:t>
            </a:fld>
            <a:endParaRPr lang="en-US"/>
          </a:p>
        </p:txBody>
      </p:sp>
      <p:sp>
        <p:nvSpPr>
          <p:cNvPr id="1690715315" name="Rectangle 2"/>
          <p:cNvSpPr>
            <a:spLocks noChangeArrowheads="1" noChangeAspect="1" noGrp="1" noRot="1" noTextEdit="1"/>
          </p:cNvSpPr>
          <p:nvPr>
            <p:ph type="sldImg"/>
          </p:nvPr>
        </p:nvSpPr>
        <p:spPr bwMode="auto">
          <a:xfrm>
            <a:off x="293688" y="677863"/>
            <a:ext cx="6294437" cy="3541712"/>
          </a:xfrm>
          <a:ln/>
        </p:spPr>
      </p:sp>
      <p:sp>
        <p:nvSpPr>
          <p:cNvPr id="552948797" name="Rectangle 3"/>
          <p:cNvSpPr>
            <a:spLocks noChangeArrowheads="1" noGrp="1"/>
          </p:cNvSpPr>
          <p:nvPr>
            <p:ph type="body" idx="1"/>
          </p:nvPr>
        </p:nvSpPr>
        <p:spPr bwMode="auto">
          <a:xfrm>
            <a:off x="908050" y="4446588"/>
            <a:ext cx="5065713" cy="4144962"/>
          </a:xfrm>
          <a:prstGeom prst="rect">
            <a:avLst/>
          </a:prstGeom>
          <a:noFill/>
          <a:ln/>
        </p:spPr>
        <p:txBody>
          <a:bodyPr lIns="91262" tIns="45631" rIns="91262" bIns="45631"/>
          <a:lstStyle/>
          <a:p>
            <a:pPr>
              <a:defRPr/>
            </a:pPr>
            <a:r>
              <a:rPr lang="en-US"/>
              <a:t>JH: Maybe we can remove Loess curve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0665953"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22F6A872-0A59-46E4-B192-72E475259C41}" type="slidenum">
              <a:rPr lang="en-US"/>
              <a:t>33</a:t>
            </a:fld>
            <a:endParaRPr lang="en-US"/>
          </a:p>
        </p:txBody>
      </p:sp>
      <p:sp>
        <p:nvSpPr>
          <p:cNvPr id="1500608798" name="Rectangle 2"/>
          <p:cNvSpPr>
            <a:spLocks noChangeArrowheads="1" noChangeAspect="1" noGrp="1" noRot="1" noTextEdit="1"/>
          </p:cNvSpPr>
          <p:nvPr>
            <p:ph type="sldImg"/>
          </p:nvPr>
        </p:nvSpPr>
        <p:spPr bwMode="auto">
          <a:xfrm>
            <a:off x="293688" y="677863"/>
            <a:ext cx="6294437" cy="3541712"/>
          </a:xfrm>
          <a:ln/>
        </p:spPr>
      </p:sp>
      <p:sp>
        <p:nvSpPr>
          <p:cNvPr id="96084313" name="Rectangle 3"/>
          <p:cNvSpPr>
            <a:spLocks noChangeArrowheads="1" noGrp="1"/>
          </p:cNvSpPr>
          <p:nvPr>
            <p:ph type="body" idx="1"/>
          </p:nvPr>
        </p:nvSpPr>
        <p:spPr bwMode="auto">
          <a:xfrm>
            <a:off x="908050" y="4446588"/>
            <a:ext cx="5065713" cy="4144962"/>
          </a:xfrm>
          <a:prstGeom prst="rect">
            <a:avLst/>
          </a:prstGeom>
          <a:noFill/>
          <a:ln/>
        </p:spPr>
        <p:txBody>
          <a:bodyPr lIns="91262" tIns="45631" rIns="91262" bIns="45631"/>
          <a:lstStyle/>
          <a:p>
            <a:pPr>
              <a:defRPr/>
            </a:pPr>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63430290"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E231EBFC-A0A4-4E21-B20C-3F4FB1C9CC5D}" type="slidenum">
              <a:rPr lang="en-US"/>
              <a:t>34</a:t>
            </a:fld>
            <a:endParaRPr lang="en-US"/>
          </a:p>
        </p:txBody>
      </p:sp>
      <p:sp>
        <p:nvSpPr>
          <p:cNvPr id="1422534987" name="Rectangle 2"/>
          <p:cNvSpPr>
            <a:spLocks noChangeArrowheads="1" noChangeAspect="1" noGrp="1" noRot="1" noTextEdit="1"/>
          </p:cNvSpPr>
          <p:nvPr>
            <p:ph type="sldImg"/>
          </p:nvPr>
        </p:nvSpPr>
        <p:spPr bwMode="auto">
          <a:ln/>
        </p:spPr>
      </p:sp>
      <p:sp>
        <p:nvSpPr>
          <p:cNvPr id="786602241" name="Rectangle 3"/>
          <p:cNvSpPr>
            <a:spLocks noChangeArrowheads="1" noGrp="1"/>
          </p:cNvSpPr>
          <p:nvPr>
            <p:ph type="body" idx="1"/>
          </p:nvPr>
        </p:nvSpPr>
        <p:spPr bwMode="auto">
          <a:prstGeom prst="rect">
            <a:avLst/>
          </a:prstGeom>
          <a:noFill/>
          <a:ln/>
        </p:spPr>
        <p:txBody>
          <a:bodyPr/>
          <a:lstStyle/>
          <a:p>
            <a:pPr>
              <a:defRPr/>
            </a:pPr>
            <a:r>
              <a:rPr lang="en-US"/>
              <a:t>JH: A better and BASIC histogram figure --- because this one overlaps with a later one!</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58210913"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DDAA24AE-7CD5-425A-9425-01AFA6CA3CB2}" type="slidenum">
              <a:rPr lang="en-US"/>
              <a:t>35</a:t>
            </a:fld>
            <a:endParaRPr lang="en-US"/>
          </a:p>
        </p:txBody>
      </p:sp>
      <p:sp>
        <p:nvSpPr>
          <p:cNvPr id="1631713816" name="Rectangle 2"/>
          <p:cNvSpPr>
            <a:spLocks noChangeArrowheads="1" noChangeAspect="1" noGrp="1" noRot="1" noTextEdit="1"/>
          </p:cNvSpPr>
          <p:nvPr>
            <p:ph type="sldImg"/>
          </p:nvPr>
        </p:nvSpPr>
        <p:spPr bwMode="auto">
          <a:ln/>
        </p:spPr>
      </p:sp>
      <p:sp>
        <p:nvSpPr>
          <p:cNvPr id="1392875569"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8387129"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EEB2C53D-2200-45E9-8A2B-978D074B6EFD}" type="slidenum">
              <a:rPr lang="en-US"/>
              <a:t>36</a:t>
            </a:fld>
            <a:endParaRPr lang="en-US"/>
          </a:p>
        </p:txBody>
      </p:sp>
      <p:sp>
        <p:nvSpPr>
          <p:cNvPr id="307279249" name="Rectangle 2"/>
          <p:cNvSpPr>
            <a:spLocks noChangeArrowheads="1" noChangeAspect="1" noGrp="1" noRot="1" noTextEdit="1"/>
          </p:cNvSpPr>
          <p:nvPr>
            <p:ph type="sldImg"/>
          </p:nvPr>
        </p:nvSpPr>
        <p:spPr bwMode="auto">
          <a:ln/>
        </p:spPr>
      </p:sp>
      <p:sp>
        <p:nvSpPr>
          <p:cNvPr id="1651807299"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4747523"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CFBE46D1-EE33-4313-AB35-0C02F19132C6}" type="slidenum">
              <a:rPr lang="en-US"/>
              <a:t>37</a:t>
            </a:fld>
            <a:endParaRPr lang="en-US"/>
          </a:p>
        </p:txBody>
      </p:sp>
      <p:sp>
        <p:nvSpPr>
          <p:cNvPr id="1931650451" name="Rectangle 2"/>
          <p:cNvSpPr>
            <a:spLocks noChangeArrowheads="1" noChangeAspect="1" noGrp="1" noRot="1" noTextEdit="1"/>
          </p:cNvSpPr>
          <p:nvPr>
            <p:ph type="sldImg"/>
          </p:nvPr>
        </p:nvSpPr>
        <p:spPr bwMode="auto">
          <a:ln/>
        </p:spPr>
      </p:sp>
      <p:sp>
        <p:nvSpPr>
          <p:cNvPr id="1802265535" name="Rectangle 3"/>
          <p:cNvSpPr>
            <a:spLocks noChangeArrowheads="1" noGrp="1"/>
          </p:cNvSpPr>
          <p:nvPr>
            <p:ph type="body" idx="1"/>
          </p:nvPr>
        </p:nvSpPr>
        <p:spPr bwMode="auto">
          <a:prstGeom prst="rect">
            <a:avLst/>
          </a:prstGeom>
          <a:noFill/>
          <a:ln/>
        </p:spPr>
        <p:txBody>
          <a:bodyPr/>
          <a:lstStyle/>
          <a:p>
            <a:pPr>
              <a:defRPr/>
            </a:pPr>
            <a:r>
              <a:rPr lang="en-US"/>
              <a:t>Note: We need to </a:t>
            </a:r>
            <a:r>
              <a:rPr lang="en-US" b="1"/>
              <a:t>label</a:t>
            </a:r>
            <a:r>
              <a:rPr lang="en-US"/>
              <a:t> the dark plotted points as </a:t>
            </a:r>
            <a:r>
              <a:rPr lang="en-US" b="1"/>
              <a:t>Q1, Median, Q3</a:t>
            </a:r>
            <a:r>
              <a:rPr lang="en-US"/>
              <a:t> – that would help in understanding this graph.</a:t>
            </a:r>
            <a:endParaRPr/>
          </a:p>
          <a:p>
            <a:pPr>
              <a:defRPr/>
            </a:pPr>
            <a:r>
              <a:rPr lang="en-US"/>
              <a:t>Tell audience: There is a shift in distribution of branch 1 WRT branch 2 in that the unit prices of items sold at branch 1 tend to be lower than those at branch 2.</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7853531"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78C8C8CE-F8D8-4175-AD77-519B7DCB72E6}" type="slidenum">
              <a:rPr lang="en-US"/>
              <a:t>38</a:t>
            </a:fld>
            <a:endParaRPr lang="en-US"/>
          </a:p>
        </p:txBody>
      </p:sp>
      <p:sp>
        <p:nvSpPr>
          <p:cNvPr id="1640963690" name="Rectangle 2"/>
          <p:cNvSpPr>
            <a:spLocks noChangeArrowheads="1" noChangeAspect="1" noGrp="1" noRot="1" noTextEdit="1"/>
          </p:cNvSpPr>
          <p:nvPr>
            <p:ph type="sldImg"/>
          </p:nvPr>
        </p:nvSpPr>
        <p:spPr bwMode="auto">
          <a:ln/>
        </p:spPr>
      </p:sp>
      <p:sp>
        <p:nvSpPr>
          <p:cNvPr id="396746806" name="Rectangle 3"/>
          <p:cNvSpPr>
            <a:spLocks noChangeArrowheads="1" noGrp="1"/>
          </p:cNvSpPr>
          <p:nvPr>
            <p:ph type="body" idx="1"/>
          </p:nvPr>
        </p:nvSpPr>
        <p:spPr bwMode="auto">
          <a:prstGeom prst="rect">
            <a:avLst/>
          </a:prstGeom>
          <a:noFill/>
          <a:ln/>
        </p:spPr>
        <p:txBody>
          <a:bodyPr/>
          <a:lstStyle/>
          <a:p>
            <a:pPr>
              <a:defRPr/>
            </a:pPr>
            <a:r>
              <a:rPr lang="en-US" b="1"/>
              <a:t>Need a better and more MEANINGFUL scatter plot! -JH</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01321160"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6215AC35-66F9-4340-A1A6-70CB99440241}" type="slidenum">
              <a:rPr lang="en-US"/>
              <a:t>39</a:t>
            </a:fld>
            <a:endParaRPr lang="en-US"/>
          </a:p>
        </p:txBody>
      </p:sp>
      <p:sp>
        <p:nvSpPr>
          <p:cNvPr id="1455755448" name="Rectangle 2"/>
          <p:cNvSpPr>
            <a:spLocks noChangeArrowheads="1" noChangeAspect="1" noGrp="1" noRot="1" noTextEdit="1"/>
          </p:cNvSpPr>
          <p:nvPr>
            <p:ph type="sldImg"/>
          </p:nvPr>
        </p:nvSpPr>
        <p:spPr bwMode="auto">
          <a:ln/>
        </p:spPr>
      </p:sp>
      <p:sp>
        <p:nvSpPr>
          <p:cNvPr id="1270295274"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9620792"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E118F472-7076-4759-839C-B96341DDE640}" type="slidenum">
              <a:rPr lang="en-US"/>
              <a:t>40</a:t>
            </a:fld>
            <a:endParaRPr lang="en-US"/>
          </a:p>
        </p:txBody>
      </p:sp>
      <p:sp>
        <p:nvSpPr>
          <p:cNvPr id="1571320891" name="Rectangle 2"/>
          <p:cNvSpPr>
            <a:spLocks noChangeArrowheads="1" noChangeAspect="1" noGrp="1" noRot="1" noTextEdit="1"/>
          </p:cNvSpPr>
          <p:nvPr>
            <p:ph type="sldImg"/>
          </p:nvPr>
        </p:nvSpPr>
        <p:spPr bwMode="auto">
          <a:ln/>
        </p:spPr>
      </p:sp>
      <p:sp>
        <p:nvSpPr>
          <p:cNvPr id="1566634015"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0146867" name="Rectangle 7"/>
          <p:cNvSpPr>
            <a:spLocks noChangeArrowheads="1" noGrp="1"/>
          </p:cNvSpPr>
          <p:nvPr>
            <p:ph type="sldNum" sz="quarter" idx="5"/>
          </p:nvPr>
        </p:nvSpPr>
        <p:spPr bwMode="auto">
          <a:prstGeom prst="rect">
            <a:avLst/>
          </a:prstGeom>
          <a:noFill/>
          <a:ln/>
        </p:spPr>
        <p:txBody>
          <a:bodyPr/>
          <a:lstStyle>
            <a:lvl1pPr defTabSz="931863">
              <a:defRPr sz="2800">
                <a:solidFill>
                  <a:schemeClr val="tx1"/>
                </a:solidFill>
                <a:latin typeface="Tahoma"/>
              </a:defRPr>
            </a:lvl1pPr>
            <a:lvl2pPr marL="742950" indent="-285750" defTabSz="931863">
              <a:defRPr sz="2800">
                <a:solidFill>
                  <a:schemeClr val="tx1"/>
                </a:solidFill>
                <a:latin typeface="Tahoma"/>
              </a:defRPr>
            </a:lvl2pPr>
            <a:lvl3pPr marL="1143000" indent="-228600" defTabSz="931863">
              <a:defRPr sz="2800">
                <a:solidFill>
                  <a:schemeClr val="tx1"/>
                </a:solidFill>
                <a:latin typeface="Tahoma"/>
              </a:defRPr>
            </a:lvl3pPr>
            <a:lvl4pPr marL="1600200" indent="-228600" defTabSz="931863">
              <a:defRPr sz="2800">
                <a:solidFill>
                  <a:schemeClr val="tx1"/>
                </a:solidFill>
                <a:latin typeface="Tahoma"/>
              </a:defRPr>
            </a:lvl4pPr>
            <a:lvl5pPr marL="2057400" indent="-228600" defTabSz="931863">
              <a:defRPr sz="2800">
                <a:solidFill>
                  <a:schemeClr val="tx1"/>
                </a:solidFill>
                <a:latin typeface="Tahoma"/>
              </a:defRPr>
            </a:lvl5pPr>
            <a:lvl6pPr marL="2514600" indent="-228600" defTabSz="931863">
              <a:spcBef>
                <a:spcPts val="0"/>
              </a:spcBef>
              <a:spcAft>
                <a:spcPts val="0"/>
              </a:spcAft>
              <a:defRPr sz="2800">
                <a:solidFill>
                  <a:schemeClr val="tx1"/>
                </a:solidFill>
                <a:latin typeface="Tahoma"/>
              </a:defRPr>
            </a:lvl6pPr>
            <a:lvl7pPr marL="2971800" indent="-228600" defTabSz="931863">
              <a:spcBef>
                <a:spcPts val="0"/>
              </a:spcBef>
              <a:spcAft>
                <a:spcPts val="0"/>
              </a:spcAft>
              <a:defRPr sz="2800">
                <a:solidFill>
                  <a:schemeClr val="tx1"/>
                </a:solidFill>
                <a:latin typeface="Tahoma"/>
              </a:defRPr>
            </a:lvl7pPr>
            <a:lvl8pPr marL="3429000" indent="-228600" defTabSz="931863">
              <a:spcBef>
                <a:spcPts val="0"/>
              </a:spcBef>
              <a:spcAft>
                <a:spcPts val="0"/>
              </a:spcAft>
              <a:defRPr sz="2800">
                <a:solidFill>
                  <a:schemeClr val="tx1"/>
                </a:solidFill>
                <a:latin typeface="Tahoma"/>
              </a:defRPr>
            </a:lvl8pPr>
            <a:lvl9pPr marL="3886200" indent="-228600" defTabSz="931863">
              <a:spcBef>
                <a:spcPts val="0"/>
              </a:spcBef>
              <a:spcAft>
                <a:spcPts val="0"/>
              </a:spcAft>
              <a:defRPr sz="2800">
                <a:solidFill>
                  <a:schemeClr val="tx1"/>
                </a:solidFill>
                <a:latin typeface="Tahoma"/>
              </a:defRPr>
            </a:lvl9pPr>
          </a:lstStyle>
          <a:p>
            <a:pPr>
              <a:defRPr/>
            </a:pPr>
            <a:fld id="{29BE47E6-A684-41E8-A8D2-AEB21EE26F6A}" type="slidenum">
              <a:rPr lang="en-US" sz="1200">
                <a:solidFill>
                  <a:prstClr val="black"/>
                </a:solidFill>
              </a:rPr>
              <a:t>41</a:t>
            </a:fld>
            <a:endParaRPr lang="en-US" sz="1200">
              <a:solidFill>
                <a:prstClr val="black"/>
              </a:solidFill>
            </a:endParaRPr>
          </a:p>
        </p:txBody>
      </p:sp>
      <p:sp>
        <p:nvSpPr>
          <p:cNvPr id="498548984" name="Rectangle 2"/>
          <p:cNvSpPr>
            <a:spLocks noChangeArrowheads="1" noChangeAspect="1" noGrp="1" noRot="1" noTextEdit="1"/>
          </p:cNvSpPr>
          <p:nvPr>
            <p:ph type="sldImg"/>
          </p:nvPr>
        </p:nvSpPr>
        <p:spPr bwMode="auto">
          <a:ln/>
        </p:spPr>
      </p:sp>
      <p:sp>
        <p:nvSpPr>
          <p:cNvPr id="1258361130" name="Rectangle 3"/>
          <p:cNvSpPr>
            <a:spLocks noChangeArrowheads="1" noGrp="1"/>
          </p:cNvSpPr>
          <p:nvPr>
            <p:ph type="body" idx="1"/>
          </p:nvPr>
        </p:nvSpPr>
        <p:spPr bwMode="auto">
          <a:prstGeom prst="rect">
            <a:avLst/>
          </a:prstGeom>
          <a:noFill/>
          <a:ln/>
        </p:spPr>
        <p:txBody>
          <a:bodyPr/>
          <a:lstStyle/>
          <a:p>
            <a:pPr>
              <a:defRPr/>
            </a:pPr>
            <a:endParaRPr lang="en-US" b="1"/>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52806312" name="Rectangle 7"/>
          <p:cNvSpPr>
            <a:spLocks noChangeArrowheads="1" noGrp="1"/>
          </p:cNvSpPr>
          <p:nvPr>
            <p:ph type="sldNum" sz="quarter" idx="5"/>
          </p:nvPr>
        </p:nvSpPr>
        <p:spPr bwMode="auto">
          <a:prstGeom prst="rect">
            <a:avLst/>
          </a:prstGeom>
          <a:noFill/>
          <a:ln/>
        </p:spPr>
        <p:txBody>
          <a:bodyPr/>
          <a:lstStyle>
            <a:lvl1pPr defTabSz="922287">
              <a:spcBef>
                <a:spcPts val="0"/>
              </a:spcBef>
              <a:defRPr sz="1200">
                <a:solidFill>
                  <a:schemeClr val="tx1"/>
                </a:solidFill>
                <a:latin typeface="Times New Roman"/>
              </a:defRPr>
            </a:lvl1pPr>
            <a:lvl2pPr marL="742909" indent="-285734" defTabSz="922287">
              <a:spcBef>
                <a:spcPts val="0"/>
              </a:spcBef>
              <a:defRPr sz="1200">
                <a:solidFill>
                  <a:schemeClr val="tx1"/>
                </a:solidFill>
                <a:latin typeface="Times New Roman"/>
              </a:defRPr>
            </a:lvl2pPr>
            <a:lvl3pPr marL="1142937" indent="-228587" defTabSz="922287">
              <a:spcBef>
                <a:spcPts val="0"/>
              </a:spcBef>
              <a:defRPr sz="1200">
                <a:solidFill>
                  <a:schemeClr val="tx1"/>
                </a:solidFill>
                <a:latin typeface="Times New Roman"/>
              </a:defRPr>
            </a:lvl3pPr>
            <a:lvl4pPr marL="1600111" indent="-228587" defTabSz="922287">
              <a:spcBef>
                <a:spcPts val="0"/>
              </a:spcBef>
              <a:defRPr sz="1200">
                <a:solidFill>
                  <a:schemeClr val="tx1"/>
                </a:solidFill>
                <a:latin typeface="Times New Roman"/>
              </a:defRPr>
            </a:lvl4pPr>
            <a:lvl5pPr marL="2057287" indent="-228587" defTabSz="922287">
              <a:spcBef>
                <a:spcPts val="0"/>
              </a:spcBef>
              <a:defRPr sz="1200">
                <a:solidFill>
                  <a:schemeClr val="tx1"/>
                </a:solidFill>
                <a:latin typeface="Times New Roman"/>
              </a:defRPr>
            </a:lvl5pPr>
            <a:lvl6pPr marL="2514461" indent="-228587" defTabSz="922287">
              <a:spcBef>
                <a:spcPts val="0"/>
              </a:spcBef>
              <a:spcAft>
                <a:spcPts val="0"/>
              </a:spcAft>
              <a:defRPr sz="1200">
                <a:solidFill>
                  <a:schemeClr val="tx1"/>
                </a:solidFill>
                <a:latin typeface="Times New Roman"/>
              </a:defRPr>
            </a:lvl6pPr>
            <a:lvl7pPr marL="2971635" indent="-228587" defTabSz="922287">
              <a:spcBef>
                <a:spcPts val="0"/>
              </a:spcBef>
              <a:spcAft>
                <a:spcPts val="0"/>
              </a:spcAft>
              <a:defRPr sz="1200">
                <a:solidFill>
                  <a:schemeClr val="tx1"/>
                </a:solidFill>
                <a:latin typeface="Times New Roman"/>
              </a:defRPr>
            </a:lvl7pPr>
            <a:lvl8pPr marL="3428811" indent="-228587" defTabSz="922287">
              <a:spcBef>
                <a:spcPts val="0"/>
              </a:spcBef>
              <a:spcAft>
                <a:spcPts val="0"/>
              </a:spcAft>
              <a:defRPr sz="1200">
                <a:solidFill>
                  <a:schemeClr val="tx1"/>
                </a:solidFill>
                <a:latin typeface="Times New Roman"/>
              </a:defRPr>
            </a:lvl8pPr>
            <a:lvl9pPr marL="3885985" indent="-228587" defTabSz="922287">
              <a:spcBef>
                <a:spcPts val="0"/>
              </a:spcBef>
              <a:spcAft>
                <a:spcPts val="0"/>
              </a:spcAft>
              <a:defRPr sz="1200">
                <a:solidFill>
                  <a:schemeClr val="tx1"/>
                </a:solidFill>
                <a:latin typeface="Times New Roman"/>
              </a:defRPr>
            </a:lvl9pPr>
          </a:lstStyle>
          <a:p>
            <a:pPr>
              <a:spcBef>
                <a:spcPts val="0"/>
              </a:spcBef>
              <a:defRPr/>
            </a:pPr>
            <a:fld id="{3E6BB24F-7527-415E-A4B4-B132D61B26C9}" type="slidenum">
              <a:rPr lang="en-US">
                <a:solidFill>
                  <a:prstClr val="black"/>
                </a:solidFill>
              </a:rPr>
              <a:t>42</a:t>
            </a:fld>
            <a:endParaRPr lang="en-US">
              <a:solidFill>
                <a:prstClr val="black"/>
              </a:solidFill>
            </a:endParaRPr>
          </a:p>
        </p:txBody>
      </p:sp>
      <p:sp>
        <p:nvSpPr>
          <p:cNvPr id="86188001" name="Rectangle 2"/>
          <p:cNvSpPr>
            <a:spLocks noChangeArrowheads="1" noChangeAspect="1" noGrp="1" noRot="1" noTextEdit="1"/>
          </p:cNvSpPr>
          <p:nvPr>
            <p:ph type="sldImg"/>
          </p:nvPr>
        </p:nvSpPr>
        <p:spPr bwMode="auto">
          <a:xfrm>
            <a:off x="717550" y="1162050"/>
            <a:ext cx="5575300" cy="3136900"/>
          </a:xfrm>
          <a:ln/>
        </p:spPr>
      </p:sp>
      <p:sp>
        <p:nvSpPr>
          <p:cNvPr id="613068642"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2896076" name="Rectangle 7"/>
          <p:cNvSpPr>
            <a:spLocks noChangeArrowheads="1" noGrp="1"/>
          </p:cNvSpPr>
          <p:nvPr>
            <p:ph type="sldNum" sz="quarter" idx="5"/>
          </p:nvPr>
        </p:nvSpPr>
        <p:spPr bwMode="auto">
          <a:prstGeom prst="rect">
            <a:avLst/>
          </a:prstGeom>
          <a:noFill/>
          <a:ln/>
        </p:spPr>
        <p:txBody>
          <a:bodyPr/>
          <a:lstStyle>
            <a:lvl1pPr defTabSz="922287">
              <a:spcBef>
                <a:spcPts val="0"/>
              </a:spcBef>
              <a:defRPr sz="1200">
                <a:solidFill>
                  <a:schemeClr val="tx1"/>
                </a:solidFill>
                <a:latin typeface="Times New Roman"/>
              </a:defRPr>
            </a:lvl1pPr>
            <a:lvl2pPr marL="742909" indent="-285734" defTabSz="922287">
              <a:spcBef>
                <a:spcPts val="0"/>
              </a:spcBef>
              <a:defRPr sz="1200">
                <a:solidFill>
                  <a:schemeClr val="tx1"/>
                </a:solidFill>
                <a:latin typeface="Times New Roman"/>
              </a:defRPr>
            </a:lvl2pPr>
            <a:lvl3pPr marL="1142937" indent="-228587" defTabSz="922287">
              <a:spcBef>
                <a:spcPts val="0"/>
              </a:spcBef>
              <a:defRPr sz="1200">
                <a:solidFill>
                  <a:schemeClr val="tx1"/>
                </a:solidFill>
                <a:latin typeface="Times New Roman"/>
              </a:defRPr>
            </a:lvl3pPr>
            <a:lvl4pPr marL="1600111" indent="-228587" defTabSz="922287">
              <a:spcBef>
                <a:spcPts val="0"/>
              </a:spcBef>
              <a:defRPr sz="1200">
                <a:solidFill>
                  <a:schemeClr val="tx1"/>
                </a:solidFill>
                <a:latin typeface="Times New Roman"/>
              </a:defRPr>
            </a:lvl4pPr>
            <a:lvl5pPr marL="2057287" indent="-228587" defTabSz="922287">
              <a:spcBef>
                <a:spcPts val="0"/>
              </a:spcBef>
              <a:defRPr sz="1200">
                <a:solidFill>
                  <a:schemeClr val="tx1"/>
                </a:solidFill>
                <a:latin typeface="Times New Roman"/>
              </a:defRPr>
            </a:lvl5pPr>
            <a:lvl6pPr marL="2514461" indent="-228587" defTabSz="922287">
              <a:spcBef>
                <a:spcPts val="0"/>
              </a:spcBef>
              <a:spcAft>
                <a:spcPts val="0"/>
              </a:spcAft>
              <a:defRPr sz="1200">
                <a:solidFill>
                  <a:schemeClr val="tx1"/>
                </a:solidFill>
                <a:latin typeface="Times New Roman"/>
              </a:defRPr>
            </a:lvl6pPr>
            <a:lvl7pPr marL="2971635" indent="-228587" defTabSz="922287">
              <a:spcBef>
                <a:spcPts val="0"/>
              </a:spcBef>
              <a:spcAft>
                <a:spcPts val="0"/>
              </a:spcAft>
              <a:defRPr sz="1200">
                <a:solidFill>
                  <a:schemeClr val="tx1"/>
                </a:solidFill>
                <a:latin typeface="Times New Roman"/>
              </a:defRPr>
            </a:lvl7pPr>
            <a:lvl8pPr marL="3428811" indent="-228587" defTabSz="922287">
              <a:spcBef>
                <a:spcPts val="0"/>
              </a:spcBef>
              <a:spcAft>
                <a:spcPts val="0"/>
              </a:spcAft>
              <a:defRPr sz="1200">
                <a:solidFill>
                  <a:schemeClr val="tx1"/>
                </a:solidFill>
                <a:latin typeface="Times New Roman"/>
              </a:defRPr>
            </a:lvl8pPr>
            <a:lvl9pPr marL="3885985" indent="-228587" defTabSz="922287">
              <a:spcBef>
                <a:spcPts val="0"/>
              </a:spcBef>
              <a:spcAft>
                <a:spcPts val="0"/>
              </a:spcAft>
              <a:defRPr sz="1200">
                <a:solidFill>
                  <a:schemeClr val="tx1"/>
                </a:solidFill>
                <a:latin typeface="Times New Roman"/>
              </a:defRPr>
            </a:lvl9pPr>
          </a:lstStyle>
          <a:p>
            <a:pPr>
              <a:spcBef>
                <a:spcPts val="0"/>
              </a:spcBef>
              <a:defRPr/>
            </a:pPr>
            <a:fld id="{3E6BB24F-7527-415E-A4B4-B132D61B26C9}" type="slidenum">
              <a:rPr lang="en-US">
                <a:solidFill>
                  <a:prstClr val="black"/>
                </a:solidFill>
              </a:rPr>
              <a:t>43</a:t>
            </a:fld>
            <a:endParaRPr lang="en-US">
              <a:solidFill>
                <a:prstClr val="black"/>
              </a:solidFill>
            </a:endParaRPr>
          </a:p>
        </p:txBody>
      </p:sp>
      <p:sp>
        <p:nvSpPr>
          <p:cNvPr id="582444110" name="Rectangle 2"/>
          <p:cNvSpPr>
            <a:spLocks noChangeArrowheads="1" noChangeAspect="1" noGrp="1" noRot="1" noTextEdit="1"/>
          </p:cNvSpPr>
          <p:nvPr>
            <p:ph type="sldImg"/>
          </p:nvPr>
        </p:nvSpPr>
        <p:spPr bwMode="auto">
          <a:xfrm>
            <a:off x="717550" y="1162050"/>
            <a:ext cx="5575300" cy="3136900"/>
          </a:xfrm>
          <a:ln/>
        </p:spPr>
      </p:sp>
      <p:sp>
        <p:nvSpPr>
          <p:cNvPr id="1479729559"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0455451"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F8C83344-3EC9-4AEF-ACB3-00B66669D043}" type="slidenum">
              <a:rPr lang="en-US"/>
              <a:t>44</a:t>
            </a:fld>
            <a:endParaRPr lang="en-US"/>
          </a:p>
        </p:txBody>
      </p:sp>
      <p:sp>
        <p:nvSpPr>
          <p:cNvPr id="2106477313" name="Rectangle 2"/>
          <p:cNvSpPr>
            <a:spLocks noChangeArrowheads="1" noChangeAspect="1" noGrp="1" noRot="1" noTextEdit="1"/>
          </p:cNvSpPr>
          <p:nvPr>
            <p:ph type="sldImg"/>
          </p:nvPr>
        </p:nvSpPr>
        <p:spPr bwMode="auto">
          <a:ln/>
        </p:spPr>
      </p:sp>
      <p:sp>
        <p:nvSpPr>
          <p:cNvPr id="1516692265" name="Rectangle 3"/>
          <p:cNvSpPr>
            <a:spLocks noChangeArrowheads="1" noGrp="1"/>
          </p:cNvSpPr>
          <p:nvPr>
            <p:ph type="body" idx="1"/>
          </p:nvPr>
        </p:nvSpPr>
        <p:spPr bwMode="auto">
          <a:prstGeom prst="rect">
            <a:avLst/>
          </a:prstGeom>
          <a:noFill/>
          <a:ln/>
        </p:spPr>
        <p:txBody>
          <a:bodyPr/>
          <a:lstStyle/>
          <a:p>
            <a:pPr>
              <a:defRPr/>
            </a:pPr>
            <a:r>
              <a:rPr lang="en-US"/>
              <a:t>MK: For lecture, this may be OK here, but I think discussion of standardization/normalization is better kept all together in Chapter 3</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73980750"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804C9304-A84E-4F8D-8D41-A10CC12ECD16}" type="slidenum">
              <a:rPr lang="en-US">
                <a:solidFill>
                  <a:srgbClr val="000000"/>
                </a:solidFill>
              </a:rPr>
              <a:t>45</a:t>
            </a:fld>
            <a:endParaRPr lang="en-US">
              <a:solidFill>
                <a:srgbClr val="000000"/>
              </a:solidFill>
            </a:endParaRPr>
          </a:p>
        </p:txBody>
      </p:sp>
      <p:sp>
        <p:nvSpPr>
          <p:cNvPr id="1914133103" name="Rectangle 2"/>
          <p:cNvSpPr>
            <a:spLocks noChangeArrowheads="1" noChangeAspect="1" noGrp="1" noRot="1" noTextEdit="1"/>
          </p:cNvSpPr>
          <p:nvPr>
            <p:ph type="sldImg"/>
          </p:nvPr>
        </p:nvSpPr>
        <p:spPr bwMode="auto">
          <a:xfrm>
            <a:off x="357188" y="704850"/>
            <a:ext cx="6172200" cy="3471863"/>
          </a:xfrm>
          <a:ln/>
        </p:spPr>
      </p:sp>
      <p:sp>
        <p:nvSpPr>
          <p:cNvPr id="1756325060" name="Rectangle 3"/>
          <p:cNvSpPr>
            <a:spLocks noChangeArrowheads="1" noGrp="1"/>
          </p:cNvSpPr>
          <p:nvPr>
            <p:ph type="body" idx="1"/>
          </p:nvPr>
        </p:nvSpPr>
        <p:spPr bwMode="auto">
          <a:xfrm>
            <a:off x="915988" y="4416425"/>
            <a:ext cx="5048250" cy="4179888"/>
          </a:xfrm>
          <a:prstGeom prst="rect">
            <a:avLst/>
          </a:prstGeom>
          <a:noFill/>
          <a:ln/>
        </p:spPr>
        <p:txBody>
          <a:bodyPr/>
          <a:lstStyle/>
          <a:p>
            <a:pPr>
              <a:defRPr/>
            </a:pPr>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07231681"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C5A4C53A-154B-483F-BB63-C5B68814D43F}" type="slidenum">
              <a:rPr lang="en-US">
                <a:solidFill>
                  <a:srgbClr val="000000"/>
                </a:solidFill>
              </a:rPr>
              <a:t>46</a:t>
            </a:fld>
            <a:endParaRPr lang="en-US">
              <a:solidFill>
                <a:srgbClr val="000000"/>
              </a:solidFill>
            </a:endParaRPr>
          </a:p>
        </p:txBody>
      </p:sp>
      <p:sp>
        <p:nvSpPr>
          <p:cNvPr id="2070852762" name="Rectangle 2"/>
          <p:cNvSpPr>
            <a:spLocks noChangeArrowheads="1" noChangeAspect="1" noGrp="1" noRot="1" noTextEdit="1"/>
          </p:cNvSpPr>
          <p:nvPr>
            <p:ph type="sldImg"/>
          </p:nvPr>
        </p:nvSpPr>
        <p:spPr bwMode="auto">
          <a:ln/>
        </p:spPr>
      </p:sp>
      <p:sp>
        <p:nvSpPr>
          <p:cNvPr id="781137394"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39957910"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B5EDAD38-CF67-46E9-8730-3F6A9ACE7D31}" type="slidenum">
              <a:rPr lang="en-US">
                <a:solidFill>
                  <a:srgbClr val="000000"/>
                </a:solidFill>
              </a:rPr>
              <a:t>47</a:t>
            </a:fld>
            <a:endParaRPr lang="en-US">
              <a:solidFill>
                <a:srgbClr val="000000"/>
              </a:solidFill>
            </a:endParaRPr>
          </a:p>
        </p:txBody>
      </p:sp>
      <p:sp>
        <p:nvSpPr>
          <p:cNvPr id="1996150363" name="Rectangle 2"/>
          <p:cNvSpPr>
            <a:spLocks noChangeArrowheads="1" noChangeAspect="1" noGrp="1" noRot="1" noTextEdit="1"/>
          </p:cNvSpPr>
          <p:nvPr>
            <p:ph type="sldImg"/>
          </p:nvPr>
        </p:nvSpPr>
        <p:spPr bwMode="auto">
          <a:ln/>
        </p:spPr>
      </p:sp>
      <p:sp>
        <p:nvSpPr>
          <p:cNvPr id="227215680" name="Rectangle 3"/>
          <p:cNvSpPr>
            <a:spLocks noChangeArrowheads="1" noGrp="1"/>
          </p:cNvSpPr>
          <p:nvPr>
            <p:ph type="body" idx="1"/>
          </p:nvPr>
        </p:nvSpPr>
        <p:spPr bwMode="auto">
          <a:prstGeom prst="rect">
            <a:avLst/>
          </a:prstGeom>
          <a:noFill/>
          <a:ln/>
        </p:spPr>
        <p:txBody>
          <a:bodyPr/>
          <a:lstStyle/>
          <a:p>
            <a:pPr>
              <a:defRPr/>
            </a:pPr>
            <a:r>
              <a:rPr lang="en-US"/>
              <a:t> </a:t>
            </a:r>
            <a:endParaRPr/>
          </a:p>
          <a:p>
            <a:pPr>
              <a:defRPr/>
            </a:pPr>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6121175"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985E966D-9331-4C9C-A98B-BCFBB5DDC2FD}" type="slidenum">
              <a:rPr lang="en-US">
                <a:solidFill>
                  <a:srgbClr val="000000"/>
                </a:solidFill>
              </a:rPr>
              <a:t>48</a:t>
            </a:fld>
            <a:endParaRPr lang="en-US">
              <a:solidFill>
                <a:srgbClr val="000000"/>
              </a:solidFill>
            </a:endParaRPr>
          </a:p>
        </p:txBody>
      </p:sp>
      <p:sp>
        <p:nvSpPr>
          <p:cNvPr id="1627737288" name="Rectangle 2"/>
          <p:cNvSpPr>
            <a:spLocks noChangeArrowheads="1" noChangeAspect="1" noGrp="1" noRot="1" noTextEdit="1"/>
          </p:cNvSpPr>
          <p:nvPr>
            <p:ph type="sldImg"/>
          </p:nvPr>
        </p:nvSpPr>
        <p:spPr bwMode="auto">
          <a:xfrm>
            <a:off x="357188" y="704850"/>
            <a:ext cx="6172200" cy="3471863"/>
          </a:xfrm>
          <a:ln/>
        </p:spPr>
      </p:sp>
      <p:sp>
        <p:nvSpPr>
          <p:cNvPr id="710315893" name="Rectangle 3"/>
          <p:cNvSpPr>
            <a:spLocks noChangeArrowheads="1" noGrp="1"/>
          </p:cNvSpPr>
          <p:nvPr>
            <p:ph type="body" idx="1"/>
          </p:nvPr>
        </p:nvSpPr>
        <p:spPr bwMode="auto">
          <a:xfrm>
            <a:off x="915988" y="4416425"/>
            <a:ext cx="5048250" cy="4179888"/>
          </a:xfrm>
          <a:prstGeom prst="rect">
            <a:avLst/>
          </a:prstGeom>
          <a:noFill/>
          <a:ln/>
        </p:spPr>
        <p:txBody>
          <a:bodyPr/>
          <a:lstStyle/>
          <a:p>
            <a:pPr>
              <a:defRPr/>
            </a:pPr>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803368" name="Rectangle 7"/>
          <p:cNvSpPr>
            <a:spLocks noChangeArrowheads="1" noGrp="1"/>
          </p:cNvSpPr>
          <p:nvPr>
            <p:ph type="sldNum" sz="quarter" idx="5"/>
          </p:nvPr>
        </p:nvSpPr>
        <p:spPr bwMode="auto">
          <a:prstGeom prst="rect">
            <a:avLst/>
          </a:prstGeom>
          <a:noFill/>
          <a:ln/>
        </p:spPr>
        <p:txBody>
          <a:bodyPr/>
          <a:lstStyle>
            <a:lvl1pPr defTabSz="922287">
              <a:spcBef>
                <a:spcPts val="0"/>
              </a:spcBef>
              <a:defRPr sz="1200">
                <a:solidFill>
                  <a:schemeClr val="tx1"/>
                </a:solidFill>
                <a:latin typeface="Times New Roman"/>
              </a:defRPr>
            </a:lvl1pPr>
            <a:lvl2pPr marL="742909" indent="-285734" defTabSz="922287">
              <a:spcBef>
                <a:spcPts val="0"/>
              </a:spcBef>
              <a:defRPr sz="1200">
                <a:solidFill>
                  <a:schemeClr val="tx1"/>
                </a:solidFill>
                <a:latin typeface="Times New Roman"/>
              </a:defRPr>
            </a:lvl2pPr>
            <a:lvl3pPr marL="1142937" indent="-228587" defTabSz="922287">
              <a:spcBef>
                <a:spcPts val="0"/>
              </a:spcBef>
              <a:defRPr sz="1200">
                <a:solidFill>
                  <a:schemeClr val="tx1"/>
                </a:solidFill>
                <a:latin typeface="Times New Roman"/>
              </a:defRPr>
            </a:lvl3pPr>
            <a:lvl4pPr marL="1600111" indent="-228587" defTabSz="922287">
              <a:spcBef>
                <a:spcPts val="0"/>
              </a:spcBef>
              <a:defRPr sz="1200">
                <a:solidFill>
                  <a:schemeClr val="tx1"/>
                </a:solidFill>
                <a:latin typeface="Times New Roman"/>
              </a:defRPr>
            </a:lvl4pPr>
            <a:lvl5pPr marL="2057287" indent="-228587" defTabSz="922287">
              <a:spcBef>
                <a:spcPts val="0"/>
              </a:spcBef>
              <a:defRPr sz="1200">
                <a:solidFill>
                  <a:schemeClr val="tx1"/>
                </a:solidFill>
                <a:latin typeface="Times New Roman"/>
              </a:defRPr>
            </a:lvl5pPr>
            <a:lvl6pPr marL="2514461" indent="-228587" defTabSz="922287">
              <a:spcBef>
                <a:spcPts val="0"/>
              </a:spcBef>
              <a:spcAft>
                <a:spcPts val="0"/>
              </a:spcAft>
              <a:defRPr sz="1200">
                <a:solidFill>
                  <a:schemeClr val="tx1"/>
                </a:solidFill>
                <a:latin typeface="Times New Roman"/>
              </a:defRPr>
            </a:lvl6pPr>
            <a:lvl7pPr marL="2971635" indent="-228587" defTabSz="922287">
              <a:spcBef>
                <a:spcPts val="0"/>
              </a:spcBef>
              <a:spcAft>
                <a:spcPts val="0"/>
              </a:spcAft>
              <a:defRPr sz="1200">
                <a:solidFill>
                  <a:schemeClr val="tx1"/>
                </a:solidFill>
                <a:latin typeface="Times New Roman"/>
              </a:defRPr>
            </a:lvl7pPr>
            <a:lvl8pPr marL="3428811" indent="-228587" defTabSz="922287">
              <a:spcBef>
                <a:spcPts val="0"/>
              </a:spcBef>
              <a:spcAft>
                <a:spcPts val="0"/>
              </a:spcAft>
              <a:defRPr sz="1200">
                <a:solidFill>
                  <a:schemeClr val="tx1"/>
                </a:solidFill>
                <a:latin typeface="Times New Roman"/>
              </a:defRPr>
            </a:lvl8pPr>
            <a:lvl9pPr marL="3885985" indent="-228587" defTabSz="922287">
              <a:spcBef>
                <a:spcPts val="0"/>
              </a:spcBef>
              <a:spcAft>
                <a:spcPts val="0"/>
              </a:spcAft>
              <a:defRPr sz="1200">
                <a:solidFill>
                  <a:schemeClr val="tx1"/>
                </a:solidFill>
                <a:latin typeface="Times New Roman"/>
              </a:defRPr>
            </a:lvl9pPr>
          </a:lstStyle>
          <a:p>
            <a:pPr>
              <a:spcBef>
                <a:spcPts val="0"/>
              </a:spcBef>
              <a:defRPr/>
            </a:pPr>
            <a:fld id="{3E6BB24F-7527-415E-A4B4-B132D61B26C9}" type="slidenum">
              <a:rPr lang="en-US">
                <a:solidFill>
                  <a:prstClr val="black"/>
                </a:solidFill>
              </a:rPr>
              <a:t>49</a:t>
            </a:fld>
            <a:endParaRPr lang="en-US">
              <a:solidFill>
                <a:prstClr val="black"/>
              </a:solidFill>
            </a:endParaRPr>
          </a:p>
        </p:txBody>
      </p:sp>
      <p:sp>
        <p:nvSpPr>
          <p:cNvPr id="217671523" name="Rectangle 2"/>
          <p:cNvSpPr>
            <a:spLocks noChangeArrowheads="1" noChangeAspect="1" noGrp="1" noRot="1" noTextEdit="1"/>
          </p:cNvSpPr>
          <p:nvPr>
            <p:ph type="sldImg"/>
          </p:nvPr>
        </p:nvSpPr>
        <p:spPr bwMode="auto">
          <a:xfrm>
            <a:off x="717550" y="1162050"/>
            <a:ext cx="5575300" cy="3136900"/>
          </a:xfrm>
          <a:ln/>
        </p:spPr>
      </p:sp>
      <p:sp>
        <p:nvSpPr>
          <p:cNvPr id="1346022337"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51560065" name="Rectangle 7"/>
          <p:cNvSpPr>
            <a:spLocks noChangeArrowheads="1" noGrp="1"/>
          </p:cNvSpPr>
          <p:nvPr>
            <p:ph type="sldNum" sz="quarter" idx="5"/>
          </p:nvPr>
        </p:nvSpPr>
        <p:spPr bwMode="auto">
          <a:prstGeom prst="rect">
            <a:avLst/>
          </a:prstGeom>
          <a:noFill/>
          <a:ln/>
        </p:spPr>
        <p:txBody>
          <a:bodyPr/>
          <a:lstStyle>
            <a:lvl1pPr defTabSz="922287">
              <a:spcBef>
                <a:spcPts val="0"/>
              </a:spcBef>
              <a:defRPr sz="1200">
                <a:solidFill>
                  <a:schemeClr val="tx1"/>
                </a:solidFill>
                <a:latin typeface="Times New Roman"/>
              </a:defRPr>
            </a:lvl1pPr>
            <a:lvl2pPr marL="742909" indent="-285734" defTabSz="922287">
              <a:spcBef>
                <a:spcPts val="0"/>
              </a:spcBef>
              <a:defRPr sz="1200">
                <a:solidFill>
                  <a:schemeClr val="tx1"/>
                </a:solidFill>
                <a:latin typeface="Times New Roman"/>
              </a:defRPr>
            </a:lvl2pPr>
            <a:lvl3pPr marL="1142937" indent="-228587" defTabSz="922287">
              <a:spcBef>
                <a:spcPts val="0"/>
              </a:spcBef>
              <a:defRPr sz="1200">
                <a:solidFill>
                  <a:schemeClr val="tx1"/>
                </a:solidFill>
                <a:latin typeface="Times New Roman"/>
              </a:defRPr>
            </a:lvl3pPr>
            <a:lvl4pPr marL="1600111" indent="-228587" defTabSz="922287">
              <a:spcBef>
                <a:spcPts val="0"/>
              </a:spcBef>
              <a:defRPr sz="1200">
                <a:solidFill>
                  <a:schemeClr val="tx1"/>
                </a:solidFill>
                <a:latin typeface="Times New Roman"/>
              </a:defRPr>
            </a:lvl4pPr>
            <a:lvl5pPr marL="2057287" indent="-228587" defTabSz="922287">
              <a:spcBef>
                <a:spcPts val="0"/>
              </a:spcBef>
              <a:defRPr sz="1200">
                <a:solidFill>
                  <a:schemeClr val="tx1"/>
                </a:solidFill>
                <a:latin typeface="Times New Roman"/>
              </a:defRPr>
            </a:lvl5pPr>
            <a:lvl6pPr marL="2514461" indent="-228587" defTabSz="922287">
              <a:spcBef>
                <a:spcPts val="0"/>
              </a:spcBef>
              <a:spcAft>
                <a:spcPts val="0"/>
              </a:spcAft>
              <a:defRPr sz="1200">
                <a:solidFill>
                  <a:schemeClr val="tx1"/>
                </a:solidFill>
                <a:latin typeface="Times New Roman"/>
              </a:defRPr>
            </a:lvl6pPr>
            <a:lvl7pPr marL="2971635" indent="-228587" defTabSz="922287">
              <a:spcBef>
                <a:spcPts val="0"/>
              </a:spcBef>
              <a:spcAft>
                <a:spcPts val="0"/>
              </a:spcAft>
              <a:defRPr sz="1200">
                <a:solidFill>
                  <a:schemeClr val="tx1"/>
                </a:solidFill>
                <a:latin typeface="Times New Roman"/>
              </a:defRPr>
            </a:lvl7pPr>
            <a:lvl8pPr marL="3428811" indent="-228587" defTabSz="922287">
              <a:spcBef>
                <a:spcPts val="0"/>
              </a:spcBef>
              <a:spcAft>
                <a:spcPts val="0"/>
              </a:spcAft>
              <a:defRPr sz="1200">
                <a:solidFill>
                  <a:schemeClr val="tx1"/>
                </a:solidFill>
                <a:latin typeface="Times New Roman"/>
              </a:defRPr>
            </a:lvl8pPr>
            <a:lvl9pPr marL="3885985" indent="-228587" defTabSz="922287">
              <a:spcBef>
                <a:spcPts val="0"/>
              </a:spcBef>
              <a:spcAft>
                <a:spcPts val="0"/>
              </a:spcAft>
              <a:defRPr sz="1200">
                <a:solidFill>
                  <a:schemeClr val="tx1"/>
                </a:solidFill>
                <a:latin typeface="Times New Roman"/>
              </a:defRPr>
            </a:lvl9pPr>
          </a:lstStyle>
          <a:p>
            <a:pPr>
              <a:spcBef>
                <a:spcPts val="0"/>
              </a:spcBef>
              <a:defRPr/>
            </a:pPr>
            <a:fld id="{3E6BB24F-7527-415E-A4B4-B132D61B26C9}" type="slidenum">
              <a:rPr lang="en-US">
                <a:solidFill>
                  <a:prstClr val="black"/>
                </a:solidFill>
              </a:rPr>
              <a:t>50</a:t>
            </a:fld>
            <a:endParaRPr lang="en-US">
              <a:solidFill>
                <a:prstClr val="black"/>
              </a:solidFill>
            </a:endParaRPr>
          </a:p>
        </p:txBody>
      </p:sp>
      <p:sp>
        <p:nvSpPr>
          <p:cNvPr id="266958390" name="Rectangle 2"/>
          <p:cNvSpPr>
            <a:spLocks noChangeArrowheads="1" noChangeAspect="1" noGrp="1" noRot="1" noTextEdit="1"/>
          </p:cNvSpPr>
          <p:nvPr>
            <p:ph type="sldImg"/>
          </p:nvPr>
        </p:nvSpPr>
        <p:spPr bwMode="auto">
          <a:xfrm>
            <a:off x="717550" y="1162050"/>
            <a:ext cx="5575300" cy="3136900"/>
          </a:xfrm>
          <a:ln/>
        </p:spPr>
      </p:sp>
      <p:sp>
        <p:nvSpPr>
          <p:cNvPr id="915311958"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60756426" name="Rectangle 7"/>
          <p:cNvSpPr>
            <a:spLocks noChangeArrowheads="1" noGrp="1"/>
          </p:cNvSpPr>
          <p:nvPr>
            <p:ph type="sldNum" sz="quarter" idx="5"/>
          </p:nvPr>
        </p:nvSpPr>
        <p:spPr bwMode="auto">
          <a:prstGeom prst="rect">
            <a:avLst/>
          </a:prstGeom>
          <a:noFill/>
          <a:ln/>
        </p:spPr>
        <p:txBody>
          <a:bodyPr/>
          <a:lstStyle>
            <a:lvl1pPr defTabSz="922287">
              <a:spcBef>
                <a:spcPts val="0"/>
              </a:spcBef>
              <a:defRPr sz="1200">
                <a:solidFill>
                  <a:schemeClr val="tx1"/>
                </a:solidFill>
                <a:latin typeface="Times New Roman"/>
              </a:defRPr>
            </a:lvl1pPr>
            <a:lvl2pPr marL="742909" indent="-285734" defTabSz="922287">
              <a:spcBef>
                <a:spcPts val="0"/>
              </a:spcBef>
              <a:defRPr sz="1200">
                <a:solidFill>
                  <a:schemeClr val="tx1"/>
                </a:solidFill>
                <a:latin typeface="Times New Roman"/>
              </a:defRPr>
            </a:lvl2pPr>
            <a:lvl3pPr marL="1142937" indent="-228587" defTabSz="922287">
              <a:spcBef>
                <a:spcPts val="0"/>
              </a:spcBef>
              <a:defRPr sz="1200">
                <a:solidFill>
                  <a:schemeClr val="tx1"/>
                </a:solidFill>
                <a:latin typeface="Times New Roman"/>
              </a:defRPr>
            </a:lvl3pPr>
            <a:lvl4pPr marL="1600111" indent="-228587" defTabSz="922287">
              <a:spcBef>
                <a:spcPts val="0"/>
              </a:spcBef>
              <a:defRPr sz="1200">
                <a:solidFill>
                  <a:schemeClr val="tx1"/>
                </a:solidFill>
                <a:latin typeface="Times New Roman"/>
              </a:defRPr>
            </a:lvl4pPr>
            <a:lvl5pPr marL="2057287" indent="-228587" defTabSz="922287">
              <a:spcBef>
                <a:spcPts val="0"/>
              </a:spcBef>
              <a:defRPr sz="1200">
                <a:solidFill>
                  <a:schemeClr val="tx1"/>
                </a:solidFill>
                <a:latin typeface="Times New Roman"/>
              </a:defRPr>
            </a:lvl5pPr>
            <a:lvl6pPr marL="2514461" indent="-228587" defTabSz="922287">
              <a:spcBef>
                <a:spcPts val="0"/>
              </a:spcBef>
              <a:spcAft>
                <a:spcPts val="0"/>
              </a:spcAft>
              <a:defRPr sz="1200">
                <a:solidFill>
                  <a:schemeClr val="tx1"/>
                </a:solidFill>
                <a:latin typeface="Times New Roman"/>
              </a:defRPr>
            </a:lvl6pPr>
            <a:lvl7pPr marL="2971635" indent="-228587" defTabSz="922287">
              <a:spcBef>
                <a:spcPts val="0"/>
              </a:spcBef>
              <a:spcAft>
                <a:spcPts val="0"/>
              </a:spcAft>
              <a:defRPr sz="1200">
                <a:solidFill>
                  <a:schemeClr val="tx1"/>
                </a:solidFill>
                <a:latin typeface="Times New Roman"/>
              </a:defRPr>
            </a:lvl7pPr>
            <a:lvl8pPr marL="3428811" indent="-228587" defTabSz="922287">
              <a:spcBef>
                <a:spcPts val="0"/>
              </a:spcBef>
              <a:spcAft>
                <a:spcPts val="0"/>
              </a:spcAft>
              <a:defRPr sz="1200">
                <a:solidFill>
                  <a:schemeClr val="tx1"/>
                </a:solidFill>
                <a:latin typeface="Times New Roman"/>
              </a:defRPr>
            </a:lvl8pPr>
            <a:lvl9pPr marL="3885985" indent="-228587" defTabSz="922287">
              <a:spcBef>
                <a:spcPts val="0"/>
              </a:spcBef>
              <a:spcAft>
                <a:spcPts val="0"/>
              </a:spcAft>
              <a:defRPr sz="1200">
                <a:solidFill>
                  <a:schemeClr val="tx1"/>
                </a:solidFill>
                <a:latin typeface="Times New Roman"/>
              </a:defRPr>
            </a:lvl9pPr>
          </a:lstStyle>
          <a:p>
            <a:pPr>
              <a:spcBef>
                <a:spcPts val="0"/>
              </a:spcBef>
              <a:defRPr/>
            </a:pPr>
            <a:fld id="{3E6BB24F-7527-415E-A4B4-B132D61B26C9}" type="slidenum">
              <a:rPr lang="en-US">
                <a:solidFill>
                  <a:prstClr val="black"/>
                </a:solidFill>
              </a:rPr>
              <a:t>51</a:t>
            </a:fld>
            <a:endParaRPr lang="en-US">
              <a:solidFill>
                <a:prstClr val="black"/>
              </a:solidFill>
            </a:endParaRPr>
          </a:p>
        </p:txBody>
      </p:sp>
      <p:sp>
        <p:nvSpPr>
          <p:cNvPr id="988993444" name="Rectangle 2"/>
          <p:cNvSpPr>
            <a:spLocks noChangeArrowheads="1" noChangeAspect="1" noGrp="1" noRot="1" noTextEdit="1"/>
          </p:cNvSpPr>
          <p:nvPr>
            <p:ph type="sldImg"/>
          </p:nvPr>
        </p:nvSpPr>
        <p:spPr bwMode="auto">
          <a:xfrm>
            <a:off x="717550" y="1162050"/>
            <a:ext cx="5575300" cy="3136900"/>
          </a:xfrm>
          <a:ln/>
        </p:spPr>
      </p:sp>
      <p:sp>
        <p:nvSpPr>
          <p:cNvPr id="1194868525"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7557777" name="Rectangle 7"/>
          <p:cNvSpPr>
            <a:spLocks noChangeArrowheads="1" noGrp="1"/>
          </p:cNvSpPr>
          <p:nvPr>
            <p:ph type="sldNum" sz="quarter" idx="5"/>
          </p:nvPr>
        </p:nvSpPr>
        <p:spPr bwMode="auto">
          <a:prstGeom prst="rect">
            <a:avLst/>
          </a:prstGeom>
          <a:noFill/>
          <a:ln/>
        </p:spPr>
        <p:txBody>
          <a:bodyPr/>
          <a:lstStyle>
            <a:lvl1pPr defTabSz="922287">
              <a:spcBef>
                <a:spcPts val="0"/>
              </a:spcBef>
              <a:defRPr sz="1200">
                <a:solidFill>
                  <a:schemeClr val="tx1"/>
                </a:solidFill>
                <a:latin typeface="Times New Roman"/>
              </a:defRPr>
            </a:lvl1pPr>
            <a:lvl2pPr marL="742909" indent="-285734" defTabSz="922287">
              <a:spcBef>
                <a:spcPts val="0"/>
              </a:spcBef>
              <a:defRPr sz="1200">
                <a:solidFill>
                  <a:schemeClr val="tx1"/>
                </a:solidFill>
                <a:latin typeface="Times New Roman"/>
              </a:defRPr>
            </a:lvl2pPr>
            <a:lvl3pPr marL="1142937" indent="-228587" defTabSz="922287">
              <a:spcBef>
                <a:spcPts val="0"/>
              </a:spcBef>
              <a:defRPr sz="1200">
                <a:solidFill>
                  <a:schemeClr val="tx1"/>
                </a:solidFill>
                <a:latin typeface="Times New Roman"/>
              </a:defRPr>
            </a:lvl3pPr>
            <a:lvl4pPr marL="1600111" indent="-228587" defTabSz="922287">
              <a:spcBef>
                <a:spcPts val="0"/>
              </a:spcBef>
              <a:defRPr sz="1200">
                <a:solidFill>
                  <a:schemeClr val="tx1"/>
                </a:solidFill>
                <a:latin typeface="Times New Roman"/>
              </a:defRPr>
            </a:lvl4pPr>
            <a:lvl5pPr marL="2057287" indent="-228587" defTabSz="922287">
              <a:spcBef>
                <a:spcPts val="0"/>
              </a:spcBef>
              <a:defRPr sz="1200">
                <a:solidFill>
                  <a:schemeClr val="tx1"/>
                </a:solidFill>
                <a:latin typeface="Times New Roman"/>
              </a:defRPr>
            </a:lvl5pPr>
            <a:lvl6pPr marL="2514461" indent="-228587" defTabSz="922287">
              <a:spcBef>
                <a:spcPts val="0"/>
              </a:spcBef>
              <a:spcAft>
                <a:spcPts val="0"/>
              </a:spcAft>
              <a:defRPr sz="1200">
                <a:solidFill>
                  <a:schemeClr val="tx1"/>
                </a:solidFill>
                <a:latin typeface="Times New Roman"/>
              </a:defRPr>
            </a:lvl6pPr>
            <a:lvl7pPr marL="2971635" indent="-228587" defTabSz="922287">
              <a:spcBef>
                <a:spcPts val="0"/>
              </a:spcBef>
              <a:spcAft>
                <a:spcPts val="0"/>
              </a:spcAft>
              <a:defRPr sz="1200">
                <a:solidFill>
                  <a:schemeClr val="tx1"/>
                </a:solidFill>
                <a:latin typeface="Times New Roman"/>
              </a:defRPr>
            </a:lvl7pPr>
            <a:lvl8pPr marL="3428811" indent="-228587" defTabSz="922287">
              <a:spcBef>
                <a:spcPts val="0"/>
              </a:spcBef>
              <a:spcAft>
                <a:spcPts val="0"/>
              </a:spcAft>
              <a:defRPr sz="1200">
                <a:solidFill>
                  <a:schemeClr val="tx1"/>
                </a:solidFill>
                <a:latin typeface="Times New Roman"/>
              </a:defRPr>
            </a:lvl8pPr>
            <a:lvl9pPr marL="3885985" indent="-228587" defTabSz="922287">
              <a:spcBef>
                <a:spcPts val="0"/>
              </a:spcBef>
              <a:spcAft>
                <a:spcPts val="0"/>
              </a:spcAft>
              <a:defRPr sz="1200">
                <a:solidFill>
                  <a:schemeClr val="tx1"/>
                </a:solidFill>
                <a:latin typeface="Times New Roman"/>
              </a:defRPr>
            </a:lvl9pPr>
          </a:lstStyle>
          <a:p>
            <a:pPr>
              <a:spcBef>
                <a:spcPts val="0"/>
              </a:spcBef>
              <a:defRPr/>
            </a:pPr>
            <a:fld id="{3E6BB24F-7527-415E-A4B4-B132D61B26C9}" type="slidenum">
              <a:rPr lang="en-US">
                <a:solidFill>
                  <a:prstClr val="black"/>
                </a:solidFill>
              </a:rPr>
              <a:t>52</a:t>
            </a:fld>
            <a:endParaRPr lang="en-US">
              <a:solidFill>
                <a:prstClr val="black"/>
              </a:solidFill>
            </a:endParaRPr>
          </a:p>
        </p:txBody>
      </p:sp>
      <p:sp>
        <p:nvSpPr>
          <p:cNvPr id="18771162" name="Rectangle 2"/>
          <p:cNvSpPr>
            <a:spLocks noChangeArrowheads="1" noChangeAspect="1" noGrp="1" noRot="1" noTextEdit="1"/>
          </p:cNvSpPr>
          <p:nvPr>
            <p:ph type="sldImg"/>
          </p:nvPr>
        </p:nvSpPr>
        <p:spPr bwMode="auto">
          <a:xfrm>
            <a:off x="717550" y="1162050"/>
            <a:ext cx="5575300" cy="3136900"/>
          </a:xfrm>
          <a:ln/>
        </p:spPr>
      </p:sp>
      <p:sp>
        <p:nvSpPr>
          <p:cNvPr id="1896164072"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64958619" name="Rectangle 7"/>
          <p:cNvSpPr>
            <a:spLocks noChangeArrowheads="1" noGrp="1"/>
          </p:cNvSpPr>
          <p:nvPr>
            <p:ph type="sldNum" sz="quarter" idx="5"/>
          </p:nvPr>
        </p:nvSpPr>
        <p:spPr bwMode="auto">
          <a:prstGeom prst="rect">
            <a:avLst/>
          </a:prstGeom>
          <a:noFill/>
          <a:ln/>
        </p:spPr>
        <p:txBody>
          <a:bodyPr/>
          <a:lstStyle>
            <a:lvl1pPr defTabSz="922287">
              <a:spcBef>
                <a:spcPts val="0"/>
              </a:spcBef>
              <a:defRPr sz="1200">
                <a:solidFill>
                  <a:schemeClr val="tx1"/>
                </a:solidFill>
                <a:latin typeface="Times New Roman"/>
              </a:defRPr>
            </a:lvl1pPr>
            <a:lvl2pPr marL="742909" indent="-285734" defTabSz="922287">
              <a:spcBef>
                <a:spcPts val="0"/>
              </a:spcBef>
              <a:defRPr sz="1200">
                <a:solidFill>
                  <a:schemeClr val="tx1"/>
                </a:solidFill>
                <a:latin typeface="Times New Roman"/>
              </a:defRPr>
            </a:lvl2pPr>
            <a:lvl3pPr marL="1142937" indent="-228587" defTabSz="922287">
              <a:spcBef>
                <a:spcPts val="0"/>
              </a:spcBef>
              <a:defRPr sz="1200">
                <a:solidFill>
                  <a:schemeClr val="tx1"/>
                </a:solidFill>
                <a:latin typeface="Times New Roman"/>
              </a:defRPr>
            </a:lvl3pPr>
            <a:lvl4pPr marL="1600111" indent="-228587" defTabSz="922287">
              <a:spcBef>
                <a:spcPts val="0"/>
              </a:spcBef>
              <a:defRPr sz="1200">
                <a:solidFill>
                  <a:schemeClr val="tx1"/>
                </a:solidFill>
                <a:latin typeface="Times New Roman"/>
              </a:defRPr>
            </a:lvl4pPr>
            <a:lvl5pPr marL="2057287" indent="-228587" defTabSz="922287">
              <a:spcBef>
                <a:spcPts val="0"/>
              </a:spcBef>
              <a:defRPr sz="1200">
                <a:solidFill>
                  <a:schemeClr val="tx1"/>
                </a:solidFill>
                <a:latin typeface="Times New Roman"/>
              </a:defRPr>
            </a:lvl5pPr>
            <a:lvl6pPr marL="2514461" indent="-228587" defTabSz="922287">
              <a:spcBef>
                <a:spcPts val="0"/>
              </a:spcBef>
              <a:spcAft>
                <a:spcPts val="0"/>
              </a:spcAft>
              <a:defRPr sz="1200">
                <a:solidFill>
                  <a:schemeClr val="tx1"/>
                </a:solidFill>
                <a:latin typeface="Times New Roman"/>
              </a:defRPr>
            </a:lvl6pPr>
            <a:lvl7pPr marL="2971635" indent="-228587" defTabSz="922287">
              <a:spcBef>
                <a:spcPts val="0"/>
              </a:spcBef>
              <a:spcAft>
                <a:spcPts val="0"/>
              </a:spcAft>
              <a:defRPr sz="1200">
                <a:solidFill>
                  <a:schemeClr val="tx1"/>
                </a:solidFill>
                <a:latin typeface="Times New Roman"/>
              </a:defRPr>
            </a:lvl7pPr>
            <a:lvl8pPr marL="3428811" indent="-228587" defTabSz="922287">
              <a:spcBef>
                <a:spcPts val="0"/>
              </a:spcBef>
              <a:spcAft>
                <a:spcPts val="0"/>
              </a:spcAft>
              <a:defRPr sz="1200">
                <a:solidFill>
                  <a:schemeClr val="tx1"/>
                </a:solidFill>
                <a:latin typeface="Times New Roman"/>
              </a:defRPr>
            </a:lvl8pPr>
            <a:lvl9pPr marL="3885985" indent="-228587" defTabSz="922287">
              <a:spcBef>
                <a:spcPts val="0"/>
              </a:spcBef>
              <a:spcAft>
                <a:spcPts val="0"/>
              </a:spcAft>
              <a:defRPr sz="1200">
                <a:solidFill>
                  <a:schemeClr val="tx1"/>
                </a:solidFill>
                <a:latin typeface="Times New Roman"/>
              </a:defRPr>
            </a:lvl9pPr>
          </a:lstStyle>
          <a:p>
            <a:pPr>
              <a:spcBef>
                <a:spcPts val="0"/>
              </a:spcBef>
              <a:defRPr/>
            </a:pPr>
            <a:fld id="{3E6BB24F-7527-415E-A4B4-B132D61B26C9}" type="slidenum">
              <a:rPr lang="en-US">
                <a:solidFill>
                  <a:prstClr val="black"/>
                </a:solidFill>
              </a:rPr>
              <a:t>53</a:t>
            </a:fld>
            <a:endParaRPr lang="en-US">
              <a:solidFill>
                <a:prstClr val="black"/>
              </a:solidFill>
            </a:endParaRPr>
          </a:p>
        </p:txBody>
      </p:sp>
      <p:sp>
        <p:nvSpPr>
          <p:cNvPr id="174429926" name="Rectangle 2"/>
          <p:cNvSpPr>
            <a:spLocks noChangeArrowheads="1" noChangeAspect="1" noGrp="1" noRot="1" noTextEdit="1"/>
          </p:cNvSpPr>
          <p:nvPr>
            <p:ph type="sldImg"/>
          </p:nvPr>
        </p:nvSpPr>
        <p:spPr bwMode="auto">
          <a:xfrm>
            <a:off x="717550" y="1162050"/>
            <a:ext cx="5575300" cy="3136900"/>
          </a:xfrm>
          <a:ln/>
        </p:spPr>
      </p:sp>
      <p:sp>
        <p:nvSpPr>
          <p:cNvPr id="729858777"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35489603" name="Rectangle 7"/>
          <p:cNvSpPr>
            <a:spLocks noChangeArrowheads="1" noGrp="1"/>
          </p:cNvSpPr>
          <p:nvPr>
            <p:ph type="sldNum" sz="quarter" idx="5"/>
          </p:nvPr>
        </p:nvSpPr>
        <p:spPr bwMode="auto">
          <a:prstGeom prst="rect">
            <a:avLst/>
          </a:prstGeom>
          <a:noFill/>
          <a:ln/>
        </p:spPr>
        <p:txBody>
          <a:bodyPr/>
          <a:lstStyle>
            <a:lvl1pPr defTabSz="922287">
              <a:spcBef>
                <a:spcPts val="0"/>
              </a:spcBef>
              <a:defRPr sz="1200">
                <a:solidFill>
                  <a:schemeClr val="tx1"/>
                </a:solidFill>
                <a:latin typeface="Times New Roman"/>
              </a:defRPr>
            </a:lvl1pPr>
            <a:lvl2pPr marL="742909" indent="-285734" defTabSz="922287">
              <a:spcBef>
                <a:spcPts val="0"/>
              </a:spcBef>
              <a:defRPr sz="1200">
                <a:solidFill>
                  <a:schemeClr val="tx1"/>
                </a:solidFill>
                <a:latin typeface="Times New Roman"/>
              </a:defRPr>
            </a:lvl2pPr>
            <a:lvl3pPr marL="1142937" indent="-228587" defTabSz="922287">
              <a:spcBef>
                <a:spcPts val="0"/>
              </a:spcBef>
              <a:defRPr sz="1200">
                <a:solidFill>
                  <a:schemeClr val="tx1"/>
                </a:solidFill>
                <a:latin typeface="Times New Roman"/>
              </a:defRPr>
            </a:lvl3pPr>
            <a:lvl4pPr marL="1600111" indent="-228587" defTabSz="922287">
              <a:spcBef>
                <a:spcPts val="0"/>
              </a:spcBef>
              <a:defRPr sz="1200">
                <a:solidFill>
                  <a:schemeClr val="tx1"/>
                </a:solidFill>
                <a:latin typeface="Times New Roman"/>
              </a:defRPr>
            </a:lvl4pPr>
            <a:lvl5pPr marL="2057287" indent="-228587" defTabSz="922287">
              <a:spcBef>
                <a:spcPts val="0"/>
              </a:spcBef>
              <a:defRPr sz="1200">
                <a:solidFill>
                  <a:schemeClr val="tx1"/>
                </a:solidFill>
                <a:latin typeface="Times New Roman"/>
              </a:defRPr>
            </a:lvl5pPr>
            <a:lvl6pPr marL="2514461" indent="-228587" defTabSz="922287">
              <a:spcBef>
                <a:spcPts val="0"/>
              </a:spcBef>
              <a:spcAft>
                <a:spcPts val="0"/>
              </a:spcAft>
              <a:defRPr sz="1200">
                <a:solidFill>
                  <a:schemeClr val="tx1"/>
                </a:solidFill>
                <a:latin typeface="Times New Roman"/>
              </a:defRPr>
            </a:lvl6pPr>
            <a:lvl7pPr marL="2971635" indent="-228587" defTabSz="922287">
              <a:spcBef>
                <a:spcPts val="0"/>
              </a:spcBef>
              <a:spcAft>
                <a:spcPts val="0"/>
              </a:spcAft>
              <a:defRPr sz="1200">
                <a:solidFill>
                  <a:schemeClr val="tx1"/>
                </a:solidFill>
                <a:latin typeface="Times New Roman"/>
              </a:defRPr>
            </a:lvl7pPr>
            <a:lvl8pPr marL="3428811" indent="-228587" defTabSz="922287">
              <a:spcBef>
                <a:spcPts val="0"/>
              </a:spcBef>
              <a:spcAft>
                <a:spcPts val="0"/>
              </a:spcAft>
              <a:defRPr sz="1200">
                <a:solidFill>
                  <a:schemeClr val="tx1"/>
                </a:solidFill>
                <a:latin typeface="Times New Roman"/>
              </a:defRPr>
            </a:lvl8pPr>
            <a:lvl9pPr marL="3885985" indent="-228587" defTabSz="922287">
              <a:spcBef>
                <a:spcPts val="0"/>
              </a:spcBef>
              <a:spcAft>
                <a:spcPts val="0"/>
              </a:spcAft>
              <a:defRPr sz="1200">
                <a:solidFill>
                  <a:schemeClr val="tx1"/>
                </a:solidFill>
                <a:latin typeface="Times New Roman"/>
              </a:defRPr>
            </a:lvl9pPr>
          </a:lstStyle>
          <a:p>
            <a:pPr>
              <a:spcBef>
                <a:spcPts val="0"/>
              </a:spcBef>
              <a:defRPr/>
            </a:pPr>
            <a:fld id="{3E6BB24F-7527-415E-A4B4-B132D61B26C9}" type="slidenum">
              <a:rPr lang="en-US">
                <a:solidFill>
                  <a:prstClr val="black"/>
                </a:solidFill>
              </a:rPr>
              <a:t>54</a:t>
            </a:fld>
            <a:endParaRPr lang="en-US">
              <a:solidFill>
                <a:prstClr val="black"/>
              </a:solidFill>
            </a:endParaRPr>
          </a:p>
        </p:txBody>
      </p:sp>
      <p:sp>
        <p:nvSpPr>
          <p:cNvPr id="2102281010" name="Rectangle 2"/>
          <p:cNvSpPr>
            <a:spLocks noChangeArrowheads="1" noChangeAspect="1" noGrp="1" noRot="1" noTextEdit="1"/>
          </p:cNvSpPr>
          <p:nvPr>
            <p:ph type="sldImg"/>
          </p:nvPr>
        </p:nvSpPr>
        <p:spPr bwMode="auto">
          <a:xfrm>
            <a:off x="717550" y="1162050"/>
            <a:ext cx="5575300" cy="3136900"/>
          </a:xfrm>
          <a:ln/>
        </p:spPr>
      </p:sp>
      <p:sp>
        <p:nvSpPr>
          <p:cNvPr id="1189386849"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68991342" name="Rectangle 7"/>
          <p:cNvSpPr>
            <a:spLocks noChangeArrowheads="1" noGrp="1"/>
          </p:cNvSpPr>
          <p:nvPr>
            <p:ph type="sldNum" sz="quarter" idx="5"/>
          </p:nvPr>
        </p:nvSpPr>
        <p:spPr bwMode="auto">
          <a:prstGeom prst="rect">
            <a:avLst/>
          </a:prstGeom>
          <a:noFill/>
          <a:ln/>
        </p:spPr>
        <p:txBody>
          <a:bodyPr/>
          <a:lstStyle>
            <a:lvl1pPr defTabSz="922287">
              <a:spcBef>
                <a:spcPts val="0"/>
              </a:spcBef>
              <a:defRPr sz="1200">
                <a:solidFill>
                  <a:schemeClr val="tx1"/>
                </a:solidFill>
                <a:latin typeface="Times New Roman"/>
              </a:defRPr>
            </a:lvl1pPr>
            <a:lvl2pPr marL="742909" indent="-285734" defTabSz="922287">
              <a:spcBef>
                <a:spcPts val="0"/>
              </a:spcBef>
              <a:defRPr sz="1200">
                <a:solidFill>
                  <a:schemeClr val="tx1"/>
                </a:solidFill>
                <a:latin typeface="Times New Roman"/>
              </a:defRPr>
            </a:lvl2pPr>
            <a:lvl3pPr marL="1142937" indent="-228587" defTabSz="922287">
              <a:spcBef>
                <a:spcPts val="0"/>
              </a:spcBef>
              <a:defRPr sz="1200">
                <a:solidFill>
                  <a:schemeClr val="tx1"/>
                </a:solidFill>
                <a:latin typeface="Times New Roman"/>
              </a:defRPr>
            </a:lvl3pPr>
            <a:lvl4pPr marL="1600111" indent="-228587" defTabSz="922287">
              <a:spcBef>
                <a:spcPts val="0"/>
              </a:spcBef>
              <a:defRPr sz="1200">
                <a:solidFill>
                  <a:schemeClr val="tx1"/>
                </a:solidFill>
                <a:latin typeface="Times New Roman"/>
              </a:defRPr>
            </a:lvl4pPr>
            <a:lvl5pPr marL="2057287" indent="-228587" defTabSz="922287">
              <a:spcBef>
                <a:spcPts val="0"/>
              </a:spcBef>
              <a:defRPr sz="1200">
                <a:solidFill>
                  <a:schemeClr val="tx1"/>
                </a:solidFill>
                <a:latin typeface="Times New Roman"/>
              </a:defRPr>
            </a:lvl5pPr>
            <a:lvl6pPr marL="2514461" indent="-228587" defTabSz="922287">
              <a:spcBef>
                <a:spcPts val="0"/>
              </a:spcBef>
              <a:spcAft>
                <a:spcPts val="0"/>
              </a:spcAft>
              <a:defRPr sz="1200">
                <a:solidFill>
                  <a:schemeClr val="tx1"/>
                </a:solidFill>
                <a:latin typeface="Times New Roman"/>
              </a:defRPr>
            </a:lvl6pPr>
            <a:lvl7pPr marL="2971635" indent="-228587" defTabSz="922287">
              <a:spcBef>
                <a:spcPts val="0"/>
              </a:spcBef>
              <a:spcAft>
                <a:spcPts val="0"/>
              </a:spcAft>
              <a:defRPr sz="1200">
                <a:solidFill>
                  <a:schemeClr val="tx1"/>
                </a:solidFill>
                <a:latin typeface="Times New Roman"/>
              </a:defRPr>
            </a:lvl7pPr>
            <a:lvl8pPr marL="3428811" indent="-228587" defTabSz="922287">
              <a:spcBef>
                <a:spcPts val="0"/>
              </a:spcBef>
              <a:spcAft>
                <a:spcPts val="0"/>
              </a:spcAft>
              <a:defRPr sz="1200">
                <a:solidFill>
                  <a:schemeClr val="tx1"/>
                </a:solidFill>
                <a:latin typeface="Times New Roman"/>
              </a:defRPr>
            </a:lvl8pPr>
            <a:lvl9pPr marL="3885985" indent="-228587" defTabSz="922287">
              <a:spcBef>
                <a:spcPts val="0"/>
              </a:spcBef>
              <a:spcAft>
                <a:spcPts val="0"/>
              </a:spcAft>
              <a:defRPr sz="1200">
                <a:solidFill>
                  <a:schemeClr val="tx1"/>
                </a:solidFill>
                <a:latin typeface="Times New Roman"/>
              </a:defRPr>
            </a:lvl9pPr>
          </a:lstStyle>
          <a:p>
            <a:pPr>
              <a:spcBef>
                <a:spcPts val="0"/>
              </a:spcBef>
              <a:defRPr/>
            </a:pPr>
            <a:fld id="{3E6BB24F-7527-415E-A4B4-B132D61B26C9}" type="slidenum">
              <a:rPr lang="en-US">
                <a:solidFill>
                  <a:prstClr val="black"/>
                </a:solidFill>
              </a:rPr>
              <a:t>55</a:t>
            </a:fld>
            <a:endParaRPr lang="en-US">
              <a:solidFill>
                <a:prstClr val="black"/>
              </a:solidFill>
            </a:endParaRPr>
          </a:p>
        </p:txBody>
      </p:sp>
      <p:sp>
        <p:nvSpPr>
          <p:cNvPr id="647156528" name="Rectangle 2"/>
          <p:cNvSpPr>
            <a:spLocks noChangeArrowheads="1" noChangeAspect="1" noGrp="1" noRot="1" noTextEdit="1"/>
          </p:cNvSpPr>
          <p:nvPr>
            <p:ph type="sldImg"/>
          </p:nvPr>
        </p:nvSpPr>
        <p:spPr bwMode="auto">
          <a:xfrm>
            <a:off x="717550" y="1162050"/>
            <a:ext cx="5575300" cy="3136900"/>
          </a:xfrm>
          <a:ln/>
        </p:spPr>
      </p:sp>
      <p:sp>
        <p:nvSpPr>
          <p:cNvPr id="38798029"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75815756"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8CD11070-0741-4A7D-8E8E-470CB8CB6D01}" type="slidenum">
              <a:rPr lang="en-US"/>
              <a:t>56</a:t>
            </a:fld>
            <a:endParaRPr lang="en-US"/>
          </a:p>
        </p:txBody>
      </p:sp>
      <p:sp>
        <p:nvSpPr>
          <p:cNvPr id="45438718" name="Rectangle 2"/>
          <p:cNvSpPr>
            <a:spLocks noChangeArrowheads="1" noChangeAspect="1" noGrp="1" noRot="1" noTextEdit="1"/>
          </p:cNvSpPr>
          <p:nvPr>
            <p:ph type="sldImg"/>
          </p:nvPr>
        </p:nvSpPr>
        <p:spPr bwMode="auto">
          <a:ln/>
        </p:spPr>
      </p:sp>
      <p:sp>
        <p:nvSpPr>
          <p:cNvPr id="1226775057"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60462654"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8CD11070-0741-4A7D-8E8E-470CB8CB6D01}" type="slidenum">
              <a:rPr lang="en-US"/>
              <a:t>57</a:t>
            </a:fld>
            <a:endParaRPr lang="en-US"/>
          </a:p>
        </p:txBody>
      </p:sp>
      <p:sp>
        <p:nvSpPr>
          <p:cNvPr id="1962514222" name="Rectangle 2"/>
          <p:cNvSpPr>
            <a:spLocks noChangeArrowheads="1" noChangeAspect="1" noGrp="1" noRot="1" noTextEdit="1"/>
          </p:cNvSpPr>
          <p:nvPr>
            <p:ph type="sldImg"/>
          </p:nvPr>
        </p:nvSpPr>
        <p:spPr bwMode="auto">
          <a:ln/>
        </p:spPr>
      </p:sp>
      <p:sp>
        <p:nvSpPr>
          <p:cNvPr id="164063103"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5157465" name="Rectangle 7"/>
          <p:cNvSpPr>
            <a:spLocks noChangeArrowheads="1" noGrp="1"/>
          </p:cNvSpPr>
          <p:nvPr>
            <p:ph type="sldNum" sz="quarter" idx="5"/>
          </p:nvPr>
        </p:nvSpPr>
        <p:spPr bwMode="auto">
          <a:prstGeom prst="rect">
            <a:avLst/>
          </a:prstGeom>
          <a:noFill/>
          <a:ln/>
        </p:spPr>
        <p:txBody>
          <a:bodyPr/>
          <a:lstStyle>
            <a:lvl1pPr defTabSz="931863">
              <a:spcBef>
                <a:spcPts val="0"/>
              </a:spcBef>
              <a:defRPr sz="1200">
                <a:solidFill>
                  <a:schemeClr val="tx1"/>
                </a:solidFill>
                <a:latin typeface="Times New Roman"/>
              </a:defRPr>
            </a:lvl1pPr>
            <a:lvl2pPr marL="742950" indent="-285750" defTabSz="931863">
              <a:spcBef>
                <a:spcPts val="0"/>
              </a:spcBef>
              <a:defRPr sz="1200">
                <a:solidFill>
                  <a:schemeClr val="tx1"/>
                </a:solidFill>
                <a:latin typeface="Times New Roman"/>
              </a:defRPr>
            </a:lvl2pPr>
            <a:lvl3pPr marL="1143000" indent="-228600" defTabSz="931863">
              <a:spcBef>
                <a:spcPts val="0"/>
              </a:spcBef>
              <a:defRPr sz="1200">
                <a:solidFill>
                  <a:schemeClr val="tx1"/>
                </a:solidFill>
                <a:latin typeface="Times New Roman"/>
              </a:defRPr>
            </a:lvl3pPr>
            <a:lvl4pPr marL="1600200" indent="-228600" defTabSz="931863">
              <a:spcBef>
                <a:spcPts val="0"/>
              </a:spcBef>
              <a:defRPr sz="1200">
                <a:solidFill>
                  <a:schemeClr val="tx1"/>
                </a:solidFill>
                <a:latin typeface="Times New Roman"/>
              </a:defRPr>
            </a:lvl4pPr>
            <a:lvl5pPr marL="2057400" indent="-228600" defTabSz="931863">
              <a:spcBef>
                <a:spcPts val="0"/>
              </a:spcBef>
              <a:defRPr sz="1200">
                <a:solidFill>
                  <a:schemeClr val="tx1"/>
                </a:solidFill>
                <a:latin typeface="Times New Roman"/>
              </a:defRPr>
            </a:lvl5pPr>
            <a:lvl6pPr marL="2514600" indent="-228600" defTabSz="931863">
              <a:spcBef>
                <a:spcPts val="0"/>
              </a:spcBef>
              <a:spcAft>
                <a:spcPts val="0"/>
              </a:spcAft>
              <a:defRPr sz="1200">
                <a:solidFill>
                  <a:schemeClr val="tx1"/>
                </a:solidFill>
                <a:latin typeface="Times New Roman"/>
              </a:defRPr>
            </a:lvl6pPr>
            <a:lvl7pPr marL="2971800" indent="-228600" defTabSz="931863">
              <a:spcBef>
                <a:spcPts val="0"/>
              </a:spcBef>
              <a:spcAft>
                <a:spcPts val="0"/>
              </a:spcAft>
              <a:defRPr sz="1200">
                <a:solidFill>
                  <a:schemeClr val="tx1"/>
                </a:solidFill>
                <a:latin typeface="Times New Roman"/>
              </a:defRPr>
            </a:lvl7pPr>
            <a:lvl8pPr marL="3429000" indent="-228600" defTabSz="931863">
              <a:spcBef>
                <a:spcPts val="0"/>
              </a:spcBef>
              <a:spcAft>
                <a:spcPts val="0"/>
              </a:spcAft>
              <a:defRPr sz="1200">
                <a:solidFill>
                  <a:schemeClr val="tx1"/>
                </a:solidFill>
                <a:latin typeface="Times New Roman"/>
              </a:defRPr>
            </a:lvl8pPr>
            <a:lvl9pPr marL="3886200" indent="-228600" defTabSz="931863">
              <a:spcBef>
                <a:spcPts val="0"/>
              </a:spcBef>
              <a:spcAft>
                <a:spcPts val="0"/>
              </a:spcAft>
              <a:defRPr sz="1200">
                <a:solidFill>
                  <a:schemeClr val="tx1"/>
                </a:solidFill>
                <a:latin typeface="Times New Roman"/>
              </a:defRPr>
            </a:lvl9pPr>
          </a:lstStyle>
          <a:p>
            <a:pPr>
              <a:spcBef>
                <a:spcPts val="0"/>
              </a:spcBef>
              <a:defRPr/>
            </a:pPr>
            <a:fld id="{AD040A6C-D23A-42F9-B45F-6450789BDFF1}" type="slidenum">
              <a:rPr lang="en-US"/>
              <a:t>58</a:t>
            </a:fld>
            <a:endParaRPr lang="en-US"/>
          </a:p>
        </p:txBody>
      </p:sp>
      <p:sp>
        <p:nvSpPr>
          <p:cNvPr id="1705527318" name="Rectangle 2"/>
          <p:cNvSpPr>
            <a:spLocks noChangeArrowheads="1" noChangeAspect="1" noGrp="1" noRot="1" noTextEdit="1"/>
          </p:cNvSpPr>
          <p:nvPr>
            <p:ph type="sldImg"/>
          </p:nvPr>
        </p:nvSpPr>
        <p:spPr bwMode="auto">
          <a:ln/>
        </p:spPr>
      </p:sp>
      <p:sp>
        <p:nvSpPr>
          <p:cNvPr id="16050126"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2874667" name="Rectangle 7"/>
          <p:cNvSpPr>
            <a:spLocks noChangeArrowheads="1" noGrp="1"/>
          </p:cNvSpPr>
          <p:nvPr>
            <p:ph type="sldNum" sz="quarter" idx="5"/>
          </p:nvPr>
        </p:nvSpPr>
        <p:spPr bwMode="auto">
          <a:prstGeom prst="rect">
            <a:avLst/>
          </a:prstGeom>
          <a:noFill/>
          <a:ln/>
        </p:spPr>
        <p:txBody>
          <a:bodyPr/>
          <a:lstStyle>
            <a:lvl1pPr defTabSz="931863">
              <a:defRPr sz="2800">
                <a:solidFill>
                  <a:schemeClr val="tx1"/>
                </a:solidFill>
                <a:latin typeface="Tahoma"/>
              </a:defRPr>
            </a:lvl1pPr>
            <a:lvl2pPr marL="742950" indent="-285750" defTabSz="931863">
              <a:defRPr sz="2800">
                <a:solidFill>
                  <a:schemeClr val="tx1"/>
                </a:solidFill>
                <a:latin typeface="Tahoma"/>
              </a:defRPr>
            </a:lvl2pPr>
            <a:lvl3pPr marL="1143000" indent="-228600" defTabSz="931863">
              <a:defRPr sz="2800">
                <a:solidFill>
                  <a:schemeClr val="tx1"/>
                </a:solidFill>
                <a:latin typeface="Tahoma"/>
              </a:defRPr>
            </a:lvl3pPr>
            <a:lvl4pPr marL="1600200" indent="-228600" defTabSz="931863">
              <a:defRPr sz="2800">
                <a:solidFill>
                  <a:schemeClr val="tx1"/>
                </a:solidFill>
                <a:latin typeface="Tahoma"/>
              </a:defRPr>
            </a:lvl4pPr>
            <a:lvl5pPr marL="2057400" indent="-228600" defTabSz="931863">
              <a:defRPr sz="2800">
                <a:solidFill>
                  <a:schemeClr val="tx1"/>
                </a:solidFill>
                <a:latin typeface="Tahoma"/>
              </a:defRPr>
            </a:lvl5pPr>
            <a:lvl6pPr marL="2514600" indent="-228600" defTabSz="931863">
              <a:spcBef>
                <a:spcPts val="0"/>
              </a:spcBef>
              <a:spcAft>
                <a:spcPts val="0"/>
              </a:spcAft>
              <a:defRPr sz="2800">
                <a:solidFill>
                  <a:schemeClr val="tx1"/>
                </a:solidFill>
                <a:latin typeface="Tahoma"/>
              </a:defRPr>
            </a:lvl6pPr>
            <a:lvl7pPr marL="2971800" indent="-228600" defTabSz="931863">
              <a:spcBef>
                <a:spcPts val="0"/>
              </a:spcBef>
              <a:spcAft>
                <a:spcPts val="0"/>
              </a:spcAft>
              <a:defRPr sz="2800">
                <a:solidFill>
                  <a:schemeClr val="tx1"/>
                </a:solidFill>
                <a:latin typeface="Tahoma"/>
              </a:defRPr>
            </a:lvl7pPr>
            <a:lvl8pPr marL="3429000" indent="-228600" defTabSz="931863">
              <a:spcBef>
                <a:spcPts val="0"/>
              </a:spcBef>
              <a:spcAft>
                <a:spcPts val="0"/>
              </a:spcAft>
              <a:defRPr sz="2800">
                <a:solidFill>
                  <a:schemeClr val="tx1"/>
                </a:solidFill>
                <a:latin typeface="Tahoma"/>
              </a:defRPr>
            </a:lvl8pPr>
            <a:lvl9pPr marL="3886200" indent="-228600" defTabSz="931863">
              <a:spcBef>
                <a:spcPts val="0"/>
              </a:spcBef>
              <a:spcAft>
                <a:spcPts val="0"/>
              </a:spcAft>
              <a:defRPr sz="2800">
                <a:solidFill>
                  <a:schemeClr val="tx1"/>
                </a:solidFill>
                <a:latin typeface="Tahoma"/>
              </a:defRPr>
            </a:lvl9pPr>
          </a:lstStyle>
          <a:p>
            <a:pPr>
              <a:defRPr/>
            </a:pPr>
            <a:fld id="{29BE47E6-A684-41E8-A8D2-AEB21EE26F6A}" type="slidenum">
              <a:rPr lang="en-US" sz="1200">
                <a:solidFill>
                  <a:prstClr val="black"/>
                </a:solidFill>
              </a:rPr>
              <a:t>59</a:t>
            </a:fld>
            <a:endParaRPr lang="en-US" sz="1200">
              <a:solidFill>
                <a:prstClr val="black"/>
              </a:solidFill>
            </a:endParaRPr>
          </a:p>
        </p:txBody>
      </p:sp>
      <p:sp>
        <p:nvSpPr>
          <p:cNvPr id="510033909" name="Rectangle 2"/>
          <p:cNvSpPr>
            <a:spLocks noChangeArrowheads="1" noChangeAspect="1" noGrp="1" noRot="1" noTextEdit="1"/>
          </p:cNvSpPr>
          <p:nvPr>
            <p:ph type="sldImg"/>
          </p:nvPr>
        </p:nvSpPr>
        <p:spPr bwMode="auto">
          <a:ln/>
        </p:spPr>
      </p:sp>
      <p:sp>
        <p:nvSpPr>
          <p:cNvPr id="1156988393" name="Rectangle 3"/>
          <p:cNvSpPr>
            <a:spLocks noChangeArrowheads="1" noGrp="1"/>
          </p:cNvSpPr>
          <p:nvPr>
            <p:ph type="body" idx="1"/>
          </p:nvPr>
        </p:nvSpPr>
        <p:spPr bwMode="auto">
          <a:prstGeom prst="rect">
            <a:avLst/>
          </a:prstGeom>
          <a:noFill/>
          <a:ln/>
        </p:spPr>
        <p:txBody>
          <a:bodyPr/>
          <a:lstStyle/>
          <a:p>
            <a:pPr>
              <a:defRPr/>
            </a:pPr>
            <a:endParaRPr lang="en-US" b="1"/>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00456994" name="Rectangle 7"/>
          <p:cNvSpPr>
            <a:spLocks noChangeArrowheads="1" noGrp="1"/>
          </p:cNvSpPr>
          <p:nvPr>
            <p:ph type="sldNum" sz="quarter" idx="5"/>
          </p:nvPr>
        </p:nvSpPr>
        <p:spPr bwMode="auto">
          <a:prstGeom prst="rect">
            <a:avLst/>
          </a:prstGeom>
          <a:noFill/>
          <a:ln/>
        </p:spPr>
        <p:txBody>
          <a:bodyPr/>
          <a:lstStyle>
            <a:lvl1pPr defTabSz="931863">
              <a:defRPr sz="2800">
                <a:solidFill>
                  <a:schemeClr val="tx1"/>
                </a:solidFill>
                <a:latin typeface="Tahoma"/>
              </a:defRPr>
            </a:lvl1pPr>
            <a:lvl2pPr marL="742950" indent="-285750" defTabSz="931863">
              <a:defRPr sz="2800">
                <a:solidFill>
                  <a:schemeClr val="tx1"/>
                </a:solidFill>
                <a:latin typeface="Tahoma"/>
              </a:defRPr>
            </a:lvl2pPr>
            <a:lvl3pPr marL="1143000" indent="-228600" defTabSz="931863">
              <a:defRPr sz="2800">
                <a:solidFill>
                  <a:schemeClr val="tx1"/>
                </a:solidFill>
                <a:latin typeface="Tahoma"/>
              </a:defRPr>
            </a:lvl3pPr>
            <a:lvl4pPr marL="1600200" indent="-228600" defTabSz="931863">
              <a:defRPr sz="2800">
                <a:solidFill>
                  <a:schemeClr val="tx1"/>
                </a:solidFill>
                <a:latin typeface="Tahoma"/>
              </a:defRPr>
            </a:lvl4pPr>
            <a:lvl5pPr marL="2057400" indent="-228600" defTabSz="931863">
              <a:defRPr sz="2800">
                <a:solidFill>
                  <a:schemeClr val="tx1"/>
                </a:solidFill>
                <a:latin typeface="Tahoma"/>
              </a:defRPr>
            </a:lvl5pPr>
            <a:lvl6pPr marL="2514600" indent="-228600" defTabSz="931863">
              <a:spcBef>
                <a:spcPts val="0"/>
              </a:spcBef>
              <a:spcAft>
                <a:spcPts val="0"/>
              </a:spcAft>
              <a:defRPr sz="2800">
                <a:solidFill>
                  <a:schemeClr val="tx1"/>
                </a:solidFill>
                <a:latin typeface="Tahoma"/>
              </a:defRPr>
            </a:lvl6pPr>
            <a:lvl7pPr marL="2971800" indent="-228600" defTabSz="931863">
              <a:spcBef>
                <a:spcPts val="0"/>
              </a:spcBef>
              <a:spcAft>
                <a:spcPts val="0"/>
              </a:spcAft>
              <a:defRPr sz="2800">
                <a:solidFill>
                  <a:schemeClr val="tx1"/>
                </a:solidFill>
                <a:latin typeface="Tahoma"/>
              </a:defRPr>
            </a:lvl7pPr>
            <a:lvl8pPr marL="3429000" indent="-228600" defTabSz="931863">
              <a:spcBef>
                <a:spcPts val="0"/>
              </a:spcBef>
              <a:spcAft>
                <a:spcPts val="0"/>
              </a:spcAft>
              <a:defRPr sz="2800">
                <a:solidFill>
                  <a:schemeClr val="tx1"/>
                </a:solidFill>
                <a:latin typeface="Tahoma"/>
              </a:defRPr>
            </a:lvl8pPr>
            <a:lvl9pPr marL="3886200" indent="-228600" defTabSz="931863">
              <a:spcBef>
                <a:spcPts val="0"/>
              </a:spcBef>
              <a:spcAft>
                <a:spcPts val="0"/>
              </a:spcAft>
              <a:defRPr sz="2800">
                <a:solidFill>
                  <a:schemeClr val="tx1"/>
                </a:solidFill>
                <a:latin typeface="Tahoma"/>
              </a:defRPr>
            </a:lvl9pPr>
          </a:lstStyle>
          <a:p>
            <a:pPr>
              <a:defRPr/>
            </a:pPr>
            <a:fld id="{29BE47E6-A684-41E8-A8D2-AEB21EE26F6A}" type="slidenum">
              <a:rPr lang="en-US" sz="1200">
                <a:solidFill>
                  <a:prstClr val="black"/>
                </a:solidFill>
              </a:rPr>
              <a:t>60</a:t>
            </a:fld>
            <a:endParaRPr lang="en-US" sz="1200">
              <a:solidFill>
                <a:prstClr val="black"/>
              </a:solidFill>
            </a:endParaRPr>
          </a:p>
        </p:txBody>
      </p:sp>
      <p:sp>
        <p:nvSpPr>
          <p:cNvPr id="667501751" name="Rectangle 2"/>
          <p:cNvSpPr>
            <a:spLocks noChangeArrowheads="1" noChangeAspect="1" noGrp="1" noRot="1" noTextEdit="1"/>
          </p:cNvSpPr>
          <p:nvPr>
            <p:ph type="sldImg"/>
          </p:nvPr>
        </p:nvSpPr>
        <p:spPr bwMode="auto">
          <a:ln/>
        </p:spPr>
      </p:sp>
      <p:sp>
        <p:nvSpPr>
          <p:cNvPr id="2124095882" name="Rectangle 3"/>
          <p:cNvSpPr>
            <a:spLocks noChangeArrowheads="1" noGrp="1"/>
          </p:cNvSpPr>
          <p:nvPr>
            <p:ph type="body" idx="1"/>
          </p:nvPr>
        </p:nvSpPr>
        <p:spPr bwMode="auto">
          <a:prstGeom prst="rect">
            <a:avLst/>
          </a:prstGeom>
          <a:noFill/>
          <a:ln/>
        </p:spPr>
        <p:txBody>
          <a:bodyPr/>
          <a:lstStyle/>
          <a:p>
            <a:pPr>
              <a:defRPr/>
            </a:pPr>
            <a:endParaRPr lang="en-US" b="1"/>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19960103"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AFF34A50-07D1-44CB-9408-0E782FD706D3}" type="slidenum">
              <a:rPr lang="en-US" sz="1200">
                <a:latin typeface="Times New Roman"/>
              </a:rPr>
              <a:t>61</a:t>
            </a:fld>
            <a:endParaRPr lang="en-US" sz="1200">
              <a:latin typeface="Times New Roman"/>
            </a:endParaRPr>
          </a:p>
        </p:txBody>
      </p:sp>
      <p:sp>
        <p:nvSpPr>
          <p:cNvPr id="668515601" name="Rectangle 2"/>
          <p:cNvSpPr>
            <a:spLocks noChangeArrowheads="1" noChangeAspect="1" noGrp="1" noRot="1" noTextEdit="1"/>
          </p:cNvSpPr>
          <p:nvPr>
            <p:ph type="sldImg"/>
          </p:nvPr>
        </p:nvSpPr>
        <p:spPr bwMode="auto">
          <a:xfrm>
            <a:off x="342900" y="696913"/>
            <a:ext cx="6197600" cy="3486150"/>
          </a:xfrm>
          <a:ln/>
        </p:spPr>
      </p:sp>
      <p:sp>
        <p:nvSpPr>
          <p:cNvPr id="366987727"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20148835"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76B3D275-F0AF-46F8-A705-99F19946D77F}" type="slidenum">
              <a:rPr lang="en-US" sz="1200">
                <a:latin typeface="Times New Roman"/>
              </a:rPr>
              <a:t>62</a:t>
            </a:fld>
            <a:endParaRPr lang="en-US" sz="1200">
              <a:latin typeface="Times New Roman"/>
            </a:endParaRPr>
          </a:p>
        </p:txBody>
      </p:sp>
      <p:sp>
        <p:nvSpPr>
          <p:cNvPr id="676390074" name="Rectangle 2"/>
          <p:cNvSpPr>
            <a:spLocks noChangeArrowheads="1" noChangeAspect="1" noGrp="1" noRot="1" noTextEdit="1"/>
          </p:cNvSpPr>
          <p:nvPr>
            <p:ph type="sldImg"/>
          </p:nvPr>
        </p:nvSpPr>
        <p:spPr bwMode="auto">
          <a:xfrm>
            <a:off x="342900" y="696913"/>
            <a:ext cx="6197600" cy="3486150"/>
          </a:xfrm>
          <a:ln/>
        </p:spPr>
      </p:sp>
      <p:sp>
        <p:nvSpPr>
          <p:cNvPr id="1142710498" name="Rectangle 3"/>
          <p:cNvSpPr>
            <a:spLocks noChangeArrowheads="1" noGrp="1"/>
          </p:cNvSpPr>
          <p:nvPr>
            <p:ph type="body" idx="1"/>
          </p:nvPr>
        </p:nvSpPr>
        <p:spPr bwMode="auto">
          <a:prstGeom prst="rect">
            <a:avLst/>
          </a:prstGeom>
          <a:noFill/>
          <a:ln/>
        </p:spPr>
        <p:txBody>
          <a:bodyPr lIns="93488" tIns="46744" rIns="93488" bIns="46744"/>
          <a:lstStyle/>
          <a:p>
            <a:pPr>
              <a:defRPr/>
            </a:pPr>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56749235"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8DA31005-A9AE-427D-A1E6-B4F95CC9350D}" type="slidenum">
              <a:rPr lang="en-US" sz="1200">
                <a:latin typeface="Times New Roman"/>
              </a:rPr>
              <a:t>63</a:t>
            </a:fld>
            <a:endParaRPr lang="en-US" sz="1200">
              <a:latin typeface="Times New Roman"/>
            </a:endParaRPr>
          </a:p>
        </p:txBody>
      </p:sp>
      <p:sp>
        <p:nvSpPr>
          <p:cNvPr id="1149795347" name="Rectangle 2"/>
          <p:cNvSpPr>
            <a:spLocks noChangeArrowheads="1" noChangeAspect="1" noGrp="1" noRot="1" noTextEdit="1"/>
          </p:cNvSpPr>
          <p:nvPr>
            <p:ph type="sldImg"/>
          </p:nvPr>
        </p:nvSpPr>
        <p:spPr bwMode="auto">
          <a:xfrm>
            <a:off x="342900" y="696913"/>
            <a:ext cx="6197600" cy="3486150"/>
          </a:xfrm>
          <a:ln/>
        </p:spPr>
      </p:sp>
      <p:sp>
        <p:nvSpPr>
          <p:cNvPr id="1078633963"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8525660"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5B941015-BDD8-4043-9B19-260F64EC13CE}" type="slidenum">
              <a:rPr lang="en-US" sz="1200">
                <a:latin typeface="Times New Roman"/>
              </a:rPr>
              <a:t>64</a:t>
            </a:fld>
            <a:endParaRPr lang="en-US" sz="1200">
              <a:latin typeface="Times New Roman"/>
            </a:endParaRPr>
          </a:p>
        </p:txBody>
      </p:sp>
      <p:sp>
        <p:nvSpPr>
          <p:cNvPr id="142788797" name="Rectangle 2"/>
          <p:cNvSpPr>
            <a:spLocks noChangeArrowheads="1" noChangeAspect="1" noGrp="1" noRot="1" noTextEdit="1"/>
          </p:cNvSpPr>
          <p:nvPr>
            <p:ph type="sldImg"/>
          </p:nvPr>
        </p:nvSpPr>
        <p:spPr bwMode="auto">
          <a:xfrm>
            <a:off x="342900" y="696913"/>
            <a:ext cx="6197600" cy="3486150"/>
          </a:xfrm>
          <a:ln/>
        </p:spPr>
      </p:sp>
      <p:sp>
        <p:nvSpPr>
          <p:cNvPr id="1344471059"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30358914"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D66C23B9-057C-4049-84C5-5DF26CBD538D}" type="slidenum">
              <a:rPr lang="en-US" sz="1200">
                <a:latin typeface="Times New Roman"/>
              </a:rPr>
              <a:t>65</a:t>
            </a:fld>
            <a:endParaRPr lang="en-US" sz="1200">
              <a:latin typeface="Times New Roman"/>
            </a:endParaRPr>
          </a:p>
        </p:txBody>
      </p:sp>
      <p:sp>
        <p:nvSpPr>
          <p:cNvPr id="1211128580" name="Rectangle 2"/>
          <p:cNvSpPr>
            <a:spLocks noChangeArrowheads="1" noChangeAspect="1" noGrp="1" noRot="1" noTextEdit="1"/>
          </p:cNvSpPr>
          <p:nvPr>
            <p:ph type="sldImg"/>
          </p:nvPr>
        </p:nvSpPr>
        <p:spPr bwMode="auto">
          <a:xfrm>
            <a:off x="342900" y="696913"/>
            <a:ext cx="6197600" cy="3486150"/>
          </a:xfrm>
          <a:ln/>
        </p:spPr>
      </p:sp>
      <p:sp>
        <p:nvSpPr>
          <p:cNvPr id="849821442"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62721184" name="Rectangle 7"/>
          <p:cNvSpPr txBox="1">
            <a:spLocks noChangeArrowheads="1" noGrp="1"/>
          </p:cNvSpPr>
          <p:nvPr/>
        </p:nvSpPr>
        <p:spPr bwMode="auto">
          <a:xfrm>
            <a:off x="3898900" y="8831263"/>
            <a:ext cx="2982913" cy="465137"/>
          </a:xfrm>
          <a:prstGeom prst="rect">
            <a:avLst/>
          </a:prstGeom>
          <a:noFill/>
          <a:ln>
            <a:noFill/>
          </a:ln>
        </p:spPr>
        <p:txBody>
          <a:bodyPr lIns="93170" tIns="46586" rIns="93170" bIns="46586" anchor="b"/>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lgn="r">
              <a:defRPr/>
            </a:pPr>
            <a:fld id="{4E7C151C-7188-4BCA-B5D8-23923E3151E0}" type="slidenum">
              <a:rPr lang="en-US" sz="1200">
                <a:latin typeface="Times New Roman"/>
              </a:rPr>
              <a:t>66</a:t>
            </a:fld>
            <a:endParaRPr lang="en-US" sz="1200">
              <a:latin typeface="Times New Roman"/>
            </a:endParaRPr>
          </a:p>
        </p:txBody>
      </p:sp>
      <p:sp>
        <p:nvSpPr>
          <p:cNvPr id="2092979950" name="Rectangle 2"/>
          <p:cNvSpPr>
            <a:spLocks noChangeArrowheads="1" noChangeAspect="1" noGrp="1" noRot="1" noTextEdit="1"/>
          </p:cNvSpPr>
          <p:nvPr>
            <p:ph type="sldImg"/>
          </p:nvPr>
        </p:nvSpPr>
        <p:spPr bwMode="auto">
          <a:xfrm>
            <a:off x="342900" y="696913"/>
            <a:ext cx="6197600" cy="3486150"/>
          </a:xfrm>
          <a:ln/>
        </p:spPr>
      </p:sp>
      <p:sp>
        <p:nvSpPr>
          <p:cNvPr id="1682054771"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7768321"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4158AEE2-013A-46CE-A419-A848A549FFD3}" type="slidenum">
              <a:rPr lang="en-US" sz="1200">
                <a:latin typeface="Times New Roman"/>
              </a:rPr>
              <a:t>67</a:t>
            </a:fld>
            <a:endParaRPr lang="en-US" sz="1200">
              <a:latin typeface="Times New Roman"/>
            </a:endParaRPr>
          </a:p>
        </p:txBody>
      </p:sp>
      <p:sp>
        <p:nvSpPr>
          <p:cNvPr id="578236891" name="Rectangle 2"/>
          <p:cNvSpPr>
            <a:spLocks noChangeArrowheads="1" noChangeAspect="1" noGrp="1" noRot="1" noTextEdit="1"/>
          </p:cNvSpPr>
          <p:nvPr>
            <p:ph type="sldImg"/>
          </p:nvPr>
        </p:nvSpPr>
        <p:spPr bwMode="auto">
          <a:xfrm>
            <a:off x="342900" y="696913"/>
            <a:ext cx="6197600" cy="3486150"/>
          </a:xfrm>
          <a:ln/>
        </p:spPr>
      </p:sp>
      <p:sp>
        <p:nvSpPr>
          <p:cNvPr id="897078700" name="Rectangle 3"/>
          <p:cNvSpPr>
            <a:spLocks noChangeArrowheads="1" noGrp="1"/>
          </p:cNvSpPr>
          <p:nvPr>
            <p:ph type="body" idx="1"/>
          </p:nvPr>
        </p:nvSpPr>
        <p:spPr bwMode="auto">
          <a:prstGeom prst="rect">
            <a:avLst/>
          </a:prstGeom>
          <a:noFill/>
          <a:ln/>
        </p:spPr>
        <p:txBody>
          <a:bodyPr/>
          <a:lstStyle/>
          <a:p>
            <a:pPr>
              <a:defRPr/>
            </a:pPr>
            <a:r>
              <a:rPr lang="en-US"/>
              <a:t>Enrich using data integration research!!</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61660027"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DEE89F8B-EDEE-4D25-A041-4B0E285AF6C9}" type="slidenum">
              <a:rPr lang="en-US" sz="1200">
                <a:latin typeface="Times New Roman"/>
              </a:rPr>
              <a:t>68</a:t>
            </a:fld>
            <a:endParaRPr lang="en-US" sz="1200">
              <a:latin typeface="Times New Roman"/>
            </a:endParaRPr>
          </a:p>
        </p:txBody>
      </p:sp>
      <p:sp>
        <p:nvSpPr>
          <p:cNvPr id="540029482" name="Rectangle 2"/>
          <p:cNvSpPr>
            <a:spLocks noChangeArrowheads="1" noChangeAspect="1" noGrp="1" noRot="1" noTextEdit="1"/>
          </p:cNvSpPr>
          <p:nvPr>
            <p:ph type="sldImg"/>
          </p:nvPr>
        </p:nvSpPr>
        <p:spPr bwMode="auto">
          <a:xfrm>
            <a:off x="342900" y="696913"/>
            <a:ext cx="6197600" cy="3486150"/>
          </a:xfrm>
          <a:ln/>
        </p:spPr>
      </p:sp>
      <p:sp>
        <p:nvSpPr>
          <p:cNvPr id="494026221"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37286376"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0A8D45C1-9A88-4173-B064-7E0C68F13B83}" type="slidenum">
              <a:rPr lang="en-US" sz="1200">
                <a:latin typeface="Times New Roman"/>
              </a:rPr>
              <a:t>69</a:t>
            </a:fld>
            <a:endParaRPr lang="en-US" sz="1200">
              <a:latin typeface="Times New Roman"/>
            </a:endParaRPr>
          </a:p>
        </p:txBody>
      </p:sp>
      <p:sp>
        <p:nvSpPr>
          <p:cNvPr id="265888675" name="Rectangle 2"/>
          <p:cNvSpPr>
            <a:spLocks noChangeArrowheads="1" noChangeAspect="1" noGrp="1" noRot="1" noTextEdit="1"/>
          </p:cNvSpPr>
          <p:nvPr>
            <p:ph type="sldImg"/>
          </p:nvPr>
        </p:nvSpPr>
        <p:spPr bwMode="auto">
          <a:xfrm>
            <a:off x="342900" y="696913"/>
            <a:ext cx="6197600" cy="3486150"/>
          </a:xfrm>
          <a:ln/>
        </p:spPr>
      </p:sp>
      <p:sp>
        <p:nvSpPr>
          <p:cNvPr id="1776055931" name="Rectangle 3"/>
          <p:cNvSpPr>
            <a:spLocks noChangeArrowheads="1" noGrp="1"/>
          </p:cNvSpPr>
          <p:nvPr>
            <p:ph type="body" idx="1"/>
          </p:nvPr>
        </p:nvSpPr>
        <p:spPr bwMode="auto">
          <a:prstGeom prst="rect">
            <a:avLst/>
          </a:prstGeom>
          <a:noFill/>
          <a:ln/>
        </p:spPr>
        <p:txBody>
          <a:bodyPr/>
          <a:lstStyle/>
          <a:p>
            <a:pPr>
              <a:defRPr/>
            </a:pPr>
            <a:r>
              <a:rPr lang="en-US"/>
              <a:t>Should ask students to do some survey on data integration.  -JH</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59566009"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2345C277-89BB-477A-B926-4AE44C60DD2C}" type="slidenum">
              <a:rPr lang="en-US" sz="1200">
                <a:latin typeface="Times New Roman"/>
              </a:rPr>
              <a:t>70</a:t>
            </a:fld>
            <a:endParaRPr lang="en-US" sz="1200">
              <a:latin typeface="Times New Roman"/>
            </a:endParaRPr>
          </a:p>
        </p:txBody>
      </p:sp>
      <p:sp>
        <p:nvSpPr>
          <p:cNvPr id="293603294" name="Rectangle 2"/>
          <p:cNvSpPr>
            <a:spLocks noChangeArrowheads="1" noChangeAspect="1" noGrp="1" noRot="1" noTextEdit="1"/>
          </p:cNvSpPr>
          <p:nvPr>
            <p:ph type="sldImg"/>
          </p:nvPr>
        </p:nvSpPr>
        <p:spPr bwMode="auto">
          <a:xfrm>
            <a:off x="342900" y="696913"/>
            <a:ext cx="6197600" cy="3486150"/>
          </a:xfrm>
          <a:ln/>
        </p:spPr>
      </p:sp>
      <p:sp>
        <p:nvSpPr>
          <p:cNvPr id="805865904"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40977478"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2345C277-89BB-477A-B926-4AE44C60DD2C}" type="slidenum">
              <a:rPr lang="en-US" sz="1200">
                <a:latin typeface="Times New Roman"/>
              </a:rPr>
              <a:t>71</a:t>
            </a:fld>
            <a:endParaRPr lang="en-US" sz="1200">
              <a:latin typeface="Times New Roman"/>
            </a:endParaRPr>
          </a:p>
        </p:txBody>
      </p:sp>
      <p:sp>
        <p:nvSpPr>
          <p:cNvPr id="244195563" name="Rectangle 2"/>
          <p:cNvSpPr>
            <a:spLocks noChangeArrowheads="1" noChangeAspect="1" noGrp="1" noRot="1" noTextEdit="1"/>
          </p:cNvSpPr>
          <p:nvPr>
            <p:ph type="sldImg"/>
          </p:nvPr>
        </p:nvSpPr>
        <p:spPr bwMode="auto">
          <a:xfrm>
            <a:off x="342900" y="696913"/>
            <a:ext cx="6197600" cy="3486150"/>
          </a:xfrm>
          <a:ln/>
        </p:spPr>
      </p:sp>
      <p:sp>
        <p:nvSpPr>
          <p:cNvPr id="248480220"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4649823" name="Rectangle 7"/>
          <p:cNvSpPr>
            <a:spLocks noChangeArrowheads="1" noGrp="1"/>
          </p:cNvSpPr>
          <p:nvPr>
            <p:ph type="sldNum" sz="quarter" idx="5"/>
          </p:nvPr>
        </p:nvSpPr>
        <p:spPr bwMode="auto">
          <a:prstGeom prst="rect">
            <a:avLst/>
          </a:prstGeom>
          <a:noFill/>
          <a:ln/>
        </p:spPr>
        <p:txBody>
          <a:bodyPr/>
          <a:lstStyle>
            <a:lvl1pPr defTabSz="931863">
              <a:defRPr sz="2800">
                <a:solidFill>
                  <a:schemeClr val="tx1"/>
                </a:solidFill>
                <a:latin typeface="Tahoma"/>
              </a:defRPr>
            </a:lvl1pPr>
            <a:lvl2pPr marL="742950" indent="-285750" defTabSz="931863">
              <a:defRPr sz="2800">
                <a:solidFill>
                  <a:schemeClr val="tx1"/>
                </a:solidFill>
                <a:latin typeface="Tahoma"/>
              </a:defRPr>
            </a:lvl2pPr>
            <a:lvl3pPr marL="1143000" indent="-228600" defTabSz="931863">
              <a:defRPr sz="2800">
                <a:solidFill>
                  <a:schemeClr val="tx1"/>
                </a:solidFill>
                <a:latin typeface="Tahoma"/>
              </a:defRPr>
            </a:lvl3pPr>
            <a:lvl4pPr marL="1600200" indent="-228600" defTabSz="931863">
              <a:defRPr sz="2800">
                <a:solidFill>
                  <a:schemeClr val="tx1"/>
                </a:solidFill>
                <a:latin typeface="Tahoma"/>
              </a:defRPr>
            </a:lvl4pPr>
            <a:lvl5pPr marL="2057400" indent="-228600" defTabSz="931863">
              <a:defRPr sz="2800">
                <a:solidFill>
                  <a:schemeClr val="tx1"/>
                </a:solidFill>
                <a:latin typeface="Tahoma"/>
              </a:defRPr>
            </a:lvl5pPr>
            <a:lvl6pPr marL="2514600" indent="-228600" defTabSz="931863">
              <a:spcBef>
                <a:spcPts val="0"/>
              </a:spcBef>
              <a:spcAft>
                <a:spcPts val="0"/>
              </a:spcAft>
              <a:defRPr sz="2800">
                <a:solidFill>
                  <a:schemeClr val="tx1"/>
                </a:solidFill>
                <a:latin typeface="Tahoma"/>
              </a:defRPr>
            </a:lvl6pPr>
            <a:lvl7pPr marL="2971800" indent="-228600" defTabSz="931863">
              <a:spcBef>
                <a:spcPts val="0"/>
              </a:spcBef>
              <a:spcAft>
                <a:spcPts val="0"/>
              </a:spcAft>
              <a:defRPr sz="2800">
                <a:solidFill>
                  <a:schemeClr val="tx1"/>
                </a:solidFill>
                <a:latin typeface="Tahoma"/>
              </a:defRPr>
            </a:lvl7pPr>
            <a:lvl8pPr marL="3429000" indent="-228600" defTabSz="931863">
              <a:spcBef>
                <a:spcPts val="0"/>
              </a:spcBef>
              <a:spcAft>
                <a:spcPts val="0"/>
              </a:spcAft>
              <a:defRPr sz="2800">
                <a:solidFill>
                  <a:schemeClr val="tx1"/>
                </a:solidFill>
                <a:latin typeface="Tahoma"/>
              </a:defRPr>
            </a:lvl8pPr>
            <a:lvl9pPr marL="3886200" indent="-228600" defTabSz="931863">
              <a:spcBef>
                <a:spcPts val="0"/>
              </a:spcBef>
              <a:spcAft>
                <a:spcPts val="0"/>
              </a:spcAft>
              <a:defRPr sz="2800">
                <a:solidFill>
                  <a:schemeClr val="tx1"/>
                </a:solidFill>
                <a:latin typeface="Tahoma"/>
              </a:defRPr>
            </a:lvl9pPr>
          </a:lstStyle>
          <a:p>
            <a:pPr>
              <a:defRPr/>
            </a:pPr>
            <a:fld id="{29BE47E6-A684-41E8-A8D2-AEB21EE26F6A}" type="slidenum">
              <a:rPr lang="en-US" sz="1200">
                <a:solidFill>
                  <a:prstClr val="black"/>
                </a:solidFill>
              </a:rPr>
              <a:t>72</a:t>
            </a:fld>
            <a:endParaRPr lang="en-US" sz="1200">
              <a:solidFill>
                <a:prstClr val="black"/>
              </a:solidFill>
            </a:endParaRPr>
          </a:p>
        </p:txBody>
      </p:sp>
      <p:sp>
        <p:nvSpPr>
          <p:cNvPr id="1694360610" name="Rectangle 2"/>
          <p:cNvSpPr>
            <a:spLocks noChangeArrowheads="1" noChangeAspect="1" noGrp="1" noRot="1" noTextEdit="1"/>
          </p:cNvSpPr>
          <p:nvPr>
            <p:ph type="sldImg"/>
          </p:nvPr>
        </p:nvSpPr>
        <p:spPr bwMode="auto">
          <a:ln/>
        </p:spPr>
      </p:sp>
      <p:sp>
        <p:nvSpPr>
          <p:cNvPr id="2132744545" name="Rectangle 3"/>
          <p:cNvSpPr>
            <a:spLocks noChangeArrowheads="1" noGrp="1"/>
          </p:cNvSpPr>
          <p:nvPr>
            <p:ph type="body" idx="1"/>
          </p:nvPr>
        </p:nvSpPr>
        <p:spPr bwMode="auto">
          <a:prstGeom prst="rect">
            <a:avLst/>
          </a:prstGeom>
          <a:noFill/>
          <a:ln/>
        </p:spPr>
        <p:txBody>
          <a:bodyPr/>
          <a:lstStyle/>
          <a:p>
            <a:pPr>
              <a:defRPr/>
            </a:pPr>
            <a:endParaRPr lang="en-US" b="1"/>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0092374" name="Rectangle 7"/>
          <p:cNvSpPr txBox="1">
            <a:spLocks noChangeArrowheads="1" noGrp="1"/>
          </p:cNvSpPr>
          <p:nvPr/>
        </p:nvSpPr>
        <p:spPr bwMode="auto">
          <a:xfrm>
            <a:off x="3898900" y="8831263"/>
            <a:ext cx="2982913" cy="465137"/>
          </a:xfrm>
          <a:prstGeom prst="rect">
            <a:avLst/>
          </a:prstGeom>
          <a:noFill/>
          <a:ln>
            <a:noFill/>
          </a:ln>
        </p:spPr>
        <p:txBody>
          <a:bodyPr lIns="93170" tIns="46586" rIns="93170" bIns="46586" anchor="b"/>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lgn="r">
              <a:defRPr/>
            </a:pPr>
            <a:fld id="{F9A72662-B96E-40C8-BA77-46944AB9FC12}" type="slidenum">
              <a:rPr lang="en-US" sz="1200">
                <a:latin typeface="Times New Roman"/>
              </a:rPr>
              <a:t>73</a:t>
            </a:fld>
            <a:endParaRPr lang="en-US" sz="1200">
              <a:latin typeface="Times New Roman"/>
            </a:endParaRPr>
          </a:p>
        </p:txBody>
      </p:sp>
      <p:sp>
        <p:nvSpPr>
          <p:cNvPr id="1553942527" name="Rectangle 2"/>
          <p:cNvSpPr>
            <a:spLocks noChangeArrowheads="1" noChangeAspect="1" noGrp="1" noRot="1" noTextEdit="1"/>
          </p:cNvSpPr>
          <p:nvPr>
            <p:ph type="sldImg"/>
          </p:nvPr>
        </p:nvSpPr>
        <p:spPr bwMode="auto">
          <a:xfrm>
            <a:off x="342900" y="696913"/>
            <a:ext cx="6197600" cy="3486150"/>
          </a:xfrm>
          <a:ln/>
        </p:spPr>
      </p:sp>
      <p:sp>
        <p:nvSpPr>
          <p:cNvPr id="876699987"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6683427"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A3A204DE-0BD7-4C9B-BCF1-CFEBAB2759A6}" type="slidenum">
              <a:rPr lang="en-US" sz="1200">
                <a:latin typeface="Times New Roman"/>
              </a:rPr>
              <a:t>74</a:t>
            </a:fld>
            <a:endParaRPr lang="en-US" sz="1200">
              <a:latin typeface="Times New Roman"/>
            </a:endParaRPr>
          </a:p>
        </p:txBody>
      </p:sp>
      <p:sp>
        <p:nvSpPr>
          <p:cNvPr id="1170517811" name="Rectangle 2"/>
          <p:cNvSpPr>
            <a:spLocks noChangeArrowheads="1" noChangeAspect="1" noGrp="1" noRot="1" noTextEdit="1"/>
          </p:cNvSpPr>
          <p:nvPr>
            <p:ph type="sldImg"/>
          </p:nvPr>
        </p:nvSpPr>
        <p:spPr bwMode="auto">
          <a:xfrm>
            <a:off x="342900" y="696913"/>
            <a:ext cx="6197600" cy="3486150"/>
          </a:xfrm>
          <a:ln/>
        </p:spPr>
      </p:sp>
      <p:sp>
        <p:nvSpPr>
          <p:cNvPr id="1049920215"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07141332"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8472F7D5-3156-4DEE-9803-408508CA57DF}" type="slidenum">
              <a:rPr lang="en-US" sz="1200">
                <a:latin typeface="Times New Roman"/>
              </a:rPr>
              <a:t>75</a:t>
            </a:fld>
            <a:endParaRPr lang="en-US" sz="1200">
              <a:latin typeface="Times New Roman"/>
            </a:endParaRPr>
          </a:p>
        </p:txBody>
      </p:sp>
      <p:sp>
        <p:nvSpPr>
          <p:cNvPr id="1264458569" name="Rectangle 2"/>
          <p:cNvSpPr>
            <a:spLocks noChangeArrowheads="1" noChangeAspect="1" noGrp="1" noRot="1" noTextEdit="1"/>
          </p:cNvSpPr>
          <p:nvPr>
            <p:ph type="sldImg"/>
          </p:nvPr>
        </p:nvSpPr>
        <p:spPr bwMode="auto">
          <a:xfrm>
            <a:off x="342900" y="696913"/>
            <a:ext cx="6197600" cy="3486150"/>
          </a:xfrm>
          <a:ln/>
        </p:spPr>
      </p:sp>
      <p:sp>
        <p:nvSpPr>
          <p:cNvPr id="22584700" name="Rectangle 3"/>
          <p:cNvSpPr>
            <a:spLocks noChangeArrowheads="1" noGrp="1"/>
          </p:cNvSpPr>
          <p:nvPr>
            <p:ph type="body" idx="1"/>
          </p:nvPr>
        </p:nvSpPr>
        <p:spPr bwMode="auto">
          <a:prstGeom prst="rect">
            <a:avLst/>
          </a:prstGeom>
          <a:noFill/>
          <a:ln/>
        </p:spPr>
        <p:txBody>
          <a:bodyPr/>
          <a:lstStyle/>
          <a:p>
            <a:pPr>
              <a:defRPr/>
            </a:pPr>
            <a:r>
              <a:rPr lang="en-US"/>
              <a:t>08.09.12 MK: Slide moved here from Ch. 3.  Added examples.</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7541407" name="Rectangle 7"/>
          <p:cNvSpPr txBox="1">
            <a:spLocks noChangeArrowheads="1" noGrp="1"/>
          </p:cNvSpPr>
          <p:nvPr/>
        </p:nvSpPr>
        <p:spPr bwMode="auto">
          <a:xfrm>
            <a:off x="3898900" y="8831263"/>
            <a:ext cx="2982913" cy="465137"/>
          </a:xfrm>
          <a:prstGeom prst="rect">
            <a:avLst/>
          </a:prstGeom>
          <a:noFill/>
          <a:ln>
            <a:noFill/>
          </a:ln>
        </p:spPr>
        <p:txBody>
          <a:bodyPr lIns="93170" tIns="46586" rIns="93170" bIns="46586" anchor="b"/>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lgn="r">
              <a:defRPr/>
            </a:pPr>
            <a:fld id="{7D2C52C3-3FB7-4848-AD78-3F75AF48CFF3}" type="slidenum">
              <a:rPr lang="en-US" sz="1200">
                <a:latin typeface="Times New Roman"/>
              </a:rPr>
              <a:t>76</a:t>
            </a:fld>
            <a:endParaRPr lang="en-US" sz="1200">
              <a:latin typeface="Times New Roman"/>
            </a:endParaRPr>
          </a:p>
        </p:txBody>
      </p:sp>
      <p:sp>
        <p:nvSpPr>
          <p:cNvPr id="1083800396" name="Rectangle 2"/>
          <p:cNvSpPr>
            <a:spLocks noChangeArrowheads="1" noChangeAspect="1" noGrp="1" noRot="1" noTextEdit="1"/>
          </p:cNvSpPr>
          <p:nvPr>
            <p:ph type="sldImg"/>
          </p:nvPr>
        </p:nvSpPr>
        <p:spPr bwMode="auto">
          <a:xfrm>
            <a:off x="342900" y="696913"/>
            <a:ext cx="6197600" cy="3486150"/>
          </a:xfrm>
          <a:ln/>
        </p:spPr>
      </p:sp>
      <p:sp>
        <p:nvSpPr>
          <p:cNvPr id="1354187159"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67193698"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3306BDC1-E7B3-43D1-A50D-C3FED9372CD4}" type="slidenum">
              <a:rPr lang="en-US" sz="1200">
                <a:latin typeface="Times New Roman"/>
              </a:rPr>
              <a:t>77</a:t>
            </a:fld>
            <a:endParaRPr lang="en-US" sz="1200">
              <a:latin typeface="Times New Roman"/>
            </a:endParaRPr>
          </a:p>
        </p:txBody>
      </p:sp>
      <p:sp>
        <p:nvSpPr>
          <p:cNvPr id="592748378" name="Rectangle 2"/>
          <p:cNvSpPr>
            <a:spLocks noChangeArrowheads="1" noChangeAspect="1" noGrp="1" noRot="1" noTextEdit="1"/>
          </p:cNvSpPr>
          <p:nvPr>
            <p:ph type="sldImg"/>
          </p:nvPr>
        </p:nvSpPr>
        <p:spPr bwMode="auto">
          <a:xfrm>
            <a:off x="342900" y="696913"/>
            <a:ext cx="6197600" cy="3486150"/>
          </a:xfrm>
          <a:ln/>
        </p:spPr>
      </p:sp>
      <p:sp>
        <p:nvSpPr>
          <p:cNvPr id="1895586872"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62635858"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305B14DB-3742-4234-9CBF-2A141DDB3692}" type="slidenum">
              <a:rPr lang="en-US" sz="1200">
                <a:latin typeface="Times New Roman"/>
              </a:rPr>
              <a:t>78</a:t>
            </a:fld>
            <a:endParaRPr lang="en-US" sz="1200">
              <a:latin typeface="Times New Roman"/>
            </a:endParaRPr>
          </a:p>
        </p:txBody>
      </p:sp>
      <p:sp>
        <p:nvSpPr>
          <p:cNvPr id="1093738992" name="Rectangle 2"/>
          <p:cNvSpPr>
            <a:spLocks noChangeArrowheads="1" noChangeAspect="1" noGrp="1" noRot="1" noTextEdit="1"/>
          </p:cNvSpPr>
          <p:nvPr>
            <p:ph type="sldImg"/>
          </p:nvPr>
        </p:nvSpPr>
        <p:spPr bwMode="auto">
          <a:xfrm>
            <a:off x="342900" y="696913"/>
            <a:ext cx="6197600" cy="3486150"/>
          </a:xfrm>
          <a:ln/>
        </p:spPr>
      </p:sp>
      <p:sp>
        <p:nvSpPr>
          <p:cNvPr id="138896563"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65455153" name="Rectangle 7"/>
          <p:cNvSpPr txBox="1">
            <a:spLocks noChangeArrowheads="1" noGrp="1"/>
          </p:cNvSpPr>
          <p:nvPr/>
        </p:nvSpPr>
        <p:spPr bwMode="auto">
          <a:xfrm>
            <a:off x="3898900" y="8831263"/>
            <a:ext cx="2982913" cy="465137"/>
          </a:xfrm>
          <a:prstGeom prst="rect">
            <a:avLst/>
          </a:prstGeom>
          <a:noFill/>
          <a:ln>
            <a:noFill/>
          </a:ln>
        </p:spPr>
        <p:txBody>
          <a:bodyPr lIns="93170" tIns="46586" rIns="93170" bIns="46586" anchor="b"/>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lgn="r">
              <a:defRPr/>
            </a:pPr>
            <a:fld id="{860B9C05-8700-4EBB-B47E-AE5092D0A509}" type="slidenum">
              <a:rPr lang="en-US" sz="1200">
                <a:latin typeface="Times New Roman"/>
              </a:rPr>
              <a:t>79</a:t>
            </a:fld>
            <a:endParaRPr lang="en-US" sz="1200">
              <a:latin typeface="Times New Roman"/>
            </a:endParaRPr>
          </a:p>
        </p:txBody>
      </p:sp>
      <p:sp>
        <p:nvSpPr>
          <p:cNvPr id="362545665" name="Rectangle 2"/>
          <p:cNvSpPr>
            <a:spLocks noChangeArrowheads="1" noChangeAspect="1" noGrp="1" noRot="1" noTextEdit="1"/>
          </p:cNvSpPr>
          <p:nvPr>
            <p:ph type="sldImg"/>
          </p:nvPr>
        </p:nvSpPr>
        <p:spPr bwMode="auto">
          <a:xfrm>
            <a:off x="346075" y="698500"/>
            <a:ext cx="6192837" cy="3484563"/>
          </a:xfrm>
          <a:ln/>
        </p:spPr>
      </p:sp>
      <p:sp>
        <p:nvSpPr>
          <p:cNvPr id="4938838" name="Rectangle 3"/>
          <p:cNvSpPr>
            <a:spLocks noChangeArrowheads="1" noGrp="1"/>
          </p:cNvSpPr>
          <p:nvPr>
            <p:ph type="body" idx="1"/>
          </p:nvPr>
        </p:nvSpPr>
        <p:spPr bwMode="auto">
          <a:xfrm>
            <a:off x="917575" y="4414838"/>
            <a:ext cx="5046663" cy="4183062"/>
          </a:xfrm>
          <a:prstGeom prst="rect">
            <a:avLst/>
          </a:prstGeom>
          <a:noFill/>
          <a:ln/>
        </p:spPr>
        <p:txBody>
          <a:bodyPr lIns="90747" tIns="45373" rIns="90747" bIns="45373"/>
          <a:lstStyle/>
          <a:p>
            <a:pPr>
              <a:defRPr/>
            </a:pPr>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06308576" name="Rectangle 7"/>
          <p:cNvSpPr txBox="1">
            <a:spLocks noChangeArrowheads="1" noGrp="1"/>
          </p:cNvSpPr>
          <p:nvPr/>
        </p:nvSpPr>
        <p:spPr bwMode="auto">
          <a:xfrm>
            <a:off x="3898900" y="8831263"/>
            <a:ext cx="2982913" cy="465137"/>
          </a:xfrm>
          <a:prstGeom prst="rect">
            <a:avLst/>
          </a:prstGeom>
          <a:noFill/>
          <a:ln>
            <a:noFill/>
          </a:ln>
        </p:spPr>
        <p:txBody>
          <a:bodyPr lIns="93170" tIns="46586" rIns="93170" bIns="46586" anchor="b"/>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lgn="r">
              <a:defRPr/>
            </a:pPr>
            <a:fld id="{C7633C9F-BA5D-4E89-B22E-9D46BEEF47F4}" type="slidenum">
              <a:rPr lang="en-US" sz="1200">
                <a:latin typeface="Times New Roman"/>
              </a:rPr>
              <a:t>80</a:t>
            </a:fld>
            <a:endParaRPr lang="en-US" sz="1200">
              <a:latin typeface="Times New Roman"/>
            </a:endParaRPr>
          </a:p>
        </p:txBody>
      </p:sp>
      <p:sp>
        <p:nvSpPr>
          <p:cNvPr id="1405823956" name="Rectangle 2"/>
          <p:cNvSpPr>
            <a:spLocks noChangeArrowheads="1" noChangeAspect="1" noGrp="1" noRot="1" noTextEdit="1"/>
          </p:cNvSpPr>
          <p:nvPr>
            <p:ph type="sldImg"/>
          </p:nvPr>
        </p:nvSpPr>
        <p:spPr bwMode="auto">
          <a:xfrm>
            <a:off x="346075" y="698500"/>
            <a:ext cx="6192837" cy="3484563"/>
          </a:xfrm>
          <a:ln/>
        </p:spPr>
      </p:sp>
      <p:sp>
        <p:nvSpPr>
          <p:cNvPr id="657670010" name="Rectangle 3"/>
          <p:cNvSpPr>
            <a:spLocks noChangeArrowheads="1" noGrp="1"/>
          </p:cNvSpPr>
          <p:nvPr>
            <p:ph type="body" idx="1"/>
          </p:nvPr>
        </p:nvSpPr>
        <p:spPr bwMode="auto">
          <a:xfrm>
            <a:off x="917575" y="4414838"/>
            <a:ext cx="5046663" cy="4183062"/>
          </a:xfrm>
          <a:prstGeom prst="rect">
            <a:avLst/>
          </a:prstGeom>
          <a:noFill/>
          <a:ln/>
        </p:spPr>
        <p:txBody>
          <a:bodyPr lIns="90747" tIns="45373" rIns="90747" bIns="45373"/>
          <a:lstStyle/>
          <a:p>
            <a:pPr>
              <a:defRPr/>
            </a:pPr>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08907916"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CA53B6EF-B6B4-4EB0-B483-F277FA5CD05D}" type="slidenum">
              <a:rPr lang="en-US" sz="1200">
                <a:latin typeface="Times New Roman"/>
              </a:rPr>
              <a:t>81</a:t>
            </a:fld>
            <a:endParaRPr lang="en-US" sz="1200">
              <a:latin typeface="Times New Roman"/>
            </a:endParaRPr>
          </a:p>
        </p:txBody>
      </p:sp>
      <p:sp>
        <p:nvSpPr>
          <p:cNvPr id="803143894" name="Rectangle 2"/>
          <p:cNvSpPr>
            <a:spLocks noChangeArrowheads="1" noChangeAspect="1" noGrp="1" noRot="1" noTextEdit="1"/>
          </p:cNvSpPr>
          <p:nvPr>
            <p:ph type="sldImg"/>
          </p:nvPr>
        </p:nvSpPr>
        <p:spPr bwMode="auto">
          <a:xfrm>
            <a:off x="342900" y="696913"/>
            <a:ext cx="6197600" cy="3486150"/>
          </a:xfrm>
          <a:ln/>
        </p:spPr>
      </p:sp>
      <p:sp>
        <p:nvSpPr>
          <p:cNvPr id="512588605"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21956192"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69E44612-F3C7-46CA-844C-31F101627286}" type="slidenum">
              <a:rPr lang="en-US" sz="1200">
                <a:latin typeface="Times New Roman"/>
              </a:rPr>
              <a:t>82</a:t>
            </a:fld>
            <a:endParaRPr lang="en-US" sz="1200">
              <a:latin typeface="Times New Roman"/>
            </a:endParaRPr>
          </a:p>
        </p:txBody>
      </p:sp>
      <p:sp>
        <p:nvSpPr>
          <p:cNvPr id="2075982973" name="Rectangle 2"/>
          <p:cNvSpPr>
            <a:spLocks noChangeArrowheads="1" noChangeAspect="1" noGrp="1" noRot="1" noTextEdit="1"/>
          </p:cNvSpPr>
          <p:nvPr>
            <p:ph type="sldImg"/>
          </p:nvPr>
        </p:nvSpPr>
        <p:spPr bwMode="auto">
          <a:xfrm>
            <a:off x="342900" y="696913"/>
            <a:ext cx="6197600" cy="3486150"/>
          </a:xfrm>
          <a:ln/>
        </p:spPr>
      </p:sp>
      <p:sp>
        <p:nvSpPr>
          <p:cNvPr id="1823549488" name="Rectangle 3"/>
          <p:cNvSpPr>
            <a:spLocks noChangeArrowheads="1" noGrp="1"/>
          </p:cNvSpPr>
          <p:nvPr>
            <p:ph type="body" idx="1"/>
          </p:nvPr>
        </p:nvSpPr>
        <p:spPr bwMode="auto">
          <a:prstGeom prst="rect">
            <a:avLst/>
          </a:prstGeom>
          <a:noFill/>
          <a:ln/>
        </p:spPr>
        <p:txBody>
          <a:bodyPr/>
          <a:lstStyle/>
          <a:p>
            <a:pPr>
              <a:defRPr/>
            </a:pPr>
            <a:r>
              <a:rPr lang="en-US"/>
              <a:t>Should we briefly introduce ontology?  Ontology has been used extensively in bio-medical data warehouses.  -- JP</a:t>
            </a:r>
            <a:endParaRPr/>
          </a:p>
          <a:p>
            <a:pPr>
              <a:defRPr/>
            </a:pPr>
            <a:endParaRPr lang="en-US"/>
          </a:p>
          <a:p>
            <a:pPr>
              <a:defRPr/>
            </a:pPr>
            <a:r>
              <a:rPr lang="en-US"/>
              <a:t>We should introduce this part using 1-2 slides -JH</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9804659" name="Rectangle 7"/>
          <p:cNvSpPr txBox="1">
            <a:spLocks noChangeArrowheads="1" noGrp="1"/>
          </p:cNvSpPr>
          <p:nvPr/>
        </p:nvSpPr>
        <p:spPr bwMode="auto">
          <a:xfrm>
            <a:off x="3898900" y="8831263"/>
            <a:ext cx="2982913" cy="465137"/>
          </a:xfrm>
          <a:prstGeom prst="rect">
            <a:avLst/>
          </a:prstGeom>
          <a:noFill/>
          <a:ln>
            <a:noFill/>
          </a:ln>
        </p:spPr>
        <p:txBody>
          <a:bodyPr lIns="93170" tIns="46586" rIns="93170" bIns="46586" anchor="b"/>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lgn="r">
              <a:defRPr/>
            </a:pPr>
            <a:fld id="{7F3FBCBF-55D9-4416-A489-32CB6ADC8BD4}" type="slidenum">
              <a:rPr lang="en-US" sz="1200">
                <a:latin typeface="Times New Roman"/>
              </a:rPr>
              <a:t>83</a:t>
            </a:fld>
            <a:endParaRPr lang="en-US" sz="1200">
              <a:latin typeface="Times New Roman"/>
            </a:endParaRPr>
          </a:p>
        </p:txBody>
      </p:sp>
      <p:sp>
        <p:nvSpPr>
          <p:cNvPr id="1427420745" name="Rectangle 2"/>
          <p:cNvSpPr>
            <a:spLocks noChangeArrowheads="1" noChangeAspect="1" noGrp="1" noRot="1" noTextEdit="1"/>
          </p:cNvSpPr>
          <p:nvPr>
            <p:ph type="sldImg"/>
          </p:nvPr>
        </p:nvSpPr>
        <p:spPr bwMode="auto">
          <a:ln/>
        </p:spPr>
      </p:sp>
      <p:sp>
        <p:nvSpPr>
          <p:cNvPr id="724969181" name="Rectangle 3"/>
          <p:cNvSpPr>
            <a:spLocks noChangeArrowheads="1" noGrp="1"/>
          </p:cNvSpPr>
          <p:nvPr>
            <p:ph type="body" idx="1"/>
          </p:nvPr>
        </p:nvSpPr>
        <p:spPr bwMode="auto">
          <a:prstGeom prst="rect">
            <a:avLst/>
          </a:prstGeom>
          <a:noFill/>
          <a:ln/>
        </p:spPr>
        <p:txBody>
          <a:bodyPr/>
          <a:lstStyle/>
          <a:p>
            <a:pPr>
              <a:defRPr/>
            </a:pPr>
            <a:r>
              <a:rPr lang="en-US"/>
              <a:t>PCA and Wavelet are forms of data compression also.</a:t>
            </a:r>
            <a:endParaRPr/>
          </a:p>
          <a:p>
            <a:pPr>
              <a:defRPr/>
            </a:pPr>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84465207" name="Rectangle 7"/>
          <p:cNvSpPr txBox="1">
            <a:spLocks noChangeArrowheads="1" noGrp="1"/>
          </p:cNvSpPr>
          <p:nvPr/>
        </p:nvSpPr>
        <p:spPr bwMode="auto">
          <a:xfrm>
            <a:off x="3898900" y="8831263"/>
            <a:ext cx="2982913" cy="465137"/>
          </a:xfrm>
          <a:prstGeom prst="rect">
            <a:avLst/>
          </a:prstGeom>
          <a:noFill/>
          <a:ln>
            <a:noFill/>
          </a:ln>
        </p:spPr>
        <p:txBody>
          <a:bodyPr lIns="93170" tIns="46586" rIns="93170" bIns="46586" anchor="b"/>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lgn="r">
              <a:defRPr/>
            </a:pPr>
            <a:fld id="{47862981-7992-40A5-A058-5E70B3805409}" type="slidenum">
              <a:rPr lang="en-US" sz="1200">
                <a:latin typeface="Times New Roman"/>
              </a:rPr>
              <a:t>84</a:t>
            </a:fld>
            <a:endParaRPr lang="en-US" sz="1200">
              <a:latin typeface="Times New Roman"/>
            </a:endParaRPr>
          </a:p>
        </p:txBody>
      </p:sp>
      <p:sp>
        <p:nvSpPr>
          <p:cNvPr id="753854930" name="Rectangle 2"/>
          <p:cNvSpPr>
            <a:spLocks noChangeArrowheads="1" noChangeAspect="1" noGrp="1" noRot="1" noTextEdit="1"/>
          </p:cNvSpPr>
          <p:nvPr>
            <p:ph type="sldImg"/>
          </p:nvPr>
        </p:nvSpPr>
        <p:spPr bwMode="auto">
          <a:ln/>
        </p:spPr>
      </p:sp>
      <p:sp>
        <p:nvSpPr>
          <p:cNvPr id="195660707"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72835546"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69E0BA65-AC1C-4D2C-B1E4-421048BA61A8}" type="slidenum">
              <a:rPr lang="en-US" sz="1200">
                <a:latin typeface="Times New Roman"/>
              </a:rPr>
              <a:t>85</a:t>
            </a:fld>
            <a:endParaRPr lang="en-US" sz="1200">
              <a:latin typeface="Times New Roman"/>
            </a:endParaRPr>
          </a:p>
        </p:txBody>
      </p:sp>
      <p:sp>
        <p:nvSpPr>
          <p:cNvPr id="140254266" name="Rectangle 2"/>
          <p:cNvSpPr>
            <a:spLocks noChangeArrowheads="1" noChangeAspect="1" noGrp="1" noRot="1" noTextEdit="1"/>
          </p:cNvSpPr>
          <p:nvPr>
            <p:ph type="sldImg"/>
          </p:nvPr>
        </p:nvSpPr>
        <p:spPr bwMode="auto">
          <a:xfrm>
            <a:off x="342900" y="696913"/>
            <a:ext cx="6197600" cy="3486150"/>
          </a:xfrm>
          <a:ln/>
        </p:spPr>
      </p:sp>
      <p:sp>
        <p:nvSpPr>
          <p:cNvPr id="1048946367"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51841097"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EF5B721A-0EBA-459A-8096-CF9923B3D033}" type="slidenum">
              <a:rPr lang="en-US" sz="1200">
                <a:latin typeface="Times New Roman"/>
              </a:rPr>
              <a:t>86</a:t>
            </a:fld>
            <a:endParaRPr lang="en-US" sz="1200">
              <a:latin typeface="Times New Roman"/>
            </a:endParaRPr>
          </a:p>
        </p:txBody>
      </p:sp>
      <p:sp>
        <p:nvSpPr>
          <p:cNvPr id="1924726246" name="Rectangle 2"/>
          <p:cNvSpPr>
            <a:spLocks noChangeArrowheads="1" noChangeAspect="1" noGrp="1" noRot="1" noTextEdit="1"/>
          </p:cNvSpPr>
          <p:nvPr>
            <p:ph type="sldImg"/>
          </p:nvPr>
        </p:nvSpPr>
        <p:spPr bwMode="auto">
          <a:ln/>
        </p:spPr>
      </p:sp>
      <p:sp>
        <p:nvSpPr>
          <p:cNvPr id="805709145"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9346677"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C9D44D5F-98C1-4126-94C4-B394A51AD157}" type="slidenum">
              <a:rPr lang="en-US" sz="1200">
                <a:latin typeface="Times New Roman"/>
              </a:rPr>
              <a:t>87</a:t>
            </a:fld>
            <a:endParaRPr lang="en-US" sz="1200">
              <a:latin typeface="Times New Roman"/>
            </a:endParaRPr>
          </a:p>
        </p:txBody>
      </p:sp>
      <p:sp>
        <p:nvSpPr>
          <p:cNvPr id="1299706561" name="Rectangle 2"/>
          <p:cNvSpPr>
            <a:spLocks noChangeArrowheads="1" noChangeAspect="1" noGrp="1" noRot="1" noTextEdit="1"/>
          </p:cNvSpPr>
          <p:nvPr>
            <p:ph type="sldImg"/>
          </p:nvPr>
        </p:nvSpPr>
        <p:spPr bwMode="auto">
          <a:ln/>
        </p:spPr>
      </p:sp>
      <p:sp>
        <p:nvSpPr>
          <p:cNvPr id="878253271"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8338556"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33BEDE18-97A2-4E92-B3F0-A3EB083D711C}" type="slidenum">
              <a:rPr lang="en-US" sz="1200">
                <a:latin typeface="Times New Roman"/>
              </a:rPr>
              <a:t>88</a:t>
            </a:fld>
            <a:endParaRPr lang="en-US" sz="1200">
              <a:latin typeface="Times New Roman"/>
            </a:endParaRPr>
          </a:p>
        </p:txBody>
      </p:sp>
      <p:sp>
        <p:nvSpPr>
          <p:cNvPr id="51842045" name="Rectangle 2"/>
          <p:cNvSpPr>
            <a:spLocks noChangeArrowheads="1" noChangeAspect="1" noGrp="1" noRot="1" noTextEdit="1"/>
          </p:cNvSpPr>
          <p:nvPr>
            <p:ph type="sldImg"/>
          </p:nvPr>
        </p:nvSpPr>
        <p:spPr bwMode="auto">
          <a:ln/>
        </p:spPr>
      </p:sp>
      <p:sp>
        <p:nvSpPr>
          <p:cNvPr id="1650289584" name="Rectangle 3"/>
          <p:cNvSpPr>
            <a:spLocks noChangeArrowheads="1" noGrp="1"/>
          </p:cNvSpPr>
          <p:nvPr>
            <p:ph type="body" idx="1"/>
          </p:nvPr>
        </p:nvSpPr>
        <p:spPr bwMode="auto">
          <a:prstGeom prst="rect">
            <a:avLst/>
          </a:prstGeom>
          <a:noFill/>
          <a:ln/>
        </p:spPr>
        <p:txBody>
          <a:bodyPr/>
          <a:lstStyle/>
          <a:p>
            <a:pPr>
              <a:defRPr/>
            </a:pPr>
            <a:r>
              <a:rPr lang="en-US"/>
              <a:t>MK 09/09/05: Wiki has dimensionality reduction as feature extraction (PCA) and feature subset selection. It states both wavelet transforms and PCA as forms of data compression. It does not have any pages for "</a:t>
            </a:r>
            <a:r>
              <a:rPr lang="en-US"/>
              <a:t>numerosity</a:t>
            </a:r>
            <a:r>
              <a:rPr lang="en-US"/>
              <a:t> reduction". We claim there are many different ways to organize data reduction strategies, which is true, so this presentation below should be OK. Let’s discuss.</a:t>
            </a:r>
            <a:endParaRPr/>
          </a:p>
          <a:p>
            <a:pPr>
              <a:defRPr/>
            </a:pPr>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4177470"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C3F67201-8130-4B5D-9604-093023B6CBBD}" type="slidenum">
              <a:rPr lang="en-US" sz="1200">
                <a:latin typeface="Times New Roman"/>
              </a:rPr>
              <a:t>89</a:t>
            </a:fld>
            <a:endParaRPr lang="en-US" sz="1200">
              <a:latin typeface="Times New Roman"/>
            </a:endParaRPr>
          </a:p>
        </p:txBody>
      </p:sp>
      <p:sp>
        <p:nvSpPr>
          <p:cNvPr id="897855309" name="Rectangle 2"/>
          <p:cNvSpPr>
            <a:spLocks noChangeArrowheads="1" noChangeAspect="1" noGrp="1" noRot="1" noTextEdit="1"/>
          </p:cNvSpPr>
          <p:nvPr>
            <p:ph type="sldImg"/>
          </p:nvPr>
        </p:nvSpPr>
        <p:spPr bwMode="auto">
          <a:ln/>
        </p:spPr>
      </p:sp>
      <p:sp>
        <p:nvSpPr>
          <p:cNvPr id="123981629"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96895189"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86A3D4F7-439C-4F32-ABC6-03DB07EEA4C8}" type="slidenum">
              <a:rPr lang="en-US" sz="1200">
                <a:latin typeface="Times New Roman"/>
              </a:rPr>
              <a:t>90</a:t>
            </a:fld>
            <a:endParaRPr lang="en-US" sz="1200">
              <a:latin typeface="Times New Roman"/>
            </a:endParaRPr>
          </a:p>
        </p:txBody>
      </p:sp>
      <p:sp>
        <p:nvSpPr>
          <p:cNvPr id="1922973564" name="Rectangle 2"/>
          <p:cNvSpPr>
            <a:spLocks noChangeArrowheads="1" noChangeAspect="1" noGrp="1" noRot="1" noTextEdit="1"/>
          </p:cNvSpPr>
          <p:nvPr>
            <p:ph type="sldImg"/>
          </p:nvPr>
        </p:nvSpPr>
        <p:spPr bwMode="auto">
          <a:xfrm>
            <a:off x="342900" y="696913"/>
            <a:ext cx="6197600" cy="3486150"/>
          </a:xfrm>
          <a:ln/>
        </p:spPr>
      </p:sp>
      <p:sp>
        <p:nvSpPr>
          <p:cNvPr id="1877626495"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67246567"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8759DDE6-AEFA-4F4A-88C7-649A3386C19F}" type="slidenum">
              <a:rPr lang="en-US" sz="1200">
                <a:latin typeface="Times New Roman"/>
              </a:rPr>
              <a:t>91</a:t>
            </a:fld>
            <a:endParaRPr lang="en-US" sz="1200">
              <a:latin typeface="Times New Roman"/>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4231379"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8759DDE6-AEFA-4F4A-88C7-649A3386C19F}" type="slidenum">
              <a:rPr lang="en-US" sz="1200">
                <a:latin typeface="Times New Roman"/>
              </a:rPr>
              <a:t>92</a:t>
            </a:fld>
            <a:endParaRPr lang="en-US" sz="1200">
              <a:latin typeface="Times New Roman"/>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4800013"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56C1ED0B-C9A9-4CFD-800B-C8936A698F6F}" type="slidenum">
              <a:rPr lang="en-US" sz="1200">
                <a:latin typeface="Times New Roman"/>
              </a:rPr>
              <a:t>93</a:t>
            </a:fld>
            <a:endParaRPr lang="en-US" sz="1200">
              <a:latin typeface="Times New Roman"/>
            </a:endParaRPr>
          </a:p>
        </p:txBody>
      </p:sp>
      <p:sp>
        <p:nvSpPr>
          <p:cNvPr id="16305862" name="Rectangle 2"/>
          <p:cNvSpPr>
            <a:spLocks noChangeArrowheads="1" noChangeAspect="1" noGrp="1" noRot="1" noTextEdit="1"/>
          </p:cNvSpPr>
          <p:nvPr>
            <p:ph type="sldImg"/>
          </p:nvPr>
        </p:nvSpPr>
        <p:spPr bwMode="auto">
          <a:ln/>
        </p:spPr>
      </p:sp>
      <p:sp>
        <p:nvSpPr>
          <p:cNvPr id="862544562" name="Rectangle 3"/>
          <p:cNvSpPr>
            <a:spLocks noChangeArrowheads="1" noGrp="1"/>
          </p:cNvSpPr>
          <p:nvPr>
            <p:ph type="body" idx="1"/>
          </p:nvPr>
        </p:nvSpPr>
        <p:spPr bwMode="auto">
          <a:prstGeom prst="rect">
            <a:avLst/>
          </a:prstGeom>
          <a:noFill/>
          <a:ln/>
        </p:spPr>
        <p:txBody>
          <a:bodyPr/>
          <a:lstStyle/>
          <a:p>
            <a:pPr>
              <a:defRPr/>
            </a:pPr>
            <a:r>
              <a:rPr lang="en-US"/>
              <a:t>Removed 09/09/10: V-optimal: with the least </a:t>
            </a:r>
            <a:r>
              <a:rPr lang="en-US" i="1"/>
              <a:t>histogram variance</a:t>
            </a:r>
            <a:r>
              <a:rPr lang="en-US"/>
              <a:t> (weighted sum of the original values that each bucket represents)</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38273757"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FBBC1FE1-7884-48B1-8941-455F84666BB1}" type="slidenum">
              <a:rPr lang="en-US" sz="1200">
                <a:latin typeface="Times New Roman"/>
              </a:rPr>
              <a:t>94</a:t>
            </a:fld>
            <a:endParaRPr lang="en-US" sz="1200">
              <a:latin typeface="Times New Roman"/>
            </a:endParaRPr>
          </a:p>
        </p:txBody>
      </p:sp>
      <p:sp>
        <p:nvSpPr>
          <p:cNvPr id="1753939199" name="Rectangle 2"/>
          <p:cNvSpPr>
            <a:spLocks noChangeArrowheads="1" noChangeAspect="1" noGrp="1" noRot="1" noTextEdit="1"/>
          </p:cNvSpPr>
          <p:nvPr>
            <p:ph type="sldImg"/>
          </p:nvPr>
        </p:nvSpPr>
        <p:spPr bwMode="auto">
          <a:ln/>
        </p:spPr>
      </p:sp>
      <p:sp>
        <p:nvSpPr>
          <p:cNvPr id="876659723"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37761551" name="Rectangle 7"/>
          <p:cNvSpPr>
            <a:spLocks noChangeArrowheads="1" noGrp="1"/>
          </p:cNvSpPr>
          <p:nvPr>
            <p:ph type="sldNum" sz="quarter" idx="5"/>
          </p:nvPr>
        </p:nvSpPr>
        <p:spPr bwMode="auto">
          <a:prstGeom prst="rect">
            <a:avLst/>
          </a:prstGeom>
          <a:noFill/>
          <a:ln/>
        </p:spPr>
        <p:txBody>
          <a:bodyPr/>
          <a:lstStyle>
            <a:lvl1pPr defTabSz="931863">
              <a:defRPr sz="2800">
                <a:solidFill>
                  <a:schemeClr val="tx1"/>
                </a:solidFill>
                <a:latin typeface="Tahoma"/>
              </a:defRPr>
            </a:lvl1pPr>
            <a:lvl2pPr marL="742950" indent="-285750" defTabSz="931863">
              <a:defRPr sz="2800">
                <a:solidFill>
                  <a:schemeClr val="tx1"/>
                </a:solidFill>
                <a:latin typeface="Tahoma"/>
              </a:defRPr>
            </a:lvl2pPr>
            <a:lvl3pPr marL="1143000" indent="-228600" defTabSz="931863">
              <a:defRPr sz="2800">
                <a:solidFill>
                  <a:schemeClr val="tx1"/>
                </a:solidFill>
                <a:latin typeface="Tahoma"/>
              </a:defRPr>
            </a:lvl3pPr>
            <a:lvl4pPr marL="1600200" indent="-228600" defTabSz="931863">
              <a:defRPr sz="2800">
                <a:solidFill>
                  <a:schemeClr val="tx1"/>
                </a:solidFill>
                <a:latin typeface="Tahoma"/>
              </a:defRPr>
            </a:lvl4pPr>
            <a:lvl5pPr marL="2057400" indent="-228600" defTabSz="931863">
              <a:defRPr sz="2800">
                <a:solidFill>
                  <a:schemeClr val="tx1"/>
                </a:solidFill>
                <a:latin typeface="Tahoma"/>
              </a:defRPr>
            </a:lvl5pPr>
            <a:lvl6pPr marL="2514600" indent="-228600" defTabSz="931863">
              <a:spcBef>
                <a:spcPts val="0"/>
              </a:spcBef>
              <a:spcAft>
                <a:spcPts val="0"/>
              </a:spcAft>
              <a:defRPr sz="2800">
                <a:solidFill>
                  <a:schemeClr val="tx1"/>
                </a:solidFill>
                <a:latin typeface="Tahoma"/>
              </a:defRPr>
            </a:lvl6pPr>
            <a:lvl7pPr marL="2971800" indent="-228600" defTabSz="931863">
              <a:spcBef>
                <a:spcPts val="0"/>
              </a:spcBef>
              <a:spcAft>
                <a:spcPts val="0"/>
              </a:spcAft>
              <a:defRPr sz="2800">
                <a:solidFill>
                  <a:schemeClr val="tx1"/>
                </a:solidFill>
                <a:latin typeface="Tahoma"/>
              </a:defRPr>
            </a:lvl7pPr>
            <a:lvl8pPr marL="3429000" indent="-228600" defTabSz="931863">
              <a:spcBef>
                <a:spcPts val="0"/>
              </a:spcBef>
              <a:spcAft>
                <a:spcPts val="0"/>
              </a:spcAft>
              <a:defRPr sz="2800">
                <a:solidFill>
                  <a:schemeClr val="tx1"/>
                </a:solidFill>
                <a:latin typeface="Tahoma"/>
              </a:defRPr>
            </a:lvl8pPr>
            <a:lvl9pPr marL="3886200" indent="-228600" defTabSz="931863">
              <a:spcBef>
                <a:spcPts val="0"/>
              </a:spcBef>
              <a:spcAft>
                <a:spcPts val="0"/>
              </a:spcAft>
              <a:defRPr sz="2800">
                <a:solidFill>
                  <a:schemeClr val="tx1"/>
                </a:solidFill>
                <a:latin typeface="Tahoma"/>
              </a:defRPr>
            </a:lvl9pPr>
          </a:lstStyle>
          <a:p>
            <a:pPr>
              <a:defRPr/>
            </a:pPr>
            <a:fld id="{29BE47E6-A684-41E8-A8D2-AEB21EE26F6A}" type="slidenum">
              <a:rPr lang="en-US" sz="1200">
                <a:solidFill>
                  <a:prstClr val="black"/>
                </a:solidFill>
              </a:rPr>
              <a:t>95</a:t>
            </a:fld>
            <a:endParaRPr lang="en-US" sz="1200">
              <a:solidFill>
                <a:prstClr val="black"/>
              </a:solidFill>
            </a:endParaRPr>
          </a:p>
        </p:txBody>
      </p:sp>
      <p:sp>
        <p:nvSpPr>
          <p:cNvPr id="1386351203" name="Rectangle 2"/>
          <p:cNvSpPr>
            <a:spLocks noChangeArrowheads="1" noChangeAspect="1" noGrp="1" noRot="1" noTextEdit="1"/>
          </p:cNvSpPr>
          <p:nvPr>
            <p:ph type="sldImg"/>
          </p:nvPr>
        </p:nvSpPr>
        <p:spPr bwMode="auto">
          <a:ln/>
        </p:spPr>
      </p:sp>
      <p:sp>
        <p:nvSpPr>
          <p:cNvPr id="1808943758" name="Rectangle 3"/>
          <p:cNvSpPr>
            <a:spLocks noChangeArrowheads="1" noGrp="1"/>
          </p:cNvSpPr>
          <p:nvPr>
            <p:ph type="body" idx="1"/>
          </p:nvPr>
        </p:nvSpPr>
        <p:spPr bwMode="auto">
          <a:prstGeom prst="rect">
            <a:avLst/>
          </a:prstGeom>
          <a:noFill/>
          <a:ln/>
        </p:spPr>
        <p:txBody>
          <a:bodyPr/>
          <a:lstStyle/>
          <a:p>
            <a:pPr>
              <a:defRPr/>
            </a:pPr>
            <a:endParaRPr lang="en-US" b="1"/>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1058321" name="Rectangle 7"/>
          <p:cNvSpPr txBox="1">
            <a:spLocks noChangeArrowheads="1" noGrp="1"/>
          </p:cNvSpPr>
          <p:nvPr/>
        </p:nvSpPr>
        <p:spPr bwMode="auto">
          <a:xfrm>
            <a:off x="3898900" y="8831263"/>
            <a:ext cx="2982913" cy="465137"/>
          </a:xfrm>
          <a:prstGeom prst="rect">
            <a:avLst/>
          </a:prstGeom>
          <a:noFill/>
          <a:ln>
            <a:noFill/>
          </a:ln>
        </p:spPr>
        <p:txBody>
          <a:bodyPr lIns="93170" tIns="46586" rIns="93170" bIns="46586" anchor="b"/>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lgn="r">
              <a:defRPr/>
            </a:pPr>
            <a:fld id="{3EDE211A-A128-42B9-97E1-1A6A09CA262A}" type="slidenum">
              <a:rPr lang="en-US" sz="1200">
                <a:latin typeface="Times New Roman"/>
              </a:rPr>
              <a:t>96</a:t>
            </a:fld>
            <a:endParaRPr lang="en-US" sz="1200">
              <a:latin typeface="Times New Roman"/>
            </a:endParaRPr>
          </a:p>
        </p:txBody>
      </p:sp>
      <p:sp>
        <p:nvSpPr>
          <p:cNvPr id="1583699649" name="Rectangle 2"/>
          <p:cNvSpPr>
            <a:spLocks noChangeArrowheads="1" noChangeAspect="1" noGrp="1" noRot="1" noTextEdit="1"/>
          </p:cNvSpPr>
          <p:nvPr>
            <p:ph type="sldImg"/>
          </p:nvPr>
        </p:nvSpPr>
        <p:spPr bwMode="auto">
          <a:ln/>
        </p:spPr>
      </p:sp>
      <p:sp>
        <p:nvSpPr>
          <p:cNvPr id="1312544108" name="Rectangle 3"/>
          <p:cNvSpPr>
            <a:spLocks noChangeArrowheads="1" noGrp="1"/>
          </p:cNvSpPr>
          <p:nvPr>
            <p:ph type="body" idx="1"/>
          </p:nvPr>
        </p:nvSpPr>
        <p:spPr bwMode="auto">
          <a:prstGeom prst="rect">
            <a:avLst/>
          </a:prstGeom>
          <a:noFill/>
          <a:ln/>
        </p:spPr>
        <p:txBody>
          <a:bodyPr/>
          <a:lstStyle/>
          <a:p>
            <a:pPr>
              <a:defRPr/>
            </a:pPr>
            <a:r>
              <a:rPr lang="en-US" b="1"/>
              <a:t>JH: put SVD at clustering high-D reduction.</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0513099" name="Rectangle 7"/>
          <p:cNvSpPr txBox="1">
            <a:spLocks noChangeArrowheads="1" noGrp="1"/>
          </p:cNvSpPr>
          <p:nvPr/>
        </p:nvSpPr>
        <p:spPr bwMode="auto">
          <a:xfrm>
            <a:off x="3898900" y="8831263"/>
            <a:ext cx="2982913" cy="465137"/>
          </a:xfrm>
          <a:prstGeom prst="rect">
            <a:avLst/>
          </a:prstGeom>
          <a:noFill/>
          <a:ln>
            <a:noFill/>
          </a:ln>
        </p:spPr>
        <p:txBody>
          <a:bodyPr lIns="93170" tIns="46586" rIns="93170" bIns="46586" anchor="b"/>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lgn="r">
              <a:defRPr/>
            </a:pPr>
            <a:fld id="{3EDE211A-A128-42B9-97E1-1A6A09CA262A}" type="slidenum">
              <a:rPr lang="en-US" sz="1200">
                <a:latin typeface="Times New Roman"/>
              </a:rPr>
              <a:t>97</a:t>
            </a:fld>
            <a:endParaRPr lang="en-US" sz="1200">
              <a:latin typeface="Times New Roman"/>
            </a:endParaRPr>
          </a:p>
        </p:txBody>
      </p:sp>
      <p:sp>
        <p:nvSpPr>
          <p:cNvPr id="1613966225" name="Rectangle 2"/>
          <p:cNvSpPr>
            <a:spLocks noChangeArrowheads="1" noChangeAspect="1" noGrp="1" noRot="1" noTextEdit="1"/>
          </p:cNvSpPr>
          <p:nvPr>
            <p:ph type="sldImg"/>
          </p:nvPr>
        </p:nvSpPr>
        <p:spPr bwMode="auto">
          <a:ln/>
        </p:spPr>
      </p:sp>
      <p:sp>
        <p:nvSpPr>
          <p:cNvPr id="1038623883" name="Rectangle 3"/>
          <p:cNvSpPr>
            <a:spLocks noChangeArrowheads="1" noGrp="1"/>
          </p:cNvSpPr>
          <p:nvPr>
            <p:ph type="body" idx="1"/>
          </p:nvPr>
        </p:nvSpPr>
        <p:spPr bwMode="auto">
          <a:prstGeom prst="rect">
            <a:avLst/>
          </a:prstGeom>
          <a:noFill/>
          <a:ln/>
        </p:spPr>
        <p:txBody>
          <a:bodyPr/>
          <a:lstStyle/>
          <a:p>
            <a:pPr>
              <a:defRPr/>
            </a:pPr>
            <a:r>
              <a:rPr lang="en-US" b="1"/>
              <a:t>JH: put SVD at clustering high-D reduction.</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8204972"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C7D61654-4A93-4D79-B9F4-A9ADF36C014E}" type="slidenum">
              <a:rPr lang="en-US" sz="1200">
                <a:latin typeface="Times New Roman"/>
              </a:rPr>
              <a:t>98</a:t>
            </a:fld>
            <a:endParaRPr lang="en-US" sz="1200">
              <a:latin typeface="Times New Roman"/>
            </a:endParaRPr>
          </a:p>
        </p:txBody>
      </p:sp>
      <p:sp>
        <p:nvSpPr>
          <p:cNvPr id="1239812897" name="Rectangle 2"/>
          <p:cNvSpPr>
            <a:spLocks noChangeArrowheads="1" noChangeAspect="1" noGrp="1" noRot="1" noTextEdit="1"/>
          </p:cNvSpPr>
          <p:nvPr>
            <p:ph type="sldImg"/>
          </p:nvPr>
        </p:nvSpPr>
        <p:spPr bwMode="auto">
          <a:ln/>
        </p:spPr>
      </p:sp>
      <p:sp>
        <p:nvSpPr>
          <p:cNvPr id="1039807210"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4689656"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C90C16A1-ECF4-43AB-93EE-C812D0FE0C28}" type="slidenum">
              <a:rPr lang="en-US" sz="1200">
                <a:latin typeface="Times New Roman"/>
              </a:rPr>
              <a:t>99</a:t>
            </a:fld>
            <a:endParaRPr lang="en-US" sz="1200">
              <a:latin typeface="Times New Roman"/>
            </a:endParaRPr>
          </a:p>
        </p:txBody>
      </p:sp>
      <p:sp>
        <p:nvSpPr>
          <p:cNvPr id="266737149" name="Rectangle 2"/>
          <p:cNvSpPr>
            <a:spLocks noChangeArrowheads="1" noChangeAspect="1" noGrp="1" noRot="1" noTextEdit="1"/>
          </p:cNvSpPr>
          <p:nvPr>
            <p:ph type="sldImg"/>
          </p:nvPr>
        </p:nvSpPr>
        <p:spPr bwMode="auto">
          <a:ln/>
        </p:spPr>
      </p:sp>
      <p:sp>
        <p:nvSpPr>
          <p:cNvPr id="1608039746"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7155180"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6620224F-3801-4DDC-954F-82C755A5A92E}" type="slidenum">
              <a:rPr lang="en-US" sz="1200">
                <a:latin typeface="Times New Roman"/>
              </a:rPr>
              <a:t>100</a:t>
            </a:fld>
            <a:endParaRPr lang="en-US" sz="1200">
              <a:latin typeface="Times New Roman"/>
            </a:endParaRPr>
          </a:p>
        </p:txBody>
      </p:sp>
      <p:sp>
        <p:nvSpPr>
          <p:cNvPr id="905857877" name="Rectangle 2"/>
          <p:cNvSpPr>
            <a:spLocks noChangeArrowheads="1" noChangeAspect="1" noGrp="1" noRot="1" noTextEdit="1"/>
          </p:cNvSpPr>
          <p:nvPr>
            <p:ph type="sldImg"/>
          </p:nvPr>
        </p:nvSpPr>
        <p:spPr bwMode="auto">
          <a:xfrm>
            <a:off x="346075" y="698500"/>
            <a:ext cx="6192837" cy="3484563"/>
          </a:xfrm>
          <a:ln/>
        </p:spPr>
      </p:sp>
      <p:sp>
        <p:nvSpPr>
          <p:cNvPr id="200732551" name="Rectangle 3"/>
          <p:cNvSpPr>
            <a:spLocks noChangeArrowheads="1" noGrp="1"/>
          </p:cNvSpPr>
          <p:nvPr>
            <p:ph type="body" idx="1"/>
          </p:nvPr>
        </p:nvSpPr>
        <p:spPr bwMode="auto">
          <a:xfrm>
            <a:off x="917575" y="4414838"/>
            <a:ext cx="5046663" cy="4183062"/>
          </a:xfrm>
          <a:prstGeom prst="rect">
            <a:avLst/>
          </a:prstGeom>
          <a:noFill/>
          <a:ln/>
        </p:spPr>
        <p:txBody>
          <a:bodyPr lIns="90747" tIns="45373" rIns="90747" bIns="45373"/>
          <a:lstStyle/>
          <a:p>
            <a:pPr>
              <a:defRPr/>
            </a:pPr>
            <a:endParaRPr 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51962240" name="Rectangle 7"/>
          <p:cNvSpPr>
            <a:spLocks noChangeArrowheads="1" noGrp="1"/>
          </p:cNvSpPr>
          <p:nvPr>
            <p:ph type="sldNum" sz="quarter" idx="5"/>
          </p:nvPr>
        </p:nvSpPr>
        <p:spPr bwMode="auto">
          <a:prstGeom prst="rect">
            <a:avLst/>
          </a:prstGeom>
          <a:noFill/>
          <a:ln/>
        </p:spPr>
        <p:txBody>
          <a:bodyPr/>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defRPr/>
            </a:pPr>
            <a:fld id="{A2F609C4-178D-4C1E-91DE-6CE5DF2FFD3C}" type="slidenum">
              <a:rPr lang="en-US" sz="1200">
                <a:latin typeface="Times New Roman"/>
              </a:rPr>
              <a:t>101</a:t>
            </a:fld>
            <a:endParaRPr lang="en-US" sz="1200">
              <a:latin typeface="Times New Roman"/>
            </a:endParaRPr>
          </a:p>
        </p:txBody>
      </p:sp>
      <p:sp>
        <p:nvSpPr>
          <p:cNvPr id="353311657" name="Rectangle 2"/>
          <p:cNvSpPr>
            <a:spLocks noChangeArrowheads="1" noChangeAspect="1" noGrp="1" noRot="1" noTextEdit="1"/>
          </p:cNvSpPr>
          <p:nvPr>
            <p:ph type="sldImg"/>
          </p:nvPr>
        </p:nvSpPr>
        <p:spPr bwMode="auto">
          <a:ln/>
        </p:spPr>
      </p:sp>
      <p:sp>
        <p:nvSpPr>
          <p:cNvPr id="1765587829" name="Rectangle 3"/>
          <p:cNvSpPr>
            <a:spLocks noChangeArrowheads="1" noGrp="1"/>
          </p:cNvSpPr>
          <p:nvPr>
            <p:ph type="body" idx="1"/>
          </p:nvPr>
        </p:nvSpPr>
        <p:spPr bwMode="auto">
          <a:prstGeom prst="rect">
            <a:avLst/>
          </a:prstGeom>
          <a:noFill/>
          <a:ln/>
        </p:spPr>
        <p:txBody>
          <a:bodyPr/>
          <a:lstStyle/>
          <a:p>
            <a:pPr>
              <a:defRPr/>
            </a:pPr>
            <a:endParaRPr 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68823922" name="Rectangle 7"/>
          <p:cNvSpPr txBox="1">
            <a:spLocks noChangeArrowheads="1" noGrp="1"/>
          </p:cNvSpPr>
          <p:nvPr/>
        </p:nvSpPr>
        <p:spPr bwMode="auto">
          <a:xfrm>
            <a:off x="3898900" y="8831263"/>
            <a:ext cx="2982913" cy="465137"/>
          </a:xfrm>
          <a:prstGeom prst="rect">
            <a:avLst/>
          </a:prstGeom>
          <a:noFill/>
          <a:ln>
            <a:noFill/>
          </a:ln>
        </p:spPr>
        <p:txBody>
          <a:bodyPr lIns="93170" tIns="46586" rIns="93170" bIns="46586" anchor="b"/>
          <a:lstStyle>
            <a:lvl1pPr defTabSz="931863">
              <a:defRPr sz="2400">
                <a:solidFill>
                  <a:schemeClr val="tx1"/>
                </a:solidFill>
                <a:latin typeface="Tahoma"/>
              </a:defRPr>
            </a:lvl1pPr>
            <a:lvl2pPr marL="742950" indent="-285750" defTabSz="931863">
              <a:defRPr sz="2400">
                <a:solidFill>
                  <a:schemeClr val="tx1"/>
                </a:solidFill>
                <a:latin typeface="Tahoma"/>
              </a:defRPr>
            </a:lvl2pPr>
            <a:lvl3pPr marL="1143000" indent="-228600" defTabSz="931863">
              <a:defRPr sz="2400">
                <a:solidFill>
                  <a:schemeClr val="tx1"/>
                </a:solidFill>
                <a:latin typeface="Tahoma"/>
              </a:defRPr>
            </a:lvl3pPr>
            <a:lvl4pPr marL="1600200" indent="-228600" defTabSz="931863">
              <a:defRPr sz="2400">
                <a:solidFill>
                  <a:schemeClr val="tx1"/>
                </a:solidFill>
                <a:latin typeface="Tahoma"/>
              </a:defRPr>
            </a:lvl4pPr>
            <a:lvl5pPr marL="2057400" indent="-228600" defTabSz="931863">
              <a:defRPr sz="2400">
                <a:solidFill>
                  <a:schemeClr val="tx1"/>
                </a:solidFill>
                <a:latin typeface="Tahoma"/>
              </a:defRPr>
            </a:lvl5pPr>
            <a:lvl6pPr marL="2514600" indent="-228600" defTabSz="931863">
              <a:spcBef>
                <a:spcPts val="0"/>
              </a:spcBef>
              <a:spcAft>
                <a:spcPts val="0"/>
              </a:spcAft>
              <a:defRPr sz="2400">
                <a:solidFill>
                  <a:schemeClr val="tx1"/>
                </a:solidFill>
                <a:latin typeface="Tahoma"/>
              </a:defRPr>
            </a:lvl6pPr>
            <a:lvl7pPr marL="2971800" indent="-228600" defTabSz="931863">
              <a:spcBef>
                <a:spcPts val="0"/>
              </a:spcBef>
              <a:spcAft>
                <a:spcPts val="0"/>
              </a:spcAft>
              <a:defRPr sz="2400">
                <a:solidFill>
                  <a:schemeClr val="tx1"/>
                </a:solidFill>
                <a:latin typeface="Tahoma"/>
              </a:defRPr>
            </a:lvl7pPr>
            <a:lvl8pPr marL="3429000" indent="-228600" defTabSz="931863">
              <a:spcBef>
                <a:spcPts val="0"/>
              </a:spcBef>
              <a:spcAft>
                <a:spcPts val="0"/>
              </a:spcAft>
              <a:defRPr sz="2400">
                <a:solidFill>
                  <a:schemeClr val="tx1"/>
                </a:solidFill>
                <a:latin typeface="Tahoma"/>
              </a:defRPr>
            </a:lvl8pPr>
            <a:lvl9pPr marL="3886200" indent="-228600" defTabSz="931863">
              <a:spcBef>
                <a:spcPts val="0"/>
              </a:spcBef>
              <a:spcAft>
                <a:spcPts val="0"/>
              </a:spcAft>
              <a:defRPr sz="2400">
                <a:solidFill>
                  <a:schemeClr val="tx1"/>
                </a:solidFill>
                <a:latin typeface="Tahoma"/>
              </a:defRPr>
            </a:lvl9pPr>
          </a:lstStyle>
          <a:p>
            <a:pPr algn="r">
              <a:defRPr/>
            </a:pPr>
            <a:fld id="{DCCC807E-A950-4409-BEFB-19DEF03F3280}" type="slidenum">
              <a:rPr lang="en-US" sz="1200">
                <a:latin typeface="Times New Roman"/>
              </a:rPr>
              <a:t>102</a:t>
            </a:fld>
            <a:endParaRPr lang="en-US" sz="1200">
              <a:latin typeface="Times New Roman"/>
            </a:endParaRPr>
          </a:p>
        </p:txBody>
      </p:sp>
      <p:sp>
        <p:nvSpPr>
          <p:cNvPr id="980479909" name="Rectangle 2"/>
          <p:cNvSpPr>
            <a:spLocks noChangeArrowheads="1" noChangeAspect="1" noGrp="1" noRot="1" noTextEdit="1"/>
          </p:cNvSpPr>
          <p:nvPr>
            <p:ph type="sldImg"/>
          </p:nvPr>
        </p:nvSpPr>
        <p:spPr bwMode="auto">
          <a:xfrm>
            <a:off x="357188" y="704850"/>
            <a:ext cx="6172200" cy="3471863"/>
          </a:xfrm>
          <a:ln/>
        </p:spPr>
      </p:sp>
      <p:sp>
        <p:nvSpPr>
          <p:cNvPr id="1710812397" name="Rectangle 3"/>
          <p:cNvSpPr>
            <a:spLocks noChangeArrowheads="1" noGrp="1"/>
          </p:cNvSpPr>
          <p:nvPr>
            <p:ph type="body" idx="1"/>
          </p:nvPr>
        </p:nvSpPr>
        <p:spPr bwMode="auto">
          <a:xfrm>
            <a:off x="915988" y="4416425"/>
            <a:ext cx="5048250" cy="4179888"/>
          </a:xfrm>
          <a:prstGeom prst="rect">
            <a:avLst/>
          </a:prstGeom>
          <a:noFill/>
          <a:ln/>
        </p:spPr>
        <p:txBody>
          <a:bodyPr/>
          <a:lstStyle/>
          <a:p>
            <a:pPr>
              <a:defRPr/>
            </a:pPr>
            <a:endParaRPr 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9434579" name="Slide Image Placeholder 1"/>
          <p:cNvSpPr>
            <a:spLocks noChangeAspect="1" noGrp="1" noRot="1"/>
          </p:cNvSpPr>
          <p:nvPr>
            <p:ph type="sldImg"/>
          </p:nvPr>
        </p:nvSpPr>
        <p:spPr bwMode="auto"/>
      </p:sp>
      <p:sp>
        <p:nvSpPr>
          <p:cNvPr id="882803337" name="Notes Placeholder 2"/>
          <p:cNvSpPr>
            <a:spLocks noGrp="1"/>
          </p:cNvSpPr>
          <p:nvPr>
            <p:ph type="body" idx="1"/>
          </p:nvPr>
        </p:nvSpPr>
        <p:spPr bwMode="auto"/>
        <p:txBody>
          <a:bodyPr/>
          <a:lstStyle/>
          <a:p>
            <a:pPr>
              <a:defRPr/>
            </a:pPr>
            <a:endParaRPr lang="en-US"/>
          </a:p>
        </p:txBody>
      </p:sp>
      <p:sp>
        <p:nvSpPr>
          <p:cNvPr id="1975463881" name="Slide Number Placeholder 3"/>
          <p:cNvSpPr>
            <a:spLocks noGrp="1"/>
          </p:cNvSpPr>
          <p:nvPr>
            <p:ph type="sldNum" sz="quarter" idx="5"/>
          </p:nvPr>
        </p:nvSpPr>
        <p:spPr bwMode="auto"/>
        <p:txBody>
          <a:bodyPr/>
          <a:lstStyle/>
          <a:p>
            <a:pPr>
              <a:defRPr/>
            </a:pPr>
            <a:fld id="{A6F8110F-5CB8-4B7A-89C2-96B671E6053B}" type="slidenum">
              <a:rPr lang="en-US"/>
              <a:t>103</a:t>
            </a:fld>
            <a:endParaRPr 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36832005" name="Slide Image Placeholder 1"/>
          <p:cNvSpPr>
            <a:spLocks noChangeAspect="1" noGrp="1" noRot="1"/>
          </p:cNvSpPr>
          <p:nvPr>
            <p:ph type="sldImg"/>
          </p:nvPr>
        </p:nvSpPr>
        <p:spPr bwMode="auto"/>
      </p:sp>
      <p:sp>
        <p:nvSpPr>
          <p:cNvPr id="764525380" name="Notes Placeholder 2"/>
          <p:cNvSpPr>
            <a:spLocks noGrp="1"/>
          </p:cNvSpPr>
          <p:nvPr>
            <p:ph type="body" idx="1"/>
          </p:nvPr>
        </p:nvSpPr>
        <p:spPr bwMode="auto"/>
        <p:txBody>
          <a:bodyPr/>
          <a:lstStyle/>
          <a:p>
            <a:pPr>
              <a:defRPr/>
            </a:pPr>
            <a:endParaRPr lang="en-US"/>
          </a:p>
        </p:txBody>
      </p:sp>
      <p:sp>
        <p:nvSpPr>
          <p:cNvPr id="1417992919" name="Slide Number Placeholder 3"/>
          <p:cNvSpPr>
            <a:spLocks noGrp="1"/>
          </p:cNvSpPr>
          <p:nvPr>
            <p:ph type="sldNum" sz="quarter" idx="5"/>
          </p:nvPr>
        </p:nvSpPr>
        <p:spPr bwMode="auto"/>
        <p:txBody>
          <a:bodyPr/>
          <a:lstStyle/>
          <a:p>
            <a:pPr>
              <a:defRPr/>
            </a:pPr>
            <a:fld id="{A6F8110F-5CB8-4B7A-89C2-96B671E6053B}" type="slidenum">
              <a:rPr lang="en-US"/>
              <a:t>104</a:t>
            </a:fld>
            <a:endParaRPr 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52539002" name="Slide Image Placeholder 1"/>
          <p:cNvSpPr>
            <a:spLocks noChangeAspect="1" noGrp="1" noRot="1"/>
          </p:cNvSpPr>
          <p:nvPr>
            <p:ph type="sldImg"/>
          </p:nvPr>
        </p:nvSpPr>
        <p:spPr bwMode="auto"/>
      </p:sp>
      <p:sp>
        <p:nvSpPr>
          <p:cNvPr id="1065542789" name="Notes Placeholder 2"/>
          <p:cNvSpPr>
            <a:spLocks noGrp="1"/>
          </p:cNvSpPr>
          <p:nvPr>
            <p:ph type="body" idx="1"/>
          </p:nvPr>
        </p:nvSpPr>
        <p:spPr bwMode="auto"/>
        <p:txBody>
          <a:bodyPr/>
          <a:lstStyle/>
          <a:p>
            <a:pPr>
              <a:defRPr/>
            </a:pPr>
            <a:endParaRPr lang="en-US"/>
          </a:p>
        </p:txBody>
      </p:sp>
      <p:sp>
        <p:nvSpPr>
          <p:cNvPr id="1751460364" name="Slide Number Placeholder 3"/>
          <p:cNvSpPr>
            <a:spLocks noGrp="1"/>
          </p:cNvSpPr>
          <p:nvPr>
            <p:ph type="sldNum" sz="quarter" idx="5"/>
          </p:nvPr>
        </p:nvSpPr>
        <p:spPr bwMode="auto"/>
        <p:txBody>
          <a:bodyPr/>
          <a:lstStyle/>
          <a:p>
            <a:pPr>
              <a:defRPr/>
            </a:pPr>
            <a:fld id="{A6F8110F-5CB8-4B7A-89C2-96B671E6053B}" type="slidenum">
              <a:rPr lang="en-US"/>
              <a:t>105</a:t>
            </a:fld>
            <a:endParaRPr 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3E8C713-BE5C-AC07-AAA0-4F0080116111}" type="slidenum">
              <a:rPr/>
              <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FE2549D-465F-9A57-01CC-1CDE65407FF5}" type="slidenum">
              <a:rPr/>
              <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26574250" name="Rectangle 7"/>
          <p:cNvSpPr>
            <a:spLocks noChangeArrowheads="1" noGrp="1"/>
          </p:cNvSpPr>
          <p:nvPr>
            <p:ph type="sldNum" sz="quarter" idx="5"/>
          </p:nvPr>
        </p:nvSpPr>
        <p:spPr bwMode="auto">
          <a:prstGeom prst="rect">
            <a:avLst/>
          </a:prstGeom>
          <a:noFill/>
          <a:ln/>
        </p:spPr>
        <p:txBody>
          <a:bodyPr/>
          <a:lstStyle>
            <a:lvl1pPr defTabSz="931863">
              <a:defRPr sz="2800">
                <a:solidFill>
                  <a:schemeClr val="tx1"/>
                </a:solidFill>
                <a:latin typeface="Tahoma"/>
              </a:defRPr>
            </a:lvl1pPr>
            <a:lvl2pPr marL="742950" indent="-285750" defTabSz="931863">
              <a:defRPr sz="2800">
                <a:solidFill>
                  <a:schemeClr val="tx1"/>
                </a:solidFill>
                <a:latin typeface="Tahoma"/>
              </a:defRPr>
            </a:lvl2pPr>
            <a:lvl3pPr marL="1143000" indent="-228600" defTabSz="931863">
              <a:defRPr sz="2800">
                <a:solidFill>
                  <a:schemeClr val="tx1"/>
                </a:solidFill>
                <a:latin typeface="Tahoma"/>
              </a:defRPr>
            </a:lvl3pPr>
            <a:lvl4pPr marL="1600200" indent="-228600" defTabSz="931863">
              <a:defRPr sz="2800">
                <a:solidFill>
                  <a:schemeClr val="tx1"/>
                </a:solidFill>
                <a:latin typeface="Tahoma"/>
              </a:defRPr>
            </a:lvl4pPr>
            <a:lvl5pPr marL="2057400" indent="-228600" defTabSz="931863">
              <a:defRPr sz="2800">
                <a:solidFill>
                  <a:schemeClr val="tx1"/>
                </a:solidFill>
                <a:latin typeface="Tahoma"/>
              </a:defRPr>
            </a:lvl5pPr>
            <a:lvl6pPr marL="2514600" indent="-228600" defTabSz="931863">
              <a:spcBef>
                <a:spcPts val="0"/>
              </a:spcBef>
              <a:spcAft>
                <a:spcPts val="0"/>
              </a:spcAft>
              <a:defRPr sz="2800">
                <a:solidFill>
                  <a:schemeClr val="tx1"/>
                </a:solidFill>
                <a:latin typeface="Tahoma"/>
              </a:defRPr>
            </a:lvl6pPr>
            <a:lvl7pPr marL="2971800" indent="-228600" defTabSz="931863">
              <a:spcBef>
                <a:spcPts val="0"/>
              </a:spcBef>
              <a:spcAft>
                <a:spcPts val="0"/>
              </a:spcAft>
              <a:defRPr sz="2800">
                <a:solidFill>
                  <a:schemeClr val="tx1"/>
                </a:solidFill>
                <a:latin typeface="Tahoma"/>
              </a:defRPr>
            </a:lvl7pPr>
            <a:lvl8pPr marL="3429000" indent="-228600" defTabSz="931863">
              <a:spcBef>
                <a:spcPts val="0"/>
              </a:spcBef>
              <a:spcAft>
                <a:spcPts val="0"/>
              </a:spcAft>
              <a:defRPr sz="2800">
                <a:solidFill>
                  <a:schemeClr val="tx1"/>
                </a:solidFill>
                <a:latin typeface="Tahoma"/>
              </a:defRPr>
            </a:lvl8pPr>
            <a:lvl9pPr marL="3886200" indent="-228600" defTabSz="931863">
              <a:spcBef>
                <a:spcPts val="0"/>
              </a:spcBef>
              <a:spcAft>
                <a:spcPts val="0"/>
              </a:spcAft>
              <a:defRPr sz="2800">
                <a:solidFill>
                  <a:schemeClr val="tx1"/>
                </a:solidFill>
                <a:latin typeface="Tahoma"/>
              </a:defRPr>
            </a:lvl9pPr>
          </a:lstStyle>
          <a:p>
            <a:pPr>
              <a:defRPr/>
            </a:pPr>
            <a:fld id="{12AE2494-E246-464F-AA19-05B4B0487F8D}" type="slidenum">
              <a:rPr lang="en-US" sz="1200"/>
              <a:t>108</a:t>
            </a:fld>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jp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Title Slide">
    <p:spTree>
      <p:nvGrpSpPr>
        <p:cNvPr id="1" name=""/>
        <p:cNvGrpSpPr/>
        <p:nvPr/>
      </p:nvGrpSpPr>
      <p:grpSpPr bwMode="auto">
        <a:xfrm>
          <a:off x="0" y="0"/>
          <a:ext cx="0" cy="0"/>
          <a:chOff x="0" y="0"/>
          <a:chExt cx="0" cy="0"/>
        </a:xfrm>
      </p:grpSpPr>
      <p:sp>
        <p:nvSpPr>
          <p:cNvPr id="1724894196" name="Title 1"/>
          <p:cNvSpPr>
            <a:spLocks noGrp="1"/>
          </p:cNvSpPr>
          <p:nvPr>
            <p:ph type="ctrTitle"/>
          </p:nvPr>
        </p:nvSpPr>
        <p:spPr bwMode="auto">
          <a:xfrm>
            <a:off x="444500" y="2343945"/>
            <a:ext cx="11303000" cy="1034256"/>
          </a:xfrm>
        </p:spPr>
        <p:txBody>
          <a:bodyPr anchor="b">
            <a:noAutofit/>
          </a:bodyPr>
          <a:lstStyle>
            <a:lvl1pPr algn="ctr">
              <a:lnSpc>
                <a:spcPct val="85000"/>
              </a:lnSpc>
              <a:defRPr sz="6600" spc="-51">
                <a:solidFill>
                  <a:schemeClr val="tx1"/>
                </a:solidFill>
              </a:defRPr>
            </a:lvl1pPr>
          </a:lstStyle>
          <a:p>
            <a:pPr>
              <a:defRPr/>
            </a:pPr>
            <a:r>
              <a:rPr lang="en-US"/>
              <a:t>Click to edit Master title style</a:t>
            </a:r>
            <a:endParaRPr/>
          </a:p>
        </p:txBody>
      </p:sp>
      <p:sp>
        <p:nvSpPr>
          <p:cNvPr id="574222222" name="Subtitle 2"/>
          <p:cNvSpPr>
            <a:spLocks noGrp="1"/>
          </p:cNvSpPr>
          <p:nvPr>
            <p:ph type="subTitle" idx="1" hasCustomPrompt="1"/>
          </p:nvPr>
        </p:nvSpPr>
        <p:spPr bwMode="auto">
          <a:xfrm>
            <a:off x="1095871" y="3529774"/>
            <a:ext cx="10058400" cy="782070"/>
          </a:xfrm>
        </p:spPr>
        <p:txBody>
          <a:bodyPr lIns="91436" rIns="91436">
            <a:normAutofit/>
          </a:bodyPr>
          <a:lstStyle>
            <a:lvl1pPr marL="0" indent="0" algn="ctr">
              <a:buNone/>
              <a:defRPr sz="2400" b="1" cap="none" spc="200">
                <a:solidFill>
                  <a:schemeClr val="tx1"/>
                </a:solidFill>
                <a:latin typeface="Berlin Sans FB Demi"/>
              </a:defRPr>
            </a:lvl1pPr>
            <a:lvl2pPr marL="457178" indent="0" algn="ctr">
              <a:buNone/>
              <a:defRPr sz="2400"/>
            </a:lvl2pPr>
            <a:lvl3pPr marL="914354" indent="0" algn="ctr">
              <a:buNone/>
              <a:defRPr sz="2400"/>
            </a:lvl3pPr>
            <a:lvl4pPr marL="1371532" indent="0" algn="ctr">
              <a:buNone/>
              <a:defRPr sz="2000"/>
            </a:lvl4pPr>
            <a:lvl5pPr marL="1828709" indent="0" algn="ctr">
              <a:buNone/>
              <a:defRPr sz="2000"/>
            </a:lvl5pPr>
            <a:lvl6pPr marL="2285886" indent="0" algn="ctr">
              <a:buNone/>
              <a:defRPr sz="2000"/>
            </a:lvl6pPr>
            <a:lvl7pPr marL="2743062" indent="0" algn="ctr">
              <a:buNone/>
              <a:defRPr sz="2000"/>
            </a:lvl7pPr>
            <a:lvl8pPr marL="3200240" indent="0" algn="ctr">
              <a:buNone/>
              <a:defRPr sz="2000"/>
            </a:lvl8pPr>
            <a:lvl9pPr marL="3657418" indent="0" algn="ctr">
              <a:buNone/>
              <a:defRPr sz="2000"/>
            </a:lvl9pPr>
          </a:lstStyle>
          <a:p>
            <a:pPr>
              <a:defRPr/>
            </a:pPr>
            <a:r>
              <a:rPr lang="en-US"/>
              <a:t>Click to edit master subtitle style</a:t>
            </a:r>
            <a:endParaRPr/>
          </a:p>
        </p:txBody>
      </p:sp>
      <p:pic>
        <p:nvPicPr>
          <p:cNvPr id="499291868" name="Picture 5"/>
          <p:cNvPicPr>
            <a:picLocks noChangeAspect="1"/>
          </p:cNvPicPr>
          <p:nvPr userDrawn="1"/>
        </p:nvPicPr>
        <p:blipFill rotWithShape="1">
          <a:blip r:embed="rId2"/>
          <a:stretch/>
        </p:blipFill>
        <p:spPr bwMode="auto">
          <a:xfrm>
            <a:off x="3018" y="0"/>
            <a:ext cx="12244106" cy="2281473"/>
          </a:xfrm>
          <a:prstGeom prst="rect">
            <a:avLst/>
          </a:prstGeom>
        </p:spPr>
      </p:pic>
      <p:pic>
        <p:nvPicPr>
          <p:cNvPr id="1847215569" name="Picture 6"/>
          <p:cNvPicPr>
            <a:picLocks noChangeAspect="1"/>
          </p:cNvPicPr>
          <p:nvPr userDrawn="1"/>
        </p:nvPicPr>
        <p:blipFill rotWithShape="1">
          <a:blip r:embed="rId3"/>
          <a:stretch/>
        </p:blipFill>
        <p:spPr bwMode="auto">
          <a:xfrm>
            <a:off x="3018" y="4463419"/>
            <a:ext cx="12192000" cy="239615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380961360" name="Title 1"/>
          <p:cNvSpPr>
            <a:spLocks noGrp="1"/>
          </p:cNvSpPr>
          <p:nvPr>
            <p:ph type="title"/>
          </p:nvPr>
        </p:nvSpPr>
        <p:spPr bwMode="auto">
          <a:xfrm>
            <a:off x="350985" y="221676"/>
            <a:ext cx="11369963" cy="738909"/>
          </a:xfrm>
        </p:spPr>
        <p:txBody>
          <a:bodyPr/>
          <a:lstStyle>
            <a:lvl1pPr marL="0">
              <a:defRPr/>
            </a:lvl1pPr>
          </a:lstStyle>
          <a:p>
            <a:pPr>
              <a:defRPr/>
            </a:pPr>
            <a:r>
              <a:rPr lang="en-US"/>
              <a:t>Click to edit Master title style</a:t>
            </a:r>
            <a:endParaRPr/>
          </a:p>
        </p:txBody>
      </p:sp>
      <p:sp>
        <p:nvSpPr>
          <p:cNvPr id="1399866924" name="Content Placeholder 2"/>
          <p:cNvSpPr>
            <a:spLocks noGrp="1"/>
          </p:cNvSpPr>
          <p:nvPr>
            <p:ph idx="1"/>
          </p:nvPr>
        </p:nvSpPr>
        <p:spPr bwMode="auto">
          <a:xfrm>
            <a:off x="350982" y="1219200"/>
            <a:ext cx="11406908" cy="5384800"/>
          </a:xfrm>
        </p:spPr>
        <p:txBody>
          <a:bodyPr/>
          <a:lstStyle>
            <a:lvl1pPr marL="461951" indent="-461951">
              <a:defRPr sz="2800"/>
            </a:lvl1pPr>
            <a:lvl2pPr marL="738170" indent="-538149">
              <a:defRPr sz="2800"/>
            </a:lvl2pPr>
            <a:lvl3pPr marL="858817" indent="-474651">
              <a:defRPr sz="2800"/>
            </a:lvl3pPr>
            <a:lvl4pPr marL="1144559" indent="-522275">
              <a:defRPr sz="2800"/>
            </a:lvl4pPr>
            <a:lvl5pPr marL="1376328" indent="-507987">
              <a:defRPr sz="2800"/>
            </a:lvl5pPr>
          </a:lstStyle>
          <a:p>
            <a:pPr lvl="0">
              <a:defRPr/>
            </a:pPr>
            <a:r>
              <a:rPr lang="en-US"/>
              <a:t>Click to edit Master text styles</a:t>
            </a:r>
            <a:endParaRPr/>
          </a:p>
          <a:p>
            <a:pPr lvl="1">
              <a:defRPr/>
            </a:pPr>
            <a:r>
              <a:rPr lang="en-US"/>
              <a:t>Second level</a:t>
            </a:r>
            <a:endParaRPr/>
          </a:p>
          <a:p>
            <a:pPr lvl="2">
              <a:defRPr/>
            </a:pPr>
            <a:r>
              <a:rPr lang="en-US"/>
              <a:t> Third level</a:t>
            </a:r>
            <a:endParaRPr/>
          </a:p>
          <a:p>
            <a:pPr lvl="3">
              <a:defRPr/>
            </a:pPr>
            <a:r>
              <a:rPr lang="en-US"/>
              <a:t> Fourth level</a:t>
            </a:r>
            <a:endParaRPr/>
          </a:p>
          <a:p>
            <a:pPr lvl="4">
              <a:defRPr/>
            </a:pPr>
            <a:r>
              <a:rPr lang="en-US"/>
              <a:t> Fifth level</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xAndObj" userDrawn="1">
  <p:cSld name="Title, Text, and Content">
    <p:spTree>
      <p:nvGrpSpPr>
        <p:cNvPr id="1" name=""/>
        <p:cNvGrpSpPr/>
        <p:nvPr/>
      </p:nvGrpSpPr>
      <p:grpSpPr bwMode="auto">
        <a:xfrm>
          <a:off x="0" y="0"/>
          <a:ext cx="0" cy="0"/>
          <a:chOff x="0" y="0"/>
          <a:chExt cx="0" cy="0"/>
        </a:xfrm>
      </p:grpSpPr>
      <p:sp>
        <p:nvSpPr>
          <p:cNvPr id="600594704" name="Title 1"/>
          <p:cNvSpPr>
            <a:spLocks noGrp="1"/>
          </p:cNvSpPr>
          <p:nvPr>
            <p:ph type="title"/>
          </p:nvPr>
        </p:nvSpPr>
        <p:spPr bwMode="auto">
          <a:xfrm>
            <a:off x="203200" y="304800"/>
            <a:ext cx="11684000" cy="609600"/>
          </a:xfrm>
        </p:spPr>
        <p:txBody>
          <a:bodyPr/>
          <a:lstStyle/>
          <a:p>
            <a:pPr>
              <a:defRPr/>
            </a:pPr>
            <a:r>
              <a:rPr lang="en-US"/>
              <a:t>Click to edit Master title style</a:t>
            </a:r>
            <a:endParaRPr/>
          </a:p>
        </p:txBody>
      </p:sp>
      <p:sp>
        <p:nvSpPr>
          <p:cNvPr id="488285839" name="Text Placeholder 2"/>
          <p:cNvSpPr>
            <a:spLocks noGrp="1"/>
          </p:cNvSpPr>
          <p:nvPr>
            <p:ph type="body" sz="half" idx="1"/>
          </p:nvPr>
        </p:nvSpPr>
        <p:spPr bwMode="auto">
          <a:xfrm>
            <a:off x="406400" y="1295400"/>
            <a:ext cx="5486400" cy="5181600"/>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811032975" name="Content Placeholder 3"/>
          <p:cNvSpPr>
            <a:spLocks noGrp="1"/>
          </p:cNvSpPr>
          <p:nvPr>
            <p:ph sz="half" idx="2"/>
          </p:nvPr>
        </p:nvSpPr>
        <p:spPr bwMode="auto">
          <a:xfrm>
            <a:off x="6096000" y="1295400"/>
            <a:ext cx="5486400" cy="5181600"/>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541314956" name="Rectangle 2061"/>
          <p:cNvSpPr>
            <a:spLocks noChangeArrowheads="1" noGrp="1"/>
          </p:cNvSpPr>
          <p:nvPr>
            <p:ph type="sldNum" sz="quarter" idx="10"/>
          </p:nvPr>
        </p:nvSpPr>
        <p:spPr bwMode="auto">
          <a:xfrm>
            <a:off x="9652000" y="6477000"/>
            <a:ext cx="2540000" cy="381000"/>
          </a:xfrm>
          <a:prstGeom prst="rect">
            <a:avLst/>
          </a:prstGeom>
          <a:ln/>
        </p:spPr>
        <p:txBody>
          <a:bodyPr/>
          <a:lstStyle>
            <a:lvl1pPr>
              <a:defRPr/>
            </a:lvl1pPr>
          </a:lstStyle>
          <a:p>
            <a:pPr>
              <a:defRPr/>
            </a:pPr>
            <a:fld id="{5D5C0945-3C12-41E7-B090-1D5BB38CB1A8}"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xAndTwoObj" userDrawn="1">
  <p:cSld name="Title, Text, and 2 Content">
    <p:spTree>
      <p:nvGrpSpPr>
        <p:cNvPr id="1" name=""/>
        <p:cNvGrpSpPr/>
        <p:nvPr/>
      </p:nvGrpSpPr>
      <p:grpSpPr bwMode="auto">
        <a:xfrm>
          <a:off x="0" y="0"/>
          <a:ext cx="0" cy="0"/>
          <a:chOff x="0" y="0"/>
          <a:chExt cx="0" cy="0"/>
        </a:xfrm>
      </p:grpSpPr>
      <p:sp>
        <p:nvSpPr>
          <p:cNvPr id="1682303259" name="Title 1"/>
          <p:cNvSpPr>
            <a:spLocks noGrp="1"/>
          </p:cNvSpPr>
          <p:nvPr>
            <p:ph type="title"/>
          </p:nvPr>
        </p:nvSpPr>
        <p:spPr bwMode="auto">
          <a:xfrm>
            <a:off x="203200" y="304800"/>
            <a:ext cx="11684000" cy="609600"/>
          </a:xfrm>
        </p:spPr>
        <p:txBody>
          <a:bodyPr/>
          <a:lstStyle/>
          <a:p>
            <a:pPr>
              <a:defRPr/>
            </a:pPr>
            <a:r>
              <a:rPr lang="en-US"/>
              <a:t>Click to edit Master title style</a:t>
            </a:r>
            <a:endParaRPr/>
          </a:p>
        </p:txBody>
      </p:sp>
      <p:sp>
        <p:nvSpPr>
          <p:cNvPr id="711891105" name="Text Placeholder 2"/>
          <p:cNvSpPr>
            <a:spLocks noGrp="1"/>
          </p:cNvSpPr>
          <p:nvPr>
            <p:ph type="body" sz="half" idx="1"/>
          </p:nvPr>
        </p:nvSpPr>
        <p:spPr bwMode="auto">
          <a:xfrm>
            <a:off x="406400" y="1295400"/>
            <a:ext cx="5486400" cy="5181600"/>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93209349" name="Content Placeholder 3"/>
          <p:cNvSpPr>
            <a:spLocks noGrp="1"/>
          </p:cNvSpPr>
          <p:nvPr>
            <p:ph sz="quarter" idx="2"/>
          </p:nvPr>
        </p:nvSpPr>
        <p:spPr bwMode="auto">
          <a:xfrm>
            <a:off x="6096000" y="1295400"/>
            <a:ext cx="5486400" cy="2514600"/>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80402813" name="Content Placeholder 4"/>
          <p:cNvSpPr>
            <a:spLocks noGrp="1"/>
          </p:cNvSpPr>
          <p:nvPr>
            <p:ph sz="quarter" idx="3"/>
          </p:nvPr>
        </p:nvSpPr>
        <p:spPr bwMode="auto">
          <a:xfrm>
            <a:off x="6096000" y="3962400"/>
            <a:ext cx="5486400" cy="2514600"/>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326009460" name="Rectangle 2061"/>
          <p:cNvSpPr>
            <a:spLocks noChangeArrowheads="1" noGrp="1"/>
          </p:cNvSpPr>
          <p:nvPr>
            <p:ph type="sldNum" sz="quarter" idx="10"/>
          </p:nvPr>
        </p:nvSpPr>
        <p:spPr bwMode="auto">
          <a:xfrm>
            <a:off x="9652000" y="6477000"/>
            <a:ext cx="2540000" cy="381000"/>
          </a:xfrm>
          <a:prstGeom prst="rect">
            <a:avLst/>
          </a:prstGeom>
          <a:ln/>
        </p:spPr>
        <p:txBody>
          <a:bodyPr/>
          <a:lstStyle>
            <a:lvl1pPr>
              <a:defRPr/>
            </a:lvl1pPr>
          </a:lstStyle>
          <a:p>
            <a:pPr>
              <a:defRPr/>
            </a:pPr>
            <a:fld id="{680A1083-1268-4A42-B7F5-4F6EE6F4CD6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xAndChart" userDrawn="1">
  <p:cSld name="Title, Text and Chart">
    <p:spTree>
      <p:nvGrpSpPr>
        <p:cNvPr id="1" name=""/>
        <p:cNvGrpSpPr/>
        <p:nvPr/>
      </p:nvGrpSpPr>
      <p:grpSpPr bwMode="auto">
        <a:xfrm>
          <a:off x="0" y="0"/>
          <a:ext cx="0" cy="0"/>
          <a:chOff x="0" y="0"/>
          <a:chExt cx="0" cy="0"/>
        </a:xfrm>
      </p:grpSpPr>
      <p:sp>
        <p:nvSpPr>
          <p:cNvPr id="895262273" name="Title 1"/>
          <p:cNvSpPr>
            <a:spLocks noGrp="1"/>
          </p:cNvSpPr>
          <p:nvPr>
            <p:ph type="title"/>
          </p:nvPr>
        </p:nvSpPr>
        <p:spPr bwMode="auto">
          <a:xfrm>
            <a:off x="203200" y="304800"/>
            <a:ext cx="11684000" cy="609600"/>
          </a:xfrm>
        </p:spPr>
        <p:txBody>
          <a:bodyPr/>
          <a:lstStyle/>
          <a:p>
            <a:pPr>
              <a:defRPr/>
            </a:pPr>
            <a:r>
              <a:rPr lang="en-US"/>
              <a:t>Click to edit Master title style</a:t>
            </a:r>
            <a:endParaRPr/>
          </a:p>
        </p:txBody>
      </p:sp>
      <p:sp>
        <p:nvSpPr>
          <p:cNvPr id="1234528460" name="Text Placeholder 2"/>
          <p:cNvSpPr>
            <a:spLocks noGrp="1"/>
          </p:cNvSpPr>
          <p:nvPr>
            <p:ph type="body" sz="half" idx="1"/>
          </p:nvPr>
        </p:nvSpPr>
        <p:spPr bwMode="auto">
          <a:xfrm>
            <a:off x="406400" y="1295400"/>
            <a:ext cx="5486400" cy="5181600"/>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77134262" name="Chart Placeholder 3"/>
          <p:cNvSpPr>
            <a:spLocks noGrp="1"/>
          </p:cNvSpPr>
          <p:nvPr>
            <p:ph type="chart" sz="half" idx="2"/>
          </p:nvPr>
        </p:nvSpPr>
        <p:spPr bwMode="auto">
          <a:xfrm>
            <a:off x="6096000" y="1295400"/>
            <a:ext cx="5486400" cy="5181600"/>
          </a:xfrm>
        </p:spPr>
        <p:txBody>
          <a:bodyPr/>
          <a:lstStyle/>
          <a:p>
            <a:pPr lvl="0">
              <a:defRPr/>
            </a:pPr>
            <a:endParaRPr lang="en-US"/>
          </a:p>
        </p:txBody>
      </p:sp>
      <p:sp>
        <p:nvSpPr>
          <p:cNvPr id="605463530" name="Rectangle 2061"/>
          <p:cNvSpPr>
            <a:spLocks noChangeArrowheads="1" noGrp="1"/>
          </p:cNvSpPr>
          <p:nvPr>
            <p:ph type="sldNum" sz="quarter" idx="10"/>
          </p:nvPr>
        </p:nvSpPr>
        <p:spPr bwMode="auto">
          <a:xfrm>
            <a:off x="9652000" y="6477000"/>
            <a:ext cx="2540000" cy="381000"/>
          </a:xfrm>
          <a:prstGeom prst="rect">
            <a:avLst/>
          </a:prstGeom>
          <a:ln/>
        </p:spPr>
        <p:txBody>
          <a:bodyPr/>
          <a:lstStyle>
            <a:lvl1pPr>
              <a:defRPr/>
            </a:lvl1pPr>
          </a:lstStyle>
          <a:p>
            <a:pPr>
              <a:defRPr/>
            </a:pPr>
            <a:fld id="{263418DA-E3C5-4DA3-B4BD-88B354425D9E}"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woObj" userDrawn="1">
  <p:cSld name="Two Content">
    <p:spTree>
      <p:nvGrpSpPr>
        <p:cNvPr id="1" name=""/>
        <p:cNvGrpSpPr/>
        <p:nvPr/>
      </p:nvGrpSpPr>
      <p:grpSpPr bwMode="auto">
        <a:xfrm>
          <a:off x="0" y="0"/>
          <a:ext cx="0" cy="0"/>
          <a:chOff x="0" y="0"/>
          <a:chExt cx="0" cy="0"/>
        </a:xfrm>
      </p:grpSpPr>
      <p:sp>
        <p:nvSpPr>
          <p:cNvPr id="308866313" name="Title 1"/>
          <p:cNvSpPr>
            <a:spLocks noGrp="1"/>
          </p:cNvSpPr>
          <p:nvPr>
            <p:ph type="title"/>
          </p:nvPr>
        </p:nvSpPr>
        <p:spPr bwMode="auto"/>
        <p:txBody>
          <a:bodyPr/>
          <a:lstStyle/>
          <a:p>
            <a:pPr>
              <a:defRPr/>
            </a:pPr>
            <a:r>
              <a:rPr lang="en-US"/>
              <a:t>Click to edit Master title style</a:t>
            </a:r>
            <a:endParaRPr/>
          </a:p>
        </p:txBody>
      </p:sp>
      <p:sp>
        <p:nvSpPr>
          <p:cNvPr id="41712821" name="Content Placeholder 2"/>
          <p:cNvSpPr>
            <a:spLocks noGrp="1"/>
          </p:cNvSpPr>
          <p:nvPr>
            <p:ph sz="half" idx="1"/>
          </p:nvPr>
        </p:nvSpPr>
        <p:spPr bwMode="auto">
          <a:xfrm>
            <a:off x="406400" y="1295400"/>
            <a:ext cx="54864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825980772" name="Content Placeholder 3"/>
          <p:cNvSpPr>
            <a:spLocks noGrp="1"/>
          </p:cNvSpPr>
          <p:nvPr>
            <p:ph sz="half" idx="2"/>
          </p:nvPr>
        </p:nvSpPr>
        <p:spPr bwMode="auto">
          <a:xfrm>
            <a:off x="6096000" y="1295400"/>
            <a:ext cx="54864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912138973" name="Rectangle 2061"/>
          <p:cNvSpPr>
            <a:spLocks noChangeArrowheads="1" noGrp="1"/>
          </p:cNvSpPr>
          <p:nvPr>
            <p:ph type="sldNum" sz="quarter" idx="10"/>
          </p:nvPr>
        </p:nvSpPr>
        <p:spPr bwMode="auto">
          <a:xfrm>
            <a:off x="9652000" y="6477000"/>
            <a:ext cx="2540000" cy="381000"/>
          </a:xfrm>
          <a:prstGeom prst="rect">
            <a:avLst/>
          </a:prstGeom>
          <a:ln/>
        </p:spPr>
        <p:txBody>
          <a:bodyPr/>
          <a:lstStyle>
            <a:lvl1pPr>
              <a:defRPr/>
            </a:lvl1pPr>
          </a:lstStyle>
          <a:p>
            <a:pPr>
              <a:defRPr/>
            </a:pPr>
            <a:fld id="{3CCF00EA-7FEC-4848-8AE3-5B6199E0A559}"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fourObj" userDrawn="1">
  <p:cSld name="Title and 4 Content">
    <p:spTree>
      <p:nvGrpSpPr>
        <p:cNvPr id="1" name=""/>
        <p:cNvGrpSpPr/>
        <p:nvPr/>
      </p:nvGrpSpPr>
      <p:grpSpPr bwMode="auto">
        <a:xfrm>
          <a:off x="0" y="0"/>
          <a:ext cx="0" cy="0"/>
          <a:chOff x="0" y="0"/>
          <a:chExt cx="0" cy="0"/>
        </a:xfrm>
      </p:grpSpPr>
      <p:sp>
        <p:nvSpPr>
          <p:cNvPr id="1683953453" name="Title 1"/>
          <p:cNvSpPr>
            <a:spLocks noGrp="1"/>
          </p:cNvSpPr>
          <p:nvPr>
            <p:ph type="title" sz="quarter"/>
          </p:nvPr>
        </p:nvSpPr>
        <p:spPr bwMode="auto">
          <a:xfrm>
            <a:off x="203200" y="304800"/>
            <a:ext cx="11684000" cy="609600"/>
          </a:xfrm>
        </p:spPr>
        <p:txBody>
          <a:bodyPr/>
          <a:lstStyle/>
          <a:p>
            <a:pPr>
              <a:defRPr/>
            </a:pPr>
            <a:r>
              <a:rPr lang="en-US"/>
              <a:t>Click to edit Master title style</a:t>
            </a:r>
            <a:endParaRPr/>
          </a:p>
        </p:txBody>
      </p:sp>
      <p:sp>
        <p:nvSpPr>
          <p:cNvPr id="622468853" name="Content Placeholder 2"/>
          <p:cNvSpPr>
            <a:spLocks noGrp="1"/>
          </p:cNvSpPr>
          <p:nvPr>
            <p:ph sz="quarter" idx="1"/>
          </p:nvPr>
        </p:nvSpPr>
        <p:spPr bwMode="auto">
          <a:xfrm>
            <a:off x="406400" y="1295400"/>
            <a:ext cx="5486400" cy="2514600"/>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125471299" name="Content Placeholder 3"/>
          <p:cNvSpPr>
            <a:spLocks noGrp="1"/>
          </p:cNvSpPr>
          <p:nvPr>
            <p:ph sz="quarter" idx="2"/>
          </p:nvPr>
        </p:nvSpPr>
        <p:spPr bwMode="auto">
          <a:xfrm>
            <a:off x="6096000" y="1295400"/>
            <a:ext cx="5486400" cy="2514600"/>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940751227" name="Content Placeholder 4"/>
          <p:cNvSpPr>
            <a:spLocks noGrp="1"/>
          </p:cNvSpPr>
          <p:nvPr>
            <p:ph sz="quarter" idx="3"/>
          </p:nvPr>
        </p:nvSpPr>
        <p:spPr bwMode="auto">
          <a:xfrm>
            <a:off x="406400" y="3962400"/>
            <a:ext cx="5486400" cy="2514600"/>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894696041" name="Content Placeholder 5"/>
          <p:cNvSpPr>
            <a:spLocks noGrp="1"/>
          </p:cNvSpPr>
          <p:nvPr>
            <p:ph sz="quarter" idx="4"/>
          </p:nvPr>
        </p:nvSpPr>
        <p:spPr bwMode="auto">
          <a:xfrm>
            <a:off x="6096000" y="3962400"/>
            <a:ext cx="5486400" cy="2514600"/>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18649830" name="Rectangle 2061"/>
          <p:cNvSpPr>
            <a:spLocks noChangeArrowheads="1" noGrp="1"/>
          </p:cNvSpPr>
          <p:nvPr>
            <p:ph type="sldNum" sz="quarter" idx="10"/>
          </p:nvPr>
        </p:nvSpPr>
        <p:spPr bwMode="auto">
          <a:xfrm>
            <a:off x="9652000" y="6477000"/>
            <a:ext cx="2540000" cy="381000"/>
          </a:xfrm>
          <a:prstGeom prst="rect">
            <a:avLst/>
          </a:prstGeom>
          <a:ln/>
        </p:spPr>
        <p:txBody>
          <a:bodyPr/>
          <a:lstStyle>
            <a:lvl1pPr>
              <a:defRPr/>
            </a:lvl1pPr>
          </a:lstStyle>
          <a:p>
            <a:pPr>
              <a:defRPr/>
            </a:pPr>
            <a:fld id="{04F52F42-01D7-4758-AD42-3F87F929CD2D}"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blank" userDrawn="1">
  <p:cSld name="Blank">
    <p:spTree>
      <p:nvGrpSpPr>
        <p:cNvPr id="1" name=""/>
        <p:cNvGrpSpPr/>
        <p:nvPr/>
      </p:nvGrpSpPr>
      <p:grpSpPr bwMode="auto">
        <a:xfrm>
          <a:off x="0" y="0"/>
          <a:ext cx="0" cy="0"/>
          <a:chOff x="0" y="0"/>
          <a:chExt cx="0" cy="0"/>
        </a:xfrm>
      </p:grpSpPr>
      <p:sp>
        <p:nvSpPr>
          <p:cNvPr id="775948642" name="Rectangle 2061"/>
          <p:cNvSpPr>
            <a:spLocks noChangeArrowheads="1" noGrp="1"/>
          </p:cNvSpPr>
          <p:nvPr>
            <p:ph type="sldNum" sz="quarter" idx="10"/>
          </p:nvPr>
        </p:nvSpPr>
        <p:spPr bwMode="auto">
          <a:xfrm>
            <a:off x="9652000" y="6477000"/>
            <a:ext cx="2540000" cy="381000"/>
          </a:xfrm>
          <a:prstGeom prst="rect">
            <a:avLst/>
          </a:prstGeom>
          <a:ln/>
        </p:spPr>
        <p:txBody>
          <a:bodyPr/>
          <a:lstStyle>
            <a:lvl1pPr>
              <a:defRPr/>
            </a:lvl1pPr>
          </a:lstStyle>
          <a:p>
            <a:pPr>
              <a:defRPr/>
            </a:pPr>
            <a:fld id="{4A7B93CD-F32F-43F2-AB5D-12DAF2074D9B}"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320602970" name="Title Placeholder 1"/>
          <p:cNvSpPr>
            <a:spLocks noGrp="1"/>
          </p:cNvSpPr>
          <p:nvPr>
            <p:ph type="title"/>
          </p:nvPr>
        </p:nvSpPr>
        <p:spPr bwMode="auto">
          <a:xfrm>
            <a:off x="350985" y="286607"/>
            <a:ext cx="11369963" cy="673979"/>
          </a:xfrm>
          <a:prstGeom prst="rect">
            <a:avLst/>
          </a:prstGeom>
        </p:spPr>
        <p:txBody>
          <a:bodyPr vert="horz" lIns="91436" tIns="45718" rIns="91436" bIns="45718" rtlCol="0" anchor="b">
            <a:normAutofit/>
          </a:bodyPr>
          <a:lstStyle/>
          <a:p>
            <a:pPr>
              <a:defRPr/>
            </a:pPr>
            <a:r>
              <a:rPr lang="en-US"/>
              <a:t>Click to edit Master title style</a:t>
            </a:r>
            <a:endParaRPr/>
          </a:p>
        </p:txBody>
      </p:sp>
      <p:sp>
        <p:nvSpPr>
          <p:cNvPr id="905539328" name="Text Placeholder 2"/>
          <p:cNvSpPr>
            <a:spLocks noGrp="1"/>
          </p:cNvSpPr>
          <p:nvPr>
            <p:ph type="body" idx="1"/>
          </p:nvPr>
        </p:nvSpPr>
        <p:spPr bwMode="auto">
          <a:xfrm>
            <a:off x="350982" y="1219203"/>
            <a:ext cx="11406908" cy="5209309"/>
          </a:xfrm>
          <a:prstGeom prst="rect">
            <a:avLst/>
          </a:prstGeom>
        </p:spPr>
        <p:txBody>
          <a:bodyPr vert="horz" lIns="91436" tIns="45718" rIns="91436" bIns="45718" rtlCol="0">
            <a:noAutofit/>
          </a:bodyPr>
          <a:lstStyle/>
          <a:p>
            <a:pPr lvl="0">
              <a:defRPr/>
            </a:pPr>
            <a:r>
              <a:rPr lang="en-US"/>
              <a:t> Click to edit Master text styles</a:t>
            </a:r>
            <a:endParaRPr/>
          </a:p>
          <a:p>
            <a:pPr lvl="1">
              <a:defRPr/>
            </a:pPr>
            <a:r>
              <a:rPr lang="en-US"/>
              <a:t> Second level</a:t>
            </a:r>
            <a:endParaRPr/>
          </a:p>
          <a:p>
            <a:pPr lvl="2">
              <a:defRPr/>
            </a:pPr>
            <a:r>
              <a:rPr lang="en-US"/>
              <a:t> Third level</a:t>
            </a:r>
            <a:endParaRPr/>
          </a:p>
          <a:p>
            <a:pPr lvl="3">
              <a:defRPr/>
            </a:pPr>
            <a:r>
              <a:rPr lang="en-US"/>
              <a:t> Fourth level</a:t>
            </a:r>
            <a:endParaRPr/>
          </a:p>
          <a:p>
            <a:pPr lvl="4">
              <a:defRPr/>
            </a:pPr>
            <a:r>
              <a:rPr lang="en-US"/>
              <a:t> Fifth level</a:t>
            </a:r>
            <a:endParaRPr/>
          </a:p>
        </p:txBody>
      </p:sp>
      <p:cxnSp>
        <p:nvCxnSpPr>
          <p:cNvPr id="1190949804" name="Straight Connector 9"/>
          <p:cNvCxnSpPr/>
          <p:nvPr/>
        </p:nvCxnSpPr>
        <p:spPr bwMode="auto">
          <a:xfrm>
            <a:off x="591131" y="1100537"/>
            <a:ext cx="109728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31726771" name="Slide Number Placeholder 5"/>
          <p:cNvSpPr txBox="1"/>
          <p:nvPr userDrawn="1"/>
        </p:nvSpPr>
        <p:spPr bwMode="auto">
          <a:xfrm>
            <a:off x="0" y="6565686"/>
            <a:ext cx="1066800" cy="273844"/>
          </a:xfrm>
          <a:prstGeom prst="rect">
            <a:avLst/>
          </a:prstGeom>
        </p:spPr>
        <p:txBody>
          <a:bodyPr lIns="91436" tIns="45718" rIns="91436" bIns="45718"/>
          <a:ls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a:lstStyle>
          <a:p>
            <a:pPr>
              <a:defRPr/>
            </a:pPr>
            <a:fld id="{FF4F2234-F0AC-4578-99CD-21C2B01FA7D4}" type="slidenum">
              <a:rPr lang="en-US" sz="1600" b="0"/>
              <a:t>‹#›</a:t>
            </a:fld>
            <a:endParaRPr lang="en-US" sz="1600" b="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dt="0" ftr="0" hdr="0" sldNum="1"/>
  <p:txStyles>
    <p:titleStyle>
      <a:lvl1pPr algn="ctr" defTabSz="914354" rtl="0">
        <a:lnSpc>
          <a:spcPct val="85000"/>
        </a:lnSpc>
        <a:spcBef>
          <a:spcPts val="0"/>
        </a:spcBef>
        <a:buNone/>
        <a:defRPr sz="4400" spc="-51">
          <a:solidFill>
            <a:schemeClr val="tx1"/>
          </a:solidFill>
          <a:latin typeface="Berlin Sans FB Demi"/>
          <a:ea typeface="+mj-ea"/>
          <a:cs typeface="+mj-cs"/>
        </a:defRPr>
      </a:lvl1pPr>
    </p:titleStyle>
    <p:bodyStyle>
      <a:lvl1pPr marL="341305" indent="-341305" algn="l" defTabSz="914354" rtl="0">
        <a:lnSpc>
          <a:spcPct val="100000"/>
        </a:lnSpc>
        <a:spcBef>
          <a:spcPts val="600"/>
        </a:spcBef>
        <a:spcAft>
          <a:spcPts val="0"/>
        </a:spcAft>
        <a:buClr>
          <a:srgbClr val="0000CC"/>
        </a:buClr>
        <a:buSzPct val="80000"/>
        <a:buFont typeface="Wingdings"/>
        <a:buChar char="q"/>
        <a:defRPr sz="2400">
          <a:solidFill>
            <a:schemeClr val="tx1"/>
          </a:solidFill>
          <a:latin typeface="+mn-lt"/>
          <a:ea typeface="+mn-ea"/>
          <a:cs typeface="+mn-cs"/>
        </a:defRPr>
      </a:lvl1pPr>
      <a:lvl2pPr marL="573074" indent="-373053" algn="l" defTabSz="914354" rtl="0">
        <a:lnSpc>
          <a:spcPct val="100000"/>
        </a:lnSpc>
        <a:spcBef>
          <a:spcPts val="600"/>
        </a:spcBef>
        <a:spcAft>
          <a:spcPts val="0"/>
        </a:spcAft>
        <a:buClr>
          <a:srgbClr val="BD582C"/>
        </a:buClr>
        <a:buSzPct val="80000"/>
        <a:buFont typeface="Wingdings"/>
        <a:buChar char="q"/>
        <a:defRPr sz="2400">
          <a:solidFill>
            <a:schemeClr val="tx1"/>
          </a:solidFill>
          <a:latin typeface="+mn-lt"/>
          <a:ea typeface="+mn-ea"/>
          <a:cs typeface="+mn-cs"/>
        </a:defRPr>
      </a:lvl2pPr>
      <a:lvl3pPr marL="684179" indent="-300023" algn="l" defTabSz="914354" rtl="0">
        <a:lnSpc>
          <a:spcPct val="100000"/>
        </a:lnSpc>
        <a:spcBef>
          <a:spcPts val="600"/>
        </a:spcBef>
        <a:spcAft>
          <a:spcPts val="0"/>
        </a:spcAft>
        <a:buClr>
          <a:srgbClr val="008080"/>
        </a:buClr>
        <a:buSzPct val="80000"/>
        <a:buFont typeface="Wingdings"/>
        <a:buChar char="q"/>
        <a:defRPr sz="2400">
          <a:solidFill>
            <a:schemeClr val="tx1"/>
          </a:solidFill>
          <a:latin typeface="+mn-lt"/>
          <a:ea typeface="+mn-ea"/>
          <a:cs typeface="+mn-cs"/>
        </a:defRPr>
      </a:lvl3pPr>
      <a:lvl4pPr marL="912791" indent="-290506" algn="l" defTabSz="914354" rtl="0">
        <a:lnSpc>
          <a:spcPct val="100000"/>
        </a:lnSpc>
        <a:spcBef>
          <a:spcPts val="600"/>
        </a:spcBef>
        <a:spcAft>
          <a:spcPts val="0"/>
        </a:spcAft>
        <a:buClr>
          <a:srgbClr val="FF0000"/>
        </a:buClr>
        <a:buSzPct val="80000"/>
        <a:buFont typeface="Wingdings"/>
        <a:buChar char="q"/>
        <a:defRPr sz="2400">
          <a:solidFill>
            <a:schemeClr val="tx1"/>
          </a:solidFill>
          <a:latin typeface="+mn-lt"/>
          <a:ea typeface="+mn-ea"/>
          <a:cs typeface="+mn-cs"/>
        </a:defRPr>
      </a:lvl4pPr>
      <a:lvl5pPr marL="1142971" indent="-274632" algn="l" defTabSz="914354" rtl="0">
        <a:lnSpc>
          <a:spcPct val="100000"/>
        </a:lnSpc>
        <a:spcBef>
          <a:spcPts val="600"/>
        </a:spcBef>
        <a:spcAft>
          <a:spcPts val="0"/>
        </a:spcAft>
        <a:buClr>
          <a:srgbClr val="7030A0"/>
        </a:buClr>
        <a:buSzPct val="80000"/>
        <a:buFont typeface="Wingdings"/>
        <a:buChar char="q"/>
        <a:defRPr sz="2400">
          <a:solidFill>
            <a:schemeClr val="tx1"/>
          </a:solidFill>
          <a:latin typeface="+mn-lt"/>
          <a:ea typeface="+mn-ea"/>
          <a:cs typeface="+mn-cs"/>
        </a:defRPr>
      </a:lvl5pPr>
      <a:lvl6pPr marL="1099946" indent="-228589" algn="l" defTabSz="914354" rtl="0">
        <a:lnSpc>
          <a:spcPct val="90000"/>
        </a:lnSpc>
        <a:spcBef>
          <a:spcPts val="200"/>
        </a:spcBef>
        <a:spcAft>
          <a:spcPts val="400"/>
        </a:spcAft>
        <a:buClr>
          <a:schemeClr val="accent1"/>
        </a:buClr>
        <a:buFont typeface="Calibri"/>
        <a:buChar char="◦"/>
        <a:defRPr sz="1500">
          <a:solidFill>
            <a:schemeClr val="tx1">
              <a:lumMod val="75000"/>
              <a:lumOff val="25000"/>
            </a:schemeClr>
          </a:solidFill>
          <a:latin typeface="+mn-lt"/>
          <a:ea typeface="+mn-ea"/>
          <a:cs typeface="+mn-cs"/>
        </a:defRPr>
      </a:lvl6pPr>
      <a:lvl7pPr marL="1299936" indent="-228589" algn="l" defTabSz="914354" rtl="0">
        <a:lnSpc>
          <a:spcPct val="90000"/>
        </a:lnSpc>
        <a:spcBef>
          <a:spcPts val="200"/>
        </a:spcBef>
        <a:spcAft>
          <a:spcPts val="400"/>
        </a:spcAft>
        <a:buClr>
          <a:schemeClr val="accent1"/>
        </a:buClr>
        <a:buFont typeface="Calibri"/>
        <a:buChar char="◦"/>
        <a:defRPr sz="1500">
          <a:solidFill>
            <a:schemeClr val="tx1">
              <a:lumMod val="75000"/>
              <a:lumOff val="25000"/>
            </a:schemeClr>
          </a:solidFill>
          <a:latin typeface="+mn-lt"/>
          <a:ea typeface="+mn-ea"/>
          <a:cs typeface="+mn-cs"/>
        </a:defRPr>
      </a:lvl7pPr>
      <a:lvl8pPr marL="1499925" indent="-228589" algn="l" defTabSz="914354" rtl="0">
        <a:lnSpc>
          <a:spcPct val="90000"/>
        </a:lnSpc>
        <a:spcBef>
          <a:spcPts val="200"/>
        </a:spcBef>
        <a:spcAft>
          <a:spcPts val="400"/>
        </a:spcAft>
        <a:buClr>
          <a:schemeClr val="accent1"/>
        </a:buClr>
        <a:buFont typeface="Calibri"/>
        <a:buChar char="◦"/>
        <a:defRPr sz="1500">
          <a:solidFill>
            <a:schemeClr val="tx1">
              <a:lumMod val="75000"/>
              <a:lumOff val="25000"/>
            </a:schemeClr>
          </a:solidFill>
          <a:latin typeface="+mn-lt"/>
          <a:ea typeface="+mn-ea"/>
          <a:cs typeface="+mn-cs"/>
        </a:defRPr>
      </a:lvl8pPr>
      <a:lvl9pPr marL="1699916" indent="-228589" algn="l" defTabSz="914354" rtl="0">
        <a:lnSpc>
          <a:spcPct val="90000"/>
        </a:lnSpc>
        <a:spcBef>
          <a:spcPts val="200"/>
        </a:spcBef>
        <a:spcAft>
          <a:spcPts val="400"/>
        </a:spcAft>
        <a:buClr>
          <a:schemeClr val="accent1"/>
        </a:buClr>
        <a:buFont typeface="Calibri"/>
        <a:buChar char="◦"/>
        <a:defRPr sz="1500">
          <a:solidFill>
            <a:schemeClr val="tx1">
              <a:lumMod val="75000"/>
              <a:lumOff val="25000"/>
            </a:schemeClr>
          </a:solidFill>
          <a:latin typeface="+mn-lt"/>
          <a:ea typeface="+mn-ea"/>
          <a:cs typeface="+mn-cs"/>
        </a:defRPr>
      </a:lvl9pPr>
    </p:bodyStyle>
    <p:otherStyle>
      <a:defPPr>
        <a:defRPr lang="en-US"/>
      </a:defPPr>
      <a:lvl1pPr marL="0" algn="l" defTabSz="914354" rtl="0">
        <a:defRPr sz="1900">
          <a:solidFill>
            <a:schemeClr val="tx1"/>
          </a:solidFill>
          <a:latin typeface="+mn-lt"/>
          <a:ea typeface="+mn-ea"/>
          <a:cs typeface="+mn-cs"/>
        </a:defRPr>
      </a:lvl1pPr>
      <a:lvl2pPr marL="457178" algn="l" defTabSz="914354" rtl="0">
        <a:defRPr sz="1900">
          <a:solidFill>
            <a:schemeClr val="tx1"/>
          </a:solidFill>
          <a:latin typeface="+mn-lt"/>
          <a:ea typeface="+mn-ea"/>
          <a:cs typeface="+mn-cs"/>
        </a:defRPr>
      </a:lvl2pPr>
      <a:lvl3pPr marL="914354" algn="l" defTabSz="914354" rtl="0">
        <a:defRPr sz="1900">
          <a:solidFill>
            <a:schemeClr val="tx1"/>
          </a:solidFill>
          <a:latin typeface="+mn-lt"/>
          <a:ea typeface="+mn-ea"/>
          <a:cs typeface="+mn-cs"/>
        </a:defRPr>
      </a:lvl3pPr>
      <a:lvl4pPr marL="1371532" algn="l" defTabSz="914354" rtl="0">
        <a:defRPr sz="1900">
          <a:solidFill>
            <a:schemeClr val="tx1"/>
          </a:solidFill>
          <a:latin typeface="+mn-lt"/>
          <a:ea typeface="+mn-ea"/>
          <a:cs typeface="+mn-cs"/>
        </a:defRPr>
      </a:lvl4pPr>
      <a:lvl5pPr marL="1828709" algn="l" defTabSz="914354" rtl="0">
        <a:defRPr sz="1900">
          <a:solidFill>
            <a:schemeClr val="tx1"/>
          </a:solidFill>
          <a:latin typeface="+mn-lt"/>
          <a:ea typeface="+mn-ea"/>
          <a:cs typeface="+mn-cs"/>
        </a:defRPr>
      </a:lvl5pPr>
      <a:lvl6pPr marL="2285886" algn="l" defTabSz="914354" rtl="0">
        <a:defRPr sz="1900">
          <a:solidFill>
            <a:schemeClr val="tx1"/>
          </a:solidFill>
          <a:latin typeface="+mn-lt"/>
          <a:ea typeface="+mn-ea"/>
          <a:cs typeface="+mn-cs"/>
        </a:defRPr>
      </a:lvl6pPr>
      <a:lvl7pPr marL="2743062" algn="l" defTabSz="914354" rtl="0">
        <a:defRPr sz="1900">
          <a:solidFill>
            <a:schemeClr val="tx1"/>
          </a:solidFill>
          <a:latin typeface="+mn-lt"/>
          <a:ea typeface="+mn-ea"/>
          <a:cs typeface="+mn-cs"/>
        </a:defRPr>
      </a:lvl7pPr>
      <a:lvl8pPr marL="3200240" algn="l" defTabSz="914354" rtl="0">
        <a:defRPr sz="1900">
          <a:solidFill>
            <a:schemeClr val="tx1"/>
          </a:solidFill>
          <a:latin typeface="+mn-lt"/>
          <a:ea typeface="+mn-ea"/>
          <a:cs typeface="+mn-cs"/>
        </a:defRPr>
      </a:lvl8pPr>
      <a:lvl9pPr marL="3657418" algn="l" defTabSz="914354" rtl="0">
        <a:defRPr sz="19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emf"/><Relationship Id="rId4" Type="http://schemas.openxmlformats.org/officeDocument/2006/relationships/oleObject" Target="../embeddings/oleObject1.bin"/><Relationship Id="rId5" Type="http://schemas.openxmlformats.org/officeDocument/2006/relationships/image" Target="../media/image4.wmf"/><Relationship Id="rId6" Type="http://schemas.openxmlformats.org/officeDocument/2006/relationships/package" Target="../embeddings/Microsoft_Word_Document1.docx"/><Relationship Id="rId7" Type="http://schemas.openxmlformats.org/officeDocument/2006/relationships/image" Target="../media/image5.png"/><Relationship Id="rId8" Type="http://schemas.openxmlformats.org/officeDocument/2006/relationships/image" Target="../media/image6.gif"/></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10.jp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jpg"/><Relationship Id="rId4" Type="http://schemas.openxmlformats.org/officeDocument/2006/relationships/image" Target="../media/image12.jpg"/><Relationship Id="rId5" Type="http://schemas.openxmlformats.org/officeDocument/2006/relationships/image" Target="../media/image13.gif"/></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5.jp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wmf"/><Relationship Id="rId4" Type="http://schemas.openxmlformats.org/officeDocument/2006/relationships/oleObject" Target="../embeddings/oleObject2.bin"/><Relationship Id="rId5" Type="http://schemas.openxmlformats.org/officeDocument/2006/relationships/image" Target="../media/image18.wmf"/><Relationship Id="rId6" Type="http://schemas.openxmlformats.org/officeDocument/2006/relationships/oleObject" Target="../embeddings/oleObject3.bin"/><Relationship Id="rId7" Type="http://schemas.openxmlformats.org/officeDocument/2006/relationships/image" Target="../media/image19.wmf"/><Relationship Id="rId8" Type="http://schemas.openxmlformats.org/officeDocument/2006/relationships/oleObject" Target="../embeddings/oleObject4.bin"/></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0.wmf"/><Relationship Id="rId4" Type="http://schemas.openxmlformats.org/officeDocument/2006/relationships/oleObject" Target="../embeddings/oleObject5.bin"/><Relationship Id="rId5" Type="http://schemas.openxmlformats.org/officeDocument/2006/relationships/image" Target="../media/image21.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2.wmf"/><Relationship Id="rId4" Type="http://schemas.openxmlformats.org/officeDocument/2006/relationships/oleObject" Target="../embeddings/oleObject6.bin"/><Relationship Id="rId5" Type="http://schemas.openxmlformats.org/officeDocument/2006/relationships/image" Target="../media/image23.jpg"/><Relationship Id="rId6" Type="http://schemas.openxmlformats.org/officeDocument/2006/relationships/image" Target="../media/image24.png"/><Relationship Id="rId7" Type="http://schemas.openxmlformats.org/officeDocument/2006/relationships/image" Target="../media/image25.gif"/><Relationship Id="rId8" Type="http://schemas.openxmlformats.org/officeDocument/2006/relationships/image" Target="../media/image26.jp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media7.svg"/><Relationship Id="rId6" Type="http://schemas.openxmlformats.org/officeDocument/2006/relationships/image" Target="../media/image29.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30.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1.wmf"/><Relationship Id="rId4" Type="http://schemas.openxmlformats.org/officeDocument/2006/relationships/oleObject" Target="../embeddings/oleObject8.bin"/><Relationship Id="rId5" Type="http://schemas.openxmlformats.org/officeDocument/2006/relationships/image" Target="../media/image32.wmf"/><Relationship Id="rId6" Type="http://schemas.openxmlformats.org/officeDocument/2006/relationships/oleObject" Target="../embeddings/oleObject9.bin"/></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33.png"/><Relationship Id="rId4" Type="http://schemas.openxmlformats.org/officeDocument/2006/relationships/image" Target="../media/media10.sv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34.wmf"/><Relationship Id="rId4" Type="http://schemas.openxmlformats.org/officeDocument/2006/relationships/oleObject" Target="../embeddings/oleObject11.bin"/></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34.wmf"/><Relationship Id="rId4" Type="http://schemas.openxmlformats.org/officeDocument/2006/relationships/oleObject" Target="../embeddings/oleObject11.bin"/><Relationship Id="rId5" Type="http://schemas.openxmlformats.org/officeDocument/2006/relationships/image" Target="../media/image35.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6.wmf"/><Relationship Id="rId4" Type="http://schemas.openxmlformats.org/officeDocument/2006/relationships/oleObject" Target="../embeddings/oleObject12.bin"/><Relationship Id="rId5" Type="http://schemas.openxmlformats.org/officeDocument/2006/relationships/image" Target="../media/image37.wmf"/><Relationship Id="rId6" Type="http://schemas.openxmlformats.org/officeDocument/2006/relationships/oleObject" Target="../embeddings/oleObject13.bin"/></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8.wmf"/><Relationship Id="rId4" Type="http://schemas.openxmlformats.org/officeDocument/2006/relationships/oleObject" Target="../embeddings/oleObject14.bin"/></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8.wmf"/><Relationship Id="rId4" Type="http://schemas.openxmlformats.org/officeDocument/2006/relationships/oleObject" Target="../embeddings/oleObject14.bin"/></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9.wmf"/><Relationship Id="rId4" Type="http://schemas.openxmlformats.org/officeDocument/2006/relationships/oleObject" Target="../embeddings/oleObject15.bin"/><Relationship Id="rId5" Type="http://schemas.openxmlformats.org/officeDocument/2006/relationships/image" Target="../media/image40.wmf"/><Relationship Id="rId6" Type="http://schemas.openxmlformats.org/officeDocument/2006/relationships/oleObject" Target="../embeddings/oleObject16.bin"/></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1.wmf"/><Relationship Id="rId4" Type="http://schemas.openxmlformats.org/officeDocument/2006/relationships/oleObject" Target="../embeddings/oleObject17.bin"/></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2.png"/><Relationship Id="rId4" Type="http://schemas.openxmlformats.org/officeDocument/2006/relationships/oleObject" Target="../embeddings/oleObject18.bin"/></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3.wmf"/><Relationship Id="rId4" Type="http://schemas.openxmlformats.org/officeDocument/2006/relationships/oleObject" Target="../embeddings/oleObject19.bin"/><Relationship Id="rId5" Type="http://schemas.openxmlformats.org/officeDocument/2006/relationships/image" Target="../media/image44.wmf"/><Relationship Id="rId6" Type="http://schemas.openxmlformats.org/officeDocument/2006/relationships/oleObject" Target="../embeddings/oleObject20.bin"/><Relationship Id="rId7" Type="http://schemas.openxmlformats.org/officeDocument/2006/relationships/image" Target="../media/image45.png"/><Relationship Id="rId8" Type="http://schemas.openxmlformats.org/officeDocument/2006/relationships/image" Target="../media/media21.svg"/><Relationship Id="rId9" Type="http://schemas.openxmlformats.org/officeDocument/2006/relationships/image" Target="../media/image46.png"/><Relationship Id="rId10" Type="http://schemas.openxmlformats.org/officeDocument/2006/relationships/image" Target="../media/media22.sv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7.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48.emf"/><Relationship Id="rId4" Type="http://schemas.openxmlformats.org/officeDocument/2006/relationships/oleObject" Target="../embeddings/oleObject23.bin"/><Relationship Id="rId5" Type="http://schemas.openxmlformats.org/officeDocument/2006/relationships/image" Target="../media/image49.pn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50.wmf"/><Relationship Id="rId4" Type="http://schemas.openxmlformats.org/officeDocument/2006/relationships/oleObject" Target="../embeddings/oleObject24.bin"/><Relationship Id="rId5" Type="http://schemas.openxmlformats.org/officeDocument/2006/relationships/image" Target="../media/image51.wmf"/><Relationship Id="rId6" Type="http://schemas.openxmlformats.org/officeDocument/2006/relationships/oleObject" Target="../embeddings/oleObject25.bin"/></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2.pn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3.png"/><Relationship Id="rId4" Type="http://schemas.openxmlformats.org/officeDocument/2006/relationships/image" Target="../media/image54.jp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5.png"/><Relationship Id="rId4" Type="http://schemas.openxmlformats.org/officeDocument/2006/relationships/image" Target="../media/image56.png"/></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57.png"/><Relationship Id="rId4" Type="http://schemas.openxmlformats.org/officeDocument/2006/relationships/image" Target="../media/media26.svg"/><Relationship Id="rId5" Type="http://schemas.openxmlformats.org/officeDocument/2006/relationships/image" Target="../media/image58.png"/><Relationship Id="rId6" Type="http://schemas.openxmlformats.org/officeDocument/2006/relationships/image" Target="../media/media27.svg"/><Relationship Id="rId7" Type="http://schemas.openxmlformats.org/officeDocument/2006/relationships/image" Target="../media/image59.png"/><Relationship Id="rId8" Type="http://schemas.openxmlformats.org/officeDocument/2006/relationships/image" Target="../media/media28.svg"/></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63.wmf"/><Relationship Id="rId4" Type="http://schemas.openxmlformats.org/officeDocument/2006/relationships/oleObject" Target="../embeddings/oleObject29.bin"/><Relationship Id="rId5" Type="http://schemas.openxmlformats.org/officeDocument/2006/relationships/image" Target="../media/image64.wmf"/><Relationship Id="rId6" Type="http://schemas.openxmlformats.org/officeDocument/2006/relationships/oleObject" Target="../embeddings/oleObject30.bin"/></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65.wmf"/><Relationship Id="rId4" Type="http://schemas.openxmlformats.org/officeDocument/2006/relationships/oleObject" Target="../embeddings/oleObject31.bin"/><Relationship Id="rId5" Type="http://schemas.openxmlformats.org/officeDocument/2006/relationships/image" Target="../media/image66.wmf"/><Relationship Id="rId6" Type="http://schemas.openxmlformats.org/officeDocument/2006/relationships/oleObject" Target="../embeddings/oleObject32.bin"/><Relationship Id="rId7" Type="http://schemas.openxmlformats.org/officeDocument/2006/relationships/image" Target="../media/image67.wmf"/><Relationship Id="rId8" Type="http://schemas.openxmlformats.org/officeDocument/2006/relationships/oleObject" Target="../embeddings/oleObject33.bin"/><Relationship Id="rId9" Type="http://schemas.openxmlformats.org/officeDocument/2006/relationships/image" Target="../media/image68.wmf"/><Relationship Id="rId10" Type="http://schemas.openxmlformats.org/officeDocument/2006/relationships/oleObject" Target="../embeddings/oleObject34.bin"/></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69.emf"/><Relationship Id="rId4" Type="http://schemas.openxmlformats.org/officeDocument/2006/relationships/package" Target="../embeddings/Microsoft_Excel_Worksheet2.xlsx"/><Relationship Id="rId5" Type="http://schemas.openxmlformats.org/officeDocument/2006/relationships/image" Target="../media/image70.emf"/><Relationship Id="rId6" Type="http://schemas.openxmlformats.org/officeDocument/2006/relationships/package" Target="../embeddings/Microsoft_Excel_Worksheet3.xlsx"/><Relationship Id="rId7" Type="http://schemas.openxmlformats.org/officeDocument/2006/relationships/image" Target="../media/image71.wmf"/><Relationship Id="rId8" Type="http://schemas.openxmlformats.org/officeDocument/2006/relationships/oleObject" Target="../embeddings/oleObject35.bin"/></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72.wmf"/><Relationship Id="rId4" Type="http://schemas.openxmlformats.org/officeDocument/2006/relationships/oleObject" Target="../embeddings/oleObject36.bin"/></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73.wmf"/><Relationship Id="rId4" Type="http://schemas.openxmlformats.org/officeDocument/2006/relationships/oleObject" Target="../embeddings/oleObject37.bin"/><Relationship Id="rId5" Type="http://schemas.openxmlformats.org/officeDocument/2006/relationships/image" Target="../media/image74.wmf"/><Relationship Id="rId6" Type="http://schemas.openxmlformats.org/officeDocument/2006/relationships/oleObject" Target="../embeddings/oleObject38.bin"/><Relationship Id="rId7" Type="http://schemas.openxmlformats.org/officeDocument/2006/relationships/image" Target="../media/image75.png"/><Relationship Id="rId8" Type="http://schemas.openxmlformats.org/officeDocument/2006/relationships/image" Target="../media/media39.svg"/></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76.emf"/><Relationship Id="rId4" Type="http://schemas.openxmlformats.org/officeDocument/2006/relationships/package" Target="../embeddings/Microsoft_Excel_Worksheet4.xlsx"/><Relationship Id="rId5" Type="http://schemas.openxmlformats.org/officeDocument/2006/relationships/image" Target="../media/image77.emf"/><Relationship Id="rId6" Type="http://schemas.openxmlformats.org/officeDocument/2006/relationships/package" Target="../embeddings/Microsoft_Excel_Worksheet5.xlsx"/><Relationship Id="rId7" Type="http://schemas.openxmlformats.org/officeDocument/2006/relationships/image" Target="../media/image78.emf"/><Relationship Id="rId8" Type="http://schemas.openxmlformats.org/officeDocument/2006/relationships/package" Target="../embeddings/Microsoft_Excel_Worksheet6.xlsx"/><Relationship Id="rId9" Type="http://schemas.openxmlformats.org/officeDocument/2006/relationships/image" Target="../media/image79.emf"/><Relationship Id="rId10" Type="http://schemas.openxmlformats.org/officeDocument/2006/relationships/package" Target="../embeddings/Microsoft_Excel_Worksheet7.xlsx"/><Relationship Id="rId11" Type="http://schemas.openxmlformats.org/officeDocument/2006/relationships/image" Target="../media/image80.wmf"/><Relationship Id="rId12" Type="http://schemas.openxmlformats.org/officeDocument/2006/relationships/oleObject" Target="../embeddings/oleObject40.bin"/></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81.jpg"/><Relationship Id="rId4" Type="http://schemas.openxmlformats.org/officeDocument/2006/relationships/image" Target="../media/image82.jpg"/><Relationship Id="rId5" Type="http://schemas.openxmlformats.org/officeDocument/2006/relationships/image" Target="../media/image83.jpg"/><Relationship Id="rId6" Type="http://schemas.openxmlformats.org/officeDocument/2006/relationships/image" Target="../media/image84.jpg"/><Relationship Id="rId7" Type="http://schemas.openxmlformats.org/officeDocument/2006/relationships/image" Target="../media/image85.jpg"/></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86.wmf"/><Relationship Id="rId4" Type="http://schemas.openxmlformats.org/officeDocument/2006/relationships/package" Target="../embeddings/Microsoft_Word_Document8.docx"/><Relationship Id="rId5" Type="http://schemas.openxmlformats.org/officeDocument/2006/relationships/image" Target="../media/image87.wmf"/><Relationship Id="rId6" Type="http://schemas.openxmlformats.org/officeDocument/2006/relationships/oleObject" Target="../embeddings/oleObject41.bin"/><Relationship Id="rId7" Type="http://schemas.openxmlformats.org/officeDocument/2006/relationships/image" Target="../media/image83.jpg"/></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88.wmf"/><Relationship Id="rId4" Type="http://schemas.openxmlformats.org/officeDocument/2006/relationships/oleObject" Target="../embeddings/oleObject42.bin"/></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89.wmf"/><Relationship Id="rId4" Type="http://schemas.openxmlformats.org/officeDocument/2006/relationships/oleObject" Target="../embeddings/oleObject43.bin"/><Relationship Id="rId5" Type="http://schemas.openxmlformats.org/officeDocument/2006/relationships/image" Target="../media/image90.wmf"/><Relationship Id="rId6" Type="http://schemas.openxmlformats.org/officeDocument/2006/relationships/oleObject" Target="../embeddings/oleObject44.bin"/></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91.wmf"/><Relationship Id="rId4" Type="http://schemas.openxmlformats.org/officeDocument/2006/relationships/oleObject" Target="../embeddings/oleObject45.bin"/><Relationship Id="rId5" Type="http://schemas.openxmlformats.org/officeDocument/2006/relationships/image" Target="../media/image92.wmf"/><Relationship Id="rId6" Type="http://schemas.openxmlformats.org/officeDocument/2006/relationships/oleObject" Target="../embeddings/oleObject46.bin"/></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93.jpg"/><Relationship Id="rId4" Type="http://schemas.openxmlformats.org/officeDocument/2006/relationships/image" Target="../media/image94.wmf"/><Relationship Id="rId5" Type="http://schemas.openxmlformats.org/officeDocument/2006/relationships/oleObject" Target="../embeddings/oleObject47.bin"/></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95.wmf"/><Relationship Id="rId4" Type="http://schemas.openxmlformats.org/officeDocument/2006/relationships/oleObject" Target="../embeddings/oleObject48.bin"/><Relationship Id="rId5" Type="http://schemas.openxmlformats.org/officeDocument/2006/relationships/image" Target="../media/image96.wmf"/><Relationship Id="rId6" Type="http://schemas.openxmlformats.org/officeDocument/2006/relationships/oleObject" Target="../embeddings/oleObject49.bin"/><Relationship Id="rId7" Type="http://schemas.openxmlformats.org/officeDocument/2006/relationships/image" Target="../media/image97.wmf"/><Relationship Id="rId8" Type="http://schemas.openxmlformats.org/officeDocument/2006/relationships/oleObject" Target="../embeddings/oleObject50.bin"/><Relationship Id="rId9" Type="http://schemas.openxmlformats.org/officeDocument/2006/relationships/image" Target="../media/image98.png"/></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101.png"/></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100.png"/></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00.png"/></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3.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 Id="rId3" Type="http://schemas.openxmlformats.org/officeDocument/2006/relationships/image" Target="../media/image102.wmf"/><Relationship Id="rId4" Type="http://schemas.openxmlformats.org/officeDocument/2006/relationships/oleObject" Target="../embeddings/oleObject51.bin"/><Relationship Id="rId5" Type="http://schemas.openxmlformats.org/officeDocument/2006/relationships/image" Target="../media/image103.wmf"/><Relationship Id="rId6" Type="http://schemas.openxmlformats.org/officeDocument/2006/relationships/oleObject" Target="../embeddings/oleObject52.bin"/><Relationship Id="rId7" Type="http://schemas.openxmlformats.org/officeDocument/2006/relationships/image" Target="../media/image104.wmf"/><Relationship Id="rId8" Type="http://schemas.openxmlformats.org/officeDocument/2006/relationships/oleObject" Target="../embeddings/oleObject53.bin"/><Relationship Id="rId9" Type="http://schemas.openxmlformats.org/officeDocument/2006/relationships/image" Target="../media/image105.wmf"/><Relationship Id="rId10" Type="http://schemas.openxmlformats.org/officeDocument/2006/relationships/oleObject" Target="../embeddings/oleObject54.bin"/><Relationship Id="rId11" Type="http://schemas.openxmlformats.org/officeDocument/2006/relationships/image" Target="../media/image106.wmf"/><Relationship Id="rId12" Type="http://schemas.openxmlformats.org/officeDocument/2006/relationships/oleObject" Target="../embeddings/oleObject55.bin"/><Relationship Id="rId13" Type="http://schemas.openxmlformats.org/officeDocument/2006/relationships/image" Target="../media/image107.wmf"/><Relationship Id="rId14" Type="http://schemas.openxmlformats.org/officeDocument/2006/relationships/oleObject" Target="../embeddings/oleObject56.bin"/></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108.png"/><Relationship Id="rId4" Type="http://schemas.openxmlformats.org/officeDocument/2006/relationships/image" Target="../media/image109.png"/><Relationship Id="rId5" Type="http://schemas.openxmlformats.org/officeDocument/2006/relationships/image" Target="../media/image110.png"/><Relationship Id="rId6" Type="http://schemas.openxmlformats.org/officeDocument/2006/relationships/image" Target="../media/image111.png"/></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3.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4.xml"/><Relationship Id="rId3" Type="http://schemas.openxmlformats.org/officeDocument/2006/relationships/image" Target="../media/image112.png"/></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113.png"/></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114.png"/><Relationship Id="rId4" Type="http://schemas.openxmlformats.org/officeDocument/2006/relationships/image" Target="../media/image115.png"/></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0.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116.png"/><Relationship Id="rId4" Type="http://schemas.openxmlformats.org/officeDocument/2006/relationships/image" Target="../media/image117.jpg"/></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118.png"/><Relationship Id="rId4" Type="http://schemas.openxmlformats.org/officeDocument/2006/relationships/image" Target="../media/image119.png"/></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120.emf"/><Relationship Id="rId4" Type="http://schemas.openxmlformats.org/officeDocument/2006/relationships/oleObject" Target="../embeddings/oleObject57.bin"/></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121.jpg"/></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6.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7.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122.png"/></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123.png"/></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image" Target="../media/image124.png"/></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125.png"/><Relationship Id="rId4" Type="http://schemas.openxmlformats.org/officeDocument/2006/relationships/image" Target="../media/media58.svg"/></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126.png"/><Relationship Id="rId4" Type="http://schemas.openxmlformats.org/officeDocument/2006/relationships/image" Target="../media/media59.svg"/><Relationship Id="rId5" Type="http://schemas.openxmlformats.org/officeDocument/2006/relationships/image" Target="../media/image127.png"/><Relationship Id="rId6" Type="http://schemas.openxmlformats.org/officeDocument/2006/relationships/image" Target="../media/media60.svg"/><Relationship Id="rId7" Type="http://schemas.openxmlformats.org/officeDocument/2006/relationships/image" Target="../media/image128.png"/><Relationship Id="rId8" Type="http://schemas.openxmlformats.org/officeDocument/2006/relationships/image" Target="../media/media61.svg"/></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127.png"/><Relationship Id="rId4" Type="http://schemas.openxmlformats.org/officeDocument/2006/relationships/image" Target="../media/image129.png"/><Relationship Id="rId5" Type="http://schemas.openxmlformats.org/officeDocument/2006/relationships/image" Target="../media/media62.svg"/><Relationship Id="rId6" Type="http://schemas.openxmlformats.org/officeDocument/2006/relationships/image" Target="../media/image130.png"/><Relationship Id="rId7" Type="http://schemas.openxmlformats.org/officeDocument/2006/relationships/image" Target="../media/media63.svg"/></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131.png"/><Relationship Id="rId4" Type="http://schemas.openxmlformats.org/officeDocument/2006/relationships/image" Target="../media/media64.svg"/></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132.png"/><Relationship Id="rId4" Type="http://schemas.openxmlformats.org/officeDocument/2006/relationships/image" Target="../media/media65.svg"/></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812019" name="Rectangle 2"/>
          <p:cNvSpPr>
            <a:spLocks noChangeArrowheads="1" noGrp="1"/>
          </p:cNvSpPr>
          <p:nvPr>
            <p:ph type="title"/>
          </p:nvPr>
        </p:nvSpPr>
        <p:spPr bwMode="auto">
          <a:xfrm>
            <a:off x="552260" y="0"/>
            <a:ext cx="10976351" cy="1066800"/>
          </a:xfrm>
        </p:spPr>
        <p:txBody>
          <a:bodyPr anchor="t">
            <a:normAutofit fontScale="90000"/>
          </a:bodyPr>
          <a:lstStyle/>
          <a:p>
            <a:pPr>
              <a:defRPr/>
            </a:pPr>
            <a:r>
              <a:rPr lang="en-US" sz="3000" b="1"/>
              <a:t>Chương 2. Dữ liệu, Đo lường và Tiền xử lý dữ liệu</a:t>
            </a:r>
            <a:endParaRPr/>
          </a:p>
        </p:txBody>
      </p:sp>
      <p:sp>
        <p:nvSpPr>
          <p:cNvPr id="1597633608" name="Rectangle 3"/>
          <p:cNvSpPr>
            <a:spLocks noChangeArrowheads="1" noGrp="1"/>
          </p:cNvSpPr>
          <p:nvPr>
            <p:ph type="body" idx="1"/>
          </p:nvPr>
        </p:nvSpPr>
        <p:spPr bwMode="auto">
          <a:xfrm>
            <a:off x="663388" y="1502875"/>
            <a:ext cx="10865223" cy="4698750"/>
          </a:xfrm>
        </p:spPr>
        <p:txBody>
          <a:bodyPr/>
          <a:lstStyle/>
          <a:p>
            <a:pPr>
              <a:spcBef>
                <a:spcPts val="1200"/>
              </a:spcBef>
              <a:spcAft>
                <a:spcPts val="600"/>
              </a:spcAft>
              <a:tabLst>
                <a:tab pos="6178550" algn="l"/>
              </a:tabLst>
              <a:defRPr/>
            </a:pPr>
            <a:r>
              <a:rPr lang="en-US" b="1"/>
              <a:t>Các loại dữ liệu </a:t>
            </a:r>
            <a:endParaRPr/>
          </a:p>
          <a:p>
            <a:pPr>
              <a:spcBef>
                <a:spcPts val="1200"/>
              </a:spcBef>
              <a:spcAft>
                <a:spcPts val="600"/>
              </a:spcAft>
              <a:tabLst>
                <a:tab pos="6178550" algn="l"/>
              </a:tabLst>
              <a:defRPr/>
            </a:pPr>
            <a:r>
              <a:rPr lang="en-US" b="1"/>
              <a:t>Thống kê dữ liệu</a:t>
            </a:r>
            <a:endParaRPr/>
          </a:p>
          <a:p>
            <a:pPr>
              <a:spcBef>
                <a:spcPts val="1200"/>
              </a:spcBef>
              <a:spcAft>
                <a:spcPts val="600"/>
              </a:spcAft>
              <a:tabLst>
                <a:tab pos="6178550" algn="l"/>
              </a:tabLst>
              <a:defRPr/>
            </a:pPr>
            <a:r>
              <a:rPr lang="en-US" b="1"/>
              <a:t>Độ đo tương tự và khoảng cách</a:t>
            </a:r>
            <a:endParaRPr/>
          </a:p>
          <a:p>
            <a:pPr>
              <a:spcBef>
                <a:spcPts val="1200"/>
              </a:spcBef>
              <a:spcAft>
                <a:spcPts val="600"/>
              </a:spcAft>
              <a:tabLst>
                <a:tab pos="6178550" algn="l"/>
              </a:tabLst>
              <a:defRPr/>
            </a:pPr>
            <a:r>
              <a:rPr lang="en-US" b="1"/>
              <a:t>Chất lượng dữ liệu, làm sạch và tích hợp dữ liệu</a:t>
            </a:r>
            <a:endParaRPr/>
          </a:p>
          <a:p>
            <a:pPr>
              <a:spcBef>
                <a:spcPts val="1200"/>
              </a:spcBef>
              <a:spcAft>
                <a:spcPts val="600"/>
              </a:spcAft>
              <a:tabLst>
                <a:tab pos="6178550" algn="l"/>
              </a:tabLst>
              <a:defRPr/>
            </a:pPr>
            <a:r>
              <a:rPr lang="en-US" b="1"/>
              <a:t>Biến đổi dữ liệu</a:t>
            </a:r>
            <a:endParaRPr/>
          </a:p>
          <a:p>
            <a:pPr>
              <a:spcBef>
                <a:spcPts val="1200"/>
              </a:spcBef>
              <a:spcAft>
                <a:spcPts val="600"/>
              </a:spcAft>
              <a:tabLst>
                <a:tab pos="6178550" algn="l"/>
              </a:tabLst>
              <a:defRPr/>
            </a:pPr>
            <a:r>
              <a:rPr lang="en-US" b="1"/>
              <a:t>Giảm chiều dữ liệu</a:t>
            </a:r>
            <a:endParaRPr/>
          </a:p>
          <a:p>
            <a:pPr>
              <a:spcBef>
                <a:spcPts val="1200"/>
              </a:spcBef>
              <a:spcAft>
                <a:spcPts val="600"/>
              </a:spcAft>
              <a:tabLst>
                <a:tab pos="6178550" algn="l"/>
              </a:tabLst>
              <a:defRPr/>
            </a:pPr>
            <a:r>
              <a:rPr lang="en-US" b="1" i="0" u="none" strike="noStrike"/>
              <a:t>Tóm tắt</a:t>
            </a:r>
            <a:endParaRPr lang="en-US"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637263" name="Rectangle 2"/>
          <p:cNvSpPr>
            <a:spLocks noChangeArrowheads="1" noGrp="1"/>
          </p:cNvSpPr>
          <p:nvPr>
            <p:ph type="title"/>
          </p:nvPr>
        </p:nvSpPr>
        <p:spPr bwMode="auto">
          <a:xfrm>
            <a:off x="1452282" y="304800"/>
            <a:ext cx="9269506" cy="685800"/>
          </a:xfrm>
          <a:prstGeom prst="rect">
            <a:avLst/>
          </a:prstGeom>
          <a:noFill/>
        </p:spPr>
        <p:txBody>
          <a:bodyPr vert="horz" lIns="92075" tIns="46038" rIns="92075" bIns="46038" rtlCol="0" anchor="t">
            <a:normAutofit/>
          </a:bodyPr>
          <a:lstStyle/>
          <a:p>
            <a:pPr>
              <a:defRPr/>
            </a:pPr>
            <a:r>
              <a:rPr lang="en-US" sz="3000"/>
              <a:t>Các loại tập dữ liệu: (1) Dữ liệu dạng bản ghi</a:t>
            </a:r>
            <a:endParaRPr/>
          </a:p>
        </p:txBody>
      </p:sp>
      <p:sp>
        <p:nvSpPr>
          <p:cNvPr id="1271795370" name="Rectangle 3"/>
          <p:cNvSpPr>
            <a:spLocks noChangeArrowheads="1" noGrp="1"/>
          </p:cNvSpPr>
          <p:nvPr>
            <p:ph type="body" idx="1"/>
          </p:nvPr>
        </p:nvSpPr>
        <p:spPr bwMode="auto">
          <a:xfrm>
            <a:off x="656664" y="1168214"/>
            <a:ext cx="10954871" cy="5365377"/>
          </a:xfrm>
          <a:prstGeom prst="rect">
            <a:avLst/>
          </a:prstGeom>
          <a:noFill/>
        </p:spPr>
        <p:txBody>
          <a:bodyPr vert="horz" lIns="92075" tIns="46038" rIns="92075" bIns="46038" rtlCol="0">
            <a:noAutofit/>
          </a:bodyPr>
          <a:lstStyle/>
          <a:p>
            <a:pPr marL="523881" indent="-342900">
              <a:spcBef>
                <a:spcPts val="0"/>
              </a:spcBef>
              <a:defRPr/>
            </a:pPr>
            <a:r>
              <a:rPr lang="en-US" sz="2000">
                <a:cs typeface="Times New Roman"/>
              </a:rPr>
              <a:t>Bản ghi quan hệ</a:t>
            </a:r>
            <a:endParaRPr/>
          </a:p>
          <a:p>
            <a:pPr marL="800100" lvl="1" indent="-342900">
              <a:spcBef>
                <a:spcPts val="0"/>
              </a:spcBef>
              <a:defRPr/>
            </a:pPr>
            <a:r>
              <a:rPr lang="en-US" sz="2000">
                <a:cs typeface="Times New Roman"/>
              </a:rPr>
              <a:t>Bảng quan hệ, có cấu trúc cao</a:t>
            </a:r>
            <a:endParaRPr/>
          </a:p>
          <a:p>
            <a:pPr marL="523881" indent="-342900">
              <a:spcBef>
                <a:spcPts val="0"/>
              </a:spcBef>
              <a:defRPr/>
            </a:pPr>
            <a:r>
              <a:rPr lang="en-US" sz="2000">
                <a:cs typeface="Times New Roman"/>
              </a:rPr>
              <a:t>Ma trận dữ liệu, ví dụ: ma trận số, bảng chéo (crosstab)</a:t>
            </a:r>
            <a:endParaRPr/>
          </a:p>
          <a:p>
            <a:pPr marL="523881" indent="-342900">
              <a:spcBef>
                <a:spcPts val="0"/>
              </a:spcBef>
              <a:defRPr/>
            </a:pPr>
            <a:endParaRPr lang="en-US" sz="2400">
              <a:cs typeface="Times New Roman"/>
            </a:endParaRPr>
          </a:p>
          <a:p>
            <a:pPr marL="523881" indent="-342900">
              <a:spcBef>
                <a:spcPts val="0"/>
              </a:spcBef>
              <a:defRPr/>
            </a:pPr>
            <a:endParaRPr lang="en-US" sz="2400">
              <a:cs typeface="Times New Roman"/>
            </a:endParaRPr>
          </a:p>
          <a:p>
            <a:pPr marL="180981" indent="0">
              <a:spcBef>
                <a:spcPts val="0"/>
              </a:spcBef>
              <a:buNone/>
              <a:defRPr/>
            </a:pPr>
            <a:endParaRPr lang="en-US" sz="2400">
              <a:cs typeface="Times New Roman"/>
            </a:endParaRPr>
          </a:p>
          <a:p>
            <a:pPr marL="523881" indent="-342900">
              <a:spcBef>
                <a:spcPts val="0"/>
              </a:spcBef>
              <a:defRPr/>
            </a:pPr>
            <a:endParaRPr lang="en-US" sz="2400">
              <a:cs typeface="Times New Roman"/>
            </a:endParaRPr>
          </a:p>
          <a:p>
            <a:pPr marL="523881" indent="-342900">
              <a:spcBef>
                <a:spcPts val="0"/>
              </a:spcBef>
              <a:defRPr/>
            </a:pPr>
            <a:endParaRPr lang="en-US" sz="2400">
              <a:cs typeface="Times New Roman"/>
            </a:endParaRPr>
          </a:p>
          <a:p>
            <a:pPr marL="523881" indent="-342900">
              <a:spcBef>
                <a:spcPts val="0"/>
              </a:spcBef>
              <a:defRPr/>
            </a:pPr>
            <a:r>
              <a:rPr lang="en-US" sz="2000">
                <a:cs typeface="Times New Roman"/>
              </a:rPr>
              <a:t>Dữ liệu giao dịch</a:t>
            </a:r>
            <a:endParaRPr/>
          </a:p>
          <a:p>
            <a:pPr marL="523881" indent="-342900">
              <a:spcBef>
                <a:spcPts val="0"/>
              </a:spcBef>
              <a:defRPr/>
            </a:pPr>
            <a:endParaRPr lang="en-US" sz="2400">
              <a:cs typeface="Times New Roman"/>
            </a:endParaRPr>
          </a:p>
          <a:p>
            <a:pPr marL="523881" indent="-342900">
              <a:spcBef>
                <a:spcPts val="0"/>
              </a:spcBef>
              <a:defRPr/>
            </a:pPr>
            <a:endParaRPr lang="en-US" sz="2400">
              <a:cs typeface="Times New Roman"/>
            </a:endParaRPr>
          </a:p>
          <a:p>
            <a:pPr marL="180981" indent="0">
              <a:spcBef>
                <a:spcPts val="0"/>
              </a:spcBef>
              <a:buNone/>
              <a:defRPr/>
            </a:pPr>
            <a:endParaRPr lang="en-US" sz="2400">
              <a:cs typeface="Times New Roman"/>
            </a:endParaRPr>
          </a:p>
          <a:p>
            <a:pPr marL="523881" indent="-342900">
              <a:spcBef>
                <a:spcPts val="0"/>
              </a:spcBef>
              <a:defRPr/>
            </a:pPr>
            <a:endParaRPr lang="en-US" sz="2400">
              <a:cs typeface="Times New Roman"/>
            </a:endParaRPr>
          </a:p>
          <a:p>
            <a:pPr marL="523881" indent="-342900">
              <a:spcBef>
                <a:spcPts val="0"/>
              </a:spcBef>
              <a:defRPr/>
            </a:pPr>
            <a:r>
              <a:rPr lang="en-US" sz="2000">
                <a:cs typeface="Times New Roman"/>
              </a:rPr>
              <a:t>Dữ liệu văn bản: vectơ (ma trận) tần suất từ của các văn bản</a:t>
            </a:r>
            <a:endParaRPr/>
          </a:p>
          <a:p>
            <a:pPr marL="523881" indent="-342900">
              <a:spcBef>
                <a:spcPts val="0"/>
              </a:spcBef>
              <a:defRPr/>
            </a:pPr>
            <a:endParaRPr lang="en-US" sz="2400"/>
          </a:p>
        </p:txBody>
      </p:sp>
      <p:graphicFrame>
        <p:nvGraphicFramePr>
          <p:cNvPr id="807631248" name="Object 4"/>
          <p:cNvGraphicFramePr>
            <a:graphicFrameLocks xmlns:a="http://schemas.openxmlformats.org/drawingml/2006/main" noChangeAspect="1"/>
          </p:cNvGraphicFramePr>
          <p:nvPr/>
        </p:nvGraphicFramePr>
        <p:xfrm>
          <a:off x="5354451" y="4081502"/>
          <a:ext cx="4117788" cy="1826610"/>
        </p:xfrm>
        <a:graphic>
          <a:graphicData uri="http://schemas.openxmlformats.org/presentationml/2006/ole">
            <p:oleObj name="oleObj" r:id="rId4" imgW="5925185" imgH="2693670" progId="Visio.Drawing.6">
              <p:embed/>
              <p:pic>
                <p:nvPicPr>
                  <p:cNvPr id="807631248" name="Object 4"/>
                  <p:cNvPicPr/>
                  <p:nvPr/>
                </p:nvPicPr>
                <p:blipFill rotWithShape="1">
                  <a:blip r:embed="rId3"/>
                  <a:stretch/>
                </p:blipFill>
                <p:spPr bwMode="auto">
                  <a:xfrm>
                    <a:off x="5354451" y="4081502"/>
                    <a:ext cx="4117788" cy="1826610"/>
                  </a:xfrm>
                  <a:prstGeom prst="rect">
                    <a:avLst/>
                  </a:prstGeom>
                  <a:noFill/>
                  <a:ln>
                    <a:noFill/>
                  </a:ln>
                  <a:effectLst/>
                </p:spPr>
              </p:pic>
            </p:oleObj>
          </a:graphicData>
        </a:graphic>
      </p:graphicFrame>
      <p:graphicFrame>
        <p:nvGraphicFramePr>
          <p:cNvPr id="1180327174" name="Object 6"/>
          <p:cNvGraphicFramePr>
            <a:graphicFrameLocks xmlns:a="http://schemas.openxmlformats.org/drawingml/2006/main" noChangeAspect="1"/>
          </p:cNvGraphicFramePr>
          <p:nvPr/>
        </p:nvGraphicFramePr>
        <p:xfrm>
          <a:off x="1524000" y="4502116"/>
          <a:ext cx="2881406" cy="1506516"/>
        </p:xfrm>
        <a:graphic>
          <a:graphicData uri="http://schemas.openxmlformats.org/presentationml/2006/ole">
            <p:oleObj name="oleObj" r:id="rId6" imgW="3823335" imgH="1998980" progId="Word.Document.8">
              <p:embed/>
              <p:pic>
                <p:nvPicPr>
                  <p:cNvPr id="1180327174" name="Object 6"/>
                  <p:cNvPicPr/>
                  <p:nvPr/>
                </p:nvPicPr>
                <p:blipFill rotWithShape="1">
                  <a:blip r:embed="rId5"/>
                  <a:stretch/>
                </p:blipFill>
                <p:spPr bwMode="auto">
                  <a:xfrm>
                    <a:off x="1524000" y="4502116"/>
                    <a:ext cx="2881406" cy="1506516"/>
                  </a:xfrm>
                  <a:prstGeom prst="rect">
                    <a:avLst/>
                  </a:prstGeom>
                  <a:noFill/>
                  <a:ln>
                    <a:noFill/>
                  </a:ln>
                  <a:effectLst/>
                </p:spPr>
              </p:pic>
            </p:oleObj>
          </a:graphicData>
        </a:graphic>
      </p:graphicFrame>
      <p:pic>
        <p:nvPicPr>
          <p:cNvPr id="1646124465" name="Picture 2" descr="http://2.bp.blogspot.com/-HXyE2OrQHKo/Utp0EdlSh7I/AAAAAAAAAK8/fEOu1tXGZEQ/s1600/hvbugogvpujij%5D.png"/>
          <p:cNvPicPr>
            <a:picLocks noChangeAspect="1" noChangeArrowheads="1"/>
          </p:cNvPicPr>
          <p:nvPr/>
        </p:nvPicPr>
        <p:blipFill rotWithShape="1">
          <a:blip r:embed="rId7"/>
          <a:stretch/>
        </p:blipFill>
        <p:spPr bwMode="auto">
          <a:xfrm>
            <a:off x="7091083" y="1168214"/>
            <a:ext cx="4280133" cy="2850535"/>
          </a:xfrm>
          <a:prstGeom prst="rect">
            <a:avLst/>
          </a:prstGeom>
          <a:noFill/>
        </p:spPr>
      </p:pic>
      <p:pic>
        <p:nvPicPr>
          <p:cNvPr id="2115385037" name="Picture 8" descr="http://www.ibm.com/support/knowledgecenter/SS4JCV_7.5.5/com.businessobjects.integration.eclipse.designer.doc/html/images/xtab5.gif"/>
          <p:cNvPicPr>
            <a:picLocks noChangeAspect="1" noChangeArrowheads="1"/>
          </p:cNvPicPr>
          <p:nvPr/>
        </p:nvPicPr>
        <p:blipFill rotWithShape="1">
          <a:blip r:embed="rId8"/>
          <a:stretch/>
        </p:blipFill>
        <p:spPr bwMode="auto">
          <a:xfrm>
            <a:off x="1650252" y="2289977"/>
            <a:ext cx="4284382" cy="1791525"/>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62205841" name="Rectangle 2"/>
          <p:cNvSpPr>
            <a:spLocks noChangeArrowheads="1" noGrp="1"/>
          </p:cNvSpPr>
          <p:nvPr>
            <p:ph type="title"/>
          </p:nvPr>
        </p:nvSpPr>
        <p:spPr bwMode="auto">
          <a:xfrm>
            <a:off x="656665" y="304800"/>
            <a:ext cx="10954869" cy="685800"/>
          </a:xfrm>
          <a:prstGeom prst="rect">
            <a:avLst/>
          </a:prstGeom>
          <a:noFill/>
        </p:spPr>
        <p:txBody>
          <a:bodyPr vert="horz" lIns="92075" tIns="46038" rIns="92075" bIns="46038" rtlCol="0" anchor="t">
            <a:normAutofit fontScale="90000"/>
          </a:bodyPr>
          <a:lstStyle/>
          <a:p>
            <a:pPr>
              <a:defRPr/>
            </a:pPr>
            <a:r>
              <a:rPr lang="en-US"/>
              <a:t>Các loại tập dữ liệu: (2) Đồ thị và mạng</a:t>
            </a:r>
            <a:endParaRPr/>
          </a:p>
        </p:txBody>
      </p:sp>
      <p:sp>
        <p:nvSpPr>
          <p:cNvPr id="350289655" name="Rectangle 3"/>
          <p:cNvSpPr>
            <a:spLocks noChangeArrowheads="1" noGrp="1"/>
          </p:cNvSpPr>
          <p:nvPr>
            <p:ph type="body" idx="1"/>
          </p:nvPr>
        </p:nvSpPr>
        <p:spPr bwMode="auto">
          <a:xfrm>
            <a:off x="656665" y="1116106"/>
            <a:ext cx="8747312" cy="1578968"/>
          </a:xfrm>
          <a:prstGeom prst="rect">
            <a:avLst/>
          </a:prstGeom>
          <a:noFill/>
        </p:spPr>
        <p:txBody>
          <a:bodyPr vert="horz" lIns="92075" tIns="46038" rIns="92075" bIns="46038" rtlCol="0">
            <a:noAutofit/>
          </a:bodyPr>
          <a:lstStyle/>
          <a:p>
            <a:pPr marL="523881" indent="-342900">
              <a:lnSpc>
                <a:spcPct val="200000"/>
              </a:lnSpc>
              <a:spcBef>
                <a:spcPts val="0"/>
              </a:spcBef>
              <a:defRPr/>
            </a:pPr>
            <a:r>
              <a:rPr lang="en-US" sz="2000">
                <a:cs typeface="Times New Roman"/>
              </a:rPr>
              <a:t>Mạng giao thông</a:t>
            </a:r>
            <a:endParaRPr/>
          </a:p>
          <a:p>
            <a:pPr marL="523881" indent="-342900">
              <a:lnSpc>
                <a:spcPct val="200000"/>
              </a:lnSpc>
              <a:spcBef>
                <a:spcPts val="0"/>
              </a:spcBef>
              <a:defRPr/>
            </a:pPr>
            <a:r>
              <a:rPr lang="en-US" sz="2000">
                <a:cs typeface="Times New Roman"/>
              </a:rPr>
              <a:t>World Wide Web</a:t>
            </a:r>
            <a:endParaRPr/>
          </a:p>
        </p:txBody>
      </p:sp>
      <p:pic>
        <p:nvPicPr>
          <p:cNvPr id="941237366" name="Picture 6" descr="http://www.hotelsneardcmetro.com/wp-content/uploads/2013/03/washington-dc-metro-station-with-hotels-close-by.png"/>
          <p:cNvPicPr>
            <a:picLocks noChangeAspect="1" noChangeArrowheads="1"/>
          </p:cNvPicPr>
          <p:nvPr/>
        </p:nvPicPr>
        <p:blipFill rotWithShape="1">
          <a:blip r:embed="rId3"/>
          <a:stretch/>
        </p:blipFill>
        <p:spPr bwMode="auto">
          <a:xfrm>
            <a:off x="4578974" y="1263315"/>
            <a:ext cx="3110252" cy="2789405"/>
          </a:xfrm>
          <a:prstGeom prst="rect">
            <a:avLst/>
          </a:prstGeom>
          <a:noFill/>
        </p:spPr>
      </p:pic>
      <p:pic>
        <p:nvPicPr>
          <p:cNvPr id="1185207472" name="Picture 8" descr="http://www.vlib.us/web/opte.org.jpg"/>
          <p:cNvPicPr>
            <a:picLocks noChangeAspect="1" noChangeArrowheads="1"/>
          </p:cNvPicPr>
          <p:nvPr/>
        </p:nvPicPr>
        <p:blipFill rotWithShape="1">
          <a:blip r:embed="rId4"/>
          <a:stretch/>
        </p:blipFill>
        <p:spPr bwMode="auto">
          <a:xfrm>
            <a:off x="8277725" y="1232639"/>
            <a:ext cx="2672455" cy="2850757"/>
          </a:xfrm>
          <a:prstGeom prst="rect">
            <a:avLst/>
          </a:prstGeom>
          <a:noFill/>
        </p:spPr>
      </p:pic>
      <p:pic>
        <p:nvPicPr>
          <p:cNvPr id="1623623839" name="Picture 10" descr="http://chem.ch.huji.ac.il/pics/bino.jpg"/>
          <p:cNvPicPr>
            <a:picLocks noChangeAspect="1" noChangeArrowheads="1"/>
          </p:cNvPicPr>
          <p:nvPr/>
        </p:nvPicPr>
        <p:blipFill rotWithShape="1">
          <a:blip r:embed="rId5"/>
          <a:stretch/>
        </p:blipFill>
        <p:spPr bwMode="auto">
          <a:xfrm>
            <a:off x="1238418" y="2658018"/>
            <a:ext cx="2842421" cy="2588222"/>
          </a:xfrm>
          <a:prstGeom prst="rect">
            <a:avLst/>
          </a:prstGeom>
          <a:noFill/>
        </p:spPr>
      </p:pic>
      <p:sp>
        <p:nvSpPr>
          <p:cNvPr id="2139179111" name="Rectangle 3"/>
          <p:cNvSpPr txBox="1">
            <a:spLocks noChangeArrowheads="1"/>
          </p:cNvSpPr>
          <p:nvPr/>
        </p:nvSpPr>
        <p:spPr bwMode="auto">
          <a:xfrm>
            <a:off x="656665" y="5156101"/>
            <a:ext cx="4952342" cy="1788460"/>
          </a:xfrm>
          <a:prstGeom prst="rect">
            <a:avLst/>
          </a:prstGeom>
          <a:noFill/>
        </p:spPr>
        <p:txBody>
          <a:bodyPr vert="horz" lIns="92075" tIns="46038" rIns="92075" bIns="46038" rtlCol="0">
            <a:noAutofit/>
          </a:bodyPr>
          <a:lstStyle>
            <a:lvl1pPr marL="461951" indent="-461951" algn="l" defTabSz="914354" rtl="0">
              <a:lnSpc>
                <a:spcPct val="100000"/>
              </a:lnSpc>
              <a:spcBef>
                <a:spcPts val="600"/>
              </a:spcBef>
              <a:spcAft>
                <a:spcPts val="0"/>
              </a:spcAft>
              <a:buClr>
                <a:srgbClr val="0000CC"/>
              </a:buClr>
              <a:buSzPct val="80000"/>
              <a:buFont typeface="Wingdings"/>
              <a:buChar char="q"/>
              <a:defRPr sz="2800">
                <a:solidFill>
                  <a:schemeClr val="tx1"/>
                </a:solidFill>
                <a:latin typeface="+mn-lt"/>
                <a:ea typeface="+mn-ea"/>
                <a:cs typeface="+mn-cs"/>
              </a:defRPr>
            </a:lvl1pPr>
            <a:lvl2pPr marL="738170" indent="-538149" algn="l" defTabSz="914354" rtl="0">
              <a:lnSpc>
                <a:spcPct val="100000"/>
              </a:lnSpc>
              <a:spcBef>
                <a:spcPts val="600"/>
              </a:spcBef>
              <a:spcAft>
                <a:spcPts val="0"/>
              </a:spcAft>
              <a:buClr>
                <a:srgbClr val="BD582C"/>
              </a:buClr>
              <a:buSzPct val="80000"/>
              <a:buFont typeface="Wingdings"/>
              <a:buChar char="q"/>
              <a:defRPr sz="2800">
                <a:solidFill>
                  <a:schemeClr val="tx1"/>
                </a:solidFill>
                <a:latin typeface="+mn-lt"/>
                <a:ea typeface="+mn-ea"/>
                <a:cs typeface="+mn-cs"/>
              </a:defRPr>
            </a:lvl2pPr>
            <a:lvl3pPr marL="858817" indent="-474651" algn="l" defTabSz="914354" rtl="0">
              <a:lnSpc>
                <a:spcPct val="100000"/>
              </a:lnSpc>
              <a:spcBef>
                <a:spcPts val="600"/>
              </a:spcBef>
              <a:spcAft>
                <a:spcPts val="0"/>
              </a:spcAft>
              <a:buClr>
                <a:srgbClr val="008080"/>
              </a:buClr>
              <a:buSzPct val="80000"/>
              <a:buFont typeface="Wingdings"/>
              <a:buChar char="q"/>
              <a:defRPr sz="2800">
                <a:solidFill>
                  <a:schemeClr val="tx1"/>
                </a:solidFill>
                <a:latin typeface="+mn-lt"/>
                <a:ea typeface="+mn-ea"/>
                <a:cs typeface="+mn-cs"/>
              </a:defRPr>
            </a:lvl3pPr>
            <a:lvl4pPr marL="1144559" indent="-522275" algn="l" defTabSz="914354" rtl="0">
              <a:lnSpc>
                <a:spcPct val="100000"/>
              </a:lnSpc>
              <a:spcBef>
                <a:spcPts val="600"/>
              </a:spcBef>
              <a:spcAft>
                <a:spcPts val="0"/>
              </a:spcAft>
              <a:buClr>
                <a:srgbClr val="FF0000"/>
              </a:buClr>
              <a:buSzPct val="80000"/>
              <a:buFont typeface="Wingdings"/>
              <a:buChar char="q"/>
              <a:defRPr sz="2800">
                <a:solidFill>
                  <a:schemeClr val="tx1"/>
                </a:solidFill>
                <a:latin typeface="+mn-lt"/>
                <a:ea typeface="+mn-ea"/>
                <a:cs typeface="+mn-cs"/>
              </a:defRPr>
            </a:lvl4pPr>
            <a:lvl5pPr marL="1376328" indent="-507987" algn="l" defTabSz="914354" rtl="0">
              <a:lnSpc>
                <a:spcPct val="100000"/>
              </a:lnSpc>
              <a:spcBef>
                <a:spcPts val="600"/>
              </a:spcBef>
              <a:spcAft>
                <a:spcPts val="0"/>
              </a:spcAft>
              <a:buClr>
                <a:srgbClr val="7030A0"/>
              </a:buClr>
              <a:buSzPct val="80000"/>
              <a:buFont typeface="Wingdings"/>
              <a:buChar char="q"/>
              <a:defRPr sz="2800">
                <a:solidFill>
                  <a:schemeClr val="tx1"/>
                </a:solidFill>
                <a:latin typeface="+mn-lt"/>
                <a:ea typeface="+mn-ea"/>
                <a:cs typeface="+mn-cs"/>
              </a:defRPr>
            </a:lvl5pPr>
            <a:lvl6pPr marL="1099946" indent="-228589" algn="l" defTabSz="914354" rtl="0">
              <a:lnSpc>
                <a:spcPct val="90000"/>
              </a:lnSpc>
              <a:spcBef>
                <a:spcPts val="200"/>
              </a:spcBef>
              <a:spcAft>
                <a:spcPts val="400"/>
              </a:spcAft>
              <a:buClr>
                <a:schemeClr val="accent1"/>
              </a:buClr>
              <a:buFont typeface="Calibri"/>
              <a:buChar char="◦"/>
              <a:defRPr sz="1500">
                <a:solidFill>
                  <a:schemeClr val="tx1">
                    <a:lumMod val="75000"/>
                    <a:lumOff val="25000"/>
                  </a:schemeClr>
                </a:solidFill>
                <a:latin typeface="+mn-lt"/>
                <a:ea typeface="+mn-ea"/>
                <a:cs typeface="+mn-cs"/>
              </a:defRPr>
            </a:lvl6pPr>
            <a:lvl7pPr marL="1299936" indent="-228589" algn="l" defTabSz="914354" rtl="0">
              <a:lnSpc>
                <a:spcPct val="90000"/>
              </a:lnSpc>
              <a:spcBef>
                <a:spcPts val="200"/>
              </a:spcBef>
              <a:spcAft>
                <a:spcPts val="400"/>
              </a:spcAft>
              <a:buClr>
                <a:schemeClr val="accent1"/>
              </a:buClr>
              <a:buFont typeface="Calibri"/>
              <a:buChar char="◦"/>
              <a:defRPr sz="1500">
                <a:solidFill>
                  <a:schemeClr val="tx1">
                    <a:lumMod val="75000"/>
                    <a:lumOff val="25000"/>
                  </a:schemeClr>
                </a:solidFill>
                <a:latin typeface="+mn-lt"/>
                <a:ea typeface="+mn-ea"/>
                <a:cs typeface="+mn-cs"/>
              </a:defRPr>
            </a:lvl7pPr>
            <a:lvl8pPr marL="1499925" indent="-228589" algn="l" defTabSz="914354" rtl="0">
              <a:lnSpc>
                <a:spcPct val="90000"/>
              </a:lnSpc>
              <a:spcBef>
                <a:spcPts val="200"/>
              </a:spcBef>
              <a:spcAft>
                <a:spcPts val="400"/>
              </a:spcAft>
              <a:buClr>
                <a:schemeClr val="accent1"/>
              </a:buClr>
              <a:buFont typeface="Calibri"/>
              <a:buChar char="◦"/>
              <a:defRPr sz="1500">
                <a:solidFill>
                  <a:schemeClr val="tx1">
                    <a:lumMod val="75000"/>
                    <a:lumOff val="25000"/>
                  </a:schemeClr>
                </a:solidFill>
                <a:latin typeface="+mn-lt"/>
                <a:ea typeface="+mn-ea"/>
                <a:cs typeface="+mn-cs"/>
              </a:defRPr>
            </a:lvl8pPr>
            <a:lvl9pPr marL="1699916" indent="-228589" algn="l" defTabSz="914354" rtl="0">
              <a:lnSpc>
                <a:spcPct val="90000"/>
              </a:lnSpc>
              <a:spcBef>
                <a:spcPts val="200"/>
              </a:spcBef>
              <a:spcAft>
                <a:spcPts val="400"/>
              </a:spcAft>
              <a:buClr>
                <a:schemeClr val="accent1"/>
              </a:buClr>
              <a:buFont typeface="Calibri"/>
              <a:buChar char="◦"/>
              <a:defRPr sz="1500">
                <a:solidFill>
                  <a:schemeClr val="tx1">
                    <a:lumMod val="75000"/>
                    <a:lumOff val="25000"/>
                  </a:schemeClr>
                </a:solidFill>
                <a:latin typeface="+mn-lt"/>
                <a:ea typeface="+mn-ea"/>
                <a:cs typeface="+mn-cs"/>
              </a:defRPr>
            </a:lvl9pPr>
          </a:lstStyle>
          <a:p>
            <a:pPr marL="523881" indent="-342900">
              <a:lnSpc>
                <a:spcPct val="200000"/>
              </a:lnSpc>
              <a:spcBef>
                <a:spcPts val="0"/>
              </a:spcBef>
              <a:defRPr/>
            </a:pPr>
            <a:r>
              <a:rPr lang="en-US" sz="2000">
                <a:cs typeface="Times New Roman"/>
              </a:rPr>
              <a:t>Cấu trúc phân tử</a:t>
            </a:r>
            <a:endParaRPr/>
          </a:p>
          <a:p>
            <a:pPr marL="523881" indent="-342900">
              <a:lnSpc>
                <a:spcPct val="200000"/>
              </a:lnSpc>
              <a:spcBef>
                <a:spcPts val="0"/>
              </a:spcBef>
              <a:defRPr/>
            </a:pPr>
            <a:r>
              <a:rPr lang="en-US" sz="2000">
                <a:cs typeface="Times New Roman"/>
              </a:rPr>
              <a:t>Mạng xã hội hoặc mạng thông tin</a:t>
            </a:r>
            <a:endParaRPr/>
          </a:p>
        </p:txBody>
      </p:sp>
      <p:pic>
        <p:nvPicPr>
          <p:cNvPr id="398663265" name="Picture 12" descr="http://cdn1.tnwcdn.com/wp-content/blogs.dir/1/files/2013/11/social-network-links.jpg"/>
          <p:cNvPicPr>
            <a:picLocks noChangeAspect="1" noChangeArrowheads="1"/>
          </p:cNvPicPr>
          <p:nvPr/>
        </p:nvPicPr>
        <p:blipFill rotWithShape="1">
          <a:blip r:embed="rId6"/>
          <a:stretch/>
        </p:blipFill>
        <p:spPr bwMode="auto">
          <a:xfrm>
            <a:off x="5609007" y="4199929"/>
            <a:ext cx="4670924" cy="2627395"/>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32105717" name="Rectangle 2"/>
          <p:cNvSpPr>
            <a:spLocks noChangeArrowheads="1" noGrp="1"/>
          </p:cNvSpPr>
          <p:nvPr>
            <p:ph type="title"/>
          </p:nvPr>
        </p:nvSpPr>
        <p:spPr bwMode="auto">
          <a:xfrm>
            <a:off x="656665" y="304800"/>
            <a:ext cx="10954869" cy="685800"/>
          </a:xfrm>
          <a:prstGeom prst="rect">
            <a:avLst/>
          </a:prstGeom>
          <a:noFill/>
        </p:spPr>
        <p:txBody>
          <a:bodyPr vert="horz" lIns="92075" tIns="46038" rIns="92075" bIns="46038" rtlCol="0" anchor="t">
            <a:normAutofit/>
          </a:bodyPr>
          <a:lstStyle/>
          <a:p>
            <a:pPr>
              <a:defRPr/>
            </a:pPr>
            <a:r>
              <a:rPr lang="en-US"/>
              <a:t>Các loại tập dữ liệu: (3) </a:t>
            </a:r>
            <a:r>
              <a:rPr lang="en-US">
                <a:cs typeface="Times New Roman"/>
              </a:rPr>
              <a:t>Dữ liệu có thứ tự</a:t>
            </a:r>
            <a:endParaRPr lang="en-US"/>
          </a:p>
        </p:txBody>
      </p:sp>
      <p:sp>
        <p:nvSpPr>
          <p:cNvPr id="228386269" name="Rectangle 3"/>
          <p:cNvSpPr>
            <a:spLocks noChangeArrowheads="1" noGrp="1"/>
          </p:cNvSpPr>
          <p:nvPr>
            <p:ph type="body" idx="1"/>
          </p:nvPr>
        </p:nvSpPr>
        <p:spPr bwMode="auto">
          <a:xfrm>
            <a:off x="656666" y="1151556"/>
            <a:ext cx="5768198" cy="5525970"/>
          </a:xfrm>
          <a:prstGeom prst="rect">
            <a:avLst/>
          </a:prstGeom>
          <a:noFill/>
        </p:spPr>
        <p:txBody>
          <a:bodyPr vert="horz" lIns="92075" tIns="46038" rIns="92075" bIns="46038" rtlCol="0">
            <a:noAutofit/>
          </a:bodyPr>
          <a:lstStyle/>
          <a:p>
            <a:pPr marL="523881" indent="-342900">
              <a:spcBef>
                <a:spcPts val="0"/>
              </a:spcBef>
              <a:defRPr/>
            </a:pPr>
            <a:r>
              <a:rPr lang="en-US" sz="2000">
                <a:cs typeface="Times New Roman"/>
              </a:rPr>
              <a:t>Dữ liệu video: chuỗi các khung hình</a:t>
            </a:r>
            <a:endParaRPr/>
          </a:p>
          <a:p>
            <a:pPr marL="180981" indent="0">
              <a:spcBef>
                <a:spcPts val="0"/>
              </a:spcBef>
              <a:buNone/>
              <a:defRPr/>
            </a:pPr>
            <a:endParaRPr lang="en-US" sz="2400">
              <a:cs typeface="Times New Roman"/>
            </a:endParaRPr>
          </a:p>
          <a:p>
            <a:pPr marL="523881" indent="-342900">
              <a:spcBef>
                <a:spcPts val="0"/>
              </a:spcBef>
              <a:defRPr/>
            </a:pPr>
            <a:r>
              <a:rPr lang="en-US" sz="2000">
                <a:cs typeface="Times New Roman"/>
              </a:rPr>
              <a:t>Dữ liệu thời gian: chuỗi thời gian</a:t>
            </a:r>
            <a:endParaRPr/>
          </a:p>
          <a:p>
            <a:pPr marL="523881" indent="-342900">
              <a:spcBef>
                <a:spcPts val="0"/>
              </a:spcBef>
              <a:defRPr/>
            </a:pPr>
            <a:endParaRPr lang="en-US" sz="2400">
              <a:cs typeface="Times New Roman"/>
            </a:endParaRPr>
          </a:p>
          <a:p>
            <a:pPr marL="523881" indent="-342900">
              <a:spcBef>
                <a:spcPts val="0"/>
              </a:spcBef>
              <a:defRPr/>
            </a:pPr>
            <a:endParaRPr lang="en-US" sz="2400">
              <a:cs typeface="Times New Roman"/>
            </a:endParaRPr>
          </a:p>
          <a:p>
            <a:pPr marL="523881" indent="-342900">
              <a:spcBef>
                <a:spcPts val="0"/>
              </a:spcBef>
              <a:defRPr/>
            </a:pPr>
            <a:endParaRPr lang="en-US" sz="2400">
              <a:cs typeface="Times New Roman"/>
            </a:endParaRPr>
          </a:p>
          <a:p>
            <a:pPr marL="523881" indent="-342900">
              <a:spcBef>
                <a:spcPts val="0"/>
              </a:spcBef>
              <a:defRPr/>
            </a:pPr>
            <a:endParaRPr lang="en-US" sz="2400">
              <a:cs typeface="Times New Roman"/>
            </a:endParaRPr>
          </a:p>
          <a:p>
            <a:pPr marL="523881" indent="-342900">
              <a:spcBef>
                <a:spcPts val="0"/>
              </a:spcBef>
              <a:defRPr/>
            </a:pPr>
            <a:endParaRPr lang="en-US" sz="2400">
              <a:cs typeface="Times New Roman"/>
            </a:endParaRPr>
          </a:p>
          <a:p>
            <a:pPr marL="523881" indent="-342900">
              <a:spcBef>
                <a:spcPts val="0"/>
              </a:spcBef>
              <a:defRPr/>
            </a:pPr>
            <a:endParaRPr lang="en-US" sz="2400">
              <a:cs typeface="Times New Roman"/>
            </a:endParaRPr>
          </a:p>
          <a:p>
            <a:pPr marL="523881" indent="-342900">
              <a:spcBef>
                <a:spcPts val="0"/>
              </a:spcBef>
              <a:defRPr/>
            </a:pPr>
            <a:endParaRPr lang="en-US" sz="2400">
              <a:cs typeface="Times New Roman"/>
            </a:endParaRPr>
          </a:p>
          <a:p>
            <a:pPr marL="523881" indent="-342900">
              <a:spcBef>
                <a:spcPts val="0"/>
              </a:spcBef>
              <a:defRPr/>
            </a:pPr>
            <a:r>
              <a:rPr lang="en-US" sz="2000">
                <a:cs typeface="Times New Roman"/>
              </a:rPr>
              <a:t>Dữ liệu tuần tự: chuỗi giao dịch</a:t>
            </a:r>
            <a:endParaRPr/>
          </a:p>
          <a:p>
            <a:pPr marL="180981" indent="0">
              <a:spcBef>
                <a:spcPts val="0"/>
              </a:spcBef>
              <a:buNone/>
              <a:defRPr/>
            </a:pPr>
            <a:endParaRPr lang="en-US" sz="2400">
              <a:cs typeface="Times New Roman"/>
            </a:endParaRPr>
          </a:p>
          <a:p>
            <a:pPr marL="180981" indent="0">
              <a:spcBef>
                <a:spcPts val="0"/>
              </a:spcBef>
              <a:buNone/>
              <a:defRPr/>
            </a:pPr>
            <a:endParaRPr lang="en-US" sz="2400">
              <a:cs typeface="Times New Roman"/>
            </a:endParaRPr>
          </a:p>
          <a:p>
            <a:pPr marL="523881" indent="-342900">
              <a:spcBef>
                <a:spcPts val="0"/>
              </a:spcBef>
              <a:defRPr/>
            </a:pPr>
            <a:r>
              <a:rPr lang="en-US" sz="2000">
                <a:cs typeface="Times New Roman"/>
              </a:rPr>
              <a:t>Dữ liệu chuỗi gen</a:t>
            </a:r>
            <a:endParaRPr/>
          </a:p>
        </p:txBody>
      </p:sp>
      <p:pic>
        <p:nvPicPr>
          <p:cNvPr id="2124386133" name="Picture 4" descr="http://www.panspermia.org/cllu2.jpg"/>
          <p:cNvPicPr>
            <a:picLocks noChangeAspect="1" noChangeArrowheads="1"/>
          </p:cNvPicPr>
          <p:nvPr/>
        </p:nvPicPr>
        <p:blipFill rotWithShape="1">
          <a:blip r:embed="rId3"/>
          <a:stretch/>
        </p:blipFill>
        <p:spPr bwMode="auto">
          <a:xfrm>
            <a:off x="6328612" y="3637815"/>
            <a:ext cx="5179096" cy="3039711"/>
          </a:xfrm>
          <a:prstGeom prst="rect">
            <a:avLst/>
          </a:prstGeom>
          <a:noFill/>
        </p:spPr>
      </p:pic>
      <p:pic>
        <p:nvPicPr>
          <p:cNvPr id="401500289" name="Picture 6" descr="http://www.albertbelle.net/pictures/jimart/belleartbb.jpg"/>
          <p:cNvPicPr>
            <a:picLocks noChangeAspect="1" noChangeArrowheads="1"/>
          </p:cNvPicPr>
          <p:nvPr/>
        </p:nvPicPr>
        <p:blipFill rotWithShape="1">
          <a:blip r:embed="rId4"/>
          <a:stretch/>
        </p:blipFill>
        <p:spPr bwMode="auto">
          <a:xfrm>
            <a:off x="4819451" y="1684625"/>
            <a:ext cx="6688257" cy="1872712"/>
          </a:xfrm>
          <a:prstGeom prst="rect">
            <a:avLst/>
          </a:prstGeom>
          <a:noFill/>
        </p:spPr>
      </p:pic>
      <p:pic>
        <p:nvPicPr>
          <p:cNvPr id="1386657323" name="Picture 8" descr="https://onlinecourses.science.psu.edu/stat510/sites/onlinecourses.science.psu.edu.stat510/files/L01/graph_01.gif"/>
          <p:cNvPicPr>
            <a:picLocks noChangeAspect="1" noChangeArrowheads="1"/>
          </p:cNvPicPr>
          <p:nvPr/>
        </p:nvPicPr>
        <p:blipFill rotWithShape="1">
          <a:blip r:embed="rId5"/>
          <a:stretch/>
        </p:blipFill>
        <p:spPr bwMode="auto">
          <a:xfrm>
            <a:off x="1176640" y="2474064"/>
            <a:ext cx="3245990" cy="2166546"/>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85958832" name="Rectangle 2"/>
          <p:cNvSpPr>
            <a:spLocks noChangeArrowheads="1" noGrp="1"/>
          </p:cNvSpPr>
          <p:nvPr>
            <p:ph type="title"/>
          </p:nvPr>
        </p:nvSpPr>
        <p:spPr bwMode="auto">
          <a:xfrm>
            <a:off x="-254670" y="232610"/>
            <a:ext cx="12777537" cy="685800"/>
          </a:xfrm>
          <a:prstGeom prst="rect">
            <a:avLst/>
          </a:prstGeom>
          <a:noFill/>
        </p:spPr>
        <p:txBody>
          <a:bodyPr vert="horz" lIns="92075" tIns="46038" rIns="92075" bIns="46038" rtlCol="0" anchor="t">
            <a:normAutofit/>
          </a:bodyPr>
          <a:lstStyle/>
          <a:p>
            <a:pPr>
              <a:defRPr/>
            </a:pPr>
            <a:r>
              <a:rPr lang="en-US" sz="3000"/>
              <a:t>Các loại tập dữ liệu: (4) </a:t>
            </a:r>
            <a:r>
              <a:rPr lang="en-US" sz="3000">
                <a:cs typeface="Times New Roman"/>
              </a:rPr>
              <a:t>Dữ liệu không gian, hình ảnh và đa phương tiện</a:t>
            </a:r>
            <a:endParaRPr lang="en-US" sz="3600"/>
          </a:p>
        </p:txBody>
      </p:sp>
      <p:sp>
        <p:nvSpPr>
          <p:cNvPr id="5730105" name="Rectangle 3"/>
          <p:cNvSpPr>
            <a:spLocks noChangeArrowheads="1" noGrp="1"/>
          </p:cNvSpPr>
          <p:nvPr>
            <p:ph type="body" idx="1"/>
          </p:nvPr>
        </p:nvSpPr>
        <p:spPr bwMode="auto">
          <a:xfrm>
            <a:off x="656664" y="1204996"/>
            <a:ext cx="3530325" cy="3696527"/>
          </a:xfrm>
          <a:prstGeom prst="rect">
            <a:avLst/>
          </a:prstGeom>
          <a:noFill/>
        </p:spPr>
        <p:txBody>
          <a:bodyPr vert="horz" lIns="92075" tIns="46038" rIns="92075" bIns="46038" rtlCol="0">
            <a:noAutofit/>
          </a:bodyPr>
          <a:lstStyle/>
          <a:p>
            <a:pPr marL="523881" indent="-342900">
              <a:lnSpc>
                <a:spcPct val="200000"/>
              </a:lnSpc>
              <a:spcBef>
                <a:spcPts val="0"/>
              </a:spcBef>
              <a:defRPr/>
            </a:pPr>
            <a:r>
              <a:rPr lang="en-US" sz="2000">
                <a:cs typeface="Times New Roman"/>
              </a:rPr>
              <a:t>Dữ liệu không gian: bản đồ</a:t>
            </a:r>
            <a:endParaRPr/>
          </a:p>
          <a:p>
            <a:pPr marL="523881" indent="-342900">
              <a:lnSpc>
                <a:spcPct val="200000"/>
              </a:lnSpc>
              <a:spcBef>
                <a:spcPts val="0"/>
              </a:spcBef>
              <a:defRPr/>
            </a:pPr>
            <a:endParaRPr lang="en-US" sz="2400">
              <a:cs typeface="Times New Roman"/>
            </a:endParaRPr>
          </a:p>
          <a:p>
            <a:pPr marL="523881" indent="-342900">
              <a:lnSpc>
                <a:spcPct val="200000"/>
              </a:lnSpc>
              <a:spcBef>
                <a:spcPts val="0"/>
              </a:spcBef>
              <a:defRPr/>
            </a:pPr>
            <a:endParaRPr lang="en-US" sz="2400">
              <a:cs typeface="Times New Roman"/>
            </a:endParaRPr>
          </a:p>
          <a:p>
            <a:pPr marL="523881" indent="-342900">
              <a:lnSpc>
                <a:spcPct val="200000"/>
              </a:lnSpc>
              <a:spcBef>
                <a:spcPts val="0"/>
              </a:spcBef>
              <a:defRPr/>
            </a:pPr>
            <a:endParaRPr lang="en-US" sz="2400">
              <a:cs typeface="Times New Roman"/>
            </a:endParaRPr>
          </a:p>
          <a:p>
            <a:pPr marL="523881" indent="-342900">
              <a:lnSpc>
                <a:spcPct val="200000"/>
              </a:lnSpc>
              <a:spcBef>
                <a:spcPts val="0"/>
              </a:spcBef>
              <a:defRPr/>
            </a:pPr>
            <a:endParaRPr lang="en-US" sz="2400">
              <a:cs typeface="Times New Roman"/>
            </a:endParaRPr>
          </a:p>
          <a:p>
            <a:pPr marL="523881" indent="-342900">
              <a:lnSpc>
                <a:spcPct val="200000"/>
              </a:lnSpc>
              <a:spcBef>
                <a:spcPts val="0"/>
              </a:spcBef>
              <a:defRPr/>
            </a:pPr>
            <a:r>
              <a:rPr lang="en-US" sz="2000">
                <a:cs typeface="Times New Roman"/>
              </a:rPr>
              <a:t>Dữ liệu hình ảnh: </a:t>
            </a:r>
            <a:endParaRPr/>
          </a:p>
          <a:p>
            <a:pPr marL="523881" indent="-342900">
              <a:lnSpc>
                <a:spcPct val="200000"/>
              </a:lnSpc>
              <a:spcBef>
                <a:spcPts val="0"/>
              </a:spcBef>
              <a:defRPr/>
            </a:pPr>
            <a:r>
              <a:rPr lang="en-US" sz="2000">
                <a:cs typeface="Times New Roman"/>
              </a:rPr>
              <a:t>Dữ liệu video:</a:t>
            </a:r>
            <a:endParaRPr/>
          </a:p>
        </p:txBody>
      </p:sp>
      <p:pic>
        <p:nvPicPr>
          <p:cNvPr id="956698146" name="Picture 2" descr="https://learn.arcgis.com/en/arcgis-book/images/ch5/05-fig-5-4.png"/>
          <p:cNvPicPr>
            <a:picLocks noChangeAspect="1" noChangeArrowheads="1"/>
          </p:cNvPicPr>
          <p:nvPr/>
        </p:nvPicPr>
        <p:blipFill rotWithShape="1">
          <a:blip r:embed="rId3"/>
          <a:stretch/>
        </p:blipFill>
        <p:spPr bwMode="auto">
          <a:xfrm>
            <a:off x="6255586" y="1204996"/>
            <a:ext cx="5305425" cy="4333875"/>
          </a:xfrm>
          <a:prstGeom prst="rect">
            <a:avLst/>
          </a:prstGeom>
          <a:noFill/>
        </p:spPr>
      </p:pic>
      <p:pic>
        <p:nvPicPr>
          <p:cNvPr id="1010028342" name="Picture 4" descr="http://nda.membershipsoftware.org/files/iStock_000032315954_Large.jpg"/>
          <p:cNvPicPr>
            <a:picLocks noChangeAspect="1" noChangeArrowheads="1"/>
          </p:cNvPicPr>
          <p:nvPr/>
        </p:nvPicPr>
        <p:blipFill rotWithShape="1">
          <a:blip r:embed="rId4"/>
          <a:stretch/>
        </p:blipFill>
        <p:spPr bwMode="auto">
          <a:xfrm>
            <a:off x="1456905" y="1913020"/>
            <a:ext cx="4677193" cy="311618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37956228" name="Rectangle 2"/>
          <p:cNvSpPr>
            <a:spLocks noChangeArrowheads="1" noGrp="1"/>
          </p:cNvSpPr>
          <p:nvPr>
            <p:ph type="title"/>
          </p:nvPr>
        </p:nvSpPr>
        <p:spPr bwMode="auto">
          <a:xfrm>
            <a:off x="553453" y="228600"/>
            <a:ext cx="11044989" cy="762000"/>
          </a:xfrm>
        </p:spPr>
        <p:txBody>
          <a:bodyPr anchor="t">
            <a:noAutofit/>
          </a:bodyPr>
          <a:lstStyle/>
          <a:p>
            <a:pPr>
              <a:defRPr/>
            </a:pPr>
            <a:r>
              <a:rPr lang="en-US" sz="3000"/>
              <a:t>Các đặc điểm quan trọng của dữ liệu có cấu trúc</a:t>
            </a:r>
            <a:endParaRPr/>
          </a:p>
        </p:txBody>
      </p:sp>
      <p:sp>
        <p:nvSpPr>
          <p:cNvPr id="1912926497" name="Rectangle 3"/>
          <p:cNvSpPr>
            <a:spLocks noChangeArrowheads="1" noGrp="1"/>
          </p:cNvSpPr>
          <p:nvPr>
            <p:ph type="body" idx="1"/>
          </p:nvPr>
        </p:nvSpPr>
        <p:spPr bwMode="auto">
          <a:xfrm>
            <a:off x="638175" y="1447800"/>
            <a:ext cx="10858500" cy="5029200"/>
          </a:xfrm>
          <a:prstGeom prst="rect">
            <a:avLst/>
          </a:prstGeom>
          <a:noFill/>
        </p:spPr>
        <p:txBody>
          <a:bodyPr vert="horz" lIns="90488" tIns="44450" rIns="90488" bIns="44450" rtlCol="0">
            <a:noAutofit/>
          </a:bodyPr>
          <a:lstStyle/>
          <a:p>
            <a:pPr marL="285750" indent="-285750">
              <a:lnSpc>
                <a:spcPct val="114999"/>
              </a:lnSpc>
              <a:defRPr/>
            </a:pPr>
            <a:r>
              <a:rPr lang="en-US"/>
              <a:t> Số chiều</a:t>
            </a:r>
            <a:endParaRPr/>
          </a:p>
          <a:p>
            <a:pPr marL="800100" lvl="1" indent="-342900">
              <a:lnSpc>
                <a:spcPct val="114999"/>
              </a:lnSpc>
              <a:defRPr/>
            </a:pPr>
            <a:r>
              <a:rPr lang="en-US"/>
              <a:t>Lời nguyền của số chiều (curse of dimensionality)</a:t>
            </a:r>
            <a:endParaRPr/>
          </a:p>
          <a:p>
            <a:pPr marL="285750" indent="-285750">
              <a:lnSpc>
                <a:spcPct val="114999"/>
              </a:lnSpc>
              <a:defRPr/>
            </a:pPr>
            <a:r>
              <a:rPr lang="en-US"/>
              <a:t> Độ thưa</a:t>
            </a:r>
            <a:endParaRPr/>
          </a:p>
          <a:p>
            <a:pPr marL="800100" lvl="1" indent="-342900">
              <a:lnSpc>
                <a:spcPct val="114999"/>
              </a:lnSpc>
              <a:defRPr/>
            </a:pPr>
            <a:r>
              <a:rPr lang="en-US"/>
              <a:t>Chỉ tính sự hiện diện</a:t>
            </a:r>
            <a:endParaRPr/>
          </a:p>
          <a:p>
            <a:pPr marL="285750" indent="-285750">
              <a:lnSpc>
                <a:spcPct val="114999"/>
              </a:lnSpc>
              <a:defRPr/>
            </a:pPr>
            <a:r>
              <a:rPr lang="en-US"/>
              <a:t> Độ phân giải</a:t>
            </a:r>
            <a:endParaRPr/>
          </a:p>
          <a:p>
            <a:pPr marL="800100" lvl="1" indent="-342900">
              <a:lnSpc>
                <a:spcPct val="114999"/>
              </a:lnSpc>
              <a:defRPr/>
            </a:pPr>
            <a:r>
              <a:rPr lang="en-US"/>
              <a:t>Các mẫu phụ thuộc vào thang đo</a:t>
            </a:r>
            <a:r>
              <a:rPr lang="en-US" sz="2700"/>
              <a:t> </a:t>
            </a:r>
            <a:endParaRPr/>
          </a:p>
          <a:p>
            <a:pPr marL="285750" indent="-285750">
              <a:lnSpc>
                <a:spcPct val="114999"/>
              </a:lnSpc>
              <a:defRPr/>
            </a:pPr>
            <a:r>
              <a:rPr lang="en-US"/>
              <a:t> Phân bố</a:t>
            </a:r>
            <a:endParaRPr/>
          </a:p>
          <a:p>
            <a:pPr marL="800100" lvl="1" indent="-342900">
              <a:lnSpc>
                <a:spcPct val="114999"/>
              </a:lnSpc>
              <a:defRPr/>
            </a:pPr>
            <a:r>
              <a:rPr lang="en-US"/>
              <a:t>Xu hướng trung tâm và độ phân tán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26293067" name="Rectangle 2"/>
          <p:cNvSpPr>
            <a:spLocks noChangeArrowheads="1" noGrp="1"/>
          </p:cNvSpPr>
          <p:nvPr>
            <p:ph type="title"/>
          </p:nvPr>
        </p:nvSpPr>
        <p:spPr bwMode="auto"/>
        <p:txBody>
          <a:bodyPr anchor="t">
            <a:normAutofit/>
          </a:bodyPr>
          <a:lstStyle/>
          <a:p>
            <a:pPr>
              <a:defRPr/>
            </a:pPr>
            <a:r>
              <a:rPr lang="en-US"/>
              <a:t>Đối tượng dữ liệu</a:t>
            </a:r>
            <a:endParaRPr/>
          </a:p>
        </p:txBody>
      </p:sp>
      <p:sp>
        <p:nvSpPr>
          <p:cNvPr id="425332604" name="Rectangle 3"/>
          <p:cNvSpPr>
            <a:spLocks noChangeArrowheads="1" noGrp="1"/>
          </p:cNvSpPr>
          <p:nvPr>
            <p:ph type="body" idx="1"/>
          </p:nvPr>
        </p:nvSpPr>
        <p:spPr bwMode="auto"/>
        <p:txBody>
          <a:bodyPr/>
          <a:lstStyle/>
          <a:p>
            <a:pPr>
              <a:lnSpc>
                <a:spcPct val="120000"/>
              </a:lnSpc>
              <a:defRPr/>
            </a:pPr>
            <a:r>
              <a:rPr lang="en-US" sz="2000"/>
              <a:t>Tập dữ liệu được tạo thành từ các đối tượng dữ liệu</a:t>
            </a:r>
            <a:endParaRPr/>
          </a:p>
          <a:p>
            <a:pPr>
              <a:lnSpc>
                <a:spcPct val="120000"/>
              </a:lnSpc>
              <a:defRPr/>
            </a:pPr>
            <a:r>
              <a:rPr lang="en-US" sz="2000"/>
              <a:t>Một </a:t>
            </a:r>
            <a:r>
              <a:rPr lang="en-US" sz="2000" b="1"/>
              <a:t>đối tượng dữ liệu</a:t>
            </a:r>
            <a:r>
              <a:rPr lang="en-US" sz="2000"/>
              <a:t> đại diện cho một thực thể</a:t>
            </a:r>
            <a:endParaRPr/>
          </a:p>
          <a:p>
            <a:pPr>
              <a:lnSpc>
                <a:spcPct val="120000"/>
              </a:lnSpc>
              <a:defRPr/>
            </a:pPr>
            <a:r>
              <a:rPr lang="en-US" sz="2000"/>
              <a:t>Ví dụ: </a:t>
            </a:r>
            <a:endParaRPr/>
          </a:p>
          <a:p>
            <a:pPr lvl="1">
              <a:lnSpc>
                <a:spcPct val="120000"/>
              </a:lnSpc>
              <a:defRPr/>
            </a:pPr>
            <a:r>
              <a:rPr lang="en-US" sz="2000"/>
              <a:t>cơ sở dữ liệu bán hàng: khách hàng, mặt hàng, doanh số</a:t>
            </a:r>
            <a:endParaRPr/>
          </a:p>
          <a:p>
            <a:pPr lvl="1">
              <a:lnSpc>
                <a:spcPct val="120000"/>
              </a:lnSpc>
              <a:defRPr/>
            </a:pPr>
            <a:r>
              <a:rPr lang="en-US" sz="2000"/>
              <a:t>cơ sở dữ liệu y tế: bệnh nhân, phương pháp điều trị</a:t>
            </a:r>
            <a:endParaRPr/>
          </a:p>
          <a:p>
            <a:pPr lvl="1">
              <a:lnSpc>
                <a:spcPct val="120000"/>
              </a:lnSpc>
              <a:defRPr/>
            </a:pPr>
            <a:r>
              <a:rPr lang="en-US" sz="2000"/>
              <a:t>cơ sở dữ liệu trường đại học: sinh viên, giảng viên, môn học</a:t>
            </a:r>
            <a:endParaRPr/>
          </a:p>
          <a:p>
            <a:pPr>
              <a:lnSpc>
                <a:spcPct val="120000"/>
              </a:lnSpc>
              <a:defRPr/>
            </a:pPr>
            <a:r>
              <a:rPr lang="en-US" sz="2000"/>
              <a:t>Còn được gọi là </a:t>
            </a:r>
            <a:r>
              <a:rPr lang="en-US" sz="2000" i="1"/>
              <a:t>mẫu, ví dụ, thực thể, điểm dữ liệu, đối tượng, bộ (tuple)</a:t>
            </a:r>
            <a:endParaRPr lang="en-US" sz="2400"/>
          </a:p>
          <a:p>
            <a:pPr>
              <a:lnSpc>
                <a:spcPct val="120000"/>
              </a:lnSpc>
              <a:defRPr/>
            </a:pPr>
            <a:r>
              <a:rPr lang="en-US" sz="2000"/>
              <a:t>Đối tượng dữ liệu được mô tả bởi các </a:t>
            </a:r>
            <a:r>
              <a:rPr lang="en-US" sz="2000" b="1"/>
              <a:t>thuộc tính</a:t>
            </a:r>
            <a:endParaRPr lang="en-US" sz="2400"/>
          </a:p>
          <a:p>
            <a:pPr>
              <a:lnSpc>
                <a:spcPct val="120000"/>
              </a:lnSpc>
              <a:defRPr/>
            </a:pPr>
            <a:r>
              <a:rPr lang="en-US" sz="2000"/>
              <a:t>Các hàng trong cơ sở dữ liệu </a:t>
            </a:r>
            <a:r>
              <a:rPr lang="en-US" sz="2000">
                <a:latin typeface="Calibri"/>
              </a:rPr>
              <a:t>→</a:t>
            </a:r>
            <a:r>
              <a:rPr lang="en-US" sz="2000"/>
              <a:t> đối tượng dữ liệu; các cột </a:t>
            </a:r>
            <a:r>
              <a:rPr lang="en-US" sz="2000">
                <a:latin typeface="Calibri"/>
              </a:rPr>
              <a:t>→ </a:t>
            </a:r>
            <a:r>
              <a:rPr lang="en-US" sz="2000"/>
              <a:t>thuộc tính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2001963" name="Rectangle 2"/>
          <p:cNvSpPr>
            <a:spLocks noChangeArrowheads="1" noGrp="1"/>
          </p:cNvSpPr>
          <p:nvPr>
            <p:ph type="title"/>
          </p:nvPr>
        </p:nvSpPr>
        <p:spPr bwMode="auto"/>
        <p:txBody>
          <a:bodyPr anchor="t"/>
          <a:lstStyle/>
          <a:p>
            <a:pPr>
              <a:defRPr/>
            </a:pPr>
            <a:r>
              <a:rPr lang="en-US"/>
              <a:t>Thuộc tính</a:t>
            </a:r>
            <a:endParaRPr/>
          </a:p>
        </p:txBody>
      </p:sp>
      <p:sp>
        <p:nvSpPr>
          <p:cNvPr id="1815075253" name="Rectangle 3"/>
          <p:cNvSpPr>
            <a:spLocks noChangeArrowheads="1" noGrp="1"/>
          </p:cNvSpPr>
          <p:nvPr>
            <p:ph type="body" idx="1"/>
          </p:nvPr>
        </p:nvSpPr>
        <p:spPr bwMode="auto">
          <a:xfrm>
            <a:off x="590924" y="1175084"/>
            <a:ext cx="11130024" cy="5596908"/>
          </a:xfrm>
        </p:spPr>
        <p:txBody>
          <a:bodyPr/>
          <a:lstStyle/>
          <a:p>
            <a:pPr>
              <a:defRPr/>
            </a:pPr>
            <a:r>
              <a:rPr lang="en-US" sz="2000" b="1"/>
              <a:t>Thuộc tính (</a:t>
            </a:r>
            <a:r>
              <a:rPr lang="en-US" sz="2000"/>
              <a:t>hay còn gọi là</a:t>
            </a:r>
            <a:r>
              <a:rPr lang="en-US" sz="2000" b="1"/>
              <a:t> chiều, đặc trưng, biến</a:t>
            </a:r>
            <a:r>
              <a:rPr lang="en-US" sz="2000"/>
              <a:t>) </a:t>
            </a:r>
            <a:endParaRPr/>
          </a:p>
          <a:p>
            <a:pPr lvl="1">
              <a:defRPr/>
            </a:pPr>
            <a:r>
              <a:rPr lang="en-US" sz="2000"/>
              <a:t>Một trường dữ liệu, đại diện cho một đặc điểm hoặc đặc trưng của đối tượng dữ liệu.</a:t>
            </a:r>
            <a:endParaRPr/>
          </a:p>
          <a:p>
            <a:pPr lvl="1">
              <a:defRPr/>
            </a:pPr>
            <a:r>
              <a:rPr lang="en-US" sz="2000" i="1"/>
              <a:t>Ví dụ: mã khách hàng, tên, địa chỉ</a:t>
            </a:r>
            <a:endParaRPr/>
          </a:p>
          <a:p>
            <a:pPr>
              <a:defRPr/>
            </a:pPr>
            <a:r>
              <a:rPr lang="en-US" sz="2000"/>
              <a:t>Các loại:</a:t>
            </a:r>
            <a:endParaRPr/>
          </a:p>
          <a:p>
            <a:pPr lvl="1">
              <a:defRPr/>
            </a:pPr>
            <a:r>
              <a:rPr lang="en-US" sz="2000"/>
              <a:t>Định danh (ví dụ: đỏ, xanh)</a:t>
            </a:r>
            <a:endParaRPr/>
          </a:p>
          <a:p>
            <a:pPr lvl="1">
              <a:defRPr/>
            </a:pPr>
            <a:r>
              <a:rPr lang="en-US" sz="2000"/>
              <a:t>Nhị phân (ví dụ: {đúng, sai})</a:t>
            </a:r>
            <a:endParaRPr/>
          </a:p>
          <a:p>
            <a:pPr lvl="1">
              <a:defRPr/>
            </a:pPr>
            <a:r>
              <a:rPr lang="en-US" sz="2000"/>
              <a:t>Thứ bậc (ví dụ: {năm nhất, năm hai, năm ba, năm tư})</a:t>
            </a:r>
            <a:endParaRPr/>
          </a:p>
          <a:p>
            <a:pPr lvl="1">
              <a:defRPr/>
            </a:pPr>
            <a:r>
              <a:rPr lang="en-US" sz="2000"/>
              <a:t>Số: định lượng</a:t>
            </a:r>
            <a:endParaRPr/>
          </a:p>
          <a:p>
            <a:pPr lvl="2">
              <a:defRPr/>
            </a:pPr>
            <a:r>
              <a:rPr lang="en-US" sz="2000"/>
              <a:t>Thang khoảng: 100</a:t>
            </a:r>
            <a:r>
              <a:rPr lang="en-US" sz="2000" baseline="30000"/>
              <a:t>○</a:t>
            </a:r>
            <a:r>
              <a:rPr lang="en-US" sz="2000"/>
              <a:t>C là thang khoảng</a:t>
            </a:r>
            <a:endParaRPr/>
          </a:p>
          <a:p>
            <a:pPr lvl="2">
              <a:defRPr/>
            </a:pPr>
            <a:r>
              <a:rPr lang="en-US" sz="2000"/>
              <a:t>Thang tỉ lệ: 100</a:t>
            </a:r>
            <a:r>
              <a:rPr lang="en-US" sz="2000" baseline="30000"/>
              <a:t>○</a:t>
            </a:r>
            <a:r>
              <a:rPr lang="en-US" sz="2000"/>
              <a:t>K là thang tỉ lệ vì nó cao gấp đôi 50</a:t>
            </a:r>
            <a:r>
              <a:rPr lang="en-US" sz="2000" baseline="30000"/>
              <a:t> ○</a:t>
            </a:r>
            <a:r>
              <a:rPr lang="en-US" sz="2000"/>
              <a:t>K</a:t>
            </a:r>
            <a:endParaRPr/>
          </a:p>
          <a:p>
            <a:pPr lvl="1">
              <a:defRPr/>
            </a:pPr>
            <a:r>
              <a:rPr lang="en-US" sz="2000"/>
              <a:t>Thuộc tính rời rạc và liên tục</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95729139" name="Rectangle 2"/>
          <p:cNvSpPr>
            <a:spLocks noChangeArrowheads="1" noGrp="1"/>
          </p:cNvSpPr>
          <p:nvPr>
            <p:ph type="title"/>
          </p:nvPr>
        </p:nvSpPr>
        <p:spPr bwMode="auto"/>
        <p:txBody>
          <a:bodyPr anchor="t"/>
          <a:lstStyle/>
          <a:p>
            <a:pPr>
              <a:defRPr/>
            </a:pPr>
            <a:r>
              <a:rPr lang="en-US"/>
              <a:t>Các loại thuộc tính </a:t>
            </a:r>
            <a:endParaRPr/>
          </a:p>
        </p:txBody>
      </p:sp>
      <p:sp>
        <p:nvSpPr>
          <p:cNvPr id="334004010" name="Rectangle 3"/>
          <p:cNvSpPr>
            <a:spLocks noChangeArrowheads="1" noGrp="1"/>
          </p:cNvSpPr>
          <p:nvPr>
            <p:ph type="body" idx="1"/>
          </p:nvPr>
        </p:nvSpPr>
        <p:spPr bwMode="auto">
          <a:xfrm>
            <a:off x="579583" y="1152525"/>
            <a:ext cx="10907567" cy="5562600"/>
          </a:xfrm>
        </p:spPr>
        <p:txBody>
          <a:bodyPr/>
          <a:lstStyle/>
          <a:p>
            <a:pPr marL="292100" indent="-292100">
              <a:lnSpc>
                <a:spcPct val="90000"/>
              </a:lnSpc>
              <a:defRPr/>
            </a:pPr>
            <a:r>
              <a:rPr lang="en-US" sz="2000" b="1"/>
              <a:t>Định danh:</a:t>
            </a:r>
            <a:r>
              <a:rPr lang="en-US" sz="2000"/>
              <a:t> các danh mục, trạng thái, hay “tên gọi của sự vật”</a:t>
            </a:r>
            <a:endParaRPr/>
          </a:p>
          <a:p>
            <a:pPr marL="749300" lvl="1" indent="-342900">
              <a:lnSpc>
                <a:spcPct val="90000"/>
              </a:lnSpc>
              <a:defRPr/>
            </a:pPr>
            <a:r>
              <a:rPr lang="en-US" sz="2000" i="1"/>
              <a:t>Màu_tóc</a:t>
            </a:r>
            <a:r>
              <a:rPr lang="en-US" sz="2000" i="1"/>
              <a:t> = </a:t>
            </a:r>
            <a:r>
              <a:rPr lang="en-US" sz="2000"/>
              <a:t>{</a:t>
            </a:r>
            <a:r>
              <a:rPr lang="en-US" sz="2000" i="1"/>
              <a:t>hạt dẻ, đen, vàng hoe, nâu, xám, đỏ, trắng</a:t>
            </a:r>
            <a:r>
              <a:rPr lang="en-US" sz="2000"/>
              <a:t>}</a:t>
            </a:r>
            <a:endParaRPr/>
          </a:p>
          <a:p>
            <a:pPr marL="749300" lvl="1" indent="-342900">
              <a:lnSpc>
                <a:spcPct val="90000"/>
              </a:lnSpc>
              <a:defRPr/>
            </a:pPr>
            <a:r>
              <a:rPr lang="en-US" sz="2000"/>
              <a:t>tình trạng hôn nhân, nghề nghiệp, số CMND, mã bưu điện</a:t>
            </a:r>
            <a:endParaRPr/>
          </a:p>
          <a:p>
            <a:pPr marL="292100" indent="-292100">
              <a:lnSpc>
                <a:spcPct val="90000"/>
              </a:lnSpc>
              <a:defRPr/>
            </a:pPr>
            <a:r>
              <a:rPr lang="en-US" sz="2000" b="1"/>
              <a:t>Nhị phân</a:t>
            </a:r>
            <a:endParaRPr/>
          </a:p>
          <a:p>
            <a:pPr marL="749300" lvl="1" indent="-342900">
              <a:lnSpc>
                <a:spcPct val="90000"/>
              </a:lnSpc>
              <a:defRPr/>
            </a:pPr>
            <a:r>
              <a:rPr lang="en-US" sz="2000"/>
              <a:t>Thuộc tính định danh chỉ có 2 trạng thái (0 và 1)</a:t>
            </a:r>
            <a:endParaRPr/>
          </a:p>
          <a:p>
            <a:pPr marL="749300" lvl="1" indent="-342900">
              <a:lnSpc>
                <a:spcPct val="90000"/>
              </a:lnSpc>
              <a:defRPr/>
            </a:pPr>
            <a:r>
              <a:rPr lang="en-US" sz="2000" u="sng"/>
              <a:t>Nhị phân đối xứng</a:t>
            </a:r>
            <a:r>
              <a:rPr lang="en-US" sz="2000"/>
              <a:t>: cả hai kết quả đều quan trọng như nhau</a:t>
            </a:r>
            <a:endParaRPr/>
          </a:p>
          <a:p>
            <a:pPr marL="1257300" lvl="2" indent="-393700">
              <a:lnSpc>
                <a:spcPct val="90000"/>
              </a:lnSpc>
              <a:defRPr/>
            </a:pPr>
            <a:r>
              <a:rPr lang="en-US" sz="2000"/>
              <a:t>ví dụ: giới tính</a:t>
            </a:r>
            <a:endParaRPr/>
          </a:p>
          <a:p>
            <a:pPr marL="749300" lvl="1" indent="-342900">
              <a:lnSpc>
                <a:spcPct val="90000"/>
              </a:lnSpc>
              <a:defRPr/>
            </a:pPr>
            <a:r>
              <a:rPr lang="en-US" sz="2000" u="sng"/>
              <a:t>Nhị phân bất đối xứng</a:t>
            </a:r>
            <a:r>
              <a:rPr lang="en-US" sz="2000"/>
              <a:t>: các kết quả không quan trọng như nhau.  </a:t>
            </a:r>
            <a:endParaRPr/>
          </a:p>
          <a:p>
            <a:pPr marL="1257300" lvl="2" indent="-393700">
              <a:lnSpc>
                <a:spcPct val="90000"/>
              </a:lnSpc>
              <a:defRPr/>
            </a:pPr>
            <a:r>
              <a:rPr lang="en-US" sz="2000"/>
              <a:t>ví dụ: xét nghiệm y tế (dương tính và âm tính)</a:t>
            </a:r>
            <a:endParaRPr/>
          </a:p>
          <a:p>
            <a:pPr marL="1257300" lvl="2" indent="-393700">
              <a:lnSpc>
                <a:spcPct val="90000"/>
              </a:lnSpc>
              <a:defRPr/>
            </a:pPr>
            <a:r>
              <a:rPr lang="en-US" sz="2000"/>
              <a:t>Quy ước: gán giá trị 1 cho kết quả quan trọng hơn (ví dụ: dương tính HIV)</a:t>
            </a:r>
            <a:endParaRPr/>
          </a:p>
          <a:p>
            <a:pPr marL="292100" indent="-292100">
              <a:lnSpc>
                <a:spcPct val="90000"/>
              </a:lnSpc>
              <a:defRPr/>
            </a:pPr>
            <a:r>
              <a:rPr lang="en-US" sz="2000" b="1"/>
              <a:t>Thứ bậc</a:t>
            </a:r>
            <a:endParaRPr/>
          </a:p>
          <a:p>
            <a:pPr marL="749300" lvl="1" indent="-342900">
              <a:lnSpc>
                <a:spcPct val="90000"/>
              </a:lnSpc>
              <a:defRPr/>
            </a:pPr>
            <a:r>
              <a:rPr lang="en-US" sz="2000"/>
              <a:t>Các giá trị có thứ tự có ý nghĩa (xếp hạng) nhưng độ lớn giữa các giá trị liên tiếp không được biết</a:t>
            </a:r>
            <a:endParaRPr/>
          </a:p>
          <a:p>
            <a:pPr marL="749300" lvl="1" indent="-342900">
              <a:lnSpc>
                <a:spcPct val="90000"/>
              </a:lnSpc>
              <a:defRPr/>
            </a:pPr>
            <a:r>
              <a:rPr lang="en-US" sz="2000" i="1"/>
              <a:t>Kích thước = </a:t>
            </a:r>
            <a:r>
              <a:rPr lang="en-US" sz="2000"/>
              <a:t>{</a:t>
            </a:r>
            <a:r>
              <a:rPr lang="en-US" sz="2000" i="1"/>
              <a:t>nhỏ, vừa, lớn</a:t>
            </a:r>
            <a:r>
              <a:rPr lang="en-US" sz="2000"/>
              <a:t>}</a:t>
            </a:r>
            <a:r>
              <a:rPr lang="en-US" sz="2000" i="1"/>
              <a:t>,</a:t>
            </a:r>
            <a:r>
              <a:rPr lang="en-US" sz="2000"/>
              <a:t> điểm số, cấp bậc quân đội</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94774455" name="Rectangle 2"/>
          <p:cNvSpPr>
            <a:spLocks noChangeArrowheads="1" noGrp="1"/>
          </p:cNvSpPr>
          <p:nvPr>
            <p:ph type="title"/>
          </p:nvPr>
        </p:nvSpPr>
        <p:spPr bwMode="auto"/>
        <p:txBody>
          <a:bodyPr anchor="t"/>
          <a:lstStyle/>
          <a:p>
            <a:pPr>
              <a:defRPr/>
            </a:pPr>
            <a:r>
              <a:rPr lang="en-US"/>
              <a:t>Các loại thuộc tính số </a:t>
            </a:r>
            <a:endParaRPr/>
          </a:p>
        </p:txBody>
      </p:sp>
      <p:sp>
        <p:nvSpPr>
          <p:cNvPr id="1846164777" name="Rectangle 3"/>
          <p:cNvSpPr>
            <a:spLocks noChangeArrowheads="1" noGrp="1"/>
          </p:cNvSpPr>
          <p:nvPr>
            <p:ph type="body" idx="1"/>
          </p:nvPr>
        </p:nvSpPr>
        <p:spPr bwMode="auto">
          <a:xfrm>
            <a:off x="582903" y="1142999"/>
            <a:ext cx="10923297" cy="5591175"/>
          </a:xfrm>
        </p:spPr>
        <p:txBody>
          <a:bodyPr/>
          <a:lstStyle/>
          <a:p>
            <a:pPr marL="292100" indent="-292100">
              <a:spcAft>
                <a:spcPts val="600"/>
              </a:spcAft>
              <a:defRPr/>
            </a:pPr>
            <a:r>
              <a:rPr lang="en-US" sz="2000"/>
              <a:t>Đại lượng (giá trị nguyên hoặc thực)</a:t>
            </a:r>
            <a:endParaRPr/>
          </a:p>
          <a:p>
            <a:pPr marL="292100" indent="-292100">
              <a:spcAft>
                <a:spcPts val="600"/>
              </a:spcAft>
              <a:defRPr/>
            </a:pPr>
            <a:r>
              <a:rPr lang="en-US" sz="2000" b="1"/>
              <a:t>Thang khoảng</a:t>
            </a:r>
            <a:endParaRPr/>
          </a:p>
          <a:p>
            <a:pPr marL="1257300" lvl="2" indent="-393700">
              <a:spcAft>
                <a:spcPts val="600"/>
              </a:spcAft>
              <a:defRPr/>
            </a:pPr>
            <a:r>
              <a:rPr lang="en-US" sz="2000"/>
              <a:t>Được đo trên thang có </a:t>
            </a:r>
            <a:r>
              <a:rPr lang="en-US" sz="2000" b="1"/>
              <a:t>các đơn vị cùng kích thước</a:t>
            </a:r>
            <a:endParaRPr/>
          </a:p>
          <a:p>
            <a:pPr marL="1257300" lvl="2" indent="-393700">
              <a:spcAft>
                <a:spcPts val="600"/>
              </a:spcAft>
              <a:defRPr/>
            </a:pPr>
            <a:r>
              <a:rPr lang="en-US" sz="2000"/>
              <a:t>Các giá trị có thứ tự</a:t>
            </a:r>
            <a:endParaRPr/>
          </a:p>
          <a:p>
            <a:pPr marL="1714500" lvl="3" indent="-393700">
              <a:spcAft>
                <a:spcPts val="600"/>
              </a:spcAft>
              <a:defRPr/>
            </a:pPr>
            <a:r>
              <a:rPr lang="en-US" sz="2000"/>
              <a:t>Ví dụ: </a:t>
            </a:r>
            <a:r>
              <a:rPr lang="en-US" sz="2000" i="1"/>
              <a:t>nhiệt độ theo </a:t>
            </a:r>
            <a:r>
              <a:rPr lang="en-US" sz="2000" i="1"/>
              <a:t>C</a:t>
            </a:r>
            <a:r>
              <a:rPr lang="en-US" sz="2000" i="1">
                <a:cs typeface="Tahoma"/>
              </a:rPr>
              <a:t>˚</a:t>
            </a:r>
            <a:r>
              <a:rPr lang="en-US" sz="2000" i="1"/>
              <a:t>hoặc</a:t>
            </a:r>
            <a:r>
              <a:rPr lang="en-US" sz="2000" i="1"/>
              <a:t> F</a:t>
            </a:r>
            <a:r>
              <a:rPr lang="en-US" sz="2000" i="1">
                <a:cs typeface="Tahoma"/>
              </a:rPr>
              <a:t>˚</a:t>
            </a:r>
            <a:r>
              <a:rPr lang="en-US" sz="2000" i="1"/>
              <a:t>, ngày trong lịch</a:t>
            </a:r>
            <a:endParaRPr/>
          </a:p>
          <a:p>
            <a:pPr marL="1257300" lvl="2" indent="-393700">
              <a:spcAft>
                <a:spcPts val="600"/>
              </a:spcAft>
              <a:defRPr/>
            </a:pPr>
            <a:r>
              <a:rPr lang="en-US" sz="2000"/>
              <a:t>Không có điểm gốc 0 thực sự</a:t>
            </a:r>
            <a:endParaRPr/>
          </a:p>
          <a:p>
            <a:pPr marL="292100" indent="-292100">
              <a:spcAft>
                <a:spcPts val="600"/>
              </a:spcAft>
              <a:defRPr/>
            </a:pPr>
            <a:r>
              <a:rPr lang="en-US" sz="2000" b="1"/>
              <a:t>Thang tỉ lệ</a:t>
            </a:r>
            <a:endParaRPr/>
          </a:p>
          <a:p>
            <a:pPr marL="1257300" lvl="2" indent="-393700">
              <a:spcAft>
                <a:spcPts val="600"/>
              </a:spcAft>
              <a:defRPr/>
            </a:pPr>
            <a:r>
              <a:rPr lang="en-US" sz="2000"/>
              <a:t>Có điểm gốc 0 </a:t>
            </a:r>
            <a:r>
              <a:rPr lang="en-US" sz="2000" b="1"/>
              <a:t>vốn có</a:t>
            </a:r>
            <a:endParaRPr/>
          </a:p>
          <a:p>
            <a:pPr marL="1257300" lvl="2" indent="-393700">
              <a:spcAft>
                <a:spcPts val="600"/>
              </a:spcAft>
              <a:defRPr/>
            </a:pPr>
            <a:r>
              <a:rPr lang="en-US" sz="2000"/>
              <a:t>Ta có thể nói một giá trị lớn gấp bao nhiêu lần đơn vị đo (10 K</a:t>
            </a:r>
            <a:r>
              <a:rPr lang="en-US" sz="2000">
                <a:cs typeface="Tahoma"/>
              </a:rPr>
              <a:t>˚</a:t>
            </a:r>
            <a:r>
              <a:rPr lang="en-US" sz="2000"/>
              <a:t> cao gấp đôi 5 K</a:t>
            </a:r>
            <a:r>
              <a:rPr lang="en-US" sz="2000">
                <a:cs typeface="Tahoma"/>
              </a:rPr>
              <a:t>˚</a:t>
            </a:r>
            <a:r>
              <a:rPr lang="en-US" sz="2000"/>
              <a:t>).</a:t>
            </a:r>
            <a:endParaRPr/>
          </a:p>
          <a:p>
            <a:pPr marL="1714500" lvl="3" indent="-393700">
              <a:spcAft>
                <a:spcPts val="600"/>
              </a:spcAft>
              <a:defRPr/>
            </a:pPr>
            <a:r>
              <a:rPr lang="en-US" sz="2000"/>
              <a:t>ví dụ: </a:t>
            </a:r>
            <a:r>
              <a:rPr lang="en-US" sz="2000" i="1"/>
              <a:t>nhiệt độ theo Kelvin, chiều dài, số đếm, giá trị tiền tệ</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8841411" name="Rectangle 2"/>
          <p:cNvSpPr>
            <a:spLocks noChangeArrowheads="1" noGrp="1"/>
          </p:cNvSpPr>
          <p:nvPr>
            <p:ph type="title"/>
          </p:nvPr>
        </p:nvSpPr>
        <p:spPr bwMode="auto"/>
        <p:txBody>
          <a:bodyPr anchor="t"/>
          <a:lstStyle/>
          <a:p>
            <a:pPr>
              <a:defRPr/>
            </a:pPr>
            <a:r>
              <a:rPr lang="en-US"/>
              <a:t>Thuộc tính rời rạc và liên tục </a:t>
            </a:r>
            <a:endParaRPr/>
          </a:p>
        </p:txBody>
      </p:sp>
      <p:sp>
        <p:nvSpPr>
          <p:cNvPr id="1408369494" name="Rectangle 3"/>
          <p:cNvSpPr>
            <a:spLocks noChangeArrowheads="1" noGrp="1"/>
          </p:cNvSpPr>
          <p:nvPr>
            <p:ph type="body" idx="1"/>
          </p:nvPr>
        </p:nvSpPr>
        <p:spPr bwMode="auto">
          <a:xfrm>
            <a:off x="525753" y="1171575"/>
            <a:ext cx="11094747" cy="5524500"/>
          </a:xfrm>
        </p:spPr>
        <p:txBody>
          <a:bodyPr/>
          <a:lstStyle/>
          <a:p>
            <a:pPr>
              <a:spcAft>
                <a:spcPts val="600"/>
              </a:spcAft>
              <a:defRPr/>
            </a:pPr>
            <a:r>
              <a:rPr lang="en-US" sz="2000" b="1"/>
              <a:t>Thuộc tính</a:t>
            </a:r>
            <a:r>
              <a:rPr lang="en-US" sz="2000"/>
              <a:t> </a:t>
            </a:r>
            <a:r>
              <a:rPr lang="en-US" sz="2000" b="1"/>
              <a:t>rời rạc</a:t>
            </a:r>
            <a:endParaRPr/>
          </a:p>
          <a:p>
            <a:pPr lvl="1">
              <a:spcAft>
                <a:spcPts val="600"/>
              </a:spcAft>
              <a:defRPr/>
            </a:pPr>
            <a:r>
              <a:rPr lang="en-US" sz="2000"/>
              <a:t>Chỉ có một tập hữu hạn hoặc vô hạn đếm được các giá trị</a:t>
            </a:r>
            <a:endParaRPr/>
          </a:p>
          <a:p>
            <a:pPr lvl="2">
              <a:spcAft>
                <a:spcPts val="600"/>
              </a:spcAft>
              <a:defRPr/>
            </a:pPr>
            <a:r>
              <a:rPr lang="en-US" sz="2000"/>
              <a:t>Ví dụ: mã bưu điện, nghề nghiệp, hoặc tập các từ trong một tập văn bản </a:t>
            </a:r>
            <a:endParaRPr/>
          </a:p>
          <a:p>
            <a:pPr lvl="1">
              <a:spcAft>
                <a:spcPts val="600"/>
              </a:spcAft>
              <a:defRPr/>
            </a:pPr>
            <a:r>
              <a:rPr lang="en-US" sz="2000"/>
              <a:t>Đôi khi được biểu diễn dưới dạng biến số nguyên</a:t>
            </a:r>
            <a:endParaRPr/>
          </a:p>
          <a:p>
            <a:pPr lvl="1">
              <a:spcAft>
                <a:spcPts val="600"/>
              </a:spcAft>
              <a:defRPr/>
            </a:pPr>
            <a:r>
              <a:rPr lang="en-US" sz="2000"/>
              <a:t>Lưu ý: Thuộc tính nhị phân là một trường hợp đặc biệt của thuộc tính rời rạc </a:t>
            </a:r>
            <a:endParaRPr/>
          </a:p>
          <a:p>
            <a:pPr>
              <a:spcAft>
                <a:spcPts val="600"/>
              </a:spcAft>
              <a:defRPr/>
            </a:pPr>
            <a:r>
              <a:rPr lang="en-US" sz="2000" b="1"/>
              <a:t>Thuộc tính</a:t>
            </a:r>
            <a:r>
              <a:rPr lang="en-US" sz="2000"/>
              <a:t> </a:t>
            </a:r>
            <a:r>
              <a:rPr lang="en-US" sz="2000" b="1"/>
              <a:t>liên tục</a:t>
            </a:r>
            <a:endParaRPr/>
          </a:p>
          <a:p>
            <a:pPr lvl="1">
              <a:spcAft>
                <a:spcPts val="600"/>
              </a:spcAft>
              <a:defRPr/>
            </a:pPr>
            <a:r>
              <a:rPr lang="en-US" sz="2000"/>
              <a:t>Có các giá trị là số thực</a:t>
            </a:r>
            <a:endParaRPr/>
          </a:p>
          <a:p>
            <a:pPr lvl="2">
              <a:spcAft>
                <a:spcPts val="600"/>
              </a:spcAft>
              <a:defRPr/>
            </a:pPr>
            <a:r>
              <a:rPr lang="en-US" sz="2000"/>
              <a:t>Ví dụ: nhiệt độ, chiều cao, hoặc cân nặng</a:t>
            </a:r>
            <a:endParaRPr/>
          </a:p>
          <a:p>
            <a:pPr lvl="1">
              <a:spcAft>
                <a:spcPts val="600"/>
              </a:spcAft>
              <a:defRPr/>
            </a:pPr>
            <a:r>
              <a:rPr lang="en-US" sz="2000"/>
              <a:t>Trên thực tế, giá trị thực chỉ có thể được đo và biểu diễn với một số chữ số hữu hạn</a:t>
            </a:r>
            <a:endParaRPr/>
          </a:p>
          <a:p>
            <a:pPr lvl="1">
              <a:spcAft>
                <a:spcPts val="600"/>
              </a:spcAft>
              <a:defRPr/>
            </a:pPr>
            <a:r>
              <a:rPr lang="en-US" sz="2000"/>
              <a:t>Thuộc tính liên tục thường được biểu diễn dưới dạng biến dấu phẩy động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60841098" name="Rectangle 2"/>
          <p:cNvSpPr>
            <a:spLocks noChangeArrowheads="1" noGrp="1"/>
          </p:cNvSpPr>
          <p:nvPr>
            <p:ph type="title"/>
          </p:nvPr>
        </p:nvSpPr>
        <p:spPr bwMode="auto">
          <a:xfrm>
            <a:off x="571500" y="228600"/>
            <a:ext cx="11106150" cy="838200"/>
          </a:xfrm>
        </p:spPr>
        <p:txBody>
          <a:bodyPr anchor="t">
            <a:normAutofit/>
          </a:bodyPr>
          <a:lstStyle/>
          <a:p>
            <a:pPr>
              <a:defRPr/>
            </a:pPr>
            <a:r>
              <a:rPr lang="en-US" sz="4400"/>
              <a:t>Thống kê dữ liệu</a:t>
            </a:r>
            <a:endParaRPr lang="en-US"/>
          </a:p>
        </p:txBody>
      </p:sp>
      <p:sp>
        <p:nvSpPr>
          <p:cNvPr id="1840836030" name="Rectangle 3"/>
          <p:cNvSpPr>
            <a:spLocks noChangeArrowheads="1" noGrp="1"/>
          </p:cNvSpPr>
          <p:nvPr>
            <p:ph type="body" idx="1"/>
          </p:nvPr>
        </p:nvSpPr>
        <p:spPr bwMode="auto">
          <a:xfrm>
            <a:off x="663388" y="1294960"/>
            <a:ext cx="10865223" cy="5257800"/>
          </a:xfrm>
        </p:spPr>
        <p:txBody>
          <a:bodyPr/>
          <a:lstStyle/>
          <a:p>
            <a:pPr>
              <a:lnSpc>
                <a:spcPct val="200000"/>
              </a:lnSpc>
              <a:defRPr/>
            </a:pPr>
            <a:r>
              <a:rPr lang="en-US" sz="2700"/>
              <a:t>Đo xu hướng trung tâm </a:t>
            </a:r>
            <a:endParaRPr/>
          </a:p>
          <a:p>
            <a:pPr>
              <a:lnSpc>
                <a:spcPct val="200000"/>
              </a:lnSpc>
              <a:defRPr/>
            </a:pPr>
            <a:r>
              <a:rPr lang="en-US" sz="2700"/>
              <a:t>Đo độ phân tán của dữ liệu</a:t>
            </a:r>
            <a:endParaRPr/>
          </a:p>
          <a:p>
            <a:pPr>
              <a:lnSpc>
                <a:spcPct val="200000"/>
              </a:lnSpc>
              <a:defRPr/>
            </a:pPr>
            <a:r>
              <a:rPr lang="en-US" sz="2700"/>
              <a:t>Phân tích hiệp phương sai và tương quan</a:t>
            </a:r>
            <a:endParaRPr/>
          </a:p>
          <a:p>
            <a:pPr>
              <a:lnSpc>
                <a:spcPct val="200000"/>
              </a:lnSpc>
              <a:defRPr/>
            </a:pPr>
            <a:r>
              <a:rPr lang="en-US" sz="2700"/>
              <a:t>Biểu diễn đồ họa các thống kê cơ bản của dữ liệu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85800770" name="Rectangle 2"/>
          <p:cNvSpPr>
            <a:spLocks noChangeArrowheads="1" noGrp="1"/>
          </p:cNvSpPr>
          <p:nvPr>
            <p:ph type="title"/>
          </p:nvPr>
        </p:nvSpPr>
        <p:spPr bwMode="auto">
          <a:xfrm>
            <a:off x="1524000" y="304800"/>
            <a:ext cx="9144000" cy="762000"/>
          </a:xfrm>
        </p:spPr>
        <p:txBody>
          <a:bodyPr anchor="t"/>
          <a:lstStyle/>
          <a:p>
            <a:pPr>
              <a:defRPr/>
            </a:pPr>
            <a:r>
              <a:rPr lang="en-US"/>
              <a:t>Các mô tả thống kê cơ bản của dữ liệu</a:t>
            </a:r>
            <a:endParaRPr/>
          </a:p>
        </p:txBody>
      </p:sp>
      <p:sp>
        <p:nvSpPr>
          <p:cNvPr id="372564387" name="Rectangle 3"/>
          <p:cNvSpPr>
            <a:spLocks noChangeArrowheads="1" noGrp="1"/>
          </p:cNvSpPr>
          <p:nvPr>
            <p:ph type="body" idx="1"/>
          </p:nvPr>
        </p:nvSpPr>
        <p:spPr bwMode="auto">
          <a:xfrm>
            <a:off x="609600" y="1164557"/>
            <a:ext cx="10928684" cy="848729"/>
          </a:xfrm>
        </p:spPr>
        <p:txBody>
          <a:bodyPr/>
          <a:lstStyle/>
          <a:p>
            <a:pPr>
              <a:buSzPct val="80000"/>
              <a:defRPr/>
            </a:pPr>
            <a:r>
              <a:rPr lang="en-US" sz="2000" u="sng"/>
              <a:t>Động lực</a:t>
            </a:r>
            <a:endParaRPr/>
          </a:p>
          <a:p>
            <a:pPr lvl="1">
              <a:buSzPct val="80000"/>
              <a:defRPr/>
            </a:pPr>
            <a:r>
              <a:rPr lang="en-US" sz="2000"/>
              <a:t>Để hiểu dữ liệu tốt hơn: xu hướng trung tâm, biến thiên và độ trải rộng</a:t>
            </a:r>
            <a:endParaRPr/>
          </a:p>
        </p:txBody>
      </p:sp>
      <p:sp>
        <p:nvSpPr>
          <p:cNvPr id="1315577919" name="Rectangle 3"/>
          <p:cNvSpPr txBox="1">
            <a:spLocks noChangeArrowheads="1"/>
          </p:cNvSpPr>
          <p:nvPr/>
        </p:nvSpPr>
        <p:spPr bwMode="auto">
          <a:xfrm>
            <a:off x="609600" y="2111043"/>
            <a:ext cx="7620000" cy="4085220"/>
          </a:xfrm>
          <a:prstGeom prst="rect">
            <a:avLst/>
          </a:prstGeom>
        </p:spPr>
        <p:txBody>
          <a:bodyPr vert="horz" lIns="91436" tIns="45718" rIns="91436" bIns="45718" rtlCol="0">
            <a:noAutofit/>
          </a:bodyPr>
          <a:lstStyle>
            <a:lvl1pPr marL="461951" indent="-461951" algn="l" defTabSz="914354" rtl="0">
              <a:lnSpc>
                <a:spcPct val="100000"/>
              </a:lnSpc>
              <a:spcBef>
                <a:spcPts val="600"/>
              </a:spcBef>
              <a:spcAft>
                <a:spcPts val="0"/>
              </a:spcAft>
              <a:buClr>
                <a:srgbClr val="0000CC"/>
              </a:buClr>
              <a:buSzPct val="80000"/>
              <a:buFont typeface="Wingdings"/>
              <a:buChar char="q"/>
              <a:defRPr sz="2800">
                <a:solidFill>
                  <a:schemeClr val="tx1"/>
                </a:solidFill>
                <a:latin typeface="+mn-lt"/>
                <a:ea typeface="+mn-ea"/>
                <a:cs typeface="+mn-cs"/>
              </a:defRPr>
            </a:lvl1pPr>
            <a:lvl2pPr marL="738170" indent="-538149" algn="l" defTabSz="914354" rtl="0">
              <a:lnSpc>
                <a:spcPct val="100000"/>
              </a:lnSpc>
              <a:spcBef>
                <a:spcPts val="600"/>
              </a:spcBef>
              <a:spcAft>
                <a:spcPts val="0"/>
              </a:spcAft>
              <a:buClr>
                <a:srgbClr val="BD582C"/>
              </a:buClr>
              <a:buSzPct val="80000"/>
              <a:buFont typeface="Wingdings"/>
              <a:buChar char="q"/>
              <a:defRPr sz="2800">
                <a:solidFill>
                  <a:schemeClr val="tx1"/>
                </a:solidFill>
                <a:latin typeface="+mn-lt"/>
                <a:ea typeface="+mn-ea"/>
                <a:cs typeface="+mn-cs"/>
              </a:defRPr>
            </a:lvl2pPr>
            <a:lvl3pPr marL="858817" indent="-474651" algn="l" defTabSz="914354" rtl="0">
              <a:lnSpc>
                <a:spcPct val="100000"/>
              </a:lnSpc>
              <a:spcBef>
                <a:spcPts val="600"/>
              </a:spcBef>
              <a:spcAft>
                <a:spcPts val="0"/>
              </a:spcAft>
              <a:buClr>
                <a:srgbClr val="008080"/>
              </a:buClr>
              <a:buSzPct val="80000"/>
              <a:buFont typeface="Wingdings"/>
              <a:buChar char="q"/>
              <a:defRPr sz="2800">
                <a:solidFill>
                  <a:schemeClr val="tx1"/>
                </a:solidFill>
                <a:latin typeface="+mn-lt"/>
                <a:ea typeface="+mn-ea"/>
                <a:cs typeface="+mn-cs"/>
              </a:defRPr>
            </a:lvl3pPr>
            <a:lvl4pPr marL="1144559" indent="-522275" algn="l" defTabSz="914354" rtl="0">
              <a:lnSpc>
                <a:spcPct val="100000"/>
              </a:lnSpc>
              <a:spcBef>
                <a:spcPts val="600"/>
              </a:spcBef>
              <a:spcAft>
                <a:spcPts val="0"/>
              </a:spcAft>
              <a:buClr>
                <a:srgbClr val="FF0000"/>
              </a:buClr>
              <a:buSzPct val="80000"/>
              <a:buFont typeface="Wingdings"/>
              <a:buChar char="q"/>
              <a:defRPr sz="2800">
                <a:solidFill>
                  <a:schemeClr val="tx1"/>
                </a:solidFill>
                <a:latin typeface="+mn-lt"/>
                <a:ea typeface="+mn-ea"/>
                <a:cs typeface="+mn-cs"/>
              </a:defRPr>
            </a:lvl4pPr>
            <a:lvl5pPr marL="1376328" indent="-507987" algn="l" defTabSz="914354" rtl="0">
              <a:lnSpc>
                <a:spcPct val="100000"/>
              </a:lnSpc>
              <a:spcBef>
                <a:spcPts val="600"/>
              </a:spcBef>
              <a:spcAft>
                <a:spcPts val="0"/>
              </a:spcAft>
              <a:buClr>
                <a:srgbClr val="7030A0"/>
              </a:buClr>
              <a:buSzPct val="80000"/>
              <a:buFont typeface="Wingdings"/>
              <a:buChar char="q"/>
              <a:defRPr sz="2800">
                <a:solidFill>
                  <a:schemeClr val="tx1"/>
                </a:solidFill>
                <a:latin typeface="+mn-lt"/>
                <a:ea typeface="+mn-ea"/>
                <a:cs typeface="+mn-cs"/>
              </a:defRPr>
            </a:lvl5pPr>
            <a:lvl6pPr marL="1099946" indent="-228589" algn="l" defTabSz="914354" rtl="0">
              <a:lnSpc>
                <a:spcPct val="90000"/>
              </a:lnSpc>
              <a:spcBef>
                <a:spcPts val="200"/>
              </a:spcBef>
              <a:spcAft>
                <a:spcPts val="400"/>
              </a:spcAft>
              <a:buClr>
                <a:schemeClr val="accent1"/>
              </a:buClr>
              <a:buFont typeface="Calibri"/>
              <a:buChar char="◦"/>
              <a:defRPr sz="1500">
                <a:solidFill>
                  <a:schemeClr val="tx1">
                    <a:lumMod val="75000"/>
                    <a:lumOff val="25000"/>
                  </a:schemeClr>
                </a:solidFill>
                <a:latin typeface="+mn-lt"/>
                <a:ea typeface="+mn-ea"/>
                <a:cs typeface="+mn-cs"/>
              </a:defRPr>
            </a:lvl6pPr>
            <a:lvl7pPr marL="1299936" indent="-228589" algn="l" defTabSz="914354" rtl="0">
              <a:lnSpc>
                <a:spcPct val="90000"/>
              </a:lnSpc>
              <a:spcBef>
                <a:spcPts val="200"/>
              </a:spcBef>
              <a:spcAft>
                <a:spcPts val="400"/>
              </a:spcAft>
              <a:buClr>
                <a:schemeClr val="accent1"/>
              </a:buClr>
              <a:buFont typeface="Calibri"/>
              <a:buChar char="◦"/>
              <a:defRPr sz="1500">
                <a:solidFill>
                  <a:schemeClr val="tx1">
                    <a:lumMod val="75000"/>
                    <a:lumOff val="25000"/>
                  </a:schemeClr>
                </a:solidFill>
                <a:latin typeface="+mn-lt"/>
                <a:ea typeface="+mn-ea"/>
                <a:cs typeface="+mn-cs"/>
              </a:defRPr>
            </a:lvl7pPr>
            <a:lvl8pPr marL="1499925" indent="-228589" algn="l" defTabSz="914354" rtl="0">
              <a:lnSpc>
                <a:spcPct val="90000"/>
              </a:lnSpc>
              <a:spcBef>
                <a:spcPts val="200"/>
              </a:spcBef>
              <a:spcAft>
                <a:spcPts val="400"/>
              </a:spcAft>
              <a:buClr>
                <a:schemeClr val="accent1"/>
              </a:buClr>
              <a:buFont typeface="Calibri"/>
              <a:buChar char="◦"/>
              <a:defRPr sz="1500">
                <a:solidFill>
                  <a:schemeClr val="tx1">
                    <a:lumMod val="75000"/>
                    <a:lumOff val="25000"/>
                  </a:schemeClr>
                </a:solidFill>
                <a:latin typeface="+mn-lt"/>
                <a:ea typeface="+mn-ea"/>
                <a:cs typeface="+mn-cs"/>
              </a:defRPr>
            </a:lvl8pPr>
            <a:lvl9pPr marL="1699916" indent="-228589" algn="l" defTabSz="914354" rtl="0">
              <a:lnSpc>
                <a:spcPct val="90000"/>
              </a:lnSpc>
              <a:spcBef>
                <a:spcPts val="200"/>
              </a:spcBef>
              <a:spcAft>
                <a:spcPts val="400"/>
              </a:spcAft>
              <a:buClr>
                <a:schemeClr val="accent1"/>
              </a:buClr>
              <a:buFont typeface="Calibri"/>
              <a:buChar char="◦"/>
              <a:defRPr sz="1500">
                <a:solidFill>
                  <a:schemeClr val="tx1">
                    <a:lumMod val="75000"/>
                    <a:lumOff val="25000"/>
                  </a:schemeClr>
                </a:solidFill>
                <a:latin typeface="+mn-lt"/>
                <a:ea typeface="+mn-ea"/>
                <a:cs typeface="+mn-cs"/>
              </a:defRPr>
            </a:lvl9pPr>
          </a:lstStyle>
          <a:p>
            <a:pPr>
              <a:defRPr/>
            </a:pPr>
            <a:r>
              <a:rPr lang="en-US" sz="2000" u="sng"/>
              <a:t>Đặc điểm phân tán của dữ liệu</a:t>
            </a:r>
            <a:r>
              <a:rPr lang="en-US" sz="2000"/>
              <a:t> </a:t>
            </a:r>
            <a:endParaRPr/>
          </a:p>
          <a:p>
            <a:pPr lvl="1">
              <a:defRPr/>
            </a:pPr>
            <a:r>
              <a:rPr lang="en-US" sz="2000"/>
              <a:t>Trung vị, giá trị lớn nhất, nhỏ nhất, phân vị, ngoại lệ, phương sai, ...</a:t>
            </a:r>
            <a:endParaRPr/>
          </a:p>
          <a:p>
            <a:pPr>
              <a:defRPr/>
            </a:pPr>
            <a:r>
              <a:rPr lang="en-US" sz="2000" u="sng"/>
              <a:t>Các chiều số</a:t>
            </a:r>
            <a:r>
              <a:rPr lang="en-US" sz="2000"/>
              <a:t> tương ứng với các khoảng đã sắp xếp</a:t>
            </a:r>
            <a:endParaRPr/>
          </a:p>
          <a:p>
            <a:pPr lvl="1">
              <a:defRPr/>
            </a:pPr>
            <a:r>
              <a:rPr lang="en-US" sz="2000"/>
              <a:t>Phân tán dữ liệu: </a:t>
            </a:r>
            <a:endParaRPr/>
          </a:p>
          <a:p>
            <a:pPr lvl="2">
              <a:defRPr/>
            </a:pPr>
            <a:r>
              <a:rPr lang="en-US" sz="2000"/>
              <a:t>Được phân tích với nhiều mức độ chi tiết khác nhau</a:t>
            </a:r>
            <a:endParaRPr/>
          </a:p>
          <a:p>
            <a:pPr lvl="1">
              <a:defRPr/>
            </a:pPr>
            <a:r>
              <a:rPr lang="en-US" sz="2000"/>
              <a:t>Phân tích hộp (boxplot) hoặc phân vị trên các khoảng đã sắp xếp</a:t>
            </a:r>
            <a:endParaRPr/>
          </a:p>
          <a:p>
            <a:pPr>
              <a:defRPr/>
            </a:pPr>
            <a:r>
              <a:rPr lang="en-US" sz="2000" u="sng"/>
              <a:t>Phân tích độ phân tán trên các độ đo đã tính toán</a:t>
            </a:r>
            <a:endParaRPr lang="en-US" sz="2400"/>
          </a:p>
          <a:p>
            <a:pPr lvl="1">
              <a:defRPr/>
            </a:pPr>
            <a:r>
              <a:rPr lang="en-US" sz="2000"/>
              <a:t>Gấp các độ đo vào các chiều số</a:t>
            </a:r>
            <a:endParaRPr/>
          </a:p>
          <a:p>
            <a:pPr lvl="1">
              <a:defRPr/>
            </a:pPr>
            <a:r>
              <a:rPr lang="en-US" sz="2000"/>
              <a:t>Phân tích hộp hoặc phân vị trên khối dữ liệu đã biến đổi</a:t>
            </a:r>
            <a:endParaRPr lang="en-US" sz="2000"/>
          </a:p>
        </p:txBody>
      </p:sp>
      <p:pic>
        <p:nvPicPr>
          <p:cNvPr id="738605621" name="Picture 4" descr="https://upload.wikimedia.org/wikipedia/commons/thumb/7/74/Normal_Distribution_PDF.svg/2000px-Normal_Distribution_PDF.svg.png"/>
          <p:cNvPicPr>
            <a:picLocks noChangeAspect="1" noChangeArrowheads="1"/>
          </p:cNvPicPr>
          <p:nvPr/>
        </p:nvPicPr>
        <p:blipFill rotWithShape="1">
          <a:blip r:embed="rId3"/>
          <a:stretch/>
        </p:blipFill>
        <p:spPr bwMode="auto">
          <a:xfrm>
            <a:off x="7479084" y="2478504"/>
            <a:ext cx="4423322" cy="2826503"/>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82572251" name="Rectangle 2"/>
          <p:cNvSpPr>
            <a:spLocks noChangeArrowheads="1" noGrp="1"/>
          </p:cNvSpPr>
          <p:nvPr>
            <p:ph type="title"/>
          </p:nvPr>
        </p:nvSpPr>
        <p:spPr bwMode="auto"/>
        <p:txBody>
          <a:bodyPr anchor="t">
            <a:noAutofit/>
          </a:bodyPr>
          <a:lstStyle/>
          <a:p>
            <a:pPr>
              <a:defRPr/>
            </a:pPr>
            <a:r>
              <a:rPr lang="en-US"/>
              <a:t>Đo xu hướng trung tâm: (1) Trung bình</a:t>
            </a:r>
            <a:endParaRPr lang="en-US" sz="4000"/>
          </a:p>
        </p:txBody>
      </p:sp>
      <p:sp>
        <p:nvSpPr>
          <p:cNvPr id="1273002376" name="Rectangle 3"/>
          <p:cNvSpPr>
            <a:spLocks noChangeArrowheads="1" noGrp="1"/>
          </p:cNvSpPr>
          <p:nvPr>
            <p:ph type="body" sz="half" idx="1"/>
          </p:nvPr>
        </p:nvSpPr>
        <p:spPr bwMode="auto">
          <a:xfrm>
            <a:off x="561975" y="1143000"/>
            <a:ext cx="10531141" cy="5029200"/>
          </a:xfrm>
        </p:spPr>
        <p:txBody>
          <a:bodyPr/>
          <a:lstStyle/>
          <a:p>
            <a:pPr>
              <a:spcBef>
                <a:spcPts val="400"/>
              </a:spcBef>
              <a:buSzPct val="80000"/>
              <a:defRPr/>
            </a:pPr>
            <a:r>
              <a:rPr lang="en-US" u="sng">
                <a:latin typeface="Calibri"/>
              </a:rPr>
              <a:t>Trung bình (độ đo đại số) (mẫu và tổng thể):</a:t>
            </a:r>
            <a:endParaRPr/>
          </a:p>
          <a:p>
            <a:pPr lvl="1">
              <a:spcBef>
                <a:spcPts val="400"/>
              </a:spcBef>
              <a:buSzPct val="80000"/>
              <a:buFont typeface="Wingdings"/>
              <a:buNone/>
              <a:defRPr/>
            </a:pPr>
            <a:r>
              <a:rPr lang="en-US">
                <a:latin typeface="Calibri"/>
              </a:rPr>
              <a:t>Lưu ý: </a:t>
            </a:r>
            <a:r>
              <a:rPr lang="en-US" i="1">
                <a:latin typeface="Calibri"/>
              </a:rPr>
              <a:t>n</a:t>
            </a:r>
            <a:r>
              <a:rPr lang="en-US">
                <a:latin typeface="Calibri"/>
              </a:rPr>
              <a:t> là kích thước mẫu và </a:t>
            </a:r>
            <a:r>
              <a:rPr lang="en-US" i="1">
                <a:latin typeface="Calibri"/>
              </a:rPr>
              <a:t>N</a:t>
            </a:r>
            <a:r>
              <a:rPr lang="en-US">
                <a:latin typeface="Calibri"/>
              </a:rPr>
              <a:t> là kích thước tổng thể. </a:t>
            </a:r>
            <a:endParaRPr/>
          </a:p>
          <a:p>
            <a:pPr marL="200021" lvl="1" indent="0">
              <a:spcBef>
                <a:spcPts val="400"/>
              </a:spcBef>
              <a:buSzPct val="80000"/>
              <a:buNone/>
              <a:defRPr/>
            </a:pPr>
            <a:endParaRPr lang="en-US">
              <a:latin typeface="Calibri"/>
            </a:endParaRPr>
          </a:p>
          <a:p>
            <a:pPr marL="200021" lvl="1" indent="0">
              <a:spcBef>
                <a:spcPts val="400"/>
              </a:spcBef>
              <a:buSzPct val="80000"/>
              <a:buNone/>
              <a:defRPr/>
            </a:pPr>
            <a:endParaRPr lang="en-US">
              <a:latin typeface="Calibri"/>
            </a:endParaRPr>
          </a:p>
          <a:p>
            <a:pPr>
              <a:spcBef>
                <a:spcPts val="400"/>
              </a:spcBef>
              <a:defRPr/>
            </a:pPr>
            <a:endParaRPr lang="en-US">
              <a:latin typeface="Calibri"/>
            </a:endParaRPr>
          </a:p>
          <a:p>
            <a:pPr>
              <a:spcBef>
                <a:spcPts val="400"/>
              </a:spcBef>
              <a:defRPr/>
            </a:pPr>
            <a:endParaRPr lang="en-US">
              <a:latin typeface="Calibri"/>
            </a:endParaRPr>
          </a:p>
          <a:p>
            <a:pPr>
              <a:spcBef>
                <a:spcPts val="400"/>
              </a:spcBef>
              <a:defRPr/>
            </a:pPr>
            <a:r>
              <a:rPr lang="en-US">
                <a:latin typeface="Calibri"/>
              </a:rPr>
              <a:t>Trung bình cộng có trọng số:</a:t>
            </a:r>
            <a:endParaRPr/>
          </a:p>
          <a:p>
            <a:pPr>
              <a:spcBef>
                <a:spcPts val="400"/>
              </a:spcBef>
              <a:defRPr/>
            </a:pPr>
            <a:endParaRPr lang="en-US">
              <a:latin typeface="Calibri"/>
            </a:endParaRPr>
          </a:p>
          <a:p>
            <a:pPr>
              <a:spcBef>
                <a:spcPts val="400"/>
              </a:spcBef>
              <a:defRPr/>
            </a:pPr>
            <a:endParaRPr lang="en-US">
              <a:latin typeface="Calibri"/>
            </a:endParaRPr>
          </a:p>
          <a:p>
            <a:pPr marL="0" indent="0">
              <a:spcBef>
                <a:spcPts val="400"/>
              </a:spcBef>
              <a:buNone/>
              <a:defRPr/>
            </a:pPr>
            <a:endParaRPr lang="en-US">
              <a:latin typeface="Calibri"/>
            </a:endParaRPr>
          </a:p>
          <a:p>
            <a:pPr>
              <a:spcBef>
                <a:spcPts val="400"/>
              </a:spcBef>
              <a:defRPr/>
            </a:pPr>
            <a:r>
              <a:rPr lang="en-US">
                <a:latin typeface="Calibri"/>
              </a:rPr>
              <a:t>Trung bình đã cắt bớt: </a:t>
            </a:r>
            <a:endParaRPr/>
          </a:p>
          <a:p>
            <a:pPr lvl="1">
              <a:spcBef>
                <a:spcPts val="400"/>
              </a:spcBef>
              <a:defRPr/>
            </a:pPr>
            <a:r>
              <a:rPr lang="en-US">
                <a:latin typeface="Calibri"/>
              </a:rPr>
              <a:t>Loại bỏ các giá trị cực trị (ví dụ: tính điểm thể dục dụng cụ Olympic)</a:t>
            </a:r>
            <a:endParaRPr/>
          </a:p>
        </p:txBody>
      </p:sp>
      <p:graphicFrame>
        <p:nvGraphicFramePr>
          <p:cNvPr id="1545561462" name="Object 4"/>
          <p:cNvGraphicFramePr>
            <a:graphicFrameLocks xmlns:a="http://schemas.openxmlformats.org/drawingml/2006/main" noChangeAspect="1"/>
          </p:cNvGraphicFramePr>
          <p:nvPr/>
        </p:nvGraphicFramePr>
        <p:xfrm>
          <a:off x="2794566" y="2210251"/>
          <a:ext cx="2231802" cy="1077492"/>
        </p:xfrm>
        <a:graphic>
          <a:graphicData uri="http://schemas.openxmlformats.org/presentationml/2006/ole">
            <p:oleObj name="oleObj" r:id="rId4" imgW="710565" imgH="431165" progId="Equation.3">
              <p:embed/>
              <p:pic>
                <p:nvPicPr>
                  <p:cNvPr id="1545561462" name="Object 4"/>
                  <p:cNvPicPr/>
                  <p:nvPr/>
                </p:nvPicPr>
                <p:blipFill rotWithShape="1">
                  <a:blip r:embed="rId3"/>
                  <a:stretch/>
                </p:blipFill>
                <p:spPr bwMode="auto">
                  <a:xfrm>
                    <a:off x="2794566" y="2210251"/>
                    <a:ext cx="2231802" cy="1077492"/>
                  </a:xfrm>
                  <a:prstGeom prst="rect">
                    <a:avLst/>
                  </a:prstGeom>
                  <a:noFill/>
                  <a:ln>
                    <a:noFill/>
                  </a:ln>
                  <a:effectLst/>
                </p:spPr>
              </p:pic>
            </p:oleObj>
          </a:graphicData>
        </a:graphic>
      </p:graphicFrame>
      <p:graphicFrame>
        <p:nvGraphicFramePr>
          <p:cNvPr id="1425350194" name="Object 5"/>
          <p:cNvGraphicFramePr>
            <a:graphicFrameLocks xmlns:a="http://schemas.openxmlformats.org/drawingml/2006/main" noChangeAspect="1"/>
          </p:cNvGraphicFramePr>
          <p:nvPr/>
        </p:nvGraphicFramePr>
        <p:xfrm>
          <a:off x="4788568" y="3406938"/>
          <a:ext cx="2292913" cy="2074539"/>
        </p:xfrm>
        <a:graphic>
          <a:graphicData uri="http://schemas.openxmlformats.org/presentationml/2006/ole">
            <p:oleObj name="oleObj" r:id="rId6" imgW="749300" imgH="838200" progId="Equation.3">
              <p:embed/>
              <p:pic>
                <p:nvPicPr>
                  <p:cNvPr id="1425350194" name="Object 5"/>
                  <p:cNvPicPr/>
                  <p:nvPr/>
                </p:nvPicPr>
                <p:blipFill rotWithShape="1">
                  <a:blip r:embed="rId5"/>
                  <a:stretch/>
                </p:blipFill>
                <p:spPr bwMode="auto">
                  <a:xfrm>
                    <a:off x="4788568" y="3406938"/>
                    <a:ext cx="2292913" cy="2074539"/>
                  </a:xfrm>
                  <a:prstGeom prst="rect">
                    <a:avLst/>
                  </a:prstGeom>
                  <a:noFill/>
                  <a:ln>
                    <a:noFill/>
                  </a:ln>
                  <a:effectLst/>
                </p:spPr>
              </p:pic>
            </p:oleObj>
          </a:graphicData>
        </a:graphic>
      </p:graphicFrame>
      <p:graphicFrame>
        <p:nvGraphicFramePr>
          <p:cNvPr id="637153361" name="Object 8"/>
          <p:cNvGraphicFramePr>
            <a:graphicFrameLocks xmlns:a="http://schemas.openxmlformats.org/drawingml/2006/main" noChangeAspect="1"/>
          </p:cNvGraphicFramePr>
          <p:nvPr/>
        </p:nvGraphicFramePr>
        <p:xfrm>
          <a:off x="6112539" y="2210251"/>
          <a:ext cx="1654679" cy="1196687"/>
        </p:xfrm>
        <a:graphic>
          <a:graphicData uri="http://schemas.openxmlformats.org/presentationml/2006/ole">
            <p:oleObj name="oleObj" r:id="rId8" imgW="596900" imgH="431800" progId="Equation.3">
              <p:embed/>
              <p:pic>
                <p:nvPicPr>
                  <p:cNvPr id="637153361" name="Object 8"/>
                  <p:cNvPicPr/>
                  <p:nvPr/>
                </p:nvPicPr>
                <p:blipFill rotWithShape="1">
                  <a:blip r:embed="rId7"/>
                  <a:stretch/>
                </p:blipFill>
                <p:spPr bwMode="auto">
                  <a:xfrm>
                    <a:off x="6112539" y="2210251"/>
                    <a:ext cx="1654679" cy="1196687"/>
                  </a:xfrm>
                  <a:prstGeom prst="rect">
                    <a:avLst/>
                  </a:prstGeom>
                  <a:noFill/>
                  <a:ln>
                    <a:noFill/>
                  </a:ln>
                  <a:effectLst/>
                </p:spPr>
              </p:pic>
            </p:oleObj>
          </a:graphicData>
        </a:graphic>
      </p:graphicFrame>
      <p:sp>
        <p:nvSpPr>
          <p:cNvPr id="1387740560" name="Down Arrow 1"/>
          <p:cNvSpPr/>
          <p:nvPr/>
        </p:nvSpPr>
        <p:spPr bwMode="auto">
          <a:xfrm rot="17220722">
            <a:off x="2746279" y="1801512"/>
            <a:ext cx="349754" cy="827719"/>
          </a:xfrm>
          <a:prstGeom prst="downArrow">
            <a:avLst>
              <a:gd name="adj1" fmla="val 50000"/>
              <a:gd name="adj2" fmla="val 50000"/>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58006500" name="Down Arrow 13"/>
          <p:cNvSpPr/>
          <p:nvPr/>
        </p:nvSpPr>
        <p:spPr bwMode="auto">
          <a:xfrm rot="16483461">
            <a:off x="3991877" y="3979935"/>
            <a:ext cx="349754" cy="827719"/>
          </a:xfrm>
          <a:prstGeom prst="downArrow">
            <a:avLst>
              <a:gd name="adj1" fmla="val 50000"/>
              <a:gd name="adj2" fmla="val 50000"/>
            </a:avLst>
          </a:prstGeom>
          <a:solidFill>
            <a:srgbClr val="FFC00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39853247" name="Down Arrow 14"/>
          <p:cNvSpPr/>
          <p:nvPr/>
        </p:nvSpPr>
        <p:spPr bwMode="auto">
          <a:xfrm rot="16914700">
            <a:off x="5502384" y="1769736"/>
            <a:ext cx="349754" cy="827719"/>
          </a:xfrm>
          <a:prstGeom prst="downArrow">
            <a:avLst>
              <a:gd name="adj1" fmla="val 50000"/>
              <a:gd name="adj2" fmla="val 50000"/>
            </a:avLst>
          </a:prstGeom>
          <a:solidFill>
            <a:srgbClr val="00B0F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16909757" name="Rectangle 2"/>
          <p:cNvSpPr>
            <a:spLocks noChangeArrowheads="1" noGrp="1"/>
          </p:cNvSpPr>
          <p:nvPr>
            <p:ph type="title"/>
          </p:nvPr>
        </p:nvSpPr>
        <p:spPr bwMode="auto"/>
        <p:txBody>
          <a:bodyPr anchor="t">
            <a:noAutofit/>
          </a:bodyPr>
          <a:lstStyle/>
          <a:p>
            <a:pPr>
              <a:defRPr/>
            </a:pPr>
            <a:r>
              <a:rPr lang="en-US"/>
              <a:t>Đo xu hướng trung tâm: (2) Trung vị</a:t>
            </a:r>
            <a:endParaRPr lang="en-US" sz="4000"/>
          </a:p>
        </p:txBody>
      </p:sp>
      <p:sp>
        <p:nvSpPr>
          <p:cNvPr id="259946939" name="Rectangle 3"/>
          <p:cNvSpPr>
            <a:spLocks noChangeArrowheads="1" noGrp="1"/>
          </p:cNvSpPr>
          <p:nvPr>
            <p:ph type="body" sz="half" idx="1"/>
          </p:nvPr>
        </p:nvSpPr>
        <p:spPr bwMode="auto">
          <a:xfrm>
            <a:off x="553911" y="1212431"/>
            <a:ext cx="11333289" cy="1880813"/>
          </a:xfrm>
        </p:spPr>
        <p:txBody>
          <a:bodyPr/>
          <a:lstStyle/>
          <a:p>
            <a:pPr>
              <a:spcBef>
                <a:spcPts val="400"/>
              </a:spcBef>
              <a:buSzPct val="80000"/>
              <a:defRPr/>
            </a:pPr>
            <a:r>
              <a:rPr lang="en-US" u="sng">
                <a:latin typeface="Calibri"/>
              </a:rPr>
              <a:t>Trung vị</a:t>
            </a:r>
            <a:r>
              <a:rPr lang="en-US">
                <a:latin typeface="Calibri"/>
              </a:rPr>
              <a:t>: </a:t>
            </a:r>
            <a:endParaRPr/>
          </a:p>
          <a:p>
            <a:pPr lvl="1">
              <a:spcBef>
                <a:spcPts val="400"/>
              </a:spcBef>
              <a:defRPr/>
            </a:pPr>
            <a:r>
              <a:rPr lang="en-US">
                <a:latin typeface="Calibri"/>
              </a:rPr>
              <a:t>Giá trị ở giữa nếu số lượng giá trị là lẻ, hoặc trung bình của hai giá trị giữa nếu là chẵn</a:t>
            </a:r>
            <a:endParaRPr/>
          </a:p>
          <a:p>
            <a:pPr>
              <a:spcBef>
                <a:spcPts val="400"/>
              </a:spcBef>
              <a:defRPr/>
            </a:pPr>
            <a:r>
              <a:rPr lang="en-US">
                <a:latin typeface="Calibri"/>
              </a:rPr>
              <a:t>Được ước lượng bằng phép nội suy (đối với </a:t>
            </a:r>
            <a:r>
              <a:rPr lang="en-US" i="1">
                <a:solidFill>
                  <a:srgbClr val="FF0000"/>
                </a:solidFill>
                <a:latin typeface="Calibri"/>
              </a:rPr>
              <a:t>dữ liệu đã gom nhóm</a:t>
            </a:r>
            <a:r>
              <a:rPr lang="en-US">
                <a:latin typeface="Calibri"/>
              </a:rPr>
              <a:t>):</a:t>
            </a:r>
            <a:endParaRPr/>
          </a:p>
          <a:p>
            <a:pPr>
              <a:spcBef>
                <a:spcPts val="400"/>
              </a:spcBef>
              <a:buSzPct val="80000"/>
              <a:defRPr/>
            </a:pPr>
            <a:endParaRPr lang="en-US" u="sng">
              <a:latin typeface="Calibri"/>
            </a:endParaRPr>
          </a:p>
          <a:p>
            <a:pPr>
              <a:spcBef>
                <a:spcPts val="400"/>
              </a:spcBef>
              <a:buSzPct val="80000"/>
              <a:defRPr/>
            </a:pPr>
            <a:endParaRPr lang="en-US"/>
          </a:p>
        </p:txBody>
      </p:sp>
      <p:graphicFrame>
        <p:nvGraphicFramePr>
          <p:cNvPr id="382433441" name="Object 6"/>
          <p:cNvGraphicFramePr>
            <a:graphicFrameLocks xmlns:a="http://schemas.openxmlformats.org/drawingml/2006/main" noChangeAspect="1"/>
          </p:cNvGraphicFramePr>
          <p:nvPr/>
        </p:nvGraphicFramePr>
        <p:xfrm>
          <a:off x="1979766" y="5440174"/>
          <a:ext cx="5917905" cy="1164178"/>
        </p:xfrm>
        <a:graphic>
          <a:graphicData uri="http://schemas.openxmlformats.org/presentationml/2006/ole">
            <p:oleObj name="oleObj" r:id="rId4" imgW="2387600" imgH="469900" progId="Equation.3">
              <p:embed/>
              <p:pic>
                <p:nvPicPr>
                  <p:cNvPr id="382433441" name="Object 6"/>
                  <p:cNvPicPr/>
                  <p:nvPr/>
                </p:nvPicPr>
                <p:blipFill rotWithShape="1">
                  <a:blip r:embed="rId3"/>
                  <a:stretch/>
                </p:blipFill>
                <p:spPr bwMode="auto">
                  <a:xfrm>
                    <a:off x="1979766" y="5440174"/>
                    <a:ext cx="5917905" cy="1164178"/>
                  </a:xfrm>
                  <a:prstGeom prst="rect">
                    <a:avLst/>
                  </a:prstGeom>
                  <a:noFill/>
                  <a:ln>
                    <a:noFill/>
                  </a:ln>
                  <a:effectLst/>
                </p:spPr>
              </p:pic>
            </p:oleObj>
          </a:graphicData>
        </a:graphic>
      </p:graphicFrame>
      <p:pic>
        <p:nvPicPr>
          <p:cNvPr id="1317541240" name="Picture 12"/>
          <p:cNvPicPr>
            <a:picLocks noChangeAspect="1" noChangeArrowheads="1"/>
          </p:cNvPicPr>
          <p:nvPr/>
        </p:nvPicPr>
        <p:blipFill rotWithShape="1">
          <a:blip r:embed="rId5"/>
          <a:stretch/>
        </p:blipFill>
        <p:spPr bwMode="auto">
          <a:xfrm>
            <a:off x="3679501" y="2490933"/>
            <a:ext cx="2541054" cy="2272841"/>
          </a:xfrm>
          <a:prstGeom prst="rect">
            <a:avLst/>
          </a:prstGeom>
          <a:noFill/>
          <a:ln>
            <a:noFill/>
          </a:ln>
        </p:spPr>
      </p:pic>
      <p:sp>
        <p:nvSpPr>
          <p:cNvPr id="1174707148" name="TextBox 1"/>
          <p:cNvSpPr txBox="1"/>
          <p:nvPr/>
        </p:nvSpPr>
        <p:spPr bwMode="auto">
          <a:xfrm>
            <a:off x="663387" y="4957482"/>
            <a:ext cx="1837765" cy="830997"/>
          </a:xfrm>
          <a:prstGeom prst="rect">
            <a:avLst/>
          </a:prstGeom>
          <a:solidFill>
            <a:srgbClr val="FFFF00"/>
          </a:solidFill>
        </p:spPr>
        <p:txBody>
          <a:bodyPr wrap="square" rtlCol="0">
            <a:spAutoFit/>
          </a:bodyPr>
          <a:lstStyle/>
          <a:p>
            <a:pPr algn="ctr">
              <a:defRPr/>
            </a:pPr>
            <a:r>
              <a:rPr lang="en-US" sz="2000"/>
              <a:t>Trung vị gần đúng</a:t>
            </a:r>
            <a:endParaRPr/>
          </a:p>
        </p:txBody>
      </p:sp>
      <p:sp>
        <p:nvSpPr>
          <p:cNvPr id="387838851" name="Curved Right Arrow 2"/>
          <p:cNvSpPr/>
          <p:nvPr/>
        </p:nvSpPr>
        <p:spPr bwMode="auto">
          <a:xfrm rot="19277405">
            <a:off x="1366863" y="5742471"/>
            <a:ext cx="430813" cy="733667"/>
          </a:xfrm>
          <a:prstGeom prst="curvedRightArrow">
            <a:avLst>
              <a:gd name="adj1" fmla="val 25000"/>
              <a:gd name="adj2" fmla="val 50000"/>
              <a:gd name="adj3" fmla="val 25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147153194" name="TextBox 8"/>
          <p:cNvSpPr txBox="1"/>
          <p:nvPr/>
        </p:nvSpPr>
        <p:spPr bwMode="auto">
          <a:xfrm>
            <a:off x="2774759" y="6478100"/>
            <a:ext cx="1837765" cy="369332"/>
          </a:xfrm>
          <a:prstGeom prst="rect">
            <a:avLst/>
          </a:prstGeom>
          <a:solidFill>
            <a:srgbClr val="92D050"/>
          </a:solidFill>
        </p:spPr>
        <p:txBody>
          <a:bodyPr wrap="square" rtlCol="0">
            <a:spAutoFit/>
          </a:bodyPr>
          <a:lstStyle/>
          <a:p>
            <a:pPr algn="ctr">
              <a:defRPr/>
            </a:pPr>
            <a:r>
              <a:rPr lang="en-US" sz="1500"/>
              <a:t>Cận dưới của khoảng</a:t>
            </a:r>
            <a:endParaRPr/>
          </a:p>
        </p:txBody>
      </p:sp>
      <p:sp>
        <p:nvSpPr>
          <p:cNvPr id="526235035" name="TextBox 10"/>
          <p:cNvSpPr txBox="1"/>
          <p:nvPr/>
        </p:nvSpPr>
        <p:spPr bwMode="auto">
          <a:xfrm>
            <a:off x="6996717" y="5405682"/>
            <a:ext cx="2344506" cy="369332"/>
          </a:xfrm>
          <a:prstGeom prst="rect">
            <a:avLst/>
          </a:prstGeom>
          <a:solidFill>
            <a:srgbClr val="92D050"/>
          </a:solidFill>
        </p:spPr>
        <p:txBody>
          <a:bodyPr wrap="square" rtlCol="0">
            <a:spAutoFit/>
          </a:bodyPr>
          <a:lstStyle/>
          <a:p>
            <a:pPr algn="ctr">
              <a:defRPr/>
            </a:pPr>
            <a:r>
              <a:rPr lang="en-US" sz="1500"/>
              <a:t>Độ rộng khoảng (L</a:t>
            </a:r>
            <a:r>
              <a:rPr lang="en-US" sz="1500" baseline="-25000"/>
              <a:t>2</a:t>
            </a:r>
            <a:r>
              <a:rPr lang="en-US" sz="1500"/>
              <a:t> – L</a:t>
            </a:r>
            <a:r>
              <a:rPr lang="en-US" sz="1500" baseline="-25000"/>
              <a:t>1</a:t>
            </a:r>
            <a:r>
              <a:rPr lang="en-US" sz="1500"/>
              <a:t>)</a:t>
            </a:r>
            <a:endParaRPr/>
          </a:p>
        </p:txBody>
      </p:sp>
      <p:sp>
        <p:nvSpPr>
          <p:cNvPr id="848796487" name="Right Arrow 4"/>
          <p:cNvSpPr/>
          <p:nvPr/>
        </p:nvSpPr>
        <p:spPr bwMode="auto">
          <a:xfrm rot="7632379">
            <a:off x="7962272" y="5744057"/>
            <a:ext cx="233082" cy="277906"/>
          </a:xfrm>
          <a:prstGeom prst="rightArrow">
            <a:avLst>
              <a:gd name="adj1" fmla="val 50000"/>
              <a:gd name="adj2" fmla="val 50000"/>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75087085" name="TextBox 12"/>
          <p:cNvSpPr txBox="1"/>
          <p:nvPr/>
        </p:nvSpPr>
        <p:spPr bwMode="auto">
          <a:xfrm>
            <a:off x="4355939" y="4857107"/>
            <a:ext cx="3378521" cy="369332"/>
          </a:xfrm>
          <a:prstGeom prst="rect">
            <a:avLst/>
          </a:prstGeom>
          <a:solidFill>
            <a:srgbClr val="92D050"/>
          </a:solidFill>
        </p:spPr>
        <p:txBody>
          <a:bodyPr wrap="square" rtlCol="0">
            <a:spAutoFit/>
          </a:bodyPr>
          <a:lstStyle/>
          <a:p>
            <a:pPr algn="ctr">
              <a:defRPr/>
            </a:pPr>
            <a:r>
              <a:rPr lang="en-US" sz="1500"/>
              <a:t>Tổng trước khoảng chứa trung vị</a:t>
            </a:r>
            <a:endParaRPr/>
          </a:p>
        </p:txBody>
      </p:sp>
      <p:sp>
        <p:nvSpPr>
          <p:cNvPr id="704820508" name="Right Arrow 13"/>
          <p:cNvSpPr/>
          <p:nvPr/>
        </p:nvSpPr>
        <p:spPr bwMode="auto">
          <a:xfrm rot="5400000">
            <a:off x="5928659" y="5236532"/>
            <a:ext cx="233082" cy="277906"/>
          </a:xfrm>
          <a:prstGeom prst="rightArrow">
            <a:avLst>
              <a:gd name="adj1" fmla="val 50000"/>
              <a:gd name="adj2" fmla="val 50000"/>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39282195" name="Right Arrow 14"/>
          <p:cNvSpPr/>
          <p:nvPr/>
        </p:nvSpPr>
        <p:spPr bwMode="auto">
          <a:xfrm rot="16199999">
            <a:off x="3577100" y="6258809"/>
            <a:ext cx="233082" cy="277906"/>
          </a:xfrm>
          <a:prstGeom prst="rightArrow">
            <a:avLst>
              <a:gd name="adj1" fmla="val 50000"/>
              <a:gd name="adj2" fmla="val 50000"/>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196778" name="Rectangle 2"/>
          <p:cNvSpPr>
            <a:spLocks noChangeArrowheads="1" noGrp="1"/>
          </p:cNvSpPr>
          <p:nvPr>
            <p:ph type="title"/>
          </p:nvPr>
        </p:nvSpPr>
        <p:spPr bwMode="auto"/>
        <p:txBody>
          <a:bodyPr anchor="t">
            <a:noAutofit/>
          </a:bodyPr>
          <a:lstStyle/>
          <a:p>
            <a:pPr>
              <a:defRPr/>
            </a:pPr>
            <a:r>
              <a:rPr lang="en-US"/>
              <a:t>Đo xu hướng trung tâm: (3) Mốt (Mode)</a:t>
            </a:r>
            <a:endParaRPr lang="en-US" sz="4000"/>
          </a:p>
        </p:txBody>
      </p:sp>
      <p:sp>
        <p:nvSpPr>
          <p:cNvPr id="1810098712" name="Rectangle 3"/>
          <p:cNvSpPr>
            <a:spLocks noChangeArrowheads="1" noGrp="1"/>
          </p:cNvSpPr>
          <p:nvPr>
            <p:ph type="body" sz="half" idx="1"/>
          </p:nvPr>
        </p:nvSpPr>
        <p:spPr bwMode="auto">
          <a:xfrm>
            <a:off x="561974" y="1142999"/>
            <a:ext cx="7058025" cy="4361329"/>
          </a:xfrm>
        </p:spPr>
        <p:txBody>
          <a:bodyPr/>
          <a:lstStyle/>
          <a:p>
            <a:pPr>
              <a:spcBef>
                <a:spcPts val="400"/>
              </a:spcBef>
              <a:defRPr/>
            </a:pPr>
            <a:r>
              <a:rPr lang="en-US">
                <a:latin typeface="Calibri"/>
              </a:rPr>
              <a:t>Mốt: Giá trị xuất hiện thường xuyên nhất trong dữ liệu</a:t>
            </a:r>
            <a:endParaRPr/>
          </a:p>
          <a:p>
            <a:pPr>
              <a:spcBef>
                <a:spcPts val="400"/>
              </a:spcBef>
              <a:defRPr/>
            </a:pPr>
            <a:endParaRPr lang="en-US">
              <a:latin typeface="Calibri"/>
            </a:endParaRPr>
          </a:p>
          <a:p>
            <a:pPr>
              <a:spcBef>
                <a:spcPts val="400"/>
              </a:spcBef>
              <a:defRPr/>
            </a:pPr>
            <a:r>
              <a:rPr lang="en-US">
                <a:latin typeface="Calibri"/>
              </a:rPr>
              <a:t>Đơn đỉnh</a:t>
            </a:r>
            <a:endParaRPr/>
          </a:p>
          <a:p>
            <a:pPr lvl="1">
              <a:spcBef>
                <a:spcPts val="400"/>
              </a:spcBef>
              <a:defRPr/>
            </a:pPr>
            <a:r>
              <a:rPr lang="en-US">
                <a:latin typeface="Calibri"/>
              </a:rPr>
              <a:t>Công thức thực nghiệm:</a:t>
            </a:r>
            <a:endParaRPr/>
          </a:p>
          <a:p>
            <a:pPr>
              <a:spcBef>
                <a:spcPts val="400"/>
              </a:spcBef>
              <a:defRPr/>
            </a:pPr>
            <a:endParaRPr lang="en-US">
              <a:latin typeface="Calibri"/>
            </a:endParaRPr>
          </a:p>
          <a:p>
            <a:pPr>
              <a:spcBef>
                <a:spcPts val="400"/>
              </a:spcBef>
              <a:defRPr/>
            </a:pPr>
            <a:endParaRPr lang="en-US">
              <a:latin typeface="Calibri"/>
            </a:endParaRPr>
          </a:p>
          <a:p>
            <a:pPr>
              <a:spcBef>
                <a:spcPts val="400"/>
              </a:spcBef>
              <a:defRPr/>
            </a:pPr>
            <a:r>
              <a:rPr lang="en-US">
                <a:latin typeface="Calibri"/>
              </a:rPr>
              <a:t>Đa đỉnh</a:t>
            </a:r>
            <a:endParaRPr/>
          </a:p>
          <a:p>
            <a:pPr lvl="1">
              <a:spcBef>
                <a:spcPts val="400"/>
              </a:spcBef>
              <a:defRPr/>
            </a:pPr>
            <a:r>
              <a:rPr lang="en-US">
                <a:latin typeface="Calibri"/>
              </a:rPr>
              <a:t>Hai đỉnh</a:t>
            </a:r>
            <a:endParaRPr/>
          </a:p>
          <a:p>
            <a:pPr lvl="1">
              <a:spcBef>
                <a:spcPts val="400"/>
              </a:spcBef>
              <a:defRPr/>
            </a:pPr>
            <a:endParaRPr lang="en-US">
              <a:latin typeface="Calibri"/>
            </a:endParaRPr>
          </a:p>
          <a:p>
            <a:pPr lvl="1">
              <a:spcBef>
                <a:spcPts val="400"/>
              </a:spcBef>
              <a:defRPr/>
            </a:pPr>
            <a:r>
              <a:rPr lang="en-US">
                <a:latin typeface="Calibri"/>
              </a:rPr>
              <a:t>Ba đỉnh</a:t>
            </a:r>
            <a:endParaRPr lang="en-US">
              <a:latin typeface="Calibri"/>
            </a:endParaRPr>
          </a:p>
        </p:txBody>
      </p:sp>
      <p:graphicFrame>
        <p:nvGraphicFramePr>
          <p:cNvPr id="1461001448" name="Object 7"/>
          <p:cNvGraphicFramePr>
            <a:graphicFrameLocks xmlns:a="http://schemas.openxmlformats.org/drawingml/2006/main" noChangeAspect="1"/>
          </p:cNvGraphicFramePr>
          <p:nvPr/>
        </p:nvGraphicFramePr>
        <p:xfrm>
          <a:off x="1875423" y="2869740"/>
          <a:ext cx="4449763" cy="420688"/>
        </p:xfrm>
        <a:graphic>
          <a:graphicData uri="http://schemas.openxmlformats.org/presentationml/2006/ole">
            <p:oleObj name="oleObj" r:id="rId4" imgW="2197100" imgH="203200" progId="Equation.3">
              <p:embed/>
              <p:pic>
                <p:nvPicPr>
                  <p:cNvPr id="1461001448" name="Object 7"/>
                  <p:cNvPicPr/>
                  <p:nvPr/>
                </p:nvPicPr>
                <p:blipFill rotWithShape="1">
                  <a:blip r:embed="rId3"/>
                  <a:stretch/>
                </p:blipFill>
                <p:spPr bwMode="auto">
                  <a:xfrm>
                    <a:off x="1875423" y="2869740"/>
                    <a:ext cx="4449763" cy="420688"/>
                  </a:xfrm>
                  <a:prstGeom prst="rect">
                    <a:avLst/>
                  </a:prstGeom>
                  <a:noFill/>
                  <a:ln>
                    <a:noFill/>
                  </a:ln>
                  <a:effectLst/>
                </p:spPr>
              </p:pic>
            </p:oleObj>
          </a:graphicData>
        </a:graphic>
      </p:graphicFrame>
      <p:pic>
        <p:nvPicPr>
          <p:cNvPr id="1350553714" name="Picture 4" descr="https://ned.ipac.caltech.edu/level5/March02/Silverman/Figures/figure2_7.jpg"/>
          <p:cNvPicPr>
            <a:picLocks noChangeAspect="1" noChangeArrowheads="1"/>
          </p:cNvPicPr>
          <p:nvPr/>
        </p:nvPicPr>
        <p:blipFill rotWithShape="1">
          <a:blip r:embed="rId5"/>
          <a:stretch/>
        </p:blipFill>
        <p:spPr bwMode="auto">
          <a:xfrm>
            <a:off x="2296182" y="4191098"/>
            <a:ext cx="3523997" cy="1862275"/>
          </a:xfrm>
          <a:prstGeom prst="rect">
            <a:avLst/>
          </a:prstGeom>
          <a:noFill/>
        </p:spPr>
      </p:pic>
      <p:pic>
        <p:nvPicPr>
          <p:cNvPr id="2001038245" name="Picture 8" descr="http://www.netenrich.com/wp-content/uploads/bimodal-it-pressures.png"/>
          <p:cNvPicPr>
            <a:picLocks noChangeAspect="1" noChangeArrowheads="1"/>
          </p:cNvPicPr>
          <p:nvPr/>
        </p:nvPicPr>
        <p:blipFill rotWithShape="1">
          <a:blip r:embed="rId6"/>
          <a:stretch/>
        </p:blipFill>
        <p:spPr bwMode="auto">
          <a:xfrm>
            <a:off x="5994244" y="4259172"/>
            <a:ext cx="2693144" cy="1515992"/>
          </a:xfrm>
          <a:prstGeom prst="rect">
            <a:avLst/>
          </a:prstGeom>
          <a:noFill/>
        </p:spPr>
      </p:pic>
      <p:pic>
        <p:nvPicPr>
          <p:cNvPr id="2139784865" name="Picture 13" descr="http://www.ndt.net/article/v11n04/benoit/fig4.gif"/>
          <p:cNvPicPr>
            <a:picLocks noChangeAspect="1" noChangeArrowheads="1"/>
          </p:cNvPicPr>
          <p:nvPr/>
        </p:nvPicPr>
        <p:blipFill rotWithShape="1">
          <a:blip r:embed="rId7"/>
          <a:stretch/>
        </p:blipFill>
        <p:spPr bwMode="auto">
          <a:xfrm>
            <a:off x="8869573" y="4028969"/>
            <a:ext cx="3124579" cy="2186531"/>
          </a:xfrm>
          <a:prstGeom prst="rect">
            <a:avLst/>
          </a:prstGeom>
          <a:noFill/>
        </p:spPr>
      </p:pic>
      <p:pic>
        <p:nvPicPr>
          <p:cNvPr id="900888298" name="Picture 15" descr="http://www.statisticshowto.com/wp-content/uploads/2013/09/right-skewed.jpg"/>
          <p:cNvPicPr>
            <a:picLocks noChangeAspect="1" noChangeArrowheads="1"/>
          </p:cNvPicPr>
          <p:nvPr/>
        </p:nvPicPr>
        <p:blipFill rotWithShape="1">
          <a:blip r:embed="rId8"/>
          <a:stretch/>
        </p:blipFill>
        <p:spPr bwMode="auto">
          <a:xfrm>
            <a:off x="6635095" y="2080019"/>
            <a:ext cx="4468955" cy="1825489"/>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89419786" name="Picture 6" descr="rightskewed"/>
          <p:cNvPicPr>
            <a:picLocks noChangeAspect="1" noChangeArrowheads="1" noGrp="1"/>
          </p:cNvPicPr>
          <p:nvPr>
            <p:ph sz="quarter" idx="2"/>
          </p:nvPr>
        </p:nvPicPr>
        <p:blipFill rotWithShape="1">
          <a:blip r:embed="rId3"/>
          <a:stretch/>
        </p:blipFill>
        <p:spPr bwMode="auto">
          <a:xfrm>
            <a:off x="6362700" y="2932115"/>
            <a:ext cx="4800600" cy="4048125"/>
          </a:xfrm>
          <a:prstGeom prst="rect">
            <a:avLst/>
          </a:prstGeom>
          <a:noFill/>
        </p:spPr>
      </p:pic>
      <p:pic>
        <p:nvPicPr>
          <p:cNvPr id="901531914" name="Picture 10" descr="ha02skew1"/>
          <p:cNvPicPr>
            <a:picLocks noChangeAspect="1" noChangeArrowheads="1"/>
          </p:cNvPicPr>
          <p:nvPr/>
        </p:nvPicPr>
        <p:blipFill rotWithShape="1">
          <a:blip r:embed="rId4">
            <a:extLst>
              <a:ext uri="{96DAC541-7B7A-43D3-8B79-37D633B846F1}">
                <asvg:svgBlip xmlns:asvg="http://schemas.microsoft.com/office/drawing/2016/SVG/main" r:embed="rId5"/>
              </a:ext>
            </a:extLst>
          </a:blip>
          <a:stretch/>
        </p:blipFill>
        <p:spPr bwMode="auto">
          <a:xfrm>
            <a:off x="7391400" y="101604"/>
            <a:ext cx="3810000" cy="3095625"/>
          </a:xfrm>
          <a:prstGeom prst="rect">
            <a:avLst/>
          </a:prstGeom>
          <a:noFill/>
          <a:ln>
            <a:noFill/>
          </a:ln>
        </p:spPr>
      </p:pic>
      <p:sp>
        <p:nvSpPr>
          <p:cNvPr id="1367255203" name="Date Placeholder 5"/>
          <p:cNvSpPr>
            <a:spLocks noGrp="1"/>
          </p:cNvSpPr>
          <p:nvPr>
            <p:ph type="dt" sz="quarter" idx="4294967295"/>
          </p:nvPr>
        </p:nvSpPr>
        <p:spPr bwMode="auto">
          <a:xfrm>
            <a:off x="1676400" y="6477000"/>
            <a:ext cx="1905000" cy="381000"/>
          </a:xfrm>
          <a:prstGeom prst="rect">
            <a:avLst/>
          </a:prstGeom>
          <a:noFill/>
        </p:spPr>
        <p:txBody>
          <a:bodyPr anchor="b"/>
          <a:lstStyle>
            <a:lvl1pPr>
              <a:spcBef>
                <a:spcPts val="0"/>
              </a:spcBef>
              <a:buClr>
                <a:schemeClr val="folHlink"/>
              </a:buClr>
              <a:buSzPct val="60000"/>
              <a:buFont typeface="Wingdings"/>
              <a:buChar char="n"/>
              <a:defRPr sz="2800">
                <a:solidFill>
                  <a:schemeClr val="tx1"/>
                </a:solidFill>
                <a:latin typeface="Tahoma"/>
              </a:defRPr>
            </a:lvl1pPr>
            <a:lvl2pPr marL="742950" indent="-285750">
              <a:spcBef>
                <a:spcPts val="0"/>
              </a:spcBef>
              <a:buClr>
                <a:schemeClr val="hlink"/>
              </a:buClr>
              <a:buSzPct val="55000"/>
              <a:buFont typeface="Wingdings"/>
              <a:buChar char="n"/>
              <a:defRPr sz="2800">
                <a:solidFill>
                  <a:schemeClr val="tx1"/>
                </a:solidFill>
                <a:latin typeface="Tahoma"/>
              </a:defRPr>
            </a:lvl2pPr>
            <a:lvl3pPr marL="1143000" indent="-228600">
              <a:spcBef>
                <a:spcPts val="0"/>
              </a:spcBef>
              <a:buClr>
                <a:schemeClr val="folHlink"/>
              </a:buClr>
              <a:buSzPct val="50000"/>
              <a:buFont typeface="Wingdings"/>
              <a:buChar char="n"/>
              <a:defRPr sz="2400">
                <a:solidFill>
                  <a:schemeClr val="tx1"/>
                </a:solidFill>
                <a:latin typeface="Tahoma"/>
              </a:defRPr>
            </a:lvl3pPr>
            <a:lvl4pPr marL="1600200" indent="-228600">
              <a:spcBef>
                <a:spcPts val="0"/>
              </a:spcBef>
              <a:buClr>
                <a:schemeClr val="accent2"/>
              </a:buClr>
              <a:buSzPct val="55000"/>
              <a:buFont typeface="Wingdings"/>
              <a:buChar char="n"/>
              <a:defRPr sz="2000">
                <a:solidFill>
                  <a:schemeClr val="tx1"/>
                </a:solidFill>
                <a:latin typeface="Tahoma"/>
              </a:defRPr>
            </a:lvl4pPr>
            <a:lvl5pPr marL="2057400" indent="-228600">
              <a:spcBef>
                <a:spcPts val="0"/>
              </a:spcBef>
              <a:buClr>
                <a:schemeClr val="accent1"/>
              </a:buClr>
              <a:buSzPct val="50000"/>
              <a:buFont typeface="Wingdings"/>
              <a:buChar char="n"/>
              <a:defRPr sz="2000">
                <a:solidFill>
                  <a:schemeClr val="tx1"/>
                </a:solidFill>
                <a:latin typeface="Tahoma"/>
              </a:defRPr>
            </a:lvl5pPr>
            <a:lvl6pPr marL="2514600" indent="-228600">
              <a:spcBef>
                <a:spcPts val="0"/>
              </a:spcBef>
              <a:spcAft>
                <a:spcPts val="0"/>
              </a:spcAft>
              <a:buClr>
                <a:schemeClr val="accent1"/>
              </a:buClr>
              <a:buSzPct val="50000"/>
              <a:buFont typeface="Wingdings"/>
              <a:buChar char="n"/>
              <a:defRPr sz="2000">
                <a:solidFill>
                  <a:schemeClr val="tx1"/>
                </a:solidFill>
                <a:latin typeface="Tahoma"/>
              </a:defRPr>
            </a:lvl6pPr>
            <a:lvl7pPr marL="2971800" indent="-228600">
              <a:spcBef>
                <a:spcPts val="0"/>
              </a:spcBef>
              <a:spcAft>
                <a:spcPts val="0"/>
              </a:spcAft>
              <a:buClr>
                <a:schemeClr val="accent1"/>
              </a:buClr>
              <a:buSzPct val="50000"/>
              <a:buFont typeface="Wingdings"/>
              <a:buChar char="n"/>
              <a:defRPr sz="2000">
                <a:solidFill>
                  <a:schemeClr val="tx1"/>
                </a:solidFill>
                <a:latin typeface="Tahoma"/>
              </a:defRPr>
            </a:lvl7pPr>
            <a:lvl8pPr marL="3429000" indent="-228600">
              <a:spcBef>
                <a:spcPts val="0"/>
              </a:spcBef>
              <a:spcAft>
                <a:spcPts val="0"/>
              </a:spcAft>
              <a:buClr>
                <a:schemeClr val="accent1"/>
              </a:buClr>
              <a:buSzPct val="50000"/>
              <a:buFont typeface="Wingdings"/>
              <a:buChar char="n"/>
              <a:defRPr sz="2000">
                <a:solidFill>
                  <a:schemeClr val="tx1"/>
                </a:solidFill>
                <a:latin typeface="Tahoma"/>
              </a:defRPr>
            </a:lvl8pPr>
            <a:lvl9pPr marL="3886200" indent="-228600">
              <a:spcBef>
                <a:spcPts val="0"/>
              </a:spcBef>
              <a:spcAft>
                <a:spcPts val="0"/>
              </a:spcAft>
              <a:buClr>
                <a:schemeClr val="accent1"/>
              </a:buClr>
              <a:buSzPct val="50000"/>
              <a:buFont typeface="Wingdings"/>
              <a:buChar char="n"/>
              <a:defRPr sz="2000">
                <a:solidFill>
                  <a:schemeClr val="tx1"/>
                </a:solidFill>
                <a:latin typeface="Tahoma"/>
              </a:defRPr>
            </a:lvl9pPr>
          </a:lstStyle>
          <a:p>
            <a:pPr>
              <a:spcBef>
                <a:spcPts val="0"/>
              </a:spcBef>
              <a:buClrTx/>
              <a:buSzTx/>
              <a:buFontTx/>
              <a:buNone/>
              <a:defRPr/>
            </a:pPr>
            <a:endParaRPr lang="en-US" sz="1200"/>
          </a:p>
        </p:txBody>
      </p:sp>
      <p:sp>
        <p:nvSpPr>
          <p:cNvPr id="835082452" name="Rectangle 2"/>
          <p:cNvSpPr>
            <a:spLocks noChangeArrowheads="1" noGrp="1"/>
          </p:cNvSpPr>
          <p:nvPr>
            <p:ph type="title"/>
          </p:nvPr>
        </p:nvSpPr>
        <p:spPr bwMode="auto">
          <a:xfrm>
            <a:off x="0" y="228600"/>
            <a:ext cx="7391400" cy="685800"/>
          </a:xfrm>
        </p:spPr>
        <p:txBody>
          <a:bodyPr anchor="t">
            <a:normAutofit/>
          </a:bodyPr>
          <a:lstStyle/>
          <a:p>
            <a:pPr>
              <a:defRPr/>
            </a:pPr>
            <a:r>
              <a:rPr lang="en-US" sz="3200"/>
              <a:t> </a:t>
            </a:r>
            <a:r>
              <a:rPr lang="en-US"/>
              <a:t>Dữ liệu đối xứng và lệch</a:t>
            </a:r>
            <a:endParaRPr lang="en-US" sz="3200"/>
          </a:p>
        </p:txBody>
      </p:sp>
      <p:sp>
        <p:nvSpPr>
          <p:cNvPr id="331609521" name="Rectangle 3"/>
          <p:cNvSpPr>
            <a:spLocks noChangeArrowheads="1" noGrp="1"/>
          </p:cNvSpPr>
          <p:nvPr>
            <p:ph type="body" sz="half" idx="1"/>
          </p:nvPr>
        </p:nvSpPr>
        <p:spPr bwMode="auto">
          <a:xfrm>
            <a:off x="723900" y="1295401"/>
            <a:ext cx="6438899" cy="1255713"/>
          </a:xfrm>
        </p:spPr>
        <p:txBody>
          <a:bodyPr/>
          <a:lstStyle/>
          <a:p>
            <a:pPr>
              <a:lnSpc>
                <a:spcPct val="120000"/>
              </a:lnSpc>
              <a:defRPr/>
            </a:pPr>
            <a:r>
              <a:rPr lang="en-US">
                <a:latin typeface="Calibri"/>
              </a:rPr>
              <a:t>Trung vị, trung bình và mốt của dữ liệu đối xứng, lệch dương và lệch âm</a:t>
            </a:r>
            <a:endParaRPr/>
          </a:p>
        </p:txBody>
      </p:sp>
      <p:pic>
        <p:nvPicPr>
          <p:cNvPr id="1943578791" name="Picture 8" descr="leftskewed"/>
          <p:cNvPicPr>
            <a:picLocks noChangeAspect="1" noChangeArrowheads="1" noGrp="1"/>
          </p:cNvPicPr>
          <p:nvPr>
            <p:ph sz="quarter" idx="3"/>
          </p:nvPr>
        </p:nvPicPr>
        <p:blipFill rotWithShape="1">
          <a:blip r:embed="rId6"/>
          <a:stretch/>
        </p:blipFill>
        <p:spPr bwMode="auto">
          <a:xfrm>
            <a:off x="361950" y="3170240"/>
            <a:ext cx="4876800" cy="3771900"/>
          </a:xfrm>
          <a:prstGeom prst="rect">
            <a:avLst/>
          </a:prstGeom>
          <a:noFill/>
        </p:spPr>
      </p:pic>
      <p:sp>
        <p:nvSpPr>
          <p:cNvPr id="1236689064" name="Rectangle 11"/>
          <p:cNvSpPr>
            <a:spLocks noChangeArrowheads="1"/>
          </p:cNvSpPr>
          <p:nvPr/>
        </p:nvSpPr>
        <p:spPr bwMode="auto">
          <a:xfrm>
            <a:off x="2628900" y="4675195"/>
            <a:ext cx="2533650" cy="381000"/>
          </a:xfrm>
          <a:prstGeom prst="rect">
            <a:avLst/>
          </a:prstGeom>
          <a:noFill/>
          <a:ln>
            <a:noFill/>
          </a:ln>
        </p:spPr>
        <p:txBody>
          <a:bodyPr/>
          <a:lstStyle>
            <a:lvl1pPr marL="342900" indent="-342900">
              <a:spcBef>
                <a:spcPts val="0"/>
              </a:spcBef>
              <a:buClr>
                <a:schemeClr val="folHlink"/>
              </a:buClr>
              <a:buSzPct val="60000"/>
              <a:buFont typeface="Wingdings"/>
              <a:buChar char="n"/>
              <a:defRPr sz="2800">
                <a:solidFill>
                  <a:schemeClr val="tx1"/>
                </a:solidFill>
                <a:latin typeface="Tahoma"/>
              </a:defRPr>
            </a:lvl1pPr>
            <a:lvl2pPr marL="742950" indent="-285750">
              <a:spcBef>
                <a:spcPts val="0"/>
              </a:spcBef>
              <a:buClr>
                <a:schemeClr val="hlink"/>
              </a:buClr>
              <a:buSzPct val="55000"/>
              <a:buFont typeface="Wingdings"/>
              <a:buChar char="n"/>
              <a:defRPr sz="2800">
                <a:solidFill>
                  <a:schemeClr val="tx1"/>
                </a:solidFill>
                <a:latin typeface="Tahoma"/>
              </a:defRPr>
            </a:lvl2pPr>
            <a:lvl3pPr marL="1143000" indent="-228600">
              <a:spcBef>
                <a:spcPts val="0"/>
              </a:spcBef>
              <a:buClr>
                <a:schemeClr val="folHlink"/>
              </a:buClr>
              <a:buSzPct val="50000"/>
              <a:buFont typeface="Wingdings"/>
              <a:buChar char="n"/>
              <a:defRPr sz="2400">
                <a:solidFill>
                  <a:schemeClr val="tx1"/>
                </a:solidFill>
                <a:latin typeface="Tahoma"/>
              </a:defRPr>
            </a:lvl3pPr>
            <a:lvl4pPr marL="1600200" indent="-228600">
              <a:spcBef>
                <a:spcPts val="0"/>
              </a:spcBef>
              <a:buClr>
                <a:schemeClr val="accent2"/>
              </a:buClr>
              <a:buSzPct val="55000"/>
              <a:buFont typeface="Wingdings"/>
              <a:buChar char="n"/>
              <a:defRPr sz="2000">
                <a:solidFill>
                  <a:schemeClr val="tx1"/>
                </a:solidFill>
                <a:latin typeface="Tahoma"/>
              </a:defRPr>
            </a:lvl4pPr>
            <a:lvl5pPr marL="2057400" indent="-228600">
              <a:spcBef>
                <a:spcPts val="0"/>
              </a:spcBef>
              <a:buClr>
                <a:schemeClr val="accent1"/>
              </a:buClr>
              <a:buSzPct val="50000"/>
              <a:buFont typeface="Wingdings"/>
              <a:buChar char="n"/>
              <a:defRPr sz="2000">
                <a:solidFill>
                  <a:schemeClr val="tx1"/>
                </a:solidFill>
                <a:latin typeface="Tahoma"/>
              </a:defRPr>
            </a:lvl5pPr>
            <a:lvl6pPr marL="2514600" indent="-228600">
              <a:spcBef>
                <a:spcPts val="0"/>
              </a:spcBef>
              <a:spcAft>
                <a:spcPts val="0"/>
              </a:spcAft>
              <a:buClr>
                <a:schemeClr val="accent1"/>
              </a:buClr>
              <a:buSzPct val="50000"/>
              <a:buFont typeface="Wingdings"/>
              <a:buChar char="n"/>
              <a:defRPr sz="2000">
                <a:solidFill>
                  <a:schemeClr val="tx1"/>
                </a:solidFill>
                <a:latin typeface="Tahoma"/>
              </a:defRPr>
            </a:lvl6pPr>
            <a:lvl7pPr marL="2971800" indent="-228600">
              <a:spcBef>
                <a:spcPts val="0"/>
              </a:spcBef>
              <a:spcAft>
                <a:spcPts val="0"/>
              </a:spcAft>
              <a:buClr>
                <a:schemeClr val="accent1"/>
              </a:buClr>
              <a:buSzPct val="50000"/>
              <a:buFont typeface="Wingdings"/>
              <a:buChar char="n"/>
              <a:defRPr sz="2000">
                <a:solidFill>
                  <a:schemeClr val="tx1"/>
                </a:solidFill>
                <a:latin typeface="Tahoma"/>
              </a:defRPr>
            </a:lvl7pPr>
            <a:lvl8pPr marL="3429000" indent="-228600">
              <a:spcBef>
                <a:spcPts val="0"/>
              </a:spcBef>
              <a:spcAft>
                <a:spcPts val="0"/>
              </a:spcAft>
              <a:buClr>
                <a:schemeClr val="accent1"/>
              </a:buClr>
              <a:buSzPct val="50000"/>
              <a:buFont typeface="Wingdings"/>
              <a:buChar char="n"/>
              <a:defRPr sz="2000">
                <a:solidFill>
                  <a:schemeClr val="tx1"/>
                </a:solidFill>
                <a:latin typeface="Tahoma"/>
              </a:defRPr>
            </a:lvl8pPr>
            <a:lvl9pPr marL="3886200" indent="-228600">
              <a:spcBef>
                <a:spcPts val="0"/>
              </a:spcBef>
              <a:spcAft>
                <a:spcPts val="0"/>
              </a:spcAft>
              <a:buClr>
                <a:schemeClr val="accent1"/>
              </a:buClr>
              <a:buSzPct val="50000"/>
              <a:buFont typeface="Wingdings"/>
              <a:buChar char="n"/>
              <a:defRPr sz="2000">
                <a:solidFill>
                  <a:schemeClr val="tx1"/>
                </a:solidFill>
                <a:latin typeface="Tahoma"/>
              </a:defRPr>
            </a:lvl9pPr>
          </a:lstStyle>
          <a:p>
            <a:pPr>
              <a:lnSpc>
                <a:spcPct val="120000"/>
              </a:lnSpc>
              <a:buFont typeface="Wingdings"/>
              <a:buNone/>
              <a:defRPr/>
            </a:pPr>
            <a:r>
              <a:rPr lang="en-US" sz="2000"/>
              <a:t>lệch dương</a:t>
            </a:r>
            <a:endParaRPr/>
          </a:p>
        </p:txBody>
      </p:sp>
      <p:sp>
        <p:nvSpPr>
          <p:cNvPr id="453486173" name="Rectangle 12"/>
          <p:cNvSpPr>
            <a:spLocks noChangeArrowheads="1"/>
          </p:cNvSpPr>
          <p:nvPr/>
        </p:nvSpPr>
        <p:spPr bwMode="auto">
          <a:xfrm>
            <a:off x="6977062" y="4672018"/>
            <a:ext cx="2657475" cy="561975"/>
          </a:xfrm>
          <a:prstGeom prst="rect">
            <a:avLst/>
          </a:prstGeom>
          <a:noFill/>
          <a:ln>
            <a:noFill/>
          </a:ln>
        </p:spPr>
        <p:txBody>
          <a:bodyPr/>
          <a:lstStyle>
            <a:lvl1pPr marL="342900" indent="-342900">
              <a:spcBef>
                <a:spcPts val="0"/>
              </a:spcBef>
              <a:buClr>
                <a:schemeClr val="folHlink"/>
              </a:buClr>
              <a:buSzPct val="60000"/>
              <a:buFont typeface="Wingdings"/>
              <a:buChar char="n"/>
              <a:defRPr sz="2800">
                <a:solidFill>
                  <a:schemeClr val="tx1"/>
                </a:solidFill>
                <a:latin typeface="Tahoma"/>
              </a:defRPr>
            </a:lvl1pPr>
            <a:lvl2pPr marL="742950" indent="-285750">
              <a:spcBef>
                <a:spcPts val="0"/>
              </a:spcBef>
              <a:buClr>
                <a:schemeClr val="hlink"/>
              </a:buClr>
              <a:buSzPct val="55000"/>
              <a:buFont typeface="Wingdings"/>
              <a:buChar char="n"/>
              <a:defRPr sz="2800">
                <a:solidFill>
                  <a:schemeClr val="tx1"/>
                </a:solidFill>
                <a:latin typeface="Tahoma"/>
              </a:defRPr>
            </a:lvl2pPr>
            <a:lvl3pPr marL="1143000" indent="-228600">
              <a:spcBef>
                <a:spcPts val="0"/>
              </a:spcBef>
              <a:buClr>
                <a:schemeClr val="folHlink"/>
              </a:buClr>
              <a:buSzPct val="50000"/>
              <a:buFont typeface="Wingdings"/>
              <a:buChar char="n"/>
              <a:defRPr sz="2400">
                <a:solidFill>
                  <a:schemeClr val="tx1"/>
                </a:solidFill>
                <a:latin typeface="Tahoma"/>
              </a:defRPr>
            </a:lvl3pPr>
            <a:lvl4pPr marL="1600200" indent="-228600">
              <a:spcBef>
                <a:spcPts val="0"/>
              </a:spcBef>
              <a:buClr>
                <a:schemeClr val="accent2"/>
              </a:buClr>
              <a:buSzPct val="55000"/>
              <a:buFont typeface="Wingdings"/>
              <a:buChar char="n"/>
              <a:defRPr sz="2000">
                <a:solidFill>
                  <a:schemeClr val="tx1"/>
                </a:solidFill>
                <a:latin typeface="Tahoma"/>
              </a:defRPr>
            </a:lvl4pPr>
            <a:lvl5pPr marL="2057400" indent="-228600">
              <a:spcBef>
                <a:spcPts val="0"/>
              </a:spcBef>
              <a:buClr>
                <a:schemeClr val="accent1"/>
              </a:buClr>
              <a:buSzPct val="50000"/>
              <a:buFont typeface="Wingdings"/>
              <a:buChar char="n"/>
              <a:defRPr sz="2000">
                <a:solidFill>
                  <a:schemeClr val="tx1"/>
                </a:solidFill>
                <a:latin typeface="Tahoma"/>
              </a:defRPr>
            </a:lvl5pPr>
            <a:lvl6pPr marL="2514600" indent="-228600">
              <a:spcBef>
                <a:spcPts val="0"/>
              </a:spcBef>
              <a:spcAft>
                <a:spcPts val="0"/>
              </a:spcAft>
              <a:buClr>
                <a:schemeClr val="accent1"/>
              </a:buClr>
              <a:buSzPct val="50000"/>
              <a:buFont typeface="Wingdings"/>
              <a:buChar char="n"/>
              <a:defRPr sz="2000">
                <a:solidFill>
                  <a:schemeClr val="tx1"/>
                </a:solidFill>
                <a:latin typeface="Tahoma"/>
              </a:defRPr>
            </a:lvl6pPr>
            <a:lvl7pPr marL="2971800" indent="-228600">
              <a:spcBef>
                <a:spcPts val="0"/>
              </a:spcBef>
              <a:spcAft>
                <a:spcPts val="0"/>
              </a:spcAft>
              <a:buClr>
                <a:schemeClr val="accent1"/>
              </a:buClr>
              <a:buSzPct val="50000"/>
              <a:buFont typeface="Wingdings"/>
              <a:buChar char="n"/>
              <a:defRPr sz="2000">
                <a:solidFill>
                  <a:schemeClr val="tx1"/>
                </a:solidFill>
                <a:latin typeface="Tahoma"/>
              </a:defRPr>
            </a:lvl7pPr>
            <a:lvl8pPr marL="3429000" indent="-228600">
              <a:spcBef>
                <a:spcPts val="0"/>
              </a:spcBef>
              <a:spcAft>
                <a:spcPts val="0"/>
              </a:spcAft>
              <a:buClr>
                <a:schemeClr val="accent1"/>
              </a:buClr>
              <a:buSzPct val="50000"/>
              <a:buFont typeface="Wingdings"/>
              <a:buChar char="n"/>
              <a:defRPr sz="2000">
                <a:solidFill>
                  <a:schemeClr val="tx1"/>
                </a:solidFill>
                <a:latin typeface="Tahoma"/>
              </a:defRPr>
            </a:lvl8pPr>
            <a:lvl9pPr marL="3886200" indent="-228600">
              <a:spcBef>
                <a:spcPts val="0"/>
              </a:spcBef>
              <a:spcAft>
                <a:spcPts val="0"/>
              </a:spcAft>
              <a:buClr>
                <a:schemeClr val="accent1"/>
              </a:buClr>
              <a:buSzPct val="50000"/>
              <a:buFont typeface="Wingdings"/>
              <a:buChar char="n"/>
              <a:defRPr sz="2000">
                <a:solidFill>
                  <a:schemeClr val="tx1"/>
                </a:solidFill>
                <a:latin typeface="Tahoma"/>
              </a:defRPr>
            </a:lvl9pPr>
          </a:lstStyle>
          <a:p>
            <a:pPr>
              <a:lnSpc>
                <a:spcPct val="120000"/>
              </a:lnSpc>
              <a:buFont typeface="Wingdings"/>
              <a:buNone/>
              <a:defRPr/>
            </a:pPr>
            <a:r>
              <a:rPr lang="en-US" sz="2000"/>
              <a:t>lệch âm</a:t>
            </a:r>
            <a:endParaRPr/>
          </a:p>
        </p:txBody>
      </p:sp>
      <p:sp>
        <p:nvSpPr>
          <p:cNvPr id="1738951173" name="Rectangle 13"/>
          <p:cNvSpPr>
            <a:spLocks noChangeArrowheads="1"/>
          </p:cNvSpPr>
          <p:nvPr/>
        </p:nvSpPr>
        <p:spPr bwMode="auto">
          <a:xfrm>
            <a:off x="7772400" y="995368"/>
            <a:ext cx="1981200" cy="381000"/>
          </a:xfrm>
          <a:prstGeom prst="rect">
            <a:avLst/>
          </a:prstGeom>
          <a:noFill/>
          <a:ln>
            <a:noFill/>
          </a:ln>
        </p:spPr>
        <p:txBody>
          <a:bodyPr/>
          <a:lstStyle>
            <a:lvl1pPr marL="342900" indent="-342900">
              <a:spcBef>
                <a:spcPts val="0"/>
              </a:spcBef>
              <a:buClr>
                <a:schemeClr val="folHlink"/>
              </a:buClr>
              <a:buSzPct val="60000"/>
              <a:buFont typeface="Wingdings"/>
              <a:buChar char="n"/>
              <a:defRPr sz="2800">
                <a:solidFill>
                  <a:schemeClr val="tx1"/>
                </a:solidFill>
                <a:latin typeface="Tahoma"/>
              </a:defRPr>
            </a:lvl1pPr>
            <a:lvl2pPr marL="742950" indent="-285750">
              <a:spcBef>
                <a:spcPts val="0"/>
              </a:spcBef>
              <a:buClr>
                <a:schemeClr val="hlink"/>
              </a:buClr>
              <a:buSzPct val="55000"/>
              <a:buFont typeface="Wingdings"/>
              <a:buChar char="n"/>
              <a:defRPr sz="2800">
                <a:solidFill>
                  <a:schemeClr val="tx1"/>
                </a:solidFill>
                <a:latin typeface="Tahoma"/>
              </a:defRPr>
            </a:lvl2pPr>
            <a:lvl3pPr marL="1143000" indent="-228600">
              <a:spcBef>
                <a:spcPts val="0"/>
              </a:spcBef>
              <a:buClr>
                <a:schemeClr val="folHlink"/>
              </a:buClr>
              <a:buSzPct val="50000"/>
              <a:buFont typeface="Wingdings"/>
              <a:buChar char="n"/>
              <a:defRPr sz="2400">
                <a:solidFill>
                  <a:schemeClr val="tx1"/>
                </a:solidFill>
                <a:latin typeface="Tahoma"/>
              </a:defRPr>
            </a:lvl3pPr>
            <a:lvl4pPr marL="1600200" indent="-228600">
              <a:spcBef>
                <a:spcPts val="0"/>
              </a:spcBef>
              <a:buClr>
                <a:schemeClr val="accent2"/>
              </a:buClr>
              <a:buSzPct val="55000"/>
              <a:buFont typeface="Wingdings"/>
              <a:buChar char="n"/>
              <a:defRPr sz="2000">
                <a:solidFill>
                  <a:schemeClr val="tx1"/>
                </a:solidFill>
                <a:latin typeface="Tahoma"/>
              </a:defRPr>
            </a:lvl4pPr>
            <a:lvl5pPr marL="2057400" indent="-228600">
              <a:spcBef>
                <a:spcPts val="0"/>
              </a:spcBef>
              <a:buClr>
                <a:schemeClr val="accent1"/>
              </a:buClr>
              <a:buSzPct val="50000"/>
              <a:buFont typeface="Wingdings"/>
              <a:buChar char="n"/>
              <a:defRPr sz="2000">
                <a:solidFill>
                  <a:schemeClr val="tx1"/>
                </a:solidFill>
                <a:latin typeface="Tahoma"/>
              </a:defRPr>
            </a:lvl5pPr>
            <a:lvl6pPr marL="2514600" indent="-228600">
              <a:spcBef>
                <a:spcPts val="0"/>
              </a:spcBef>
              <a:spcAft>
                <a:spcPts val="0"/>
              </a:spcAft>
              <a:buClr>
                <a:schemeClr val="accent1"/>
              </a:buClr>
              <a:buSzPct val="50000"/>
              <a:buFont typeface="Wingdings"/>
              <a:buChar char="n"/>
              <a:defRPr sz="2000">
                <a:solidFill>
                  <a:schemeClr val="tx1"/>
                </a:solidFill>
                <a:latin typeface="Tahoma"/>
              </a:defRPr>
            </a:lvl6pPr>
            <a:lvl7pPr marL="2971800" indent="-228600">
              <a:spcBef>
                <a:spcPts val="0"/>
              </a:spcBef>
              <a:spcAft>
                <a:spcPts val="0"/>
              </a:spcAft>
              <a:buClr>
                <a:schemeClr val="accent1"/>
              </a:buClr>
              <a:buSzPct val="50000"/>
              <a:buFont typeface="Wingdings"/>
              <a:buChar char="n"/>
              <a:defRPr sz="2000">
                <a:solidFill>
                  <a:schemeClr val="tx1"/>
                </a:solidFill>
                <a:latin typeface="Tahoma"/>
              </a:defRPr>
            </a:lvl7pPr>
            <a:lvl8pPr marL="3429000" indent="-228600">
              <a:spcBef>
                <a:spcPts val="0"/>
              </a:spcBef>
              <a:spcAft>
                <a:spcPts val="0"/>
              </a:spcAft>
              <a:buClr>
                <a:schemeClr val="accent1"/>
              </a:buClr>
              <a:buSzPct val="50000"/>
              <a:buFont typeface="Wingdings"/>
              <a:buChar char="n"/>
              <a:defRPr sz="2000">
                <a:solidFill>
                  <a:schemeClr val="tx1"/>
                </a:solidFill>
                <a:latin typeface="Tahoma"/>
              </a:defRPr>
            </a:lvl8pPr>
            <a:lvl9pPr marL="3886200" indent="-228600">
              <a:spcBef>
                <a:spcPts val="0"/>
              </a:spcBef>
              <a:spcAft>
                <a:spcPts val="0"/>
              </a:spcAft>
              <a:buClr>
                <a:schemeClr val="accent1"/>
              </a:buClr>
              <a:buSzPct val="50000"/>
              <a:buFont typeface="Wingdings"/>
              <a:buChar char="n"/>
              <a:defRPr sz="2000">
                <a:solidFill>
                  <a:schemeClr val="tx1"/>
                </a:solidFill>
                <a:latin typeface="Tahoma"/>
              </a:defRPr>
            </a:lvl9pPr>
          </a:lstStyle>
          <a:p>
            <a:pPr>
              <a:lnSpc>
                <a:spcPct val="120000"/>
              </a:lnSpc>
              <a:buFont typeface="Wingdings"/>
              <a:buNone/>
              <a:defRPr/>
            </a:pPr>
            <a:r>
              <a:rPr lang="en-US" sz="2000"/>
              <a:t>đối xứng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8321856" name="Rectangle 2"/>
          <p:cNvSpPr>
            <a:spLocks noChangeArrowheads="1" noGrp="1"/>
          </p:cNvSpPr>
          <p:nvPr>
            <p:ph type="title"/>
          </p:nvPr>
        </p:nvSpPr>
        <p:spPr bwMode="auto">
          <a:xfrm>
            <a:off x="466725" y="380999"/>
            <a:ext cx="11077575" cy="714376"/>
          </a:xfrm>
        </p:spPr>
        <p:txBody>
          <a:bodyPr anchor="t">
            <a:normAutofit/>
          </a:bodyPr>
          <a:lstStyle/>
          <a:p>
            <a:pPr>
              <a:defRPr/>
            </a:pPr>
            <a:r>
              <a:rPr lang="en-US"/>
              <a:t>Tính chất của đường phân bố chuẩn</a:t>
            </a:r>
            <a:endParaRPr/>
          </a:p>
        </p:txBody>
      </p:sp>
      <p:pic>
        <p:nvPicPr>
          <p:cNvPr id="243841483" name="Picture 2" descr="https://upload.wikimedia.org/wikipedia/commons/a/a9/Empirical_Rule.PNG"/>
          <p:cNvPicPr>
            <a:picLocks noChangeAspect="1" noChangeArrowheads="1"/>
          </p:cNvPicPr>
          <p:nvPr/>
        </p:nvPicPr>
        <p:blipFill rotWithShape="1">
          <a:blip r:embed="rId3"/>
          <a:stretch/>
        </p:blipFill>
        <p:spPr bwMode="auto">
          <a:xfrm>
            <a:off x="1783977" y="1611444"/>
            <a:ext cx="6600382" cy="4789355"/>
          </a:xfrm>
          <a:prstGeom prst="rect">
            <a:avLst/>
          </a:prstGeom>
          <a:noFill/>
        </p:spPr>
      </p:pic>
      <p:sp>
        <p:nvSpPr>
          <p:cNvPr id="288838658" name="TextBox 1"/>
          <p:cNvSpPr txBox="1"/>
          <p:nvPr/>
        </p:nvSpPr>
        <p:spPr bwMode="auto">
          <a:xfrm>
            <a:off x="1870321" y="1226723"/>
            <a:ext cx="6427693" cy="384721"/>
          </a:xfrm>
          <a:prstGeom prst="rect">
            <a:avLst/>
          </a:prstGeom>
          <a:solidFill>
            <a:srgbClr val="FFFF00"/>
          </a:solidFill>
        </p:spPr>
        <p:txBody>
          <a:bodyPr wrap="square" rtlCol="0">
            <a:spAutoFit/>
          </a:bodyPr>
          <a:lstStyle/>
          <a:p>
            <a:pPr algn="ctr">
              <a:defRPr/>
            </a:pPr>
            <a:r>
              <a:rPr lang="en-US">
                <a:latin typeface="Calibri"/>
              </a:rPr>
              <a:t>← — ————</a:t>
            </a:r>
            <a:r>
              <a:rPr lang="en-US"/>
              <a:t>Thể hiện độ phân tán, độ trải rộng của dữ liệu </a:t>
            </a:r>
            <a:r>
              <a:rPr lang="en-US">
                <a:latin typeface="Calibri"/>
              </a:rPr>
              <a:t>— ————→</a:t>
            </a:r>
            <a:endParaRPr lang="en-US"/>
          </a:p>
        </p:txBody>
      </p:sp>
      <p:sp>
        <p:nvSpPr>
          <p:cNvPr id="1392110586" name="TextBox 4"/>
          <p:cNvSpPr txBox="1"/>
          <p:nvPr/>
        </p:nvSpPr>
        <p:spPr bwMode="auto">
          <a:xfrm>
            <a:off x="5620871" y="6400798"/>
            <a:ext cx="3116414" cy="384721"/>
          </a:xfrm>
          <a:prstGeom prst="rect">
            <a:avLst/>
          </a:prstGeom>
          <a:solidFill>
            <a:srgbClr val="92D050"/>
          </a:solidFill>
        </p:spPr>
        <p:txBody>
          <a:bodyPr wrap="square" rtlCol="0">
            <a:spAutoFit/>
          </a:bodyPr>
          <a:lstStyle/>
          <a:p>
            <a:pPr algn="ctr">
              <a:defRPr/>
            </a:pPr>
            <a:r>
              <a:rPr lang="en-US"/>
              <a:t>Thể hiện xu hướng trung tâm</a:t>
            </a:r>
            <a:endParaRPr/>
          </a:p>
        </p:txBody>
      </p:sp>
      <p:sp>
        <p:nvSpPr>
          <p:cNvPr id="555742565" name="Curved Up Arrow 2"/>
          <p:cNvSpPr/>
          <p:nvPr/>
        </p:nvSpPr>
        <p:spPr bwMode="auto">
          <a:xfrm rot="11778644" flipV="1">
            <a:off x="4969544" y="6506625"/>
            <a:ext cx="797220" cy="304196"/>
          </a:xfrm>
          <a:prstGeom prst="curvedUpArrow">
            <a:avLst>
              <a:gd name="adj1" fmla="val 25000"/>
              <a:gd name="adj2" fmla="val 50000"/>
              <a:gd name="adj3" fmla="val 25000"/>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6899250" name="Rectangle 2"/>
          <p:cNvSpPr>
            <a:spLocks noChangeArrowheads="1" noGrp="1"/>
          </p:cNvSpPr>
          <p:nvPr>
            <p:ph type="title"/>
          </p:nvPr>
        </p:nvSpPr>
        <p:spPr bwMode="auto">
          <a:xfrm>
            <a:off x="-252663" y="1"/>
            <a:ext cx="12669252" cy="938462"/>
          </a:xfrm>
        </p:spPr>
        <p:txBody>
          <a:bodyPr anchor="t">
            <a:noAutofit/>
          </a:bodyPr>
          <a:lstStyle/>
          <a:p>
            <a:pPr>
              <a:defRPr/>
            </a:pPr>
            <a:r>
              <a:rPr lang="en-US" sz="3000"/>
              <a:t>Đo phân bố dữ liệu: Phương sai và độ lệch chuẩn</a:t>
            </a:r>
            <a:endParaRPr/>
          </a:p>
        </p:txBody>
      </p:sp>
      <p:sp>
        <p:nvSpPr>
          <p:cNvPr id="1874552418" name="Rectangle 3"/>
          <p:cNvSpPr>
            <a:spLocks noChangeArrowheads="1" noGrp="1"/>
          </p:cNvSpPr>
          <p:nvPr>
            <p:ph type="body" sz="half" idx="1"/>
          </p:nvPr>
        </p:nvSpPr>
        <p:spPr bwMode="auto">
          <a:xfrm>
            <a:off x="571500" y="1142999"/>
            <a:ext cx="10788162" cy="1825891"/>
          </a:xfrm>
        </p:spPr>
        <p:txBody>
          <a:bodyPr/>
          <a:lstStyle/>
          <a:p>
            <a:pPr>
              <a:buSzPct val="80000"/>
              <a:defRPr/>
            </a:pPr>
            <a:r>
              <a:rPr lang="en-US">
                <a:latin typeface="Calibri"/>
              </a:rPr>
              <a:t>Phương sai và độ lệch chuẩn (</a:t>
            </a:r>
            <a:r>
              <a:rPr lang="en-US" i="1">
                <a:latin typeface="Calibri"/>
              </a:rPr>
              <a:t>mẫu:</a:t>
            </a:r>
            <a:r>
              <a:rPr lang="en-US">
                <a:latin typeface="Calibri"/>
              </a:rPr>
              <a:t> </a:t>
            </a:r>
            <a:r>
              <a:rPr lang="en-US" i="1">
                <a:latin typeface="Calibri"/>
              </a:rPr>
              <a:t>s, tổng thể: </a:t>
            </a:r>
            <a:r>
              <a:rPr lang="el-GR" i="1">
                <a:latin typeface="Calibri"/>
              </a:rPr>
              <a:t>σ</a:t>
            </a:r>
            <a:r>
              <a:rPr lang="en-US" i="1">
                <a:latin typeface="Calibri"/>
              </a:rPr>
              <a:t>)</a:t>
            </a:r>
            <a:endParaRPr lang="en-US">
              <a:latin typeface="Calibri"/>
            </a:endParaRPr>
          </a:p>
          <a:p>
            <a:pPr lvl="1">
              <a:buSzPct val="80000"/>
              <a:defRPr/>
            </a:pPr>
            <a:r>
              <a:rPr lang="en-US" b="1">
                <a:latin typeface="Calibri"/>
              </a:rPr>
              <a:t>Phương sai</a:t>
            </a:r>
            <a:r>
              <a:rPr lang="en-US">
                <a:latin typeface="Calibri"/>
              </a:rPr>
              <a:t>: (đại số, tính toán có thể mở rộng)</a:t>
            </a:r>
            <a:endParaRPr/>
          </a:p>
          <a:p>
            <a:pPr lvl="3">
              <a:defRPr/>
            </a:pPr>
            <a:r>
              <a:rPr lang="en-US">
                <a:latin typeface="Calibri"/>
              </a:rPr>
              <a:t>Hỏi: Bạn có thể tính nó một cách tăng dần và hiệu quả không?</a:t>
            </a:r>
            <a:endParaRPr/>
          </a:p>
          <a:p>
            <a:pPr marL="200021" lvl="1" indent="0">
              <a:buSzPct val="80000"/>
              <a:buNone/>
              <a:defRPr/>
            </a:pPr>
            <a:endParaRPr lang="en-US">
              <a:latin typeface="Calibri"/>
            </a:endParaRPr>
          </a:p>
          <a:p>
            <a:pPr lvl="1">
              <a:buSzPct val="80000"/>
              <a:defRPr/>
            </a:pPr>
            <a:endParaRPr lang="en-US" b="1">
              <a:latin typeface="Calibri"/>
            </a:endParaRPr>
          </a:p>
          <a:p>
            <a:pPr lvl="1">
              <a:buSzPct val="80000"/>
              <a:defRPr/>
            </a:pPr>
            <a:endParaRPr lang="en-US" b="1">
              <a:latin typeface="Calibri"/>
            </a:endParaRPr>
          </a:p>
          <a:p>
            <a:pPr lvl="1">
              <a:buSzPct val="80000"/>
              <a:defRPr/>
            </a:pPr>
            <a:endParaRPr lang="en-US" b="1">
              <a:latin typeface="Calibri"/>
            </a:endParaRPr>
          </a:p>
          <a:p>
            <a:pPr lvl="1">
              <a:buSzPct val="80000"/>
              <a:defRPr/>
            </a:pPr>
            <a:endParaRPr lang="en-US" b="1">
              <a:latin typeface="Calibri"/>
            </a:endParaRPr>
          </a:p>
          <a:p>
            <a:pPr lvl="1">
              <a:buSzPct val="80000"/>
              <a:defRPr/>
            </a:pPr>
            <a:endParaRPr lang="en-US" b="1">
              <a:latin typeface="Calibri"/>
            </a:endParaRPr>
          </a:p>
          <a:p>
            <a:pPr lvl="1">
              <a:buSzPct val="80000"/>
              <a:defRPr/>
            </a:pPr>
            <a:endParaRPr lang="en-US" b="1">
              <a:latin typeface="Calibri"/>
            </a:endParaRPr>
          </a:p>
          <a:p>
            <a:pPr lvl="1">
              <a:buSzPct val="80000"/>
              <a:defRPr/>
            </a:pPr>
            <a:r>
              <a:rPr lang="en-US" b="1">
                <a:latin typeface="Calibri"/>
              </a:rPr>
              <a:t>Độ lệch chuẩn</a:t>
            </a:r>
            <a:r>
              <a:rPr lang="en-US" i="1">
                <a:latin typeface="Calibri"/>
              </a:rPr>
              <a:t> s (hay </a:t>
            </a:r>
            <a:r>
              <a:rPr lang="el-GR" i="1">
                <a:latin typeface="Calibri"/>
              </a:rPr>
              <a:t>σ</a:t>
            </a:r>
            <a:r>
              <a:rPr lang="en-US" i="1">
                <a:latin typeface="Calibri"/>
              </a:rPr>
              <a:t>) </a:t>
            </a:r>
            <a:r>
              <a:rPr lang="en-US">
                <a:latin typeface="Calibri"/>
              </a:rPr>
              <a:t>là căn bậc hai của phương sai </a:t>
            </a:r>
            <a:r>
              <a:rPr lang="en-US" i="1">
                <a:latin typeface="Calibri"/>
              </a:rPr>
              <a:t>s</a:t>
            </a:r>
            <a:r>
              <a:rPr lang="en-US" i="1" baseline="30000">
                <a:latin typeface="Calibri"/>
              </a:rPr>
              <a:t>2 (</a:t>
            </a:r>
            <a:r>
              <a:rPr lang="en-US" i="1">
                <a:latin typeface="Calibri"/>
              </a:rPr>
              <a:t>hay</a:t>
            </a:r>
            <a:r>
              <a:rPr lang="en-US" i="1" baseline="30000">
                <a:latin typeface="Calibri"/>
              </a:rPr>
              <a:t> </a:t>
            </a:r>
            <a:r>
              <a:rPr lang="el-GR" i="1">
                <a:latin typeface="Calibri"/>
              </a:rPr>
              <a:t>σ</a:t>
            </a:r>
            <a:r>
              <a:rPr lang="en-US" i="1" baseline="30000">
                <a:latin typeface="Calibri"/>
              </a:rPr>
              <a:t>2)</a:t>
            </a:r>
            <a:endParaRPr/>
          </a:p>
        </p:txBody>
      </p:sp>
      <p:graphicFrame>
        <p:nvGraphicFramePr>
          <p:cNvPr id="1552840730" name="Object 10"/>
          <p:cNvGraphicFramePr>
            <a:graphicFrameLocks xmlns:a="http://schemas.openxmlformats.org/drawingml/2006/main" noChangeAspect="1"/>
          </p:cNvGraphicFramePr>
          <p:nvPr/>
        </p:nvGraphicFramePr>
        <p:xfrm>
          <a:off x="1342128" y="2661057"/>
          <a:ext cx="7119846" cy="1162803"/>
        </p:xfrm>
        <a:graphic>
          <a:graphicData uri="http://schemas.openxmlformats.org/presentationml/2006/ole">
            <p:oleObj name="oleObj" r:id="rId4" imgW="2959100" imgH="431800" progId="Equation.3">
              <p:embed/>
              <p:pic>
                <p:nvPicPr>
                  <p:cNvPr id="1552840730" name="Object 10"/>
                  <p:cNvPicPr/>
                  <p:nvPr/>
                </p:nvPicPr>
                <p:blipFill rotWithShape="1">
                  <a:blip r:embed="rId3"/>
                  <a:stretch/>
                </p:blipFill>
                <p:spPr bwMode="auto">
                  <a:xfrm>
                    <a:off x="1342128" y="2661057"/>
                    <a:ext cx="7119846" cy="1162803"/>
                  </a:xfrm>
                  <a:prstGeom prst="rect">
                    <a:avLst/>
                  </a:prstGeom>
                  <a:noFill/>
                  <a:ln>
                    <a:noFill/>
                  </a:ln>
                  <a:effectLst/>
                </p:spPr>
              </p:pic>
            </p:oleObj>
          </a:graphicData>
        </a:graphic>
      </p:graphicFrame>
      <p:graphicFrame>
        <p:nvGraphicFramePr>
          <p:cNvPr id="1889922313" name="Object 11"/>
          <p:cNvGraphicFramePr>
            <a:graphicFrameLocks xmlns:a="http://schemas.openxmlformats.org/drawingml/2006/main" noChangeAspect="1"/>
          </p:cNvGraphicFramePr>
          <p:nvPr/>
        </p:nvGraphicFramePr>
        <p:xfrm>
          <a:off x="1342128" y="4030749"/>
          <a:ext cx="6594783" cy="1188661"/>
        </p:xfrm>
        <a:graphic>
          <a:graphicData uri="http://schemas.openxmlformats.org/presentationml/2006/ole">
            <p:oleObj name="oleObj" r:id="rId6" imgW="2235200" imgH="431800" progId="Equation.3">
              <p:embed/>
              <p:pic>
                <p:nvPicPr>
                  <p:cNvPr id="1889922313" name="Object 11"/>
                  <p:cNvPicPr/>
                  <p:nvPr/>
                </p:nvPicPr>
                <p:blipFill rotWithShape="1">
                  <a:blip r:embed="rId5"/>
                  <a:stretch/>
                </p:blipFill>
                <p:spPr bwMode="auto">
                  <a:xfrm>
                    <a:off x="1342128" y="4030749"/>
                    <a:ext cx="6594783" cy="1188661"/>
                  </a:xfrm>
                  <a:prstGeom prst="rect">
                    <a:avLst/>
                  </a:prstGeom>
                  <a:noFill/>
                  <a:ln>
                    <a:noFill/>
                  </a:ln>
                  <a:effectLst/>
                </p:spPr>
              </p:pic>
            </p:oleObj>
          </a:graphicData>
        </a:graphic>
      </p:graphicFrame>
      <p:sp>
        <p:nvSpPr>
          <p:cNvPr id="1014221559" name="Striped Right Arrow 7"/>
          <p:cNvSpPr/>
          <p:nvPr/>
        </p:nvSpPr>
        <p:spPr bwMode="auto">
          <a:xfrm rot="17157603">
            <a:off x="1217626" y="5083121"/>
            <a:ext cx="855682" cy="272578"/>
          </a:xfrm>
          <a:prstGeom prst="stripedRightArrow">
            <a:avLst>
              <a:gd name="adj1" fmla="val 50000"/>
              <a:gd name="adj2" fmla="val 50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79017996" name="TextBox 2"/>
          <p:cNvSpPr txBox="1"/>
          <p:nvPr/>
        </p:nvSpPr>
        <p:spPr bwMode="auto">
          <a:xfrm>
            <a:off x="8370277" y="3749646"/>
            <a:ext cx="3659160" cy="1261883"/>
          </a:xfrm>
          <a:prstGeom prst="rect">
            <a:avLst/>
          </a:prstGeom>
          <a:solidFill>
            <a:srgbClr val="FFFF00"/>
          </a:solidFill>
        </p:spPr>
        <p:txBody>
          <a:bodyPr wrap="square" rtlCol="0">
            <a:spAutoFit/>
          </a:bodyPr>
          <a:lstStyle/>
          <a:p>
            <a:pPr>
              <a:defRPr/>
            </a:pPr>
            <a:r>
              <a:rPr lang="en-US"/>
              <a:t>Lưu ý: Sự khác biệt tinh tế của công thức đối với mẫu và tổng thể</a:t>
            </a:r>
            <a:endParaRPr/>
          </a:p>
          <a:p>
            <a:pPr marL="342900" indent="-342900">
              <a:buFont typeface="Arial"/>
              <a:buChar char="•"/>
              <a:defRPr/>
            </a:pPr>
            <a:r>
              <a:rPr lang="en-US"/>
              <a:t>n : kích thước của mẫu </a:t>
            </a:r>
            <a:endParaRPr/>
          </a:p>
          <a:p>
            <a:pPr marL="342900" indent="-342900">
              <a:buFont typeface="Arial"/>
              <a:buChar char="•"/>
              <a:defRPr/>
            </a:pPr>
            <a:r>
              <a:rPr lang="en-US"/>
              <a:t>N : kích thước của tổng thể</a:t>
            </a:r>
            <a:endParaRPr/>
          </a:p>
        </p:txBody>
      </p:sp>
      <p:sp>
        <p:nvSpPr>
          <p:cNvPr id="433987281" name="Striped Right Arrow 7"/>
          <p:cNvSpPr/>
          <p:nvPr/>
        </p:nvSpPr>
        <p:spPr bwMode="auto">
          <a:xfrm rot="3572961" flipV="1">
            <a:off x="1974932" y="2211644"/>
            <a:ext cx="931952" cy="258023"/>
          </a:xfrm>
          <a:prstGeom prst="stripedRightArrow">
            <a:avLst>
              <a:gd name="adj1" fmla="val 50000"/>
              <a:gd name="adj2" fmla="val 50000"/>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2202572" name="Rectangle 2"/>
          <p:cNvSpPr>
            <a:spLocks noChangeArrowheads="1" noGrp="1"/>
          </p:cNvSpPr>
          <p:nvPr>
            <p:ph type="title"/>
          </p:nvPr>
        </p:nvSpPr>
        <p:spPr bwMode="auto">
          <a:xfrm>
            <a:off x="555813" y="381000"/>
            <a:ext cx="11017622" cy="609600"/>
          </a:xfrm>
        </p:spPr>
        <p:txBody>
          <a:bodyPr anchor="t">
            <a:noAutofit/>
          </a:bodyPr>
          <a:lstStyle/>
          <a:p>
            <a:pPr>
              <a:defRPr/>
            </a:pPr>
            <a:r>
              <a:rPr lang="en-US" sz="3000"/>
              <a:t>Phân tích tương quan (đối với dữ liệu danh mục)</a:t>
            </a:r>
            <a:endParaRPr/>
          </a:p>
        </p:txBody>
      </p:sp>
      <p:sp>
        <p:nvSpPr>
          <p:cNvPr id="204666953" name="Rectangle 3"/>
          <p:cNvSpPr>
            <a:spLocks noChangeArrowheads="1" noGrp="1"/>
          </p:cNvSpPr>
          <p:nvPr>
            <p:ph type="body" sz="half" idx="1"/>
          </p:nvPr>
        </p:nvSpPr>
        <p:spPr bwMode="auto">
          <a:xfrm>
            <a:off x="670559" y="1295400"/>
            <a:ext cx="10720250" cy="5181600"/>
          </a:xfrm>
        </p:spPr>
        <p:txBody>
          <a:bodyPr/>
          <a:lstStyle/>
          <a:p>
            <a:pPr>
              <a:lnSpc>
                <a:spcPct val="110000"/>
              </a:lnSpc>
              <a:defRPr/>
            </a:pPr>
            <a:r>
              <a:rPr lang="el-GR" b="1">
                <a:latin typeface="Calibri"/>
              </a:rPr>
              <a:t>Χ</a:t>
            </a:r>
            <a:r>
              <a:rPr lang="en-US" b="1" baseline="30000">
                <a:latin typeface="Calibri"/>
              </a:rPr>
              <a:t>2</a:t>
            </a:r>
            <a:r>
              <a:rPr lang="en-US" b="1">
                <a:latin typeface="Calibri"/>
              </a:rPr>
              <a:t> (kiểm định chi bình phương):</a:t>
            </a:r>
            <a:endParaRPr lang="el-GR" b="1">
              <a:latin typeface="Calibri"/>
            </a:endParaRPr>
          </a:p>
          <a:p>
            <a:pPr>
              <a:lnSpc>
                <a:spcPct val="110000"/>
              </a:lnSpc>
              <a:defRPr/>
            </a:pPr>
            <a:endParaRPr lang="en-US">
              <a:latin typeface="Calibri"/>
            </a:endParaRPr>
          </a:p>
          <a:p>
            <a:pPr>
              <a:lnSpc>
                <a:spcPct val="110000"/>
              </a:lnSpc>
              <a:defRPr/>
            </a:pPr>
            <a:endParaRPr lang="en-US">
              <a:latin typeface="Calibri"/>
            </a:endParaRPr>
          </a:p>
          <a:p>
            <a:pPr>
              <a:lnSpc>
                <a:spcPct val="110000"/>
              </a:lnSpc>
              <a:defRPr/>
            </a:pPr>
            <a:endParaRPr lang="en-US">
              <a:latin typeface="Calibri"/>
            </a:endParaRPr>
          </a:p>
          <a:p>
            <a:pPr>
              <a:lnSpc>
                <a:spcPct val="110000"/>
              </a:lnSpc>
              <a:defRPr/>
            </a:pPr>
            <a:r>
              <a:rPr lang="en-US"/>
              <a:t>Giả thuyết không: Hai phân bố là độc lập</a:t>
            </a:r>
            <a:endParaRPr/>
          </a:p>
          <a:p>
            <a:pPr>
              <a:lnSpc>
                <a:spcPct val="110000"/>
              </a:lnSpc>
              <a:defRPr/>
            </a:pPr>
            <a:r>
              <a:rPr lang="en-US">
                <a:latin typeface="Calibri"/>
              </a:rPr>
              <a:t>Các ô đóng góp nhiều nhất vào giá trị </a:t>
            </a:r>
            <a:r>
              <a:rPr lang="el-GR">
                <a:latin typeface="Calibri"/>
              </a:rPr>
              <a:t>Χ</a:t>
            </a:r>
            <a:r>
              <a:rPr lang="en-US" baseline="30000">
                <a:latin typeface="Calibri"/>
              </a:rPr>
              <a:t>2</a:t>
            </a:r>
            <a:r>
              <a:rPr lang="en-US">
                <a:latin typeface="Calibri"/>
              </a:rPr>
              <a:t> là những ô có số đếm thực tế khác biệt lớn nhất so với số đếm kỳ vọng</a:t>
            </a:r>
            <a:endParaRPr/>
          </a:p>
          <a:p>
            <a:pPr lvl="1">
              <a:lnSpc>
                <a:spcPct val="110000"/>
              </a:lnSpc>
              <a:defRPr/>
            </a:pPr>
            <a:r>
              <a:rPr lang="en-US">
                <a:latin typeface="Calibri"/>
              </a:rPr>
              <a:t>Giá trị </a:t>
            </a:r>
            <a:r>
              <a:rPr lang="el-GR">
                <a:latin typeface="Calibri"/>
              </a:rPr>
              <a:t>Χ</a:t>
            </a:r>
            <a:r>
              <a:rPr lang="en-US" baseline="30000">
                <a:latin typeface="Calibri"/>
              </a:rPr>
              <a:t>2</a:t>
            </a:r>
            <a:r>
              <a:rPr lang="en-US">
                <a:latin typeface="Calibri"/>
              </a:rPr>
              <a:t> càng lớn thì các biến càng có khả năng liên quan với nhau</a:t>
            </a:r>
            <a:endParaRPr/>
          </a:p>
          <a:p>
            <a:pPr>
              <a:lnSpc>
                <a:spcPct val="110000"/>
              </a:lnSpc>
              <a:defRPr/>
            </a:pPr>
            <a:r>
              <a:rPr lang="en-US">
                <a:latin typeface="Calibri"/>
              </a:rPr>
              <a:t>Lưu ý: Tương quan không hàm ý quan hệ nhân quả</a:t>
            </a:r>
            <a:endParaRPr/>
          </a:p>
          <a:p>
            <a:pPr lvl="1">
              <a:lnSpc>
                <a:spcPct val="110000"/>
              </a:lnSpc>
              <a:defRPr/>
            </a:pPr>
            <a:r>
              <a:rPr lang="en-US">
                <a:latin typeface="Calibri"/>
              </a:rPr>
              <a:t>Số bệnh viện và số vụ trộm xe trong một thành phố có tương quan với nhau</a:t>
            </a:r>
            <a:endParaRPr/>
          </a:p>
          <a:p>
            <a:pPr lvl="1">
              <a:lnSpc>
                <a:spcPct val="110000"/>
              </a:lnSpc>
              <a:defRPr/>
            </a:pPr>
            <a:r>
              <a:rPr lang="en-US">
                <a:latin typeface="Calibri"/>
              </a:rPr>
              <a:t>Cả hai đều có quan hệ nhân quả với biến thứ ba: dân số</a:t>
            </a:r>
            <a:endParaRPr/>
          </a:p>
        </p:txBody>
      </p:sp>
      <p:pic>
        <p:nvPicPr>
          <p:cNvPr id="1568479666" name="Picture 1"/>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4648201" y="1196788"/>
            <a:ext cx="3272118" cy="183295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58889802" name="Rectangle 2"/>
          <p:cNvSpPr>
            <a:spLocks noChangeArrowheads="1" noGrp="1"/>
          </p:cNvSpPr>
          <p:nvPr>
            <p:ph type="title"/>
          </p:nvPr>
        </p:nvSpPr>
        <p:spPr bwMode="auto">
          <a:xfrm>
            <a:off x="566057" y="304800"/>
            <a:ext cx="10981509" cy="609600"/>
          </a:xfrm>
        </p:spPr>
        <p:txBody>
          <a:bodyPr anchor="t">
            <a:noAutofit/>
          </a:bodyPr>
          <a:lstStyle/>
          <a:p>
            <a:pPr>
              <a:defRPr/>
            </a:pPr>
            <a:r>
              <a:rPr lang="en-US"/>
              <a:t>Tính toán Chi bình phương: Một ví dụ</a:t>
            </a:r>
            <a:endParaRPr/>
          </a:p>
        </p:txBody>
      </p:sp>
      <p:graphicFrame>
        <p:nvGraphicFramePr>
          <p:cNvPr id="589670128" name="Group 5"/>
          <p:cNvGraphicFramePr>
            <a:graphicFrameLocks xmlns:a="http://schemas.openxmlformats.org/drawingml/2006/main" noGrp="1"/>
          </p:cNvGraphicFramePr>
          <p:nvPr/>
        </p:nvGraphicFramePr>
        <p:xfrm rot="0">
          <a:off x="2222159" y="1250343"/>
          <a:ext cx="6096000" cy="1595438"/>
        </p:xfrm>
        <a:graphic>
          <a:graphicData uri="http://schemas.openxmlformats.org/drawingml/2006/table">
            <a:tbl>
              <a:tblPr firstRow="0" firstCol="0" lastRow="0" lastCol="0" bandRow="0" bandCol="0"/>
              <a:tblGrid>
                <a:gridCol w="2219325"/>
                <a:gridCol w="1136650"/>
                <a:gridCol w="1571625"/>
                <a:gridCol w="1168400"/>
              </a:tblGrid>
              <a:tr h="342900">
                <a:tc>
                  <a:txBody>
                    <a:bodyPr/>
                    <a:p>
                      <a:pPr marL="0" marR="0" lvl="0" indent="0" algn="l" defTabSz="914400" rtl="0">
                        <a:lnSpc>
                          <a:spcPct val="100000"/>
                        </a:lnSpc>
                        <a:spcBef>
                          <a:spcPts val="0"/>
                        </a:spcBef>
                        <a:spcAft>
                          <a:spcPts val="0"/>
                        </a:spcAft>
                        <a:buClr>
                          <a:schemeClr val="folHlink"/>
                        </a:buClr>
                        <a:buSzPct val="60000"/>
                        <a:buFont typeface="Wingdings"/>
                        <a:buNone/>
                        <a:defRPr/>
                      </a:pPr>
                      <a:endParaRPr lang="en-US" sz="1600" b="0" i="0" u="none" strike="noStrike" cap="none">
                        <a:ln>
                          <a:noFill/>
                        </a:ln>
                        <a:solidFill>
                          <a:schemeClr val="tx1"/>
                        </a:solidFill>
                        <a:latin typeface="Tahoma"/>
                      </a:endParaRPr>
                    </a:p>
                  </a:txBody>
                  <a:tcPr>
                    <a:lnL w="28575"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Play chess</a:t>
                      </a:r>
                      <a:endParaRPr/>
                    </a:p>
                  </a:txBody>
                  <a:tcPr>
                    <a:lnL w="12700"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Not play chess</a:t>
                      </a:r>
                      <a:endParaRPr/>
                    </a:p>
                  </a:txBody>
                  <a:tcPr>
                    <a:lnL w="12700"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Sum (row)</a:t>
                      </a:r>
                      <a:endParaRPr/>
                    </a:p>
                  </a:txBody>
                  <a:tcPr>
                    <a:lnL w="12700" algn="ctr">
                      <a:solidFill>
                        <a:schemeClr val="tx1"/>
                      </a:solidFill>
                    </a:lnL>
                    <a:lnR w="28575" algn="ctr">
                      <a:solidFill>
                        <a:schemeClr val="tx1"/>
                      </a:solidFill>
                    </a:lnR>
                    <a:lnT w="28575" algn="ctr">
                      <a:solidFill>
                        <a:schemeClr val="tx1"/>
                      </a:solidFill>
                    </a:lnT>
                    <a:lnB w="12700" algn="ctr">
                      <a:solidFill>
                        <a:schemeClr val="tx1"/>
                      </a:solidFill>
                    </a:lnB>
                    <a:noFill/>
                  </a:tcPr>
                </a:tc>
              </a:tr>
              <a:tr h="417513">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Like science fiction</a:t>
                      </a:r>
                      <a:endParaRPr/>
                    </a:p>
                  </a:txBody>
                  <a:tcPr>
                    <a:lnL w="28575"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250 (X1)</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200 (X2)</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450</a:t>
                      </a:r>
                      <a:endParaRPr/>
                    </a:p>
                  </a:txBody>
                  <a:tcPr>
                    <a:lnL w="12700" algn="ctr">
                      <a:solidFill>
                        <a:schemeClr val="tx1"/>
                      </a:solidFill>
                    </a:lnL>
                    <a:lnR w="28575" algn="ctr">
                      <a:solidFill>
                        <a:schemeClr val="tx1"/>
                      </a:solidFill>
                    </a:lnR>
                    <a:lnT w="12700" algn="ctr">
                      <a:solidFill>
                        <a:schemeClr val="tx1"/>
                      </a:solidFill>
                    </a:lnT>
                    <a:lnB w="12700" algn="ctr">
                      <a:solidFill>
                        <a:schemeClr val="tx1"/>
                      </a:solidFill>
                    </a:lnB>
                    <a:noFill/>
                  </a:tcPr>
                </a:tc>
              </a:tr>
              <a:tr h="417513">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Not like science fiction</a:t>
                      </a:r>
                      <a:endParaRPr/>
                    </a:p>
                  </a:txBody>
                  <a:tcPr>
                    <a:lnL w="28575"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50 (X3)</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1000 (X4)</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1050</a:t>
                      </a:r>
                      <a:endParaRPr/>
                    </a:p>
                  </a:txBody>
                  <a:tcPr>
                    <a:lnL w="12700" algn="ctr">
                      <a:solidFill>
                        <a:schemeClr val="tx1"/>
                      </a:solidFill>
                    </a:lnL>
                    <a:lnR w="28575" algn="ctr">
                      <a:solidFill>
                        <a:schemeClr val="tx1"/>
                      </a:solidFill>
                    </a:lnR>
                    <a:lnT w="12700" algn="ctr">
                      <a:solidFill>
                        <a:schemeClr val="tx1"/>
                      </a:solidFill>
                    </a:lnT>
                    <a:lnB w="12700" algn="ctr">
                      <a:solidFill>
                        <a:schemeClr val="tx1"/>
                      </a:solidFill>
                    </a:lnB>
                    <a:noFill/>
                  </a:tcPr>
                </a:tc>
              </a:tr>
              <a:tr h="417513">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Sum(col.)</a:t>
                      </a:r>
                      <a:endParaRPr/>
                    </a:p>
                  </a:txBody>
                  <a:tcPr>
                    <a:lnL w="28575" algn="ctr">
                      <a:solidFill>
                        <a:schemeClr val="tx1"/>
                      </a:solidFill>
                    </a:lnL>
                    <a:lnR w="12700" algn="ctr">
                      <a:solidFill>
                        <a:schemeClr val="tx1"/>
                      </a:solidFill>
                    </a:lnR>
                    <a:lnT w="12700" algn="ctr">
                      <a:solidFill>
                        <a:schemeClr val="tx1"/>
                      </a:solidFill>
                    </a:lnT>
                    <a:lnB w="28575"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300</a:t>
                      </a:r>
                      <a:endParaRPr/>
                    </a:p>
                  </a:txBody>
                  <a:tcPr>
                    <a:lnL w="12700" algn="ctr">
                      <a:solidFill>
                        <a:schemeClr val="tx1"/>
                      </a:solidFill>
                    </a:lnL>
                    <a:lnR w="12700" algn="ctr">
                      <a:solidFill>
                        <a:schemeClr val="tx1"/>
                      </a:solidFill>
                    </a:lnR>
                    <a:lnT w="12700" algn="ctr">
                      <a:solidFill>
                        <a:schemeClr val="tx1"/>
                      </a:solidFill>
                    </a:lnT>
                    <a:lnB w="28575"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1200</a:t>
                      </a:r>
                      <a:endParaRPr/>
                    </a:p>
                  </a:txBody>
                  <a:tcPr>
                    <a:lnL w="12700" algn="ctr">
                      <a:solidFill>
                        <a:schemeClr val="tx1"/>
                      </a:solidFill>
                    </a:lnL>
                    <a:lnR w="12700" algn="ctr">
                      <a:solidFill>
                        <a:schemeClr val="tx1"/>
                      </a:solidFill>
                    </a:lnR>
                    <a:lnT w="12700" algn="ctr">
                      <a:solidFill>
                        <a:schemeClr val="tx1"/>
                      </a:solidFill>
                    </a:lnT>
                    <a:lnB w="28575"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1500</a:t>
                      </a:r>
                      <a:endParaRPr/>
                    </a:p>
                  </a:txBody>
                  <a:tcPr>
                    <a:lnL w="12700" algn="ctr">
                      <a:solidFill>
                        <a:schemeClr val="tx1"/>
                      </a:solidFill>
                    </a:lnL>
                    <a:lnR w="28575" algn="ctr">
                      <a:solidFill>
                        <a:schemeClr val="tx1"/>
                      </a:solidFill>
                    </a:lnR>
                    <a:lnT w="12700" algn="ctr">
                      <a:solidFill>
                        <a:schemeClr val="tx1"/>
                      </a:solidFill>
                    </a:lnT>
                    <a:lnB w="28575" algn="ctr">
                      <a:solidFill>
                        <a:schemeClr val="tx1"/>
                      </a:solidFill>
                    </a:lnB>
                    <a:noFill/>
                  </a:tcPr>
                </a:tc>
              </a:tr>
            </a:tbl>
          </a:graphicData>
        </a:graphic>
      </p:graphicFrame>
      <p:sp>
        <p:nvSpPr>
          <p:cNvPr id="868314795" name="文本占位符 5"/>
          <p:cNvSpPr>
            <a:spLocks noGrp="1"/>
          </p:cNvSpPr>
          <p:nvPr>
            <p:ph type="body" sz="half" idx="1"/>
          </p:nvPr>
        </p:nvSpPr>
        <p:spPr bwMode="auto">
          <a:xfrm>
            <a:off x="282042" y="2896432"/>
            <a:ext cx="11141166" cy="3372694"/>
          </a:xfrm>
        </p:spPr>
        <p:txBody>
          <a:bodyPr/>
          <a:lstStyle/>
          <a:p>
            <a:pPr>
              <a:defRPr/>
            </a:pPr>
            <a:r>
              <a:rPr lang="en-US"/>
              <a:t>Giả thuyết không: Hai phân bố là độc lập</a:t>
            </a:r>
            <a:endParaRPr/>
          </a:p>
          <a:p>
            <a:pPr lvl="1">
              <a:defRPr/>
            </a:pPr>
            <a:r>
              <a:rPr lang="en-US"/>
              <a:t>Điều đó có nghĩa là gì?</a:t>
            </a:r>
            <a:endParaRPr/>
          </a:p>
          <a:p>
            <a:pPr lvl="1">
              <a:defRPr/>
            </a:pPr>
            <a:r>
              <a:rPr lang="en-US"/>
              <a:t>Tỷ lệ giữa người chơi cờ vua và người không chơi cờ vua là như nhau ở cả hai nhóm thích và không thích khoa học viễn tưởng </a:t>
            </a:r>
            <a:endParaRPr/>
          </a:p>
          <a:p>
            <a:pPr lvl="1">
              <a:defRPr/>
            </a:pPr>
            <a:r>
              <a:rPr lang="en-US"/>
              <a:t>X1:X2=X3:X4=300:1200</a:t>
            </a:r>
            <a:endParaRPr/>
          </a:p>
          <a:p>
            <a:pPr lvl="1">
              <a:defRPr/>
            </a:pPr>
            <a:r>
              <a:rPr lang="en-US"/>
              <a:t>X1:X3=X2:X4=450:1050</a:t>
            </a:r>
            <a:endParaRPr/>
          </a:p>
          <a:p>
            <a:pPr lvl="1">
              <a:defRPr/>
            </a:pPr>
            <a:r>
              <a:rPr lang="en-US"/>
              <a:t>X1+X2=450	X3+X4=1050</a:t>
            </a:r>
            <a:endParaRPr/>
          </a:p>
          <a:p>
            <a:pPr lvl="1">
              <a:defRPr/>
            </a:pPr>
            <a:r>
              <a:rPr lang="en-US"/>
              <a:t>X1+X3=300	X2+X4=1200</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2968365" name="Curved Left Arrow 2"/>
          <p:cNvSpPr/>
          <p:nvPr/>
        </p:nvSpPr>
        <p:spPr bwMode="auto">
          <a:xfrm rot="1959357">
            <a:off x="10091287" y="4194038"/>
            <a:ext cx="380222" cy="467294"/>
          </a:xfrm>
          <a:prstGeom prst="curvedLeftArrow">
            <a:avLst>
              <a:gd name="adj1" fmla="val 25000"/>
              <a:gd name="adj2" fmla="val 50000"/>
              <a:gd name="adj3" fmla="val 25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1726212269" name="Rectangle 2"/>
          <p:cNvSpPr>
            <a:spLocks noChangeArrowheads="1" noGrp="1"/>
          </p:cNvSpPr>
          <p:nvPr>
            <p:ph type="title"/>
          </p:nvPr>
        </p:nvSpPr>
        <p:spPr bwMode="auto">
          <a:xfrm>
            <a:off x="566057" y="304800"/>
            <a:ext cx="10981509" cy="609600"/>
          </a:xfrm>
        </p:spPr>
        <p:txBody>
          <a:bodyPr anchor="t">
            <a:noAutofit/>
          </a:bodyPr>
          <a:lstStyle/>
          <a:p>
            <a:pPr>
              <a:defRPr/>
            </a:pPr>
            <a:r>
              <a:rPr lang="en-US"/>
              <a:t>Tính toán Chi bình phương: Một ví dụ</a:t>
            </a:r>
            <a:endParaRPr/>
          </a:p>
        </p:txBody>
      </p:sp>
      <p:sp>
        <p:nvSpPr>
          <p:cNvPr id="591212640" name="Rectangle 3"/>
          <p:cNvSpPr>
            <a:spLocks noChangeArrowheads="1" noGrp="1"/>
          </p:cNvSpPr>
          <p:nvPr>
            <p:ph type="body" sz="half" idx="1"/>
          </p:nvPr>
        </p:nvSpPr>
        <p:spPr bwMode="auto">
          <a:xfrm>
            <a:off x="670561" y="2994211"/>
            <a:ext cx="9324702" cy="3213847"/>
          </a:xfrm>
        </p:spPr>
        <p:txBody>
          <a:bodyPr/>
          <a:lstStyle/>
          <a:p>
            <a:pPr>
              <a:lnSpc>
                <a:spcPct val="110000"/>
              </a:lnSpc>
              <a:defRPr/>
            </a:pPr>
            <a:r>
              <a:rPr lang="el-GR">
                <a:latin typeface="Calibri"/>
              </a:rPr>
              <a:t>Χ</a:t>
            </a:r>
            <a:r>
              <a:rPr lang="en-US" baseline="30000">
                <a:latin typeface="Calibri"/>
              </a:rPr>
              <a:t>2</a:t>
            </a:r>
            <a:r>
              <a:rPr lang="en-US">
                <a:latin typeface="Calibri"/>
              </a:rPr>
              <a:t> (giá trị trong ngoặc là số đếm kỳ vọng, tính theo phân bố dữ liệu ở hai danh mục)</a:t>
            </a:r>
            <a:endParaRPr lang="el-GR">
              <a:latin typeface="Calibri"/>
            </a:endParaRPr>
          </a:p>
          <a:p>
            <a:pPr>
              <a:lnSpc>
                <a:spcPct val="110000"/>
              </a:lnSpc>
              <a:defRPr/>
            </a:pPr>
            <a:endParaRPr lang="en-US">
              <a:latin typeface="Calibri"/>
            </a:endParaRPr>
          </a:p>
          <a:p>
            <a:pPr>
              <a:lnSpc>
                <a:spcPct val="110000"/>
              </a:lnSpc>
              <a:defRPr/>
            </a:pPr>
            <a:endParaRPr lang="en-US">
              <a:latin typeface="Calibri"/>
            </a:endParaRPr>
          </a:p>
          <a:p>
            <a:pPr>
              <a:lnSpc>
                <a:spcPct val="110000"/>
              </a:lnSpc>
              <a:defRPr/>
            </a:pPr>
            <a:r>
              <a:rPr lang="en-US">
                <a:latin typeface="Calibri"/>
              </a:rPr>
              <a:t>Điều này cho thấy </a:t>
            </a:r>
            <a:r>
              <a:rPr lang="en-US">
                <a:latin typeface="Calibri"/>
              </a:rPr>
              <a:t>like_science_fiction</a:t>
            </a:r>
            <a:r>
              <a:rPr lang="en-US">
                <a:latin typeface="Calibri"/>
              </a:rPr>
              <a:t> và </a:t>
            </a:r>
            <a:r>
              <a:rPr lang="en-US">
                <a:latin typeface="Calibri"/>
              </a:rPr>
              <a:t>play_chess</a:t>
            </a:r>
            <a:r>
              <a:rPr lang="en-US">
                <a:latin typeface="Calibri"/>
              </a:rPr>
              <a:t> có tương quan với nhau trong nhóm</a:t>
            </a:r>
            <a:endParaRPr/>
          </a:p>
        </p:txBody>
      </p:sp>
      <p:graphicFrame>
        <p:nvGraphicFramePr>
          <p:cNvPr id="1844689729" name="Object 4"/>
          <p:cNvGraphicFramePr>
            <a:graphicFrameLocks xmlns:a="http://schemas.openxmlformats.org/drawingml/2006/main" noChangeAspect="1"/>
          </p:cNvGraphicFramePr>
          <p:nvPr/>
        </p:nvGraphicFramePr>
        <p:xfrm>
          <a:off x="2222863" y="4002368"/>
          <a:ext cx="7772400" cy="744538"/>
        </p:xfrm>
        <a:graphic>
          <a:graphicData uri="http://schemas.openxmlformats.org/presentationml/2006/ole">
            <p:oleObj name="oleObj" r:id="rId4" imgW="4381500" imgH="419100" progId="Equation.3">
              <p:embed/>
              <p:pic>
                <p:nvPicPr>
                  <p:cNvPr id="1844689729" name="Object 4"/>
                  <p:cNvPicPr/>
                  <p:nvPr/>
                </p:nvPicPr>
                <p:blipFill rotWithShape="1">
                  <a:blip r:embed="rId3"/>
                  <a:stretch/>
                </p:blipFill>
                <p:spPr bwMode="auto">
                  <a:xfrm>
                    <a:off x="2222863" y="4002368"/>
                    <a:ext cx="7772400" cy="744538"/>
                  </a:xfrm>
                  <a:prstGeom prst="rect">
                    <a:avLst/>
                  </a:prstGeom>
                  <a:noFill/>
                  <a:ln>
                    <a:noFill/>
                  </a:ln>
                  <a:effectLst/>
                </p:spPr>
              </p:pic>
            </p:oleObj>
          </a:graphicData>
        </a:graphic>
      </p:graphicFrame>
      <p:graphicFrame>
        <p:nvGraphicFramePr>
          <p:cNvPr id="515844176" name="Group 5"/>
          <p:cNvGraphicFramePr>
            <a:graphicFrameLocks xmlns:a="http://schemas.openxmlformats.org/drawingml/2006/main" noGrp="1"/>
          </p:cNvGraphicFramePr>
          <p:nvPr/>
        </p:nvGraphicFramePr>
        <p:xfrm rot="0">
          <a:off x="2222159" y="1250343"/>
          <a:ext cx="6096000" cy="1595438"/>
        </p:xfrm>
        <a:graphic>
          <a:graphicData uri="http://schemas.openxmlformats.org/drawingml/2006/table">
            <a:tbl>
              <a:tblPr firstRow="0" firstCol="0" lastRow="0" lastCol="0" bandRow="0" bandCol="0"/>
              <a:tblGrid>
                <a:gridCol w="2219325"/>
                <a:gridCol w="1136650"/>
                <a:gridCol w="1571625"/>
                <a:gridCol w="1168400"/>
              </a:tblGrid>
              <a:tr h="342900">
                <a:tc>
                  <a:txBody>
                    <a:bodyPr/>
                    <a:p>
                      <a:pPr marL="0" marR="0" lvl="0" indent="0" algn="l" defTabSz="914400" rtl="0">
                        <a:lnSpc>
                          <a:spcPct val="100000"/>
                        </a:lnSpc>
                        <a:spcBef>
                          <a:spcPts val="0"/>
                        </a:spcBef>
                        <a:spcAft>
                          <a:spcPts val="0"/>
                        </a:spcAft>
                        <a:buClr>
                          <a:schemeClr val="folHlink"/>
                        </a:buClr>
                        <a:buSzPct val="60000"/>
                        <a:buFont typeface="Wingdings"/>
                        <a:buNone/>
                        <a:defRPr/>
                      </a:pPr>
                      <a:endParaRPr lang="en-US" sz="1600" b="0" i="0" u="none" strike="noStrike" cap="none">
                        <a:ln>
                          <a:noFill/>
                        </a:ln>
                        <a:solidFill>
                          <a:schemeClr val="tx1"/>
                        </a:solidFill>
                        <a:latin typeface="Tahoma"/>
                      </a:endParaRPr>
                    </a:p>
                  </a:txBody>
                  <a:tcPr>
                    <a:lnL w="28575"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Play chess</a:t>
                      </a:r>
                      <a:endParaRPr/>
                    </a:p>
                  </a:txBody>
                  <a:tcPr>
                    <a:lnL w="12700"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Not play chess</a:t>
                      </a:r>
                      <a:endParaRPr/>
                    </a:p>
                  </a:txBody>
                  <a:tcPr>
                    <a:lnL w="12700"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Sum (row)</a:t>
                      </a:r>
                      <a:endParaRPr/>
                    </a:p>
                  </a:txBody>
                  <a:tcPr>
                    <a:lnL w="12700" algn="ctr">
                      <a:solidFill>
                        <a:schemeClr val="tx1"/>
                      </a:solidFill>
                    </a:lnL>
                    <a:lnR w="28575" algn="ctr">
                      <a:solidFill>
                        <a:schemeClr val="tx1"/>
                      </a:solidFill>
                    </a:lnR>
                    <a:lnT w="28575" algn="ctr">
                      <a:solidFill>
                        <a:schemeClr val="tx1"/>
                      </a:solidFill>
                    </a:lnT>
                    <a:lnB w="12700" algn="ctr">
                      <a:solidFill>
                        <a:schemeClr val="tx1"/>
                      </a:solidFill>
                    </a:lnB>
                    <a:noFill/>
                  </a:tcPr>
                </a:tc>
              </a:tr>
              <a:tr h="417513">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Like science fiction</a:t>
                      </a:r>
                      <a:endParaRPr/>
                    </a:p>
                  </a:txBody>
                  <a:tcPr>
                    <a:lnL w="28575"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250 (90)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200 (360)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450</a:t>
                      </a:r>
                      <a:endParaRPr/>
                    </a:p>
                  </a:txBody>
                  <a:tcPr>
                    <a:lnL w="12700" algn="ctr">
                      <a:solidFill>
                        <a:schemeClr val="tx1"/>
                      </a:solidFill>
                    </a:lnL>
                    <a:lnR w="28575" algn="ctr">
                      <a:solidFill>
                        <a:schemeClr val="tx1"/>
                      </a:solidFill>
                    </a:lnR>
                    <a:lnT w="12700" algn="ctr">
                      <a:solidFill>
                        <a:schemeClr val="tx1"/>
                      </a:solidFill>
                    </a:lnT>
                    <a:lnB w="12700" algn="ctr">
                      <a:solidFill>
                        <a:schemeClr val="tx1"/>
                      </a:solidFill>
                    </a:lnB>
                    <a:noFill/>
                  </a:tcPr>
                </a:tc>
              </a:tr>
              <a:tr h="417513">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Not like science fiction</a:t>
                      </a:r>
                      <a:endParaRPr/>
                    </a:p>
                  </a:txBody>
                  <a:tcPr>
                    <a:lnL w="28575"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50 (210)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1000 (840)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1050</a:t>
                      </a:r>
                      <a:endParaRPr/>
                    </a:p>
                  </a:txBody>
                  <a:tcPr>
                    <a:lnL w="12700" algn="ctr">
                      <a:solidFill>
                        <a:schemeClr val="tx1"/>
                      </a:solidFill>
                    </a:lnL>
                    <a:lnR w="28575" algn="ctr">
                      <a:solidFill>
                        <a:schemeClr val="tx1"/>
                      </a:solidFill>
                    </a:lnR>
                    <a:lnT w="12700" algn="ctr">
                      <a:solidFill>
                        <a:schemeClr val="tx1"/>
                      </a:solidFill>
                    </a:lnT>
                    <a:lnB w="12700" algn="ctr">
                      <a:solidFill>
                        <a:schemeClr val="tx1"/>
                      </a:solidFill>
                    </a:lnB>
                    <a:noFill/>
                  </a:tcPr>
                </a:tc>
              </a:tr>
              <a:tr h="417513">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Sum(col.)</a:t>
                      </a:r>
                      <a:endParaRPr/>
                    </a:p>
                  </a:txBody>
                  <a:tcPr>
                    <a:lnL w="28575" algn="ctr">
                      <a:solidFill>
                        <a:schemeClr val="tx1"/>
                      </a:solidFill>
                    </a:lnL>
                    <a:lnR w="12700" algn="ctr">
                      <a:solidFill>
                        <a:schemeClr val="tx1"/>
                      </a:solidFill>
                    </a:lnR>
                    <a:lnT w="12700" algn="ctr">
                      <a:solidFill>
                        <a:schemeClr val="tx1"/>
                      </a:solidFill>
                    </a:lnT>
                    <a:lnB w="28575"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300</a:t>
                      </a:r>
                      <a:endParaRPr/>
                    </a:p>
                  </a:txBody>
                  <a:tcPr>
                    <a:lnL w="12700" algn="ctr">
                      <a:solidFill>
                        <a:schemeClr val="tx1"/>
                      </a:solidFill>
                    </a:lnL>
                    <a:lnR w="12700" algn="ctr">
                      <a:solidFill>
                        <a:schemeClr val="tx1"/>
                      </a:solidFill>
                    </a:lnR>
                    <a:lnT w="12700" algn="ctr">
                      <a:solidFill>
                        <a:schemeClr val="tx1"/>
                      </a:solidFill>
                    </a:lnT>
                    <a:lnB w="28575"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1200</a:t>
                      </a:r>
                      <a:endParaRPr/>
                    </a:p>
                  </a:txBody>
                  <a:tcPr>
                    <a:lnL w="12700" algn="ctr">
                      <a:solidFill>
                        <a:schemeClr val="tx1"/>
                      </a:solidFill>
                    </a:lnL>
                    <a:lnR w="12700" algn="ctr">
                      <a:solidFill>
                        <a:schemeClr val="tx1"/>
                      </a:solidFill>
                    </a:lnR>
                    <a:lnT w="12700" algn="ctr">
                      <a:solidFill>
                        <a:schemeClr val="tx1"/>
                      </a:solidFill>
                    </a:lnT>
                    <a:lnB w="28575"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1500</a:t>
                      </a:r>
                      <a:endParaRPr/>
                    </a:p>
                  </a:txBody>
                  <a:tcPr>
                    <a:lnL w="12700" algn="ctr">
                      <a:solidFill>
                        <a:schemeClr val="tx1"/>
                      </a:solidFill>
                    </a:lnL>
                    <a:lnR w="28575" algn="ctr">
                      <a:solidFill>
                        <a:schemeClr val="tx1"/>
                      </a:solidFill>
                    </a:lnR>
                    <a:lnT w="12700" algn="ctr">
                      <a:solidFill>
                        <a:schemeClr val="tx1"/>
                      </a:solidFill>
                    </a:lnT>
                    <a:lnB w="28575" algn="ctr">
                      <a:solidFill>
                        <a:schemeClr val="tx1"/>
                      </a:solidFill>
                    </a:lnB>
                    <a:noFill/>
                  </a:tcPr>
                </a:tc>
              </a:tr>
            </a:tbl>
          </a:graphicData>
        </a:graphic>
      </p:graphicFrame>
      <p:sp>
        <p:nvSpPr>
          <p:cNvPr id="1640493518" name="Rectangle 1"/>
          <p:cNvSpPr/>
          <p:nvPr/>
        </p:nvSpPr>
        <p:spPr bwMode="auto">
          <a:xfrm>
            <a:off x="9869756" y="2550181"/>
            <a:ext cx="2196737" cy="1631216"/>
          </a:xfrm>
          <a:prstGeom prst="rect">
            <a:avLst/>
          </a:prstGeom>
          <a:solidFill>
            <a:srgbClr val="FFFF00"/>
          </a:solidFill>
        </p:spPr>
        <p:txBody>
          <a:bodyPr wrap="square">
            <a:spAutoFit/>
          </a:bodyPr>
          <a:lstStyle/>
          <a:p>
            <a:pPr>
              <a:defRPr/>
            </a:pPr>
            <a:r>
              <a:rPr lang="en-US" sz="1700">
                <a:latin typeface="AvenirNextCondensed-Regular"/>
              </a:rPr>
              <a:t>Ta có thể bác bỏ</a:t>
            </a:r>
            <a:endParaRPr/>
          </a:p>
          <a:p>
            <a:pPr>
              <a:defRPr/>
            </a:pPr>
            <a:r>
              <a:rPr lang="en-US" sz="1700">
                <a:latin typeface="AvenirNextCondensed-Regular"/>
              </a:rPr>
              <a:t>giả thuyết không về tính độc lập</a:t>
            </a:r>
            <a:endParaRPr/>
          </a:p>
          <a:p>
            <a:pPr>
              <a:defRPr/>
            </a:pPr>
            <a:r>
              <a:rPr lang="en-US" sz="1700">
                <a:latin typeface="AvenirNextCondensed-Regular"/>
              </a:rPr>
              <a:t>ở mức độ tin cậy 0.001</a:t>
            </a:r>
            <a:endParaRPr lang="en-US"/>
          </a:p>
        </p:txBody>
      </p:sp>
      <p:sp>
        <p:nvSpPr>
          <p:cNvPr id="1956604801" name="TextBox 3"/>
          <p:cNvSpPr txBox="1"/>
          <p:nvPr/>
        </p:nvSpPr>
        <p:spPr bwMode="auto">
          <a:xfrm>
            <a:off x="8795402" y="1533059"/>
            <a:ext cx="2752164" cy="677108"/>
          </a:xfrm>
          <a:prstGeom prst="rect">
            <a:avLst/>
          </a:prstGeom>
          <a:solidFill>
            <a:srgbClr val="F0CDBC"/>
          </a:solidFill>
        </p:spPr>
        <p:txBody>
          <a:bodyPr wrap="square" rtlCol="0">
            <a:spAutoFit/>
          </a:bodyPr>
          <a:lstStyle/>
          <a:p>
            <a:pPr>
              <a:defRPr/>
            </a:pPr>
            <a:r>
              <a:rPr lang="en-US"/>
              <a:t>Làm sao suy ra được 90?</a:t>
            </a:r>
            <a:endParaRPr/>
          </a:p>
          <a:p>
            <a:pPr lvl="1">
              <a:defRPr/>
            </a:pPr>
            <a:r>
              <a:rPr lang="en-US"/>
              <a:t>450/1500 * 300 = 90</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09519644" name="Rectangle 2"/>
          <p:cNvSpPr>
            <a:spLocks noChangeArrowheads="1" noGrp="1"/>
          </p:cNvSpPr>
          <p:nvPr>
            <p:ph type="title"/>
          </p:nvPr>
        </p:nvSpPr>
        <p:spPr bwMode="auto">
          <a:xfrm>
            <a:off x="566057" y="304800"/>
            <a:ext cx="10981509" cy="609600"/>
          </a:xfrm>
        </p:spPr>
        <p:txBody>
          <a:bodyPr anchor="t">
            <a:noAutofit/>
          </a:bodyPr>
          <a:lstStyle/>
          <a:p>
            <a:pPr>
              <a:defRPr/>
            </a:pPr>
            <a:r>
              <a:rPr lang="en-US"/>
              <a:t>Tính toán Chi bình phương: Một ví dụ</a:t>
            </a:r>
            <a:endParaRPr/>
          </a:p>
        </p:txBody>
      </p:sp>
      <p:sp>
        <p:nvSpPr>
          <p:cNvPr id="191840549" name="Rectangle 3"/>
          <p:cNvSpPr>
            <a:spLocks noChangeArrowheads="1" noGrp="1"/>
          </p:cNvSpPr>
          <p:nvPr>
            <p:ph type="body" sz="half" idx="1"/>
          </p:nvPr>
        </p:nvSpPr>
        <p:spPr bwMode="auto">
          <a:xfrm>
            <a:off x="670561" y="2994211"/>
            <a:ext cx="9324702" cy="3213847"/>
          </a:xfrm>
        </p:spPr>
        <p:txBody>
          <a:bodyPr/>
          <a:lstStyle/>
          <a:p>
            <a:pPr>
              <a:lnSpc>
                <a:spcPct val="110000"/>
              </a:lnSpc>
              <a:defRPr/>
            </a:pPr>
            <a:r>
              <a:rPr lang="en-US">
                <a:latin typeface="Calibri"/>
              </a:rPr>
              <a:t>Bậc tự do</a:t>
            </a:r>
            <a:endParaRPr/>
          </a:p>
          <a:p>
            <a:pPr lvl="1">
              <a:lnSpc>
                <a:spcPct val="110000"/>
              </a:lnSpc>
              <a:defRPr/>
            </a:pPr>
            <a:r>
              <a:rPr lang="en-US">
                <a:latin typeface="Calibri"/>
              </a:rPr>
              <a:t>(#</a:t>
            </a:r>
            <a:r>
              <a:rPr lang="en-US">
                <a:latin typeface="Calibri"/>
              </a:rPr>
              <a:t>số danh mục của biến A</a:t>
            </a:r>
            <a:r>
              <a:rPr lang="en-US">
                <a:latin typeface="Calibri"/>
              </a:rPr>
              <a:t> -1)((#</a:t>
            </a:r>
            <a:r>
              <a:rPr lang="en-US">
                <a:latin typeface="Calibri"/>
              </a:rPr>
              <a:t>số danh mục của biến B</a:t>
            </a:r>
            <a:r>
              <a:rPr lang="en-US">
                <a:latin typeface="Calibri"/>
              </a:rPr>
              <a:t> -1)</a:t>
            </a:r>
            <a:endParaRPr/>
          </a:p>
          <a:p>
            <a:pPr lvl="1">
              <a:lnSpc>
                <a:spcPct val="110000"/>
              </a:lnSpc>
              <a:defRPr/>
            </a:pPr>
            <a:r>
              <a:rPr lang="en-US">
                <a:latin typeface="Calibri"/>
              </a:rPr>
              <a:t>số lượng giá trị được tự do biến đổi</a:t>
            </a:r>
            <a:endParaRPr/>
          </a:p>
          <a:p>
            <a:pPr marL="200021" lvl="1" indent="0">
              <a:lnSpc>
                <a:spcPct val="110000"/>
              </a:lnSpc>
              <a:buNone/>
              <a:defRPr/>
            </a:pPr>
            <a:endParaRPr lang="en-US">
              <a:latin typeface="Calibri"/>
            </a:endParaRPr>
          </a:p>
        </p:txBody>
      </p:sp>
      <p:graphicFrame>
        <p:nvGraphicFramePr>
          <p:cNvPr id="412553438" name="Group 5"/>
          <p:cNvGraphicFramePr>
            <a:graphicFrameLocks xmlns:a="http://schemas.openxmlformats.org/drawingml/2006/main" noGrp="1"/>
          </p:cNvGraphicFramePr>
          <p:nvPr/>
        </p:nvGraphicFramePr>
        <p:xfrm rot="0">
          <a:off x="2062129" y="1165411"/>
          <a:ext cx="7535920" cy="1828800"/>
        </p:xfrm>
        <a:graphic>
          <a:graphicData uri="http://schemas.openxmlformats.org/drawingml/2006/table">
            <a:tbl>
              <a:tblPr firstRow="0" firstCol="0" lastRow="0" lastCol="0" bandRow="0" bandCol="0"/>
              <a:tblGrid>
                <a:gridCol w="1090975"/>
                <a:gridCol w="1288989"/>
                <a:gridCol w="1288989"/>
                <a:gridCol w="1288989"/>
                <a:gridCol w="1288989"/>
                <a:gridCol w="1288989"/>
              </a:tblGrid>
              <a:tr h="457200">
                <a:tc>
                  <a:txBody>
                    <a:bodyPr/>
                    <a:p>
                      <a:pPr marL="0" marR="0" lvl="0" indent="0" algn="ctr" defTabSz="914400" rtl="0">
                        <a:lnSpc>
                          <a:spcPct val="100000"/>
                        </a:lnSpc>
                        <a:spcBef>
                          <a:spcPts val="0"/>
                        </a:spcBef>
                        <a:spcAft>
                          <a:spcPts val="0"/>
                        </a:spcAft>
                        <a:buClr>
                          <a:schemeClr val="folHlink"/>
                        </a:buClr>
                        <a:buSzPct val="60000"/>
                        <a:buFont typeface="Wingdings"/>
                        <a:buNone/>
                        <a:defRPr/>
                      </a:pPr>
                      <a:endParaRPr lang="en-US" sz="1600" b="0" i="0" u="none" strike="noStrike" cap="none">
                        <a:ln>
                          <a:noFill/>
                        </a:ln>
                        <a:solidFill>
                          <a:schemeClr val="tx1"/>
                        </a:solidFill>
                        <a:latin typeface="Tahoma"/>
                      </a:endParaRPr>
                    </a:p>
                  </a:txBody>
                  <a:tcPr anchor="ctr">
                    <a:lnL w="28575"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ctr"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A</a:t>
                      </a:r>
                      <a:endParaRPr/>
                    </a:p>
                  </a:txBody>
                  <a:tcPr anchor="ctr">
                    <a:lnL w="12700"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ctr"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B</a:t>
                      </a:r>
                      <a:endParaRPr/>
                    </a:p>
                  </a:txBody>
                  <a:tcPr anchor="ctr">
                    <a:lnL w="12700"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ctr"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C</a:t>
                      </a:r>
                      <a:endParaRPr/>
                    </a:p>
                  </a:txBody>
                  <a:tcPr anchor="ctr">
                    <a:lnL w="12700"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ctr"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D</a:t>
                      </a:r>
                      <a:endParaRPr/>
                    </a:p>
                  </a:txBody>
                  <a:tcPr anchor="ctr">
                    <a:lnL w="12700"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Sum (row)</a:t>
                      </a:r>
                      <a:endParaRPr/>
                    </a:p>
                  </a:txBody>
                  <a:tcPr>
                    <a:lnL w="12700" algn="ctr">
                      <a:solidFill>
                        <a:schemeClr val="tx1"/>
                      </a:solidFill>
                    </a:lnL>
                    <a:lnR w="28575" algn="ctr">
                      <a:solidFill>
                        <a:schemeClr val="tx1"/>
                      </a:solidFill>
                    </a:lnR>
                    <a:lnT w="28575" algn="ctr">
                      <a:solidFill>
                        <a:schemeClr val="tx1"/>
                      </a:solidFill>
                    </a:lnT>
                    <a:lnB w="12700" algn="ctr">
                      <a:solidFill>
                        <a:schemeClr val="tx1"/>
                      </a:solidFill>
                    </a:lnB>
                    <a:solidFill>
                      <a:srgbClr val="FFFF00"/>
                    </a:solidFill>
                  </a:tcPr>
                </a:tc>
              </a:tr>
              <a:tr h="457200">
                <a:tc>
                  <a:txBody>
                    <a:bodyPr/>
                    <a:p>
                      <a:pPr marL="0" marR="0" lvl="0" indent="0" algn="ctr"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1</a:t>
                      </a:r>
                      <a:endParaRPr/>
                    </a:p>
                  </a:txBody>
                  <a:tcPr anchor="ctr">
                    <a:lnL w="28575"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914400" rtl="0">
                        <a:lnSpc>
                          <a:spcPct val="100000"/>
                        </a:lnSpc>
                        <a:spcBef>
                          <a:spcPts val="0"/>
                        </a:spcBef>
                        <a:spcAft>
                          <a:spcPts val="0"/>
                        </a:spcAft>
                        <a:buClr>
                          <a:schemeClr val="folHlink"/>
                        </a:buClr>
                        <a:buSzPct val="60000"/>
                        <a:buFont typeface="Wingdings"/>
                        <a:buNone/>
                        <a:defRPr/>
                      </a:pPr>
                      <a:endParaRPr lang="en-US" sz="1600" b="0" i="0" u="none" strike="noStrike" cap="none">
                        <a:ln>
                          <a:noFill/>
                        </a:ln>
                        <a:solidFill>
                          <a:schemeClr val="tx1"/>
                        </a:solidFill>
                        <a:latin typeface="Tahoma"/>
                      </a:endParaRPr>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solidFill>
                      <a:schemeClr val="accent1"/>
                    </a:solidFill>
                  </a:tcPr>
                </a:tc>
                <a:tc>
                  <a:txBody>
                    <a:bodyPr/>
                    <a:p>
                      <a:pPr marL="0" marR="0" lvl="0" indent="0" algn="ctr" defTabSz="914400" rtl="0">
                        <a:lnSpc>
                          <a:spcPct val="100000"/>
                        </a:lnSpc>
                        <a:spcBef>
                          <a:spcPts val="0"/>
                        </a:spcBef>
                        <a:spcAft>
                          <a:spcPts val="0"/>
                        </a:spcAft>
                        <a:buClr>
                          <a:schemeClr val="folHlink"/>
                        </a:buClr>
                        <a:buSzPct val="60000"/>
                        <a:buFont typeface="Wingdings"/>
                        <a:buNone/>
                        <a:defRPr/>
                      </a:pPr>
                      <a:endParaRPr lang="en-US" sz="1600" b="0" i="0" u="none" strike="noStrike" cap="none">
                        <a:ln>
                          <a:noFill/>
                        </a:ln>
                        <a:solidFill>
                          <a:schemeClr val="tx1"/>
                        </a:solidFill>
                        <a:latin typeface="Tahoma"/>
                      </a:endParaRPr>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solidFill>
                      <a:srgbClr val="E48312"/>
                    </a:solidFill>
                  </a:tcPr>
                </a:tc>
                <a:tc>
                  <a:txBody>
                    <a:bodyPr/>
                    <a:p>
                      <a:pPr marL="0" marR="0" lvl="0" indent="0" algn="ctr" defTabSz="914400" rtl="0">
                        <a:lnSpc>
                          <a:spcPct val="100000"/>
                        </a:lnSpc>
                        <a:spcBef>
                          <a:spcPts val="0"/>
                        </a:spcBef>
                        <a:spcAft>
                          <a:spcPts val="0"/>
                        </a:spcAft>
                        <a:buClr>
                          <a:schemeClr val="folHlink"/>
                        </a:buClr>
                        <a:buSzPct val="60000"/>
                        <a:buFont typeface="Wingdings"/>
                        <a:buNone/>
                        <a:defRPr/>
                      </a:pPr>
                      <a:endParaRPr lang="en-US" sz="1600" b="0" i="0" u="none" strike="noStrike" cap="none">
                        <a:ln>
                          <a:noFill/>
                        </a:ln>
                        <a:solidFill>
                          <a:schemeClr val="tx1"/>
                        </a:solidFill>
                        <a:latin typeface="Tahoma"/>
                      </a:endParaRPr>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solidFill>
                      <a:srgbClr val="E48312"/>
                    </a:solidFill>
                  </a:tcPr>
                </a:tc>
                <a:tc>
                  <a:txBody>
                    <a:bodyPr/>
                    <a:p>
                      <a:pPr marL="0" marR="0" lvl="0" indent="0" algn="ctr" defTabSz="914400" rtl="0">
                        <a:lnSpc>
                          <a:spcPct val="100000"/>
                        </a:lnSpc>
                        <a:spcBef>
                          <a:spcPts val="0"/>
                        </a:spcBef>
                        <a:spcAft>
                          <a:spcPts val="0"/>
                        </a:spcAft>
                        <a:buClr>
                          <a:schemeClr val="folHlink"/>
                        </a:buClr>
                        <a:buSzPct val="60000"/>
                        <a:buFont typeface="Wingdings"/>
                        <a:buNone/>
                        <a:defRPr/>
                      </a:pPr>
                      <a:endParaRPr lang="en-US" sz="1600" b="0" i="0" u="none" strike="noStrike" cap="none">
                        <a:ln>
                          <a:noFill/>
                        </a:ln>
                        <a:solidFill>
                          <a:schemeClr val="tx1"/>
                        </a:solidFill>
                        <a:latin typeface="Tahoma"/>
                      </a:endParaRPr>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200</a:t>
                      </a:r>
                      <a:endParaRPr/>
                    </a:p>
                  </a:txBody>
                  <a:tcPr>
                    <a:lnL w="12700" algn="ctr">
                      <a:solidFill>
                        <a:schemeClr val="tx1"/>
                      </a:solidFill>
                    </a:lnL>
                    <a:lnR w="28575" algn="ctr">
                      <a:solidFill>
                        <a:schemeClr val="tx1"/>
                      </a:solidFill>
                    </a:lnR>
                    <a:lnT w="12700" algn="ctr">
                      <a:solidFill>
                        <a:schemeClr val="tx1"/>
                      </a:solidFill>
                    </a:lnT>
                    <a:lnB w="12700" algn="ctr">
                      <a:solidFill>
                        <a:schemeClr val="tx1"/>
                      </a:solidFill>
                    </a:lnB>
                    <a:solidFill>
                      <a:srgbClr val="FFFF00"/>
                    </a:solidFill>
                  </a:tcPr>
                </a:tc>
              </a:tr>
              <a:tr h="457200">
                <a:tc>
                  <a:txBody>
                    <a:bodyPr/>
                    <a:p>
                      <a:pPr marL="0" marR="0" lvl="0" indent="0" algn="ctr"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0</a:t>
                      </a:r>
                      <a:endParaRPr/>
                    </a:p>
                  </a:txBody>
                  <a:tcPr anchor="ctr">
                    <a:lnL w="28575"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914400" rtl="0">
                        <a:lnSpc>
                          <a:spcPct val="100000"/>
                        </a:lnSpc>
                        <a:spcBef>
                          <a:spcPts val="0"/>
                        </a:spcBef>
                        <a:spcAft>
                          <a:spcPts val="0"/>
                        </a:spcAft>
                        <a:buClr>
                          <a:schemeClr val="folHlink"/>
                        </a:buClr>
                        <a:buSzPct val="60000"/>
                        <a:buFont typeface="Wingdings"/>
                        <a:buNone/>
                        <a:defRPr/>
                      </a:pPr>
                      <a:endParaRPr lang="en-US" sz="1600" b="0" i="0" u="none" strike="noStrike" cap="none">
                        <a:ln>
                          <a:noFill/>
                        </a:ln>
                        <a:solidFill>
                          <a:schemeClr val="tx1"/>
                        </a:solidFill>
                        <a:latin typeface="Tahoma"/>
                      </a:endParaRPr>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914400" rtl="0">
                        <a:lnSpc>
                          <a:spcPct val="100000"/>
                        </a:lnSpc>
                        <a:spcBef>
                          <a:spcPts val="0"/>
                        </a:spcBef>
                        <a:spcAft>
                          <a:spcPts val="0"/>
                        </a:spcAft>
                        <a:buClr>
                          <a:schemeClr val="folHlink"/>
                        </a:buClr>
                        <a:buSzPct val="60000"/>
                        <a:buFont typeface="Wingdings"/>
                        <a:buNone/>
                        <a:defRPr/>
                      </a:pPr>
                      <a:endParaRPr lang="en-US" sz="1600" b="0" i="0" u="none" strike="noStrike" cap="none">
                        <a:ln>
                          <a:noFill/>
                        </a:ln>
                        <a:solidFill>
                          <a:schemeClr val="tx1"/>
                        </a:solidFill>
                        <a:latin typeface="Tahoma"/>
                      </a:endParaRPr>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914400" rtl="0">
                        <a:lnSpc>
                          <a:spcPct val="100000"/>
                        </a:lnSpc>
                        <a:spcBef>
                          <a:spcPts val="0"/>
                        </a:spcBef>
                        <a:spcAft>
                          <a:spcPts val="0"/>
                        </a:spcAft>
                        <a:buClr>
                          <a:schemeClr val="folHlink"/>
                        </a:buClr>
                        <a:buSzPct val="60000"/>
                        <a:buFont typeface="Wingdings"/>
                        <a:buNone/>
                        <a:defRPr/>
                      </a:pPr>
                      <a:endParaRPr lang="en-US" sz="1600" b="0" i="0" u="none" strike="noStrike" cap="none">
                        <a:ln>
                          <a:noFill/>
                        </a:ln>
                        <a:solidFill>
                          <a:schemeClr val="tx1"/>
                        </a:solidFill>
                        <a:latin typeface="Tahoma"/>
                      </a:endParaRPr>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914400" rtl="0">
                        <a:lnSpc>
                          <a:spcPct val="100000"/>
                        </a:lnSpc>
                        <a:spcBef>
                          <a:spcPts val="0"/>
                        </a:spcBef>
                        <a:spcAft>
                          <a:spcPts val="0"/>
                        </a:spcAft>
                        <a:buClr>
                          <a:schemeClr val="folHlink"/>
                        </a:buClr>
                        <a:buSzPct val="60000"/>
                        <a:buFont typeface="Wingdings"/>
                        <a:buNone/>
                        <a:defRPr/>
                      </a:pPr>
                      <a:endParaRPr lang="en-US" sz="1600" b="0" i="0" u="none" strike="noStrike" cap="none">
                        <a:ln>
                          <a:noFill/>
                        </a:ln>
                        <a:solidFill>
                          <a:schemeClr val="tx1"/>
                        </a:solidFill>
                        <a:latin typeface="Tahoma"/>
                      </a:endParaRPr>
                    </a:p>
                  </a:txBody>
                  <a:tcPr anchor="ctr">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1000</a:t>
                      </a:r>
                      <a:endParaRPr/>
                    </a:p>
                  </a:txBody>
                  <a:tcPr>
                    <a:lnL w="12700" algn="ctr">
                      <a:solidFill>
                        <a:schemeClr val="tx1"/>
                      </a:solidFill>
                    </a:lnL>
                    <a:lnR w="28575" algn="ctr">
                      <a:solidFill>
                        <a:schemeClr val="tx1"/>
                      </a:solidFill>
                    </a:lnR>
                    <a:lnT w="12700" algn="ctr">
                      <a:solidFill>
                        <a:schemeClr val="tx1"/>
                      </a:solidFill>
                    </a:lnT>
                    <a:lnB w="12700" algn="ctr">
                      <a:solidFill>
                        <a:schemeClr val="tx1"/>
                      </a:solidFill>
                    </a:lnB>
                    <a:solidFill>
                      <a:srgbClr val="FFFF00"/>
                    </a:solidFill>
                  </a:tcPr>
                </a:tc>
              </a:tr>
              <a:tr h="457200">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Sum(col.)</a:t>
                      </a:r>
                      <a:endParaRPr/>
                    </a:p>
                  </a:txBody>
                  <a:tcPr>
                    <a:lnL w="28575" algn="ctr">
                      <a:solidFill>
                        <a:schemeClr val="tx1"/>
                      </a:solidFill>
                    </a:lnL>
                    <a:lnR w="12700" algn="ctr">
                      <a:solidFill>
                        <a:schemeClr val="tx1"/>
                      </a:solidFill>
                    </a:lnR>
                    <a:lnT w="12700" algn="ctr">
                      <a:solidFill>
                        <a:schemeClr val="tx1"/>
                      </a:solidFill>
                    </a:lnT>
                    <a:lnB w="28575" algn="ctr">
                      <a:solidFill>
                        <a:schemeClr val="tx1"/>
                      </a:solidFill>
                    </a:lnB>
                    <a:solidFill>
                      <a:srgbClr val="FFFF00"/>
                    </a:solid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300</a:t>
                      </a:r>
                      <a:endParaRPr/>
                    </a:p>
                  </a:txBody>
                  <a:tcPr>
                    <a:lnL w="12700" algn="ctr">
                      <a:solidFill>
                        <a:schemeClr val="tx1"/>
                      </a:solidFill>
                    </a:lnL>
                    <a:lnR w="12700" algn="ctr">
                      <a:solidFill>
                        <a:schemeClr val="tx1"/>
                      </a:solidFill>
                    </a:lnR>
                    <a:lnT w="12700" algn="ctr">
                      <a:solidFill>
                        <a:schemeClr val="tx1"/>
                      </a:solidFill>
                    </a:lnT>
                    <a:lnB w="28575" algn="ctr">
                      <a:solidFill>
                        <a:schemeClr val="tx1"/>
                      </a:solidFill>
                    </a:lnB>
                    <a:solidFill>
                      <a:srgbClr val="FFFF00"/>
                    </a:solid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300</a:t>
                      </a:r>
                      <a:endParaRPr/>
                    </a:p>
                  </a:txBody>
                  <a:tcPr>
                    <a:lnL w="12700" algn="ctr">
                      <a:solidFill>
                        <a:schemeClr val="tx1"/>
                      </a:solidFill>
                    </a:lnL>
                    <a:lnR w="12700" algn="ctr">
                      <a:solidFill>
                        <a:schemeClr val="tx1"/>
                      </a:solidFill>
                    </a:lnR>
                    <a:lnT w="12700" algn="ctr">
                      <a:solidFill>
                        <a:schemeClr val="tx1"/>
                      </a:solidFill>
                    </a:lnT>
                    <a:lnB w="28575" algn="ctr">
                      <a:solidFill>
                        <a:schemeClr val="tx1"/>
                      </a:solidFill>
                    </a:lnB>
                    <a:solidFill>
                      <a:srgbClr val="FFFF00"/>
                    </a:solid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300</a:t>
                      </a:r>
                      <a:endParaRPr/>
                    </a:p>
                  </a:txBody>
                  <a:tcPr>
                    <a:lnL w="12700" algn="ctr">
                      <a:solidFill>
                        <a:schemeClr val="tx1"/>
                      </a:solidFill>
                    </a:lnL>
                    <a:lnR w="12700" algn="ctr">
                      <a:solidFill>
                        <a:schemeClr val="tx1"/>
                      </a:solidFill>
                    </a:lnR>
                    <a:lnT w="12700" algn="ctr">
                      <a:solidFill>
                        <a:schemeClr val="tx1"/>
                      </a:solidFill>
                    </a:lnT>
                    <a:lnB w="28575" algn="ctr">
                      <a:solidFill>
                        <a:schemeClr val="tx1"/>
                      </a:solidFill>
                    </a:lnB>
                    <a:solidFill>
                      <a:srgbClr val="FFFF00"/>
                    </a:solid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300</a:t>
                      </a:r>
                      <a:endParaRPr/>
                    </a:p>
                  </a:txBody>
                  <a:tcPr>
                    <a:lnL w="12700" algn="ctr">
                      <a:solidFill>
                        <a:schemeClr val="tx1"/>
                      </a:solidFill>
                    </a:lnL>
                    <a:lnR w="12700" algn="ctr">
                      <a:solidFill>
                        <a:schemeClr val="tx1"/>
                      </a:solidFill>
                    </a:lnR>
                    <a:lnT w="12700" algn="ctr">
                      <a:solidFill>
                        <a:schemeClr val="tx1"/>
                      </a:solidFill>
                    </a:lnT>
                    <a:lnB w="28575" algn="ctr">
                      <a:solidFill>
                        <a:schemeClr val="tx1"/>
                      </a:solidFill>
                    </a:lnB>
                    <a:solidFill>
                      <a:srgbClr val="FFFF00"/>
                    </a:solid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1200</a:t>
                      </a:r>
                      <a:endParaRPr/>
                    </a:p>
                  </a:txBody>
                  <a:tcPr>
                    <a:lnL w="12700" algn="ctr">
                      <a:solidFill>
                        <a:schemeClr val="tx1"/>
                      </a:solidFill>
                    </a:lnL>
                    <a:lnR w="28575" algn="ctr">
                      <a:solidFill>
                        <a:schemeClr val="tx1"/>
                      </a:solidFill>
                    </a:lnR>
                    <a:lnT w="12700" algn="ctr">
                      <a:solidFill>
                        <a:schemeClr val="tx1"/>
                      </a:solidFill>
                    </a:lnT>
                    <a:lnB w="28575" algn="ctr">
                      <a:solidFill>
                        <a:schemeClr val="tx1"/>
                      </a:solidFill>
                    </a:lnB>
                    <a:solidFill>
                      <a:srgbClr val="FFFF00"/>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78969863" name="Curved Left Arrow 2"/>
          <p:cNvSpPr/>
          <p:nvPr/>
        </p:nvSpPr>
        <p:spPr bwMode="auto">
          <a:xfrm rot="5400000">
            <a:off x="9324328" y="3403824"/>
            <a:ext cx="380222" cy="710634"/>
          </a:xfrm>
          <a:prstGeom prst="curvedLeftArrow">
            <a:avLst>
              <a:gd name="adj1" fmla="val 25000"/>
              <a:gd name="adj2" fmla="val 50000"/>
              <a:gd name="adj3" fmla="val 25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571376846" name="Rectangle 2"/>
          <p:cNvSpPr>
            <a:spLocks noChangeArrowheads="1" noGrp="1"/>
          </p:cNvSpPr>
          <p:nvPr>
            <p:ph type="title"/>
          </p:nvPr>
        </p:nvSpPr>
        <p:spPr bwMode="auto">
          <a:xfrm>
            <a:off x="566057" y="304800"/>
            <a:ext cx="10981509" cy="609600"/>
          </a:xfrm>
        </p:spPr>
        <p:txBody>
          <a:bodyPr anchor="t">
            <a:noAutofit/>
          </a:bodyPr>
          <a:lstStyle/>
          <a:p>
            <a:pPr>
              <a:defRPr/>
            </a:pPr>
            <a:r>
              <a:rPr lang="en-US"/>
              <a:t>Tính toán Chi bình phương: Một ví dụ</a:t>
            </a:r>
            <a:endParaRPr/>
          </a:p>
        </p:txBody>
      </p:sp>
      <p:sp>
        <p:nvSpPr>
          <p:cNvPr id="1783239742" name="Rectangle 3"/>
          <p:cNvSpPr>
            <a:spLocks noChangeArrowheads="1" noGrp="1"/>
          </p:cNvSpPr>
          <p:nvPr>
            <p:ph type="body" sz="half" idx="1"/>
          </p:nvPr>
        </p:nvSpPr>
        <p:spPr bwMode="auto">
          <a:xfrm>
            <a:off x="670561" y="3652632"/>
            <a:ext cx="9324702" cy="2555425"/>
          </a:xfrm>
        </p:spPr>
        <p:txBody>
          <a:bodyPr/>
          <a:lstStyle/>
          <a:p>
            <a:pPr>
              <a:lnSpc>
                <a:spcPct val="110000"/>
              </a:lnSpc>
              <a:defRPr/>
            </a:pPr>
            <a:r>
              <a:rPr lang="en-US">
                <a:latin typeface="Calibri"/>
              </a:rPr>
              <a:t>Bậc tự do =?</a:t>
            </a:r>
            <a:endParaRPr/>
          </a:p>
          <a:p>
            <a:pPr marL="0" indent="0">
              <a:lnSpc>
                <a:spcPct val="110000"/>
              </a:lnSpc>
              <a:buNone/>
              <a:defRPr/>
            </a:pPr>
            <a:endParaRPr lang="en-US">
              <a:latin typeface="Calibri"/>
            </a:endParaRPr>
          </a:p>
        </p:txBody>
      </p:sp>
      <p:graphicFrame>
        <p:nvGraphicFramePr>
          <p:cNvPr id="1887990695" name="Object 4"/>
          <p:cNvGraphicFramePr>
            <a:graphicFrameLocks xmlns:a="http://schemas.openxmlformats.org/drawingml/2006/main" noChangeAspect="1"/>
          </p:cNvGraphicFramePr>
          <p:nvPr/>
        </p:nvGraphicFramePr>
        <p:xfrm>
          <a:off x="1630079" y="2883877"/>
          <a:ext cx="7772400" cy="744538"/>
        </p:xfrm>
        <a:graphic>
          <a:graphicData uri="http://schemas.openxmlformats.org/presentationml/2006/ole">
            <p:oleObj name="oleObj" r:id="rId4" imgW="4381500" imgH="419100" progId="Equation.3">
              <p:embed/>
              <p:pic>
                <p:nvPicPr>
                  <p:cNvPr id="1887990695" name="Object 4"/>
                  <p:cNvPicPr/>
                  <p:nvPr/>
                </p:nvPicPr>
                <p:blipFill rotWithShape="1">
                  <a:blip r:embed="rId3"/>
                  <a:stretch/>
                </p:blipFill>
                <p:spPr bwMode="auto">
                  <a:xfrm>
                    <a:off x="1630079" y="2883877"/>
                    <a:ext cx="7772400" cy="744538"/>
                  </a:xfrm>
                  <a:prstGeom prst="rect">
                    <a:avLst/>
                  </a:prstGeom>
                  <a:noFill/>
                  <a:ln>
                    <a:noFill/>
                  </a:ln>
                  <a:effectLst/>
                </p:spPr>
              </p:pic>
            </p:oleObj>
          </a:graphicData>
        </a:graphic>
      </p:graphicFrame>
      <p:graphicFrame>
        <p:nvGraphicFramePr>
          <p:cNvPr id="248289742" name="Group 5"/>
          <p:cNvGraphicFramePr>
            <a:graphicFrameLocks xmlns:a="http://schemas.openxmlformats.org/drawingml/2006/main" noGrp="1"/>
          </p:cNvGraphicFramePr>
          <p:nvPr/>
        </p:nvGraphicFramePr>
        <p:xfrm rot="0">
          <a:off x="2222159" y="1250343"/>
          <a:ext cx="6096000" cy="1595438"/>
        </p:xfrm>
        <a:graphic>
          <a:graphicData uri="http://schemas.openxmlformats.org/drawingml/2006/table">
            <a:tbl>
              <a:tblPr firstRow="0" firstCol="0" lastRow="0" lastCol="0" bandRow="0" bandCol="0"/>
              <a:tblGrid>
                <a:gridCol w="2219325"/>
                <a:gridCol w="1136650"/>
                <a:gridCol w="1571625"/>
                <a:gridCol w="1168400"/>
              </a:tblGrid>
              <a:tr h="342900">
                <a:tc>
                  <a:txBody>
                    <a:bodyPr/>
                    <a:p>
                      <a:pPr marL="0" marR="0" lvl="0" indent="0" algn="l" defTabSz="914400" rtl="0">
                        <a:lnSpc>
                          <a:spcPct val="100000"/>
                        </a:lnSpc>
                        <a:spcBef>
                          <a:spcPts val="0"/>
                        </a:spcBef>
                        <a:spcAft>
                          <a:spcPts val="0"/>
                        </a:spcAft>
                        <a:buClr>
                          <a:schemeClr val="folHlink"/>
                        </a:buClr>
                        <a:buSzPct val="60000"/>
                        <a:buFont typeface="Wingdings"/>
                        <a:buNone/>
                        <a:defRPr/>
                      </a:pPr>
                      <a:endParaRPr lang="en-US" sz="1600" b="0" i="0" u="none" strike="noStrike" cap="none">
                        <a:ln>
                          <a:noFill/>
                        </a:ln>
                        <a:solidFill>
                          <a:schemeClr val="tx1"/>
                        </a:solidFill>
                        <a:latin typeface="Tahoma"/>
                      </a:endParaRPr>
                    </a:p>
                  </a:txBody>
                  <a:tcPr>
                    <a:lnL w="28575"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Play chess</a:t>
                      </a:r>
                      <a:endParaRPr/>
                    </a:p>
                  </a:txBody>
                  <a:tcPr>
                    <a:lnL w="12700"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Not play chess</a:t>
                      </a:r>
                      <a:endParaRPr/>
                    </a:p>
                  </a:txBody>
                  <a:tcPr>
                    <a:lnL w="12700"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Sum (row)</a:t>
                      </a:r>
                      <a:endParaRPr/>
                    </a:p>
                  </a:txBody>
                  <a:tcPr>
                    <a:lnL w="12700" algn="ctr">
                      <a:solidFill>
                        <a:schemeClr val="tx1"/>
                      </a:solidFill>
                    </a:lnL>
                    <a:lnR w="28575" algn="ctr">
                      <a:solidFill>
                        <a:schemeClr val="tx1"/>
                      </a:solidFill>
                    </a:lnR>
                    <a:lnT w="28575" algn="ctr">
                      <a:solidFill>
                        <a:schemeClr val="tx1"/>
                      </a:solidFill>
                    </a:lnT>
                    <a:lnB w="12700" algn="ctr">
                      <a:solidFill>
                        <a:schemeClr val="tx1"/>
                      </a:solidFill>
                    </a:lnB>
                    <a:noFill/>
                  </a:tcPr>
                </a:tc>
              </a:tr>
              <a:tr h="417513">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Like science fiction</a:t>
                      </a:r>
                      <a:endParaRPr/>
                    </a:p>
                  </a:txBody>
                  <a:tcPr>
                    <a:lnL w="28575"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250 (90)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200 (360)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450</a:t>
                      </a:r>
                      <a:endParaRPr/>
                    </a:p>
                  </a:txBody>
                  <a:tcPr>
                    <a:lnL w="12700" algn="ctr">
                      <a:solidFill>
                        <a:schemeClr val="tx1"/>
                      </a:solidFill>
                    </a:lnL>
                    <a:lnR w="28575" algn="ctr">
                      <a:solidFill>
                        <a:schemeClr val="tx1"/>
                      </a:solidFill>
                    </a:lnR>
                    <a:lnT w="12700" algn="ctr">
                      <a:solidFill>
                        <a:schemeClr val="tx1"/>
                      </a:solidFill>
                    </a:lnT>
                    <a:lnB w="12700" algn="ctr">
                      <a:solidFill>
                        <a:schemeClr val="tx1"/>
                      </a:solidFill>
                    </a:lnB>
                    <a:noFill/>
                  </a:tcPr>
                </a:tc>
              </a:tr>
              <a:tr h="417513">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Not like science fiction</a:t>
                      </a:r>
                      <a:endParaRPr/>
                    </a:p>
                  </a:txBody>
                  <a:tcPr>
                    <a:lnL w="28575"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50 (210)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1000 (840)</a:t>
                      </a:r>
                      <a:endParaRP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1050</a:t>
                      </a:r>
                      <a:endParaRPr/>
                    </a:p>
                  </a:txBody>
                  <a:tcPr>
                    <a:lnL w="12700" algn="ctr">
                      <a:solidFill>
                        <a:schemeClr val="tx1"/>
                      </a:solidFill>
                    </a:lnL>
                    <a:lnR w="28575" algn="ctr">
                      <a:solidFill>
                        <a:schemeClr val="tx1"/>
                      </a:solidFill>
                    </a:lnR>
                    <a:lnT w="12700" algn="ctr">
                      <a:solidFill>
                        <a:schemeClr val="tx1"/>
                      </a:solidFill>
                    </a:lnT>
                    <a:lnB w="12700" algn="ctr">
                      <a:solidFill>
                        <a:schemeClr val="tx1"/>
                      </a:solidFill>
                    </a:lnB>
                    <a:noFill/>
                  </a:tcPr>
                </a:tc>
              </a:tr>
              <a:tr h="417513">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Sum(col.)</a:t>
                      </a:r>
                      <a:endParaRPr/>
                    </a:p>
                  </a:txBody>
                  <a:tcPr>
                    <a:lnL w="28575" algn="ctr">
                      <a:solidFill>
                        <a:schemeClr val="tx1"/>
                      </a:solidFill>
                    </a:lnL>
                    <a:lnR w="12700" algn="ctr">
                      <a:solidFill>
                        <a:schemeClr val="tx1"/>
                      </a:solidFill>
                    </a:lnR>
                    <a:lnT w="12700" algn="ctr">
                      <a:solidFill>
                        <a:schemeClr val="tx1"/>
                      </a:solidFill>
                    </a:lnT>
                    <a:lnB w="28575"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300</a:t>
                      </a:r>
                      <a:endParaRPr/>
                    </a:p>
                  </a:txBody>
                  <a:tcPr>
                    <a:lnL w="12700" algn="ctr">
                      <a:solidFill>
                        <a:schemeClr val="tx1"/>
                      </a:solidFill>
                    </a:lnL>
                    <a:lnR w="12700" algn="ctr">
                      <a:solidFill>
                        <a:schemeClr val="tx1"/>
                      </a:solidFill>
                    </a:lnR>
                    <a:lnT w="12700" algn="ctr">
                      <a:solidFill>
                        <a:schemeClr val="tx1"/>
                      </a:solidFill>
                    </a:lnT>
                    <a:lnB w="28575"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1200</a:t>
                      </a:r>
                      <a:endParaRPr/>
                    </a:p>
                  </a:txBody>
                  <a:tcPr>
                    <a:lnL w="12700" algn="ctr">
                      <a:solidFill>
                        <a:schemeClr val="tx1"/>
                      </a:solidFill>
                    </a:lnL>
                    <a:lnR w="12700" algn="ctr">
                      <a:solidFill>
                        <a:schemeClr val="tx1"/>
                      </a:solidFill>
                    </a:lnR>
                    <a:lnT w="12700" algn="ctr">
                      <a:solidFill>
                        <a:schemeClr val="tx1"/>
                      </a:solidFill>
                    </a:lnT>
                    <a:lnB w="28575" algn="ctr">
                      <a:solidFill>
                        <a:schemeClr val="tx1"/>
                      </a:solidFill>
                    </a:lnB>
                    <a:noFill/>
                  </a:tcPr>
                </a:tc>
                <a:tc>
                  <a:txBody>
                    <a:bodyPr/>
                    <a:p>
                      <a:pPr marL="0" marR="0" lvl="0" indent="0" algn="l" defTabSz="914400" rtl="0">
                        <a:lnSpc>
                          <a:spcPct val="100000"/>
                        </a:lnSpc>
                        <a:spcBef>
                          <a:spcPts val="0"/>
                        </a:spcBef>
                        <a:spcAft>
                          <a:spcPts val="0"/>
                        </a:spcAft>
                        <a:buClr>
                          <a:schemeClr val="folHlink"/>
                        </a:buClr>
                        <a:buSzPct val="60000"/>
                        <a:buFont typeface="Wingdings"/>
                        <a:buNone/>
                        <a:defRPr/>
                      </a:pPr>
                      <a:r>
                        <a:rPr lang="en-US" sz="1600" b="0" i="0" u="none" strike="noStrike" cap="none">
                          <a:ln>
                            <a:noFill/>
                          </a:ln>
                          <a:solidFill>
                            <a:schemeClr val="tx1"/>
                          </a:solidFill>
                          <a:latin typeface="Tahoma"/>
                        </a:rPr>
                        <a:t>1500</a:t>
                      </a:r>
                      <a:endParaRPr/>
                    </a:p>
                  </a:txBody>
                  <a:tcPr>
                    <a:lnL w="12700" algn="ctr">
                      <a:solidFill>
                        <a:schemeClr val="tx1"/>
                      </a:solidFill>
                    </a:lnL>
                    <a:lnR w="28575" algn="ctr">
                      <a:solidFill>
                        <a:schemeClr val="tx1"/>
                      </a:solidFill>
                    </a:lnR>
                    <a:lnT w="12700" algn="ctr">
                      <a:solidFill>
                        <a:schemeClr val="tx1"/>
                      </a:solidFill>
                    </a:lnT>
                    <a:lnB w="28575" algn="ctr">
                      <a:solidFill>
                        <a:schemeClr val="tx1"/>
                      </a:solidFill>
                    </a:lnB>
                    <a:noFill/>
                  </a:tcPr>
                </a:tc>
              </a:tr>
            </a:tbl>
          </a:graphicData>
        </a:graphic>
      </p:graphicFrame>
      <p:sp>
        <p:nvSpPr>
          <p:cNvPr id="467277661" name="Rectangle 1"/>
          <p:cNvSpPr/>
          <p:nvPr/>
        </p:nvSpPr>
        <p:spPr bwMode="auto">
          <a:xfrm>
            <a:off x="9869756" y="2550181"/>
            <a:ext cx="2196737" cy="1631216"/>
          </a:xfrm>
          <a:prstGeom prst="rect">
            <a:avLst/>
          </a:prstGeom>
          <a:solidFill>
            <a:srgbClr val="FFFF00"/>
          </a:solidFill>
        </p:spPr>
        <p:txBody>
          <a:bodyPr wrap="square">
            <a:spAutoFit/>
          </a:bodyPr>
          <a:lstStyle/>
          <a:p>
            <a:pPr>
              <a:defRPr/>
            </a:pPr>
            <a:r>
              <a:rPr lang="en-US" sz="1700">
                <a:latin typeface="AvenirNextCondensed-Regular"/>
              </a:rPr>
              <a:t>Ta có thể bác bỏ</a:t>
            </a:r>
            <a:endParaRPr/>
          </a:p>
          <a:p>
            <a:pPr>
              <a:defRPr/>
            </a:pPr>
            <a:r>
              <a:rPr lang="en-US" sz="1700">
                <a:latin typeface="AvenirNextCondensed-Regular"/>
              </a:rPr>
              <a:t>giả thuyết không về tính độc lập</a:t>
            </a:r>
            <a:endParaRPr/>
          </a:p>
          <a:p>
            <a:pPr>
              <a:defRPr/>
            </a:pPr>
            <a:r>
              <a:rPr lang="en-US" sz="1700">
                <a:latin typeface="AvenirNextCondensed-Regular"/>
              </a:rPr>
              <a:t>ở mức độ tin cậy 0.001</a:t>
            </a:r>
            <a:endParaRPr lang="en-US"/>
          </a:p>
        </p:txBody>
      </p:sp>
      <p:pic>
        <p:nvPicPr>
          <p:cNvPr id="1766403099" name="Picture 8" descr="Screen Clipping"/>
          <p:cNvPicPr>
            <a:picLocks noChangeAspect="1"/>
          </p:cNvPicPr>
          <p:nvPr/>
        </p:nvPicPr>
        <p:blipFill rotWithShape="1">
          <a:blip r:embed="rId5"/>
          <a:srcRect l="982" t="-812" r="59724" b="46323"/>
          <a:stretch/>
        </p:blipFill>
        <p:spPr bwMode="auto">
          <a:xfrm>
            <a:off x="457200" y="4378816"/>
            <a:ext cx="3505944" cy="2321828"/>
          </a:xfrm>
          <a:prstGeom prst="rect">
            <a:avLst/>
          </a:prstGeom>
        </p:spPr>
      </p:pic>
      <p:pic>
        <p:nvPicPr>
          <p:cNvPr id="1906034358" name="Picture 9" descr="Screen Clipping"/>
          <p:cNvPicPr>
            <a:picLocks noChangeAspect="1"/>
          </p:cNvPicPr>
          <p:nvPr/>
        </p:nvPicPr>
        <p:blipFill rotWithShape="1">
          <a:blip r:embed="rId5"/>
          <a:srcRect l="0" t="51951" r="0" b="0"/>
          <a:stretch/>
        </p:blipFill>
        <p:spPr bwMode="auto">
          <a:xfrm>
            <a:off x="3269791" y="4756103"/>
            <a:ext cx="8922209" cy="204740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81205142" name="Rectangle 2"/>
          <p:cNvSpPr>
            <a:spLocks noChangeArrowheads="1" noGrp="1"/>
          </p:cNvSpPr>
          <p:nvPr>
            <p:ph type="title"/>
          </p:nvPr>
        </p:nvSpPr>
        <p:spPr bwMode="auto">
          <a:xfrm>
            <a:off x="66675" y="1"/>
            <a:ext cx="12125325" cy="1076324"/>
          </a:xfrm>
        </p:spPr>
        <p:txBody>
          <a:bodyPr anchor="t">
            <a:normAutofit/>
          </a:bodyPr>
          <a:lstStyle/>
          <a:p>
            <a:pPr>
              <a:defRPr/>
            </a:pPr>
            <a:r>
              <a:rPr lang="en-US"/>
              <a:t>Phương sai của một biến đơn (dữ liệu số)</a:t>
            </a:r>
            <a:endParaRPr/>
          </a:p>
        </p:txBody>
      </p:sp>
      <p:sp>
        <p:nvSpPr>
          <p:cNvPr id="1527545445" name="Rectangle 3"/>
          <p:cNvSpPr>
            <a:spLocks noChangeArrowheads="1" noGrp="1"/>
          </p:cNvSpPr>
          <p:nvPr>
            <p:ph type="body" idx="1"/>
          </p:nvPr>
        </p:nvSpPr>
        <p:spPr bwMode="auto">
          <a:xfrm>
            <a:off x="583793" y="1246525"/>
            <a:ext cx="10981853" cy="5450312"/>
          </a:xfrm>
        </p:spPr>
        <p:txBody>
          <a:bodyPr/>
          <a:lstStyle/>
          <a:p>
            <a:pPr>
              <a:lnSpc>
                <a:spcPct val="110000"/>
              </a:lnSpc>
              <a:defRPr/>
            </a:pPr>
            <a:r>
              <a:rPr lang="en-US" sz="2000">
                <a:latin typeface="Calibri"/>
              </a:rPr>
              <a:t>Phương sai của một biến ngẫu nhiên </a:t>
            </a:r>
            <a:r>
              <a:rPr lang="en-US" sz="2000" i="1">
                <a:latin typeface="Calibri"/>
              </a:rPr>
              <a:t>X</a:t>
            </a:r>
            <a:r>
              <a:rPr lang="en-US" sz="2000">
                <a:latin typeface="Calibri"/>
              </a:rPr>
              <a:t> đo mức độ giá trị của </a:t>
            </a:r>
            <a:r>
              <a:rPr lang="en-US" sz="2000" i="1">
                <a:latin typeface="Calibri"/>
              </a:rPr>
              <a:t>X</a:t>
            </a:r>
            <a:r>
              <a:rPr lang="en-US" sz="2000">
                <a:latin typeface="Calibri"/>
              </a:rPr>
              <a:t> lệch khỏi giá trị trung bình hoặc kỳ vọng của </a:t>
            </a:r>
            <a:r>
              <a:rPr lang="en-US" sz="2000" i="1">
                <a:latin typeface="Calibri"/>
              </a:rPr>
              <a:t>X:</a:t>
            </a:r>
            <a:endParaRPr/>
          </a:p>
          <a:p>
            <a:pPr lvl="2">
              <a:lnSpc>
                <a:spcPct val="110000"/>
              </a:lnSpc>
              <a:buNone/>
              <a:defRPr/>
            </a:pPr>
            <a:r>
              <a:rPr lang="en-US" sz="2000">
                <a:latin typeface="Calibri"/>
              </a:rPr>
              <a:t> </a:t>
            </a:r>
            <a:endParaRPr/>
          </a:p>
          <a:p>
            <a:pPr marL="0" indent="0">
              <a:lnSpc>
                <a:spcPct val="110000"/>
              </a:lnSpc>
              <a:buNone/>
              <a:defRPr/>
            </a:pPr>
            <a:endParaRPr lang="en-US" sz="2400" b="1">
              <a:latin typeface="Calibri"/>
            </a:endParaRPr>
          </a:p>
          <a:p>
            <a:pPr lvl="1">
              <a:lnSpc>
                <a:spcPct val="110000"/>
              </a:lnSpc>
              <a:defRPr/>
            </a:pPr>
            <a:endParaRPr lang="en-US" sz="2400">
              <a:latin typeface="Calibri"/>
            </a:endParaRPr>
          </a:p>
          <a:p>
            <a:pPr lvl="1">
              <a:lnSpc>
                <a:spcPct val="110000"/>
              </a:lnSpc>
              <a:defRPr/>
            </a:pPr>
            <a:r>
              <a:rPr lang="en-US" sz="2000">
                <a:latin typeface="Calibri"/>
              </a:rPr>
              <a:t> trong đó</a:t>
            </a:r>
            <a:r>
              <a:rPr lang="en-US" sz="2000" b="1">
                <a:latin typeface="Calibri"/>
              </a:rPr>
              <a:t> </a:t>
            </a:r>
            <a:r>
              <a:rPr lang="el-GR" sz="2000">
                <a:latin typeface="Calibri"/>
              </a:rPr>
              <a:t>σ</a:t>
            </a:r>
            <a:r>
              <a:rPr lang="en-US" sz="2000" baseline="30000">
                <a:latin typeface="Calibri"/>
              </a:rPr>
              <a:t>2</a:t>
            </a:r>
            <a:r>
              <a:rPr lang="en-US" sz="2000">
                <a:latin typeface="Calibri"/>
              </a:rPr>
              <a:t> là phương sai của X, </a:t>
            </a:r>
            <a:r>
              <a:rPr lang="el-GR" sz="2000">
                <a:latin typeface="Calibri"/>
              </a:rPr>
              <a:t>σ</a:t>
            </a:r>
            <a:r>
              <a:rPr lang="en-US" sz="2000">
                <a:latin typeface="Calibri"/>
              </a:rPr>
              <a:t> được gọi là </a:t>
            </a:r>
            <a:r>
              <a:rPr lang="en-US" sz="2000" i="1">
                <a:latin typeface="Calibri"/>
              </a:rPr>
              <a:t>độ lệch chuẩn</a:t>
            </a:r>
            <a:endParaRPr/>
          </a:p>
          <a:p>
            <a:pPr marL="733407" lvl="4" indent="0">
              <a:lnSpc>
                <a:spcPct val="110000"/>
              </a:lnSpc>
              <a:buNone/>
              <a:defRPr/>
            </a:pPr>
            <a:r>
              <a:rPr lang="el-GR" sz="2000">
                <a:latin typeface="Calibri"/>
              </a:rPr>
              <a:t>µ</a:t>
            </a:r>
            <a:r>
              <a:rPr lang="en-US" sz="2000">
                <a:latin typeface="Calibri"/>
              </a:rPr>
              <a:t> là trung bình, và </a:t>
            </a:r>
            <a:r>
              <a:rPr lang="el-GR" sz="2000">
                <a:latin typeface="Calibri"/>
              </a:rPr>
              <a:t>µ</a:t>
            </a:r>
            <a:r>
              <a:rPr lang="en-US" sz="2000">
                <a:latin typeface="Calibri"/>
              </a:rPr>
              <a:t> = E[X] là giá trị kỳ vọng của X</a:t>
            </a:r>
            <a:endParaRPr/>
          </a:p>
          <a:p>
            <a:pPr lvl="1">
              <a:lnSpc>
                <a:spcPct val="110000"/>
              </a:lnSpc>
              <a:defRPr/>
            </a:pPr>
            <a:r>
              <a:rPr lang="en-US" sz="2000">
                <a:latin typeface="Calibri"/>
              </a:rPr>
              <a:t> Tức là, phương sai là giá trị kỳ vọng của bình phương độ lệch so với trung bình</a:t>
            </a:r>
            <a:endParaRPr/>
          </a:p>
          <a:p>
            <a:pPr lvl="1">
              <a:lnSpc>
                <a:spcPct val="110000"/>
              </a:lnSpc>
              <a:defRPr/>
            </a:pPr>
            <a:r>
              <a:rPr lang="en-US" sz="2000">
                <a:latin typeface="Calibri"/>
              </a:rPr>
              <a:t> Nó cũng có thể được viết như sau:</a:t>
            </a:r>
            <a:endParaRPr/>
          </a:p>
          <a:p>
            <a:pPr>
              <a:lnSpc>
                <a:spcPct val="110000"/>
              </a:lnSpc>
              <a:defRPr/>
            </a:pPr>
            <a:r>
              <a:rPr lang="en-US" sz="2000">
                <a:latin typeface="Calibri"/>
              </a:rPr>
              <a:t>Phương sai mẫu</a:t>
            </a:r>
            <a:endParaRPr/>
          </a:p>
        </p:txBody>
      </p:sp>
      <p:graphicFrame>
        <p:nvGraphicFramePr>
          <p:cNvPr id="1653161363" name="Object 9"/>
          <p:cNvGraphicFramePr>
            <a:graphicFrameLocks xmlns:a="http://schemas.openxmlformats.org/drawingml/2006/main" noChangeAspect="1"/>
          </p:cNvGraphicFramePr>
          <p:nvPr/>
        </p:nvGraphicFramePr>
        <p:xfrm>
          <a:off x="1785648" y="2179236"/>
          <a:ext cx="7134131" cy="1356115"/>
        </p:xfrm>
        <a:graphic>
          <a:graphicData uri="http://schemas.openxmlformats.org/presentationml/2006/ole">
            <p:oleObj name="oleObj" r:id="rId4" imgW="4177030" imgH="837565" progId="Equation.DSMT4">
              <p:embed/>
              <p:pic>
                <p:nvPicPr>
                  <p:cNvPr id="1653161363" name="Object 9"/>
                  <p:cNvPicPr/>
                  <p:nvPr/>
                </p:nvPicPr>
                <p:blipFill rotWithShape="1">
                  <a:blip r:embed="rId3"/>
                  <a:stretch/>
                </p:blipFill>
                <p:spPr bwMode="auto">
                  <a:xfrm>
                    <a:off x="1785648" y="2179236"/>
                    <a:ext cx="7134131" cy="1356115"/>
                  </a:xfrm>
                  <a:prstGeom prst="rect">
                    <a:avLst/>
                  </a:prstGeom>
                </p:spPr>
              </p:pic>
            </p:oleObj>
          </a:graphicData>
        </a:graphic>
      </p:graphicFrame>
      <p:graphicFrame>
        <p:nvGraphicFramePr>
          <p:cNvPr id="374107085" name="Object 10"/>
          <p:cNvGraphicFramePr>
            <a:graphicFrameLocks xmlns:a="http://schemas.openxmlformats.org/drawingml/2006/main" noChangeAspect="1"/>
          </p:cNvGraphicFramePr>
          <p:nvPr/>
        </p:nvGraphicFramePr>
        <p:xfrm>
          <a:off x="4598987" y="5029200"/>
          <a:ext cx="6780213" cy="412750"/>
        </p:xfrm>
        <a:graphic>
          <a:graphicData uri="http://schemas.openxmlformats.org/presentationml/2006/ole">
            <p:oleObj name="oleObj" r:id="rId6" imgW="3555365" imgH="228600" progId="Equation.DSMT4">
              <p:embed/>
              <p:pic>
                <p:nvPicPr>
                  <p:cNvPr id="374107085" name="Object 10"/>
                  <p:cNvPicPr/>
                  <p:nvPr/>
                </p:nvPicPr>
                <p:blipFill rotWithShape="1">
                  <a:blip r:embed="rId5"/>
                  <a:stretch/>
                </p:blipFill>
                <p:spPr bwMode="auto">
                  <a:xfrm>
                    <a:off x="4598987" y="5029200"/>
                    <a:ext cx="6780213" cy="412750"/>
                  </a:xfrm>
                  <a:prstGeom prst="rect">
                    <a:avLst/>
                  </a:prstGeom>
                </p:spPr>
              </p:pic>
            </p:oleObj>
          </a:graphicData>
        </a:graphic>
      </p:graphicFrame>
      <p:sp>
        <p:nvSpPr>
          <p:cNvPr id="811185368" name="矩形 1"/>
          <p:cNvSpPr/>
          <p:nvPr/>
        </p:nvSpPr>
        <p:spPr bwMode="auto">
          <a:xfrm>
            <a:off x="2565197" y="5666130"/>
            <a:ext cx="8414918" cy="932628"/>
          </a:xfrm>
          <a:prstGeom prst="rect">
            <a:avLst/>
          </a:prstGeom>
        </p:spPr>
        <p:txBody>
          <a:bodyPr wrap="square">
            <a:spAutoFit/>
          </a:bodyPr>
          <a:lstStyle/>
          <a:p>
            <a:pPr>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sSup>
                        <m:sSupPr>
                          <m:ctrlPr>
                            <a:rPr lang="en-US" sz="2000" i="1">
                              <a:latin typeface="Cambria Math"/>
                              <a:ea typeface="Cambria Math"/>
                              <a:cs typeface="Cambria Math"/>
                            </a:rPr>
                          </m:ctrlPr>
                        </m:sSupPr>
                        <m:e>
                          <m:r>
                            <m:rPr/>
                            <a:rPr lang="en-US" sz="2000" i="1">
                              <a:latin typeface="Cambria Math"/>
                            </a:rPr>
                            <m:t>𝑠</m:t>
                          </m:r>
                        </m:e>
                        <m:sup>
                          <m:r>
                            <m:rPr/>
                            <a:rPr lang="en-US" sz="2000" i="1">
                              <a:latin typeface="Cambria Math"/>
                            </a:rPr>
                            <m:t>2</m:t>
                          </m:r>
                        </m:sup>
                      </m:sSup>
                      <m:r>
                        <m:rPr/>
                        <a:rPr lang="en-US" sz="2000" i="1">
                          <a:latin typeface="Cambria Math"/>
                        </a:rPr>
                        <m:t>=</m:t>
                      </m:r>
                      <m:f>
                        <m:fPr>
                          <m:ctrlPr>
                            <a:rPr lang="en-US" sz="2000" i="1">
                              <a:latin typeface="Cambria Math"/>
                              <a:ea typeface="Cambria Math"/>
                              <a:cs typeface="Cambria Math"/>
                            </a:rPr>
                          </m:ctrlPr>
                        </m:fPr>
                        <m:num>
                          <m:r>
                            <m:rPr/>
                            <a:rPr lang="en-US" sz="2000" i="1">
                              <a:latin typeface="Cambria Math"/>
                            </a:rPr>
                            <m:t>1</m:t>
                          </m:r>
                        </m:num>
                        <m:den>
                          <m:r>
                            <m:rPr/>
                            <a:rPr lang="en-US" sz="2000" i="1">
                              <a:latin typeface="Cambria Math"/>
                            </a:rPr>
                            <m:t>𝑛</m:t>
                          </m:r>
                        </m:den>
                      </m:f>
                      <m:nary>
                        <m:naryPr>
                          <m:chr m:val="∑"/>
                          <m:grow m:val="off"/>
                          <m:ctrlPr>
                            <a:rPr lang="en-US" sz="2000" i="1">
                              <a:latin typeface="Cambria Math"/>
                              <a:ea typeface="Cambria Math"/>
                              <a:cs typeface="Cambria Math"/>
                            </a:rPr>
                          </m:ctrlPr>
                        </m:naryPr>
                        <m:sub>
                          <m:r>
                            <m:rPr>
                              <m:brk m:alnAt="23"/>
                            </m:rPr>
                            <a:rPr lang="en-US" sz="2000" i="1">
                              <a:latin typeface="Cambria Math"/>
                            </a:rPr>
                            <m:t>𝑖</m:t>
                          </m:r>
                        </m:sub>
                        <m:sup>
                          <m:r>
                            <m:rPr/>
                            <a:rPr lang="en-US" sz="2000" i="1">
                              <a:latin typeface="Cambria Math"/>
                            </a:rPr>
                            <m:t>𝑛</m:t>
                          </m:r>
                        </m:sup>
                        <m:e>
                          <m:sSup>
                            <m:sSupPr>
                              <m:ctrlPr>
                                <a:rPr lang="en-US" sz="2000" i="1">
                                  <a:latin typeface="Cambria Math"/>
                                  <a:ea typeface="Cambria Math"/>
                                  <a:cs typeface="Cambria Math"/>
                                </a:rPr>
                              </m:ctrlPr>
                            </m:sSupPr>
                            <m:e>
                              <m:d>
                                <m:dPr>
                                  <m:ctrlPr>
                                    <a:rPr lang="en-US" sz="2000" i="1">
                                      <a:latin typeface="Cambria Math"/>
                                      <a:ea typeface="Cambria Math"/>
                                      <a:cs typeface="Cambria Math"/>
                                    </a:rPr>
                                  </m:ctrlPr>
                                </m:dPr>
                                <m:e>
                                  <m:sSub>
                                    <m:sSubPr>
                                      <m:ctrlPr>
                                        <a:rPr lang="en-US" sz="2000" i="1">
                                          <a:latin typeface="Cambria Math"/>
                                          <a:ea typeface="Cambria Math"/>
                                          <a:cs typeface="Cambria Math"/>
                                        </a:rPr>
                                      </m:ctrlPr>
                                    </m:sSubPr>
                                    <m:e>
                                      <m:r>
                                        <m:rPr/>
                                        <a:rPr lang="en-US" sz="2000" i="1">
                                          <a:latin typeface="Cambria Math"/>
                                        </a:rPr>
                                        <m:t>𝑥</m:t>
                                      </m:r>
                                    </m:e>
                                    <m:sub>
                                      <m:r>
                                        <m:rPr/>
                                        <a:rPr lang="en-US" sz="2000" i="1">
                                          <a:latin typeface="Cambria Math"/>
                                        </a:rPr>
                                        <m:t>𝑖</m:t>
                                      </m:r>
                                    </m:sub>
                                  </m:sSub>
                                  <m:r>
                                    <m:rPr/>
                                    <a:rPr lang="en-US" sz="2000" i="1">
                                      <a:latin typeface="Cambria Math"/>
                                    </a:rPr>
                                    <m:t>−</m:t>
                                  </m:r>
                                  <m:acc>
                                    <m:accPr>
                                      <m:chr m:val="̂"/>
                                      <m:ctrlPr>
                                        <a:rPr lang="en-US" sz="2000" i="1">
                                          <a:latin typeface="Cambria Math"/>
                                          <a:ea typeface="Cambria Math"/>
                                          <a:cs typeface="Cambria Math"/>
                                        </a:rPr>
                                      </m:ctrlPr>
                                    </m:accPr>
                                    <m:e>
                                      <m:r>
                                        <m:rPr/>
                                        <a:rPr lang="en-US" sz="2000" i="1">
                                          <a:latin typeface="Cambria Math"/>
                                        </a:rPr>
                                        <m:t>𝜇</m:t>
                                      </m:r>
                                    </m:e>
                                  </m:acc>
                                </m:e>
                              </m:d>
                            </m:e>
                            <m:sup>
                              <m:r>
                                <m:rPr/>
                                <a:rPr lang="en-US" sz="2000" i="1">
                                  <a:latin typeface="Cambria Math"/>
                                </a:rPr>
                                <m:t>2</m:t>
                              </m:r>
                            </m:sup>
                          </m:sSup>
                        </m:e>
                      </m:nary>
                      <m:r>
                        <m:rPr/>
                        <a:rPr lang="en-US" sz="2000" i="1">
                          <a:latin typeface="Cambria Math"/>
                        </a:rPr>
                        <m:t>                           </m:t>
                      </m:r>
                      <m:sSup>
                        <m:sSupPr>
                          <m:ctrlPr>
                            <a:rPr lang="en-US" sz="2000" i="1">
                              <a:latin typeface="Cambria Math"/>
                              <a:ea typeface="Cambria Math"/>
                              <a:cs typeface="Cambria Math"/>
                            </a:rPr>
                          </m:ctrlPr>
                        </m:sSupPr>
                        <m:e>
                          <m:r>
                            <m:rPr/>
                            <a:rPr lang="en-US" sz="2000" i="1">
                              <a:latin typeface="Cambria Math"/>
                            </a:rPr>
                            <m:t>𝑠</m:t>
                          </m:r>
                        </m:e>
                        <m:sup>
                          <m:r>
                            <m:rPr/>
                            <a:rPr lang="en-US" sz="2000" i="1">
                              <a:latin typeface="Cambria Math"/>
                            </a:rPr>
                            <m:t>2</m:t>
                          </m:r>
                        </m:sup>
                      </m:sSup>
                      <m:r>
                        <m:rPr/>
                        <a:rPr lang="en-US" sz="2000" i="1">
                          <a:latin typeface="Cambria Math"/>
                        </a:rPr>
                        <m:t>=</m:t>
                      </m:r>
                      <m:f>
                        <m:fPr>
                          <m:ctrlPr>
                            <a:rPr lang="en-US" sz="2000" i="1">
                              <a:latin typeface="Cambria Math"/>
                              <a:ea typeface="Cambria Math"/>
                              <a:cs typeface="Cambria Math"/>
                            </a:rPr>
                          </m:ctrlPr>
                        </m:fPr>
                        <m:num>
                          <m:r>
                            <m:rPr/>
                            <a:rPr lang="en-US" sz="2000" i="1">
                              <a:latin typeface="Cambria Math"/>
                            </a:rPr>
                            <m:t>1</m:t>
                          </m:r>
                        </m:num>
                        <m:den>
                          <m:r>
                            <m:rPr/>
                            <a:rPr lang="en-US" sz="2000" i="1">
                              <a:latin typeface="Cambria Math"/>
                            </a:rPr>
                            <m:t>𝑛</m:t>
                          </m:r>
                          <m:r>
                            <m:rPr/>
                            <a:rPr lang="en-US" sz="2000" i="1">
                              <a:latin typeface="Cambria Math"/>
                            </a:rPr>
                            <m:t>−1</m:t>
                          </m:r>
                        </m:den>
                      </m:f>
                      <m:nary>
                        <m:naryPr>
                          <m:chr m:val="∑"/>
                          <m:grow m:val="off"/>
                          <m:ctrlPr>
                            <a:rPr lang="en-US" sz="2000" i="1">
                              <a:latin typeface="Cambria Math"/>
                              <a:ea typeface="Cambria Math"/>
                              <a:cs typeface="Cambria Math"/>
                            </a:rPr>
                          </m:ctrlPr>
                        </m:naryPr>
                        <m:sub>
                          <m:r>
                            <m:rPr>
                              <m:brk m:alnAt="23"/>
                            </m:rPr>
                            <a:rPr lang="en-US" sz="2000" i="1">
                              <a:latin typeface="Cambria Math"/>
                            </a:rPr>
                            <m:t>𝑖</m:t>
                          </m:r>
                        </m:sub>
                        <m:sup>
                          <m:r>
                            <m:rPr/>
                            <a:rPr lang="en-US" sz="2000" i="1">
                              <a:latin typeface="Cambria Math"/>
                            </a:rPr>
                            <m:t>𝑛</m:t>
                          </m:r>
                        </m:sup>
                        <m:e>
                          <m:sSup>
                            <m:sSupPr>
                              <m:ctrlPr>
                                <a:rPr lang="en-US" sz="2000" i="1">
                                  <a:latin typeface="Cambria Math"/>
                                  <a:ea typeface="Cambria Math"/>
                                  <a:cs typeface="Cambria Math"/>
                                </a:rPr>
                              </m:ctrlPr>
                            </m:sSupPr>
                            <m:e>
                              <m:d>
                                <m:dPr>
                                  <m:ctrlPr>
                                    <a:rPr lang="en-US" sz="2000" i="1">
                                      <a:latin typeface="Cambria Math"/>
                                      <a:ea typeface="Cambria Math"/>
                                      <a:cs typeface="Cambria Math"/>
                                    </a:rPr>
                                  </m:ctrlPr>
                                </m:dPr>
                                <m:e>
                                  <m:sSub>
                                    <m:sSubPr>
                                      <m:ctrlPr>
                                        <a:rPr lang="en-US" sz="2000" i="1">
                                          <a:latin typeface="Cambria Math"/>
                                          <a:ea typeface="Cambria Math"/>
                                          <a:cs typeface="Cambria Math"/>
                                        </a:rPr>
                                      </m:ctrlPr>
                                    </m:sSubPr>
                                    <m:e>
                                      <m:r>
                                        <m:rPr/>
                                        <a:rPr lang="en-US" sz="2000" i="1">
                                          <a:latin typeface="Cambria Math"/>
                                        </a:rPr>
                                        <m:t>𝑥</m:t>
                                      </m:r>
                                    </m:e>
                                    <m:sub>
                                      <m:r>
                                        <m:rPr/>
                                        <a:rPr lang="en-US" sz="2000" i="1">
                                          <a:latin typeface="Cambria Math"/>
                                        </a:rPr>
                                        <m:t>𝑖</m:t>
                                      </m:r>
                                    </m:sub>
                                  </m:sSub>
                                  <m:r>
                                    <m:rPr/>
                                    <a:rPr lang="en-US" sz="2000" i="1">
                                      <a:latin typeface="Cambria Math"/>
                                    </a:rPr>
                                    <m:t>−</m:t>
                                  </m:r>
                                  <m:acc>
                                    <m:accPr>
                                      <m:chr m:val="̂"/>
                                      <m:ctrlPr>
                                        <a:rPr lang="en-US" sz="2000" i="1">
                                          <a:latin typeface="Cambria Math"/>
                                          <a:ea typeface="Cambria Math"/>
                                          <a:cs typeface="Cambria Math"/>
                                        </a:rPr>
                                      </m:ctrlPr>
                                    </m:accPr>
                                    <m:e>
                                      <m:r>
                                        <m:rPr/>
                                        <a:rPr lang="en-US" sz="2000" i="1">
                                          <a:latin typeface="Cambria Math"/>
                                        </a:rPr>
                                        <m:t>𝜇</m:t>
                                      </m:r>
                                    </m:e>
                                  </m:acc>
                                </m:e>
                              </m:d>
                            </m:e>
                            <m:sup>
                              <m:r>
                                <m:rPr/>
                                <a:rPr lang="en-US" sz="2000" i="1">
                                  <a:latin typeface="Cambria Math"/>
                                </a:rPr>
                                <m:t>2</m:t>
                              </m:r>
                            </m:sup>
                          </m:sSup>
                        </m:e>
                      </m:nary>
                    </m:oMath>
                  </m:oMathPara>
                </a14:m>
              </mc:Choice>
              <mc:Fallback/>
            </mc:AlternateContent>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370516" name="Rectangle 2"/>
          <p:cNvSpPr>
            <a:spLocks noChangeArrowheads="1" noGrp="1"/>
          </p:cNvSpPr>
          <p:nvPr>
            <p:ph type="title"/>
          </p:nvPr>
        </p:nvSpPr>
        <p:spPr bwMode="auto">
          <a:xfrm>
            <a:off x="711200" y="228600"/>
            <a:ext cx="10668000" cy="762000"/>
          </a:xfrm>
        </p:spPr>
        <p:txBody>
          <a:bodyPr anchor="t">
            <a:normAutofit/>
          </a:bodyPr>
          <a:lstStyle/>
          <a:p>
            <a:pPr>
              <a:defRPr/>
            </a:pPr>
            <a:r>
              <a:rPr lang="en-US"/>
              <a:t>Hiệp phương sai của hai biến </a:t>
            </a:r>
            <a:endParaRPr/>
          </a:p>
        </p:txBody>
      </p:sp>
      <p:sp>
        <p:nvSpPr>
          <p:cNvPr id="1496166469" name="Rectangle 3"/>
          <p:cNvSpPr>
            <a:spLocks noChangeArrowheads="1" noGrp="1"/>
          </p:cNvSpPr>
          <p:nvPr>
            <p:ph type="body" idx="1"/>
          </p:nvPr>
        </p:nvSpPr>
        <p:spPr bwMode="auto">
          <a:xfrm>
            <a:off x="552262" y="1151932"/>
            <a:ext cx="11184626" cy="5450312"/>
          </a:xfrm>
        </p:spPr>
        <p:txBody>
          <a:bodyPr/>
          <a:lstStyle/>
          <a:p>
            <a:pPr>
              <a:lnSpc>
                <a:spcPct val="110000"/>
              </a:lnSpc>
              <a:defRPr/>
            </a:pPr>
            <a:r>
              <a:rPr lang="en-US" sz="2400">
                <a:latin typeface="Calibri"/>
              </a:rPr>
              <a:t>Covariance between two variables </a:t>
            </a:r>
            <a:r>
              <a:rPr lang="en-US" sz="2400" i="1">
                <a:latin typeface="Calibri"/>
              </a:rPr>
              <a:t>X</a:t>
            </a:r>
            <a:r>
              <a:rPr lang="en-US" sz="2400" baseline="-25000">
                <a:latin typeface="Calibri"/>
              </a:rPr>
              <a:t>1</a:t>
            </a:r>
            <a:r>
              <a:rPr lang="en-US" sz="2400">
                <a:latin typeface="Calibri"/>
              </a:rPr>
              <a:t> and </a:t>
            </a:r>
            <a:r>
              <a:rPr lang="en-US" sz="2400" i="1">
                <a:latin typeface="Calibri"/>
              </a:rPr>
              <a:t>X</a:t>
            </a:r>
            <a:r>
              <a:rPr lang="en-US" sz="2400" baseline="-25000">
                <a:latin typeface="Calibri"/>
              </a:rPr>
              <a:t>2</a:t>
            </a:r>
            <a:r>
              <a:rPr lang="en-US" sz="2400">
                <a:latin typeface="Calibri"/>
              </a:rPr>
              <a:t> </a:t>
            </a:r>
            <a:endParaRPr/>
          </a:p>
          <a:p>
            <a:pPr marL="0" indent="0">
              <a:lnSpc>
                <a:spcPct val="110000"/>
              </a:lnSpc>
              <a:buNone/>
              <a:defRPr/>
            </a:pPr>
            <a:endParaRPr lang="en-US" sz="2400">
              <a:latin typeface="Calibri"/>
            </a:endParaRPr>
          </a:p>
          <a:p>
            <a:pPr lvl="2">
              <a:lnSpc>
                <a:spcPct val="110000"/>
              </a:lnSpc>
              <a:buNone/>
              <a:defRPr/>
            </a:pPr>
            <a:r>
              <a:rPr lang="en-US" sz="2400">
                <a:latin typeface="Calibri"/>
              </a:rPr>
              <a:t>where µ</a:t>
            </a:r>
            <a:r>
              <a:rPr lang="en-US" sz="2400" baseline="-25000">
                <a:latin typeface="Calibri"/>
              </a:rPr>
              <a:t>1</a:t>
            </a:r>
            <a:r>
              <a:rPr lang="en-US" sz="2400">
                <a:latin typeface="Calibri"/>
              </a:rPr>
              <a:t> = E[</a:t>
            </a:r>
            <a:r>
              <a:rPr lang="en-US" sz="2400" i="1">
                <a:latin typeface="Calibri"/>
              </a:rPr>
              <a:t>X</a:t>
            </a:r>
            <a:r>
              <a:rPr lang="en-US" sz="2400" baseline="-25000">
                <a:latin typeface="Calibri"/>
              </a:rPr>
              <a:t>1</a:t>
            </a:r>
            <a:r>
              <a:rPr lang="en-US" sz="2400">
                <a:latin typeface="Calibri"/>
              </a:rPr>
              <a:t>] is the respective mean or </a:t>
            </a:r>
            <a:r>
              <a:rPr lang="en-US" sz="2400" b="1">
                <a:latin typeface="Calibri"/>
              </a:rPr>
              <a:t>expected value</a:t>
            </a:r>
            <a:r>
              <a:rPr lang="en-US" sz="2400">
                <a:latin typeface="Calibri"/>
              </a:rPr>
              <a:t> of </a:t>
            </a:r>
            <a:r>
              <a:rPr lang="en-US" sz="2400" i="1">
                <a:latin typeface="Calibri"/>
              </a:rPr>
              <a:t>X</a:t>
            </a:r>
            <a:r>
              <a:rPr lang="en-US" sz="2400" baseline="-25000">
                <a:latin typeface="Calibri"/>
              </a:rPr>
              <a:t>1</a:t>
            </a:r>
            <a:r>
              <a:rPr lang="en-US" sz="2400">
                <a:latin typeface="Calibri"/>
              </a:rPr>
              <a:t>; similarly for µ</a:t>
            </a:r>
            <a:r>
              <a:rPr lang="en-US" sz="2400" baseline="-25000">
                <a:latin typeface="Calibri"/>
              </a:rPr>
              <a:t>2</a:t>
            </a:r>
            <a:r>
              <a:rPr lang="en-US" sz="2400">
                <a:latin typeface="Calibri"/>
              </a:rPr>
              <a:t>  </a:t>
            </a:r>
            <a:endParaRPr/>
          </a:p>
          <a:p>
            <a:pPr>
              <a:lnSpc>
                <a:spcPct val="110000"/>
              </a:lnSpc>
              <a:defRPr/>
            </a:pPr>
            <a:r>
              <a:rPr lang="en-US" sz="2400">
                <a:latin typeface="Calibri"/>
              </a:rPr>
              <a:t>Sample covariance between X</a:t>
            </a:r>
            <a:r>
              <a:rPr lang="en-US" sz="2400" baseline="-25000">
                <a:latin typeface="Calibri"/>
              </a:rPr>
              <a:t>1</a:t>
            </a:r>
            <a:r>
              <a:rPr lang="en-US" sz="2400">
                <a:latin typeface="Calibri"/>
              </a:rPr>
              <a:t> and X</a:t>
            </a:r>
            <a:r>
              <a:rPr lang="en-US" sz="2400" baseline="-25000">
                <a:latin typeface="Calibri"/>
              </a:rPr>
              <a:t>2</a:t>
            </a:r>
            <a:r>
              <a:rPr lang="en-US" sz="2400">
                <a:latin typeface="Calibri"/>
              </a:rPr>
              <a:t>: </a:t>
            </a:r>
            <mc:AlternateContent xmlns:mc="http://schemas.openxmlformats.org/markup-compatibility/2006" xmlns:m="http://schemas.openxmlformats.org/officeDocument/2006/math">
              <mc:Choice xmlns:a14="http://schemas.microsoft.com/office/drawing/2010/main" Requires="a14">
                <a14:m>
                  <m:oMathPara>
                    <m:oMathParaPr/>
                    <m:oMath>
                      <m:sSub>
                        <m:sSubPr>
                          <m:ctrlPr>
                            <a:rPr lang="en-US" sz="2400" i="1">
                              <a:latin typeface="Cambria Math"/>
                              <a:ea typeface="Cambria Math"/>
                              <a:cs typeface="Cambria Math"/>
                            </a:rPr>
                          </m:ctrlPr>
                        </m:sSubPr>
                        <m:e>
                          <m:acc>
                            <m:accPr>
                              <m:chr m:val="̂"/>
                              <m:ctrlPr>
                                <a:rPr lang="en-US" sz="2400" i="1">
                                  <a:latin typeface="Cambria Math"/>
                                  <a:ea typeface="Cambria Math"/>
                                  <a:cs typeface="Cambria Math"/>
                                </a:rPr>
                              </m:ctrlPr>
                            </m:accPr>
                            <m:e>
                              <m:r>
                                <m:rPr/>
                                <a:rPr lang="en-US" sz="2400" i="1">
                                  <a:latin typeface="Cambria Math"/>
                                </a:rPr>
                                <m:t>𝜎</m:t>
                              </m:r>
                            </m:e>
                          </m:acc>
                        </m:e>
                        <m:sub>
                          <m:r>
                            <m:rPr/>
                            <a:rPr lang="en-US" sz="2400" i="1">
                              <a:latin typeface="Cambria Math"/>
                            </a:rPr>
                            <m:t>1</m:t>
                          </m:r>
                          <m:r>
                            <m:rPr/>
                            <a:rPr lang="en-US" sz="2400" b="0" i="1">
                              <a:latin typeface="Cambria Math"/>
                            </a:rPr>
                            <m:t>2</m:t>
                          </m:r>
                        </m:sub>
                      </m:sSub>
                      <m:r>
                        <m:rPr/>
                        <a:rPr lang="en-US" sz="2400" b="0" i="1">
                          <a:latin typeface="Cambria Math"/>
                        </a:rPr>
                        <m:t>=</m:t>
                      </m:r>
                      <m:f>
                        <m:fPr>
                          <m:ctrlPr>
                            <a:rPr lang="en-US" sz="2400" b="0" i="1">
                              <a:latin typeface="Cambria Math"/>
                              <a:ea typeface="Cambria Math"/>
                              <a:cs typeface="Cambria Math"/>
                            </a:rPr>
                          </m:ctrlPr>
                        </m:fPr>
                        <m:num>
                          <m:r>
                            <m:rPr/>
                            <a:rPr lang="en-US" sz="2400" b="0" i="1">
                              <a:latin typeface="Cambria Math"/>
                            </a:rPr>
                            <m:t>1</m:t>
                          </m:r>
                        </m:num>
                        <m:den>
                          <m:r>
                            <m:rPr/>
                            <a:rPr lang="en-US" sz="2400" b="0" i="1">
                              <a:latin typeface="Cambria Math"/>
                            </a:rPr>
                            <m:t>𝑛</m:t>
                          </m:r>
                        </m:den>
                      </m:f>
                      <m:nary>
                        <m:naryPr>
                          <m:chr m:val="∑"/>
                          <m:grow m:val="off"/>
                          <m:ctrlPr>
                            <a:rPr lang="en-US" sz="2400" b="0" i="1">
                              <a:latin typeface="Cambria Math"/>
                              <a:ea typeface="Cambria Math"/>
                              <a:cs typeface="Cambria Math"/>
                            </a:rPr>
                          </m:ctrlPr>
                        </m:naryPr>
                        <m:sub>
                          <m:r>
                            <m:rPr>
                              <m:brk m:alnAt="23"/>
                            </m:rPr>
                            <a:rPr lang="en-US" sz="2400" b="0" i="1">
                              <a:latin typeface="Cambria Math"/>
                            </a:rPr>
                            <m:t>𝑖</m:t>
                          </m:r>
                          <m:r>
                            <m:rPr/>
                            <a:rPr lang="en-US" sz="2400" b="0" i="1">
                              <a:latin typeface="Cambria Math"/>
                            </a:rPr>
                            <m:t>=1</m:t>
                          </m:r>
                        </m:sub>
                        <m:sup>
                          <m:r>
                            <m:rPr/>
                            <a:rPr lang="en-US" sz="2400" b="0" i="1">
                              <a:latin typeface="Cambria Math"/>
                            </a:rPr>
                            <m:t>𝑛</m:t>
                          </m:r>
                        </m:sup>
                        <m:e>
                          <m:d>
                            <m:dPr>
                              <m:ctrlPr>
                                <a:rPr lang="en-US" sz="2400" b="0" i="1">
                                  <a:latin typeface="Cambria Math"/>
                                  <a:ea typeface="Cambria Math"/>
                                  <a:cs typeface="Cambria Math"/>
                                </a:rPr>
                              </m:ctrlPr>
                            </m:dPr>
                            <m:e>
                              <m:sSub>
                                <m:sSubPr>
                                  <m:ctrlPr>
                                    <a:rPr lang="en-US" sz="2400" i="1">
                                      <a:latin typeface="Cambria Math"/>
                                      <a:ea typeface="Cambria Math"/>
                                      <a:cs typeface="Cambria Math"/>
                                    </a:rPr>
                                  </m:ctrlPr>
                                </m:sSubPr>
                                <m:e>
                                  <m:r>
                                    <m:rPr/>
                                    <a:rPr lang="en-US" sz="2400" i="1">
                                      <a:latin typeface="Cambria Math"/>
                                    </a:rPr>
                                    <m:t>𝑥</m:t>
                                  </m:r>
                                </m:e>
                                <m:sub>
                                  <m:r>
                                    <m:rPr/>
                                    <a:rPr lang="en-US" sz="2400" i="1">
                                      <a:latin typeface="Cambria Math"/>
                                    </a:rPr>
                                    <m:t>𝑖</m:t>
                                  </m:r>
                                  <m:r>
                                    <m:rPr/>
                                    <a:rPr lang="en-US" sz="2400" i="1">
                                      <a:latin typeface="Cambria Math"/>
                                    </a:rPr>
                                    <m:t>1</m:t>
                                  </m:r>
                                </m:sub>
                              </m:sSub>
                              <m:r>
                                <m:rPr/>
                                <a:rPr lang="en-US" sz="2400" i="1">
                                  <a:latin typeface="Cambria Math"/>
                                </a:rPr>
                                <m:t>−</m:t>
                              </m:r>
                              <m:acc>
                                <m:accPr>
                                  <m:chr m:val="̂"/>
                                  <m:ctrlPr>
                                    <a:rPr lang="en-US" sz="2400" i="1">
                                      <a:latin typeface="Cambria Math"/>
                                      <a:ea typeface="Cambria Math"/>
                                      <a:cs typeface="Cambria Math"/>
                                    </a:rPr>
                                  </m:ctrlPr>
                                </m:accPr>
                                <m:e>
                                  <m:sSub>
                                    <m:sSubPr>
                                      <m:ctrlPr>
                                        <a:rPr lang="en-US" sz="2400" i="1">
                                          <a:latin typeface="Cambria Math"/>
                                          <a:ea typeface="Cambria Math"/>
                                          <a:cs typeface="Cambria Math"/>
                                        </a:rPr>
                                      </m:ctrlPr>
                                    </m:sSubPr>
                                    <m:e>
                                      <m:r>
                                        <m:rPr/>
                                        <a:rPr lang="en-US" sz="2400" i="1">
                                          <a:latin typeface="Cambria Math"/>
                                        </a:rPr>
                                        <m:t>𝜇</m:t>
                                      </m:r>
                                    </m:e>
                                    <m:sub>
                                      <m:r>
                                        <m:rPr/>
                                        <a:rPr lang="en-US" sz="2400" i="1">
                                          <a:latin typeface="Cambria Math"/>
                                        </a:rPr>
                                        <m:t>1</m:t>
                                      </m:r>
                                    </m:sub>
                                  </m:sSub>
                                </m:e>
                              </m:acc>
                            </m:e>
                          </m:d>
                          <m:d>
                            <m:dPr>
                              <m:ctrlPr>
                                <a:rPr lang="en-US" sz="2400" b="0" i="1">
                                  <a:latin typeface="Cambria Math"/>
                                  <a:ea typeface="Cambria Math"/>
                                  <a:cs typeface="Cambria Math"/>
                                </a:rPr>
                              </m:ctrlPr>
                            </m:dPr>
                            <m:e>
                              <m:sSub>
                                <m:sSubPr>
                                  <m:ctrlPr>
                                    <a:rPr lang="en-US" sz="2400" i="1">
                                      <a:latin typeface="Cambria Math"/>
                                      <a:ea typeface="Cambria Math"/>
                                      <a:cs typeface="Cambria Math"/>
                                    </a:rPr>
                                  </m:ctrlPr>
                                </m:sSubPr>
                                <m:e>
                                  <m:r>
                                    <m:rPr/>
                                    <a:rPr lang="en-US" sz="2400" i="1">
                                      <a:latin typeface="Cambria Math"/>
                                    </a:rPr>
                                    <m:t>𝑥</m:t>
                                  </m:r>
                                </m:e>
                                <m:sub>
                                  <m:r>
                                    <m:rPr/>
                                    <a:rPr lang="en-US" sz="2400" i="1">
                                      <a:latin typeface="Cambria Math"/>
                                    </a:rPr>
                                    <m:t>𝑖</m:t>
                                  </m:r>
                                  <m:r>
                                    <m:rPr/>
                                    <a:rPr lang="en-US" sz="2400" b="0" i="1">
                                      <a:latin typeface="Cambria Math"/>
                                    </a:rPr>
                                    <m:t>2</m:t>
                                  </m:r>
                                </m:sub>
                              </m:sSub>
                              <m:r>
                                <m:rPr/>
                                <a:rPr lang="en-US" sz="2400" i="1">
                                  <a:latin typeface="Cambria Math"/>
                                </a:rPr>
                                <m:t>−</m:t>
                              </m:r>
                              <m:acc>
                                <m:accPr>
                                  <m:chr m:val="̂"/>
                                  <m:ctrlPr>
                                    <a:rPr lang="en-US" sz="2400" i="1">
                                      <a:latin typeface="Cambria Math"/>
                                      <a:ea typeface="Cambria Math"/>
                                      <a:cs typeface="Cambria Math"/>
                                    </a:rPr>
                                  </m:ctrlPr>
                                </m:accPr>
                                <m:e>
                                  <m:sSub>
                                    <m:sSubPr>
                                      <m:ctrlPr>
                                        <a:rPr lang="en-US" sz="2400" i="1">
                                          <a:latin typeface="Cambria Math"/>
                                          <a:ea typeface="Cambria Math"/>
                                          <a:cs typeface="Cambria Math"/>
                                        </a:rPr>
                                      </m:ctrlPr>
                                    </m:sSubPr>
                                    <m:e>
                                      <m:r>
                                        <m:rPr/>
                                        <a:rPr lang="en-US" sz="2400" i="1">
                                          <a:latin typeface="Cambria Math"/>
                                        </a:rPr>
                                        <m:t>𝜇</m:t>
                                      </m:r>
                                    </m:e>
                                    <m:sub>
                                      <m:r>
                                        <m:rPr/>
                                        <a:rPr lang="en-US" sz="2400" b="0" i="1">
                                          <a:latin typeface="Cambria Math"/>
                                        </a:rPr>
                                        <m:t>2</m:t>
                                      </m:r>
                                    </m:sub>
                                  </m:sSub>
                                </m:e>
                              </m:acc>
                            </m:e>
                          </m:d>
                        </m:e>
                      </m:nary>
                      <m:r>
                        <m:rPr/>
                        <a:rPr lang="en-US" sz="2400" b="0" i="1">
                          <a:latin typeface="Cambria Math"/>
                        </a:rPr>
                        <m:t>  </m:t>
                      </m:r>
                    </m:oMath>
                  </m:oMathPara>
                </a14:m>
              </mc:Choice>
              <mc:Fallback/>
            </mc:AlternateContent>
            <a:endParaRPr lang="en-US" sz="2400">
              <a:latin typeface="Calibri"/>
            </a:endParaRPr>
          </a:p>
          <a:p>
            <a:pPr>
              <a:lnSpc>
                <a:spcPct val="110000"/>
              </a:lnSpc>
              <a:defRPr/>
            </a:pPr>
            <a:r>
              <a:rPr lang="en-US" sz="2400">
                <a:latin typeface="Calibri"/>
              </a:rPr>
              <a:t>Sample covariance is a generalization of the sample variance:</a:t>
            </a:r>
            <a:br>
              <a:rPr lang="en-US" sz="2400" i="1">
                <a:latin typeface="Cambria Math"/>
              </a:rPr>
            </a:br>
            <mc:AlternateContent xmlns:mc="http://schemas.openxmlformats.org/markup-compatibility/2006" xmlns:m="http://schemas.openxmlformats.org/officeDocument/2006/math">
              <mc:Choice xmlns:a14="http://schemas.microsoft.com/office/drawing/2010/main" Requires="a14">
                <a14:m>
                  <m:oMathPara>
                    <m:oMathParaPr/>
                    <m:oMath>
                      <m:sSub>
                        <m:sSubPr>
                          <m:ctrlPr>
                            <a:rPr lang="en-US" sz="2400" b="0" i="1">
                              <a:latin typeface="Cambria Math"/>
                              <a:ea typeface="Cambria Math"/>
                              <a:cs typeface="Cambria Math"/>
                            </a:rPr>
                          </m:ctrlPr>
                        </m:sSubPr>
                        <m:e>
                          <m:acc>
                            <m:accPr>
                              <m:chr m:val="̂"/>
                              <m:ctrlPr>
                                <a:rPr lang="en-US" sz="2400" i="1">
                                  <a:latin typeface="Cambria Math"/>
                                  <a:ea typeface="Cambria Math"/>
                                  <a:cs typeface="Cambria Math"/>
                                </a:rPr>
                              </m:ctrlPr>
                            </m:accPr>
                            <m:e>
                              <m:r>
                                <m:rPr/>
                                <a:rPr lang="en-US" sz="2400" b="0" i="1">
                                  <a:latin typeface="Cambria Math"/>
                                </a:rPr>
                                <m:t>𝜎</m:t>
                              </m:r>
                            </m:e>
                          </m:acc>
                        </m:e>
                        <m:sub>
                          <m:r>
                            <m:rPr/>
                            <a:rPr lang="en-US" sz="2400" b="0" i="1">
                              <a:latin typeface="Cambria Math"/>
                            </a:rPr>
                            <m:t>11</m:t>
                          </m:r>
                        </m:sub>
                      </m:sSub>
                      <m:r>
                        <m:rPr/>
                        <a:rPr lang="en-US" sz="2400" i="1">
                          <a:latin typeface="Cambria Math"/>
                        </a:rPr>
                        <m:t>=</m:t>
                      </m:r>
                      <m:f>
                        <m:fPr>
                          <m:ctrlPr>
                            <a:rPr lang="en-US" sz="2400" i="1">
                              <a:latin typeface="Cambria Math"/>
                              <a:ea typeface="Cambria Math"/>
                              <a:cs typeface="Cambria Math"/>
                            </a:rPr>
                          </m:ctrlPr>
                        </m:fPr>
                        <m:num>
                          <m:r>
                            <m:rPr/>
                            <a:rPr lang="en-US" sz="2400" i="1">
                              <a:latin typeface="Cambria Math"/>
                            </a:rPr>
                            <m:t>1</m:t>
                          </m:r>
                        </m:num>
                        <m:den>
                          <m:r>
                            <m:rPr/>
                            <a:rPr lang="en-US" sz="2400" i="1">
                              <a:latin typeface="Cambria Math"/>
                            </a:rPr>
                            <m:t>𝑛</m:t>
                          </m:r>
                        </m:den>
                      </m:f>
                      <m:nary>
                        <m:naryPr>
                          <m:chr m:val="∑"/>
                          <m:grow m:val="off"/>
                          <m:ctrlPr>
                            <a:rPr lang="en-US" sz="2400" i="1">
                              <a:latin typeface="Cambria Math"/>
                              <a:ea typeface="Cambria Math"/>
                              <a:cs typeface="Cambria Math"/>
                            </a:rPr>
                          </m:ctrlPr>
                        </m:naryPr>
                        <m:sub>
                          <m:r>
                            <m:rPr>
                              <m:brk m:alnAt="23"/>
                            </m:rPr>
                            <a:rPr lang="en-US" sz="2400" i="1">
                              <a:latin typeface="Cambria Math"/>
                            </a:rPr>
                            <m:t>𝑖</m:t>
                          </m:r>
                          <m:r>
                            <m:rPr/>
                            <a:rPr lang="en-US" sz="2400" i="1">
                              <a:latin typeface="Cambria Math"/>
                            </a:rPr>
                            <m:t>=1</m:t>
                          </m:r>
                        </m:sub>
                        <m:sup>
                          <m:r>
                            <m:rPr/>
                            <a:rPr lang="en-US" sz="2400" i="1">
                              <a:latin typeface="Cambria Math"/>
                            </a:rPr>
                            <m:t>𝑛</m:t>
                          </m:r>
                        </m:sup>
                        <m:e>
                          <m:d>
                            <m:dPr>
                              <m:ctrlPr>
                                <a:rPr lang="en-US" sz="2400" i="1">
                                  <a:latin typeface="Cambria Math"/>
                                  <a:ea typeface="Cambria Math"/>
                                  <a:cs typeface="Cambria Math"/>
                                </a:rPr>
                              </m:ctrlPr>
                            </m:dPr>
                            <m:e>
                              <m:sSub>
                                <m:sSubPr>
                                  <m:ctrlPr>
                                    <a:rPr lang="en-US" sz="2400" i="1">
                                      <a:latin typeface="Cambria Math"/>
                                      <a:ea typeface="Cambria Math"/>
                                      <a:cs typeface="Cambria Math"/>
                                    </a:rPr>
                                  </m:ctrlPr>
                                </m:sSubPr>
                                <m:e>
                                  <m:r>
                                    <m:rPr/>
                                    <a:rPr lang="en-US" sz="2400" i="1">
                                      <a:latin typeface="Cambria Math"/>
                                    </a:rPr>
                                    <m:t>𝑥</m:t>
                                  </m:r>
                                </m:e>
                                <m:sub>
                                  <m:r>
                                    <m:rPr/>
                                    <a:rPr lang="en-US" sz="2400" i="1">
                                      <a:latin typeface="Cambria Math"/>
                                    </a:rPr>
                                    <m:t>𝑖</m:t>
                                  </m:r>
                                  <m:r>
                                    <m:rPr/>
                                    <a:rPr lang="en-US" sz="2400" i="1">
                                      <a:latin typeface="Cambria Math"/>
                                    </a:rPr>
                                    <m:t>1</m:t>
                                  </m:r>
                                </m:sub>
                              </m:sSub>
                              <m:r>
                                <m:rPr/>
                                <a:rPr lang="en-US" sz="2400" i="1">
                                  <a:latin typeface="Cambria Math"/>
                                </a:rPr>
                                <m:t>−</m:t>
                              </m:r>
                              <m:acc>
                                <m:accPr>
                                  <m:chr m:val="̂"/>
                                  <m:ctrlPr>
                                    <a:rPr lang="en-US" sz="2400" i="1">
                                      <a:latin typeface="Cambria Math"/>
                                      <a:ea typeface="Cambria Math"/>
                                      <a:cs typeface="Cambria Math"/>
                                    </a:rPr>
                                  </m:ctrlPr>
                                </m:accPr>
                                <m:e>
                                  <m:sSub>
                                    <m:sSubPr>
                                      <m:ctrlPr>
                                        <a:rPr lang="en-US" sz="2400" i="1">
                                          <a:latin typeface="Cambria Math"/>
                                          <a:ea typeface="Cambria Math"/>
                                          <a:cs typeface="Cambria Math"/>
                                        </a:rPr>
                                      </m:ctrlPr>
                                    </m:sSubPr>
                                    <m:e>
                                      <m:r>
                                        <m:rPr/>
                                        <a:rPr lang="en-US" sz="2400" i="1">
                                          <a:latin typeface="Cambria Math"/>
                                        </a:rPr>
                                        <m:t>𝜇</m:t>
                                      </m:r>
                                    </m:e>
                                    <m:sub>
                                      <m:r>
                                        <m:rPr/>
                                        <a:rPr lang="en-US" sz="2400" i="1">
                                          <a:latin typeface="Cambria Math"/>
                                        </a:rPr>
                                        <m:t>1</m:t>
                                      </m:r>
                                    </m:sub>
                                  </m:sSub>
                                </m:e>
                              </m:acc>
                            </m:e>
                          </m:d>
                          <m:d>
                            <m:dPr>
                              <m:ctrlPr>
                                <a:rPr lang="en-US" sz="2400" i="1">
                                  <a:latin typeface="Cambria Math"/>
                                  <a:ea typeface="Cambria Math"/>
                                  <a:cs typeface="Cambria Math"/>
                                </a:rPr>
                              </m:ctrlPr>
                            </m:dPr>
                            <m:e>
                              <m:sSub>
                                <m:sSubPr>
                                  <m:ctrlPr>
                                    <a:rPr lang="en-US" sz="2400" i="1">
                                      <a:latin typeface="Cambria Math"/>
                                      <a:ea typeface="Cambria Math"/>
                                      <a:cs typeface="Cambria Math"/>
                                    </a:rPr>
                                  </m:ctrlPr>
                                </m:sSubPr>
                                <m:e>
                                  <m:r>
                                    <m:rPr/>
                                    <a:rPr lang="en-US" sz="2400" i="1">
                                      <a:latin typeface="Cambria Math"/>
                                    </a:rPr>
                                    <m:t>𝑥</m:t>
                                  </m:r>
                                </m:e>
                                <m:sub>
                                  <m:r>
                                    <m:rPr/>
                                    <a:rPr lang="en-US" sz="2400" i="1">
                                      <a:latin typeface="Cambria Math"/>
                                    </a:rPr>
                                    <m:t>𝑖</m:t>
                                  </m:r>
                                  <m:r>
                                    <m:rPr/>
                                    <a:rPr lang="en-US" sz="2400" i="1">
                                      <a:latin typeface="Cambria Math"/>
                                    </a:rPr>
                                    <m:t>1</m:t>
                                  </m:r>
                                </m:sub>
                              </m:sSub>
                              <m:r>
                                <m:rPr/>
                                <a:rPr lang="en-US" sz="2400" i="1">
                                  <a:latin typeface="Cambria Math"/>
                                </a:rPr>
                                <m:t>−</m:t>
                              </m:r>
                              <m:acc>
                                <m:accPr>
                                  <m:chr m:val="̂"/>
                                  <m:ctrlPr>
                                    <a:rPr lang="en-US" sz="2400" i="1">
                                      <a:latin typeface="Cambria Math"/>
                                      <a:ea typeface="Cambria Math"/>
                                      <a:cs typeface="Cambria Math"/>
                                    </a:rPr>
                                  </m:ctrlPr>
                                </m:accPr>
                                <m:e>
                                  <m:sSub>
                                    <m:sSubPr>
                                      <m:ctrlPr>
                                        <a:rPr lang="en-US" sz="2400" i="1">
                                          <a:latin typeface="Cambria Math"/>
                                          <a:ea typeface="Cambria Math"/>
                                          <a:cs typeface="Cambria Math"/>
                                        </a:rPr>
                                      </m:ctrlPr>
                                    </m:sSubPr>
                                    <m:e>
                                      <m:r>
                                        <m:rPr/>
                                        <a:rPr lang="en-US" sz="2400" i="1">
                                          <a:latin typeface="Cambria Math"/>
                                        </a:rPr>
                                        <m:t>𝜇</m:t>
                                      </m:r>
                                    </m:e>
                                    <m:sub>
                                      <m:r>
                                        <m:rPr/>
                                        <a:rPr lang="en-US" sz="2400" i="1">
                                          <a:latin typeface="Cambria Math"/>
                                        </a:rPr>
                                        <m:t>1</m:t>
                                      </m:r>
                                    </m:sub>
                                  </m:sSub>
                                </m:e>
                              </m:acc>
                            </m:e>
                          </m:d>
                        </m:e>
                      </m:nary>
                    </m:oMath>
                  </m:oMathPara>
                </a14:m>
              </mc:Choice>
              <mc:Fallback/>
            </mc:AlternateContent>
            <a:endParaRPr lang="en-US" sz="2400" b="1">
              <a:latin typeface="Calibri"/>
            </a:endParaRPr>
          </a:p>
          <a:p>
            <a:pPr>
              <a:lnSpc>
                <a:spcPct val="110000"/>
              </a:lnSpc>
              <a:defRPr/>
            </a:pPr>
            <a:r>
              <a:rPr lang="en-US" sz="2400" b="1">
                <a:latin typeface="Calibri"/>
              </a:rPr>
              <a:t>Positive covariance:</a:t>
            </a:r>
            <a:r>
              <a:rPr lang="en-US" sz="2400">
                <a:latin typeface="Calibri"/>
              </a:rPr>
              <a:t> If </a:t>
            </a:r>
            <a:r>
              <a:rPr lang="el-GR" sz="2400">
                <a:latin typeface="Calibri"/>
              </a:rPr>
              <a:t>σ</a:t>
            </a:r>
            <a:r>
              <a:rPr lang="en-US" sz="2400" baseline="-25000">
                <a:latin typeface="Calibri"/>
              </a:rPr>
              <a:t>12 </a:t>
            </a:r>
            <a:r>
              <a:rPr lang="en-US" sz="2400">
                <a:latin typeface="Calibri"/>
              </a:rPr>
              <a:t>&gt; 0</a:t>
            </a:r>
            <a:endParaRPr/>
          </a:p>
          <a:p>
            <a:pPr>
              <a:lnSpc>
                <a:spcPct val="110000"/>
              </a:lnSpc>
              <a:defRPr/>
            </a:pPr>
            <a:r>
              <a:rPr lang="en-US" sz="2400" b="1">
                <a:latin typeface="Calibri"/>
              </a:rPr>
              <a:t>Negative covariance</a:t>
            </a:r>
            <a:r>
              <a:rPr lang="en-US" sz="2400">
                <a:latin typeface="Calibri"/>
              </a:rPr>
              <a:t>: If </a:t>
            </a:r>
            <a:r>
              <a:rPr lang="el-GR" sz="2400">
                <a:latin typeface="Calibri"/>
              </a:rPr>
              <a:t>σ</a:t>
            </a:r>
            <a:r>
              <a:rPr lang="en-US" sz="2400" baseline="-25000">
                <a:latin typeface="Calibri"/>
              </a:rPr>
              <a:t>12  </a:t>
            </a:r>
            <a:r>
              <a:rPr lang="en-US" sz="2400">
                <a:latin typeface="Calibri"/>
              </a:rPr>
              <a:t>&lt; 0 </a:t>
            </a:r>
            <a:endParaRPr/>
          </a:p>
        </p:txBody>
      </p:sp>
      <p:graphicFrame>
        <p:nvGraphicFramePr>
          <p:cNvPr id="1242887932" name="Object 9"/>
          <p:cNvGraphicFramePr>
            <a:graphicFrameLocks xmlns:a="http://schemas.openxmlformats.org/drawingml/2006/main" noChangeAspect="1"/>
          </p:cNvGraphicFramePr>
          <p:nvPr/>
        </p:nvGraphicFramePr>
        <p:xfrm>
          <a:off x="1878014" y="1637035"/>
          <a:ext cx="8116887" cy="422275"/>
        </p:xfrm>
        <a:graphic>
          <a:graphicData uri="http://schemas.openxmlformats.org/presentationml/2006/ole">
            <p:oleObj name="oleObj" r:id="rId4" imgW="4380865" imgH="228600" progId="Equation.DSMT4">
              <p:embed/>
              <p:pic>
                <p:nvPicPr>
                  <p:cNvPr id="1242887932" name="Object 9"/>
                  <p:cNvPicPr/>
                  <p:nvPr/>
                </p:nvPicPr>
                <p:blipFill rotWithShape="1">
                  <a:blip r:embed="rId3"/>
                  <a:stretch/>
                </p:blipFill>
                <p:spPr bwMode="auto">
                  <a:xfrm>
                    <a:off x="1878014" y="1637035"/>
                    <a:ext cx="8116887" cy="422275"/>
                  </a:xfrm>
                  <a:prstGeom prst="rect">
                    <a:avLst/>
                  </a:prstGeom>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83526286" name="标题 1"/>
          <p:cNvSpPr>
            <a:spLocks noGrp="1"/>
          </p:cNvSpPr>
          <p:nvPr>
            <p:ph type="title"/>
          </p:nvPr>
        </p:nvSpPr>
        <p:spPr bwMode="auto"/>
        <p:txBody>
          <a:bodyPr anchor="t"/>
          <a:lstStyle/>
          <a:p>
            <a:pPr>
              <a:defRPr/>
            </a:pPr>
            <a:r>
              <a:rPr lang="en-US"/>
              <a:t>Hiệp phương sai của hai biến </a:t>
            </a:r>
            <a:endParaRPr lang="en-US"/>
          </a:p>
        </p:txBody>
      </p:sp>
      <p:sp>
        <p:nvSpPr>
          <p:cNvPr id="1847985713" name="内容占位符 2"/>
          <p:cNvSpPr>
            <a:spLocks noGrp="1"/>
          </p:cNvSpPr>
          <p:nvPr>
            <p:ph idx="1"/>
          </p:nvPr>
        </p:nvSpPr>
        <p:spPr bwMode="auto"/>
        <p:txBody>
          <a:bodyPr/>
          <a:lstStyle/>
          <a:p>
            <a:pPr>
              <a:lnSpc>
                <a:spcPct val="80000"/>
              </a:lnSpc>
              <a:defRPr/>
            </a:pPr>
            <a:r>
              <a:rPr lang="en-US" sz="2400" b="1">
                <a:latin typeface="Calibri"/>
              </a:rPr>
              <a:t>Independence</a:t>
            </a:r>
            <a:r>
              <a:rPr lang="en-US" sz="2400">
                <a:latin typeface="Calibri"/>
              </a:rPr>
              <a:t>: If X</a:t>
            </a:r>
            <a:r>
              <a:rPr lang="en-US" sz="2400" baseline="-25000">
                <a:latin typeface="Calibri"/>
              </a:rPr>
              <a:t>1</a:t>
            </a:r>
            <a:r>
              <a:rPr lang="en-US" sz="2400">
                <a:latin typeface="Calibri"/>
              </a:rPr>
              <a:t> and X</a:t>
            </a:r>
            <a:r>
              <a:rPr lang="en-US" sz="2400" baseline="-25000">
                <a:latin typeface="Calibri"/>
              </a:rPr>
              <a:t>2 </a:t>
            </a:r>
            <a:r>
              <a:rPr lang="en-US" sz="2400">
                <a:latin typeface="Calibri"/>
              </a:rPr>
              <a:t>are</a:t>
            </a:r>
            <a:r>
              <a:rPr lang="en-US" sz="2400" baseline="-25000">
                <a:latin typeface="Calibri"/>
              </a:rPr>
              <a:t> </a:t>
            </a:r>
            <a:r>
              <a:rPr lang="en-US" sz="2400">
                <a:latin typeface="Calibri"/>
              </a:rPr>
              <a:t>independent, </a:t>
            </a:r>
            <a:r>
              <a:rPr lang="el-GR" sz="2400">
                <a:latin typeface="Calibri"/>
              </a:rPr>
              <a:t>σ</a:t>
            </a:r>
            <a:r>
              <a:rPr lang="en-US" sz="2400" baseline="-25000">
                <a:latin typeface="Calibri"/>
              </a:rPr>
              <a:t>12</a:t>
            </a:r>
            <a:r>
              <a:rPr lang="en-US" sz="2400">
                <a:latin typeface="Calibri"/>
              </a:rPr>
              <a:t> = 0 but the reverse is not true</a:t>
            </a:r>
            <a:endParaRPr/>
          </a:p>
          <a:p>
            <a:pPr lvl="1">
              <a:defRPr/>
            </a:pPr>
            <a:r>
              <a:rPr lang="en-US" sz="2400">
                <a:latin typeface="Calibri"/>
              </a:rPr>
              <a:t>Some pairs of random variables may have a covariance 0 but are not independent</a:t>
            </a:r>
            <a:endParaRPr/>
          </a:p>
          <a:p>
            <a:pPr lvl="1">
              <a:defRPr/>
            </a:pPr>
            <a:r>
              <a:rPr lang="en-US" sz="2400">
                <a:latin typeface="Calibri"/>
              </a:rPr>
              <a:t>Only under some additional assumptions (e.g., the data follow multivariate normal distributions) does a covariance of 0 imply independence</a:t>
            </a:r>
            <a:endParaRPr/>
          </a:p>
          <a:p>
            <a:pPr>
              <a:defRPr/>
            </a:pPr>
            <a:r>
              <a:rPr lang="en-US"/>
              <a:t>Example:</a:t>
            </a:r>
            <a:endParaRPr/>
          </a:p>
          <a:p>
            <a:pPr>
              <a:defRPr/>
            </a:pPr>
            <a:endParaRPr lang="en-US"/>
          </a:p>
          <a:p>
            <a:pPr>
              <a:defRPr/>
            </a:pPr>
            <a:endParaRPr lang="en-US"/>
          </a:p>
          <a:p>
            <a:pPr marL="0" indent="0">
              <a:buNone/>
              <a:defRPr/>
            </a:pPr>
            <a:endParaRPr lang="en-US"/>
          </a:p>
          <a:p>
            <a:pPr marL="0" indent="0">
              <a:buNone/>
              <a:defRPr/>
            </a:pPr>
            <a:r>
              <a:rPr lang="en-US"/>
              <a:t> </a:t>
            </a:r>
            <mc:AlternateContent xmlns:mc="http://schemas.openxmlformats.org/markup-compatibility/2006" xmlns:m="http://schemas.openxmlformats.org/officeDocument/2006/math">
              <mc:Choice xmlns:a14="http://schemas.microsoft.com/office/drawing/2010/main" Requires="a14">
                <a14:m>
                  <m:oMathPara>
                    <m:oMathParaPr/>
                    <m:oMath>
                      <m:r>
                        <m:rPr>
                          <m:sty m:val="p"/>
                        </m:rPr>
                        <a:rPr lang="en-US" b="0" i="0">
                          <a:solidFill>
                            <a:schemeClr val="tx1"/>
                          </a:solidFill>
                          <a:latin typeface="Cambria Math"/>
                        </a:rPr>
                        <m:t>E</m:t>
                      </m:r>
                      <m:r>
                        <m:rPr/>
                        <a:rPr lang="en-US" b="0" i="0">
                          <a:solidFill>
                            <a:schemeClr val="tx1"/>
                          </a:solidFill>
                          <a:latin typeface="Cambria Math"/>
                        </a:rPr>
                        <m:t>(</m:t>
                      </m:r>
                      <m:sSub>
                        <m:sSubPr>
                          <m:ctrlPr>
                            <a:rPr lang="en-US" i="1">
                              <a:solidFill>
                                <a:schemeClr val="tx1"/>
                              </a:solidFill>
                              <a:latin typeface="Cambria Math"/>
                              <a:ea typeface="Cambria Math"/>
                              <a:cs typeface="Cambria Math"/>
                            </a:rPr>
                          </m:ctrlPr>
                        </m:sSubPr>
                        <m:e>
                          <m:r>
                            <m:rPr/>
                            <a:rPr lang="en-US" b="0" i="1">
                              <a:solidFill>
                                <a:schemeClr val="tx1"/>
                              </a:solidFill>
                              <a:latin typeface="Cambria Math"/>
                            </a:rPr>
                            <m:t>𝑋</m:t>
                          </m:r>
                        </m:e>
                        <m:sub>
                          <m:r>
                            <m:rPr/>
                            <a:rPr lang="en-US" b="0" i="1">
                              <a:solidFill>
                                <a:schemeClr val="tx1"/>
                              </a:solidFill>
                              <a:latin typeface="Cambria Math"/>
                            </a:rPr>
                            <m:t>1</m:t>
                          </m:r>
                        </m:sub>
                      </m:sSub>
                      <m:r>
                        <m:rPr/>
                        <a:rPr lang="en-US" b="0" i="1">
                          <a:solidFill>
                            <a:schemeClr val="tx1"/>
                          </a:solidFill>
                          <a:latin typeface="Cambria Math"/>
                        </a:rPr>
                        <m:t>)</m:t>
                      </m:r>
                    </m:oMath>
                  </m:oMathPara>
                </a14:m>
              </mc:Choice>
              <mc:Fallback/>
            </mc:AlternateContent>
            <a:r>
              <a:rPr lang="en-US"/>
              <a:t>=?</a:t>
            </a:r>
            <a:endParaRPr/>
          </a:p>
          <a:p>
            <a:pPr marL="0" indent="0">
              <a:buNone/>
              <a:defRPr/>
            </a:pPr>
            <a:r>
              <a:rPr lang="en-US"/>
              <a:t> </a:t>
            </a:r>
            <mc:AlternateContent xmlns:mc="http://schemas.openxmlformats.org/markup-compatibility/2006" xmlns:m="http://schemas.openxmlformats.org/officeDocument/2006/math">
              <mc:Choice xmlns:a14="http://schemas.microsoft.com/office/drawing/2010/main" Requires="a14">
                <a14:m>
                  <m:oMathPara>
                    <m:oMathParaPr/>
                    <m:oMath>
                      <m:r>
                        <m:rPr>
                          <m:sty m:val="p"/>
                        </m:rPr>
                        <a:rPr lang="en-US">
                          <a:latin typeface="Cambria Math"/>
                        </a:rPr>
                        <m:t>E</m:t>
                      </m:r>
                      <m:r>
                        <m:rPr/>
                        <a:rPr lang="en-US">
                          <a:latin typeface="Cambria Math"/>
                        </a:rPr>
                        <m:t>(</m:t>
                      </m:r>
                      <m:sSub>
                        <m:sSubPr>
                          <m:ctrlPr>
                            <a:rPr lang="en-US" i="1">
                              <a:latin typeface="Cambria Math"/>
                              <a:ea typeface="Cambria Math"/>
                              <a:cs typeface="Cambria Math"/>
                            </a:rPr>
                          </m:ctrlPr>
                        </m:sSubPr>
                        <m:e>
                          <m:r>
                            <m:rPr/>
                            <a:rPr lang="en-US" i="1">
                              <a:latin typeface="Cambria Math"/>
                            </a:rPr>
                            <m:t>𝑋</m:t>
                          </m:r>
                        </m:e>
                        <m:sub>
                          <m:r>
                            <m:rPr/>
                            <a:rPr lang="en-US" b="0" i="1">
                              <a:latin typeface="Cambria Math"/>
                            </a:rPr>
                            <m:t>2</m:t>
                          </m:r>
                        </m:sub>
                      </m:sSub>
                      <m:r>
                        <m:rPr/>
                        <a:rPr lang="en-US" i="1">
                          <a:latin typeface="Cambria Math"/>
                        </a:rPr>
                        <m:t>)</m:t>
                      </m:r>
                    </m:oMath>
                  </m:oMathPara>
                </a14:m>
              </mc:Choice>
              <mc:Fallback/>
            </mc:AlternateContent>
            <a:r>
              <a:rPr lang="en-US"/>
              <a:t>=?</a:t>
            </a:r>
            <a:endParaRPr/>
          </a:p>
          <a:p>
            <a:pPr marL="0" indent="0">
              <a:buNone/>
              <a:defRPr/>
            </a:pPr>
            <a:r>
              <a:rPr lang="en-US"/>
              <a:t> </a:t>
            </a:r>
            <mc:AlternateContent xmlns:mc="http://schemas.openxmlformats.org/markup-compatibility/2006" xmlns:m="http://schemas.openxmlformats.org/officeDocument/2006/math">
              <mc:Choice xmlns:a14="http://schemas.microsoft.com/office/drawing/2010/main" Requires="a14">
                <a14:m>
                  <m:oMathPara>
                    <m:oMathParaPr/>
                    <m:oMath>
                      <m:r>
                        <m:rPr>
                          <m:sty m:val="p"/>
                        </m:rPr>
                        <a:rPr lang="en-US">
                          <a:latin typeface="Cambria Math"/>
                        </a:rPr>
                        <m:t>E</m:t>
                      </m:r>
                      <m:r>
                        <m:rPr/>
                        <a:rPr lang="en-US">
                          <a:latin typeface="Cambria Math"/>
                        </a:rPr>
                        <m:t>(</m:t>
                      </m:r>
                      <m:sSub>
                        <m:sSubPr>
                          <m:ctrlPr>
                            <a:rPr lang="en-US" i="1">
                              <a:latin typeface="Cambria Math"/>
                              <a:ea typeface="Cambria Math"/>
                              <a:cs typeface="Cambria Math"/>
                            </a:rPr>
                          </m:ctrlPr>
                        </m:sSubPr>
                        <m:e>
                          <m:r>
                            <m:rPr/>
                            <a:rPr lang="en-US" i="1">
                              <a:latin typeface="Cambria Math"/>
                            </a:rPr>
                            <m:t>𝑋</m:t>
                          </m:r>
                        </m:e>
                        <m:sub>
                          <m:r>
                            <m:rPr/>
                            <a:rPr lang="en-US" i="1">
                              <a:latin typeface="Cambria Math"/>
                            </a:rPr>
                            <m:t>1</m:t>
                          </m:r>
                        </m:sub>
                      </m:sSub>
                      <m:sSub>
                        <m:sSubPr>
                          <m:ctrlPr>
                            <a:rPr lang="en-US" i="1">
                              <a:latin typeface="Cambria Math"/>
                              <a:ea typeface="Cambria Math"/>
                              <a:cs typeface="Cambria Math"/>
                            </a:rPr>
                          </m:ctrlPr>
                        </m:sSubPr>
                        <m:e>
                          <m:r>
                            <m:rPr/>
                            <a:rPr lang="en-US" i="1">
                              <a:latin typeface="Cambria Math"/>
                            </a:rPr>
                            <m:t>𝑋</m:t>
                          </m:r>
                        </m:e>
                        <m:sub>
                          <m:r>
                            <m:rPr/>
                            <a:rPr lang="en-US" i="1">
                              <a:latin typeface="Cambria Math"/>
                            </a:rPr>
                            <m:t>2</m:t>
                          </m:r>
                        </m:sub>
                      </m:sSub>
                      <m:r>
                        <m:rPr/>
                        <a:rPr lang="en-US" i="1">
                          <a:latin typeface="Cambria Math"/>
                        </a:rPr>
                        <m:t>)</m:t>
                      </m:r>
                    </m:oMath>
                  </m:oMathPara>
                </a14:m>
              </mc:Choice>
              <mc:Fallback/>
            </mc:AlternateContent>
            <a:r>
              <a:rPr lang="en-US"/>
              <a:t>=?</a:t>
            </a:r>
            <a:endParaRPr/>
          </a:p>
          <a:p>
            <a:pPr marL="0" indent="0">
              <a:buNone/>
              <a:defRPr/>
            </a:pPr>
            <a:endParaRPr lang="en-US"/>
          </a:p>
          <a:p>
            <a:pPr>
              <a:defRPr/>
            </a:pPr>
            <a:endParaRPr lang="en-US"/>
          </a:p>
          <a:p>
            <a:pPr>
              <a:defRPr/>
            </a:pPr>
            <a:endParaRPr lang="en-US"/>
          </a:p>
          <a:p>
            <a:pPr>
              <a:defRPr/>
            </a:pPr>
            <a:endParaRPr lang="en-US"/>
          </a:p>
          <a:p>
            <a:pPr lvl="1">
              <a:defRPr/>
            </a:pPr>
            <a:endParaRPr lang="en-US"/>
          </a:p>
        </p:txBody>
      </p:sp>
      <p:graphicFrame>
        <p:nvGraphicFramePr>
          <p:cNvPr id="1540636419" name="表格 3"/>
          <p:cNvGraphicFramePr>
            <a:graphicFrameLocks xmlns:a="http://schemas.openxmlformats.org/drawingml/2006/main" noGrp="1"/>
          </p:cNvGraphicFramePr>
          <p:nvPr/>
        </p:nvGraphicFramePr>
        <p:xfrm rot="0">
          <a:off x="907085" y="3429000"/>
          <a:ext cx="3386937" cy="892454"/>
        </p:xfrm>
        <a:graphic>
          <a:graphicData uri="http://schemas.openxmlformats.org/drawingml/2006/table">
            <a:tbl>
              <a:tblPr firstRow="1" firstCol="0" lastRow="0" lastCol="0" bandRow="1" bandCol="0">
                <a:tableStyleId>{5C22544A-7EE6-4342-B048-85BDC9FD1C3A}</a:tableStyleId>
              </a:tblPr>
              <a:tblGrid>
                <a:gridCol w="519379"/>
                <a:gridCol w="1199884"/>
                <a:gridCol w="819732"/>
                <a:gridCol w="847942"/>
              </a:tblGrid>
              <a:tr h="446227">
                <a:tc>
                  <a:txBody>
                    <a:bodyPr/>
                    <a:p>
                      <a:pPr marL="0" algn="ctr" defTabSz="914354" rtl="0">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sSub>
                                  <m:sSubPr>
                                    <m:ctrlPr>
                                      <a:rPr lang="en-US" sz="1900" b="1" i="1">
                                        <a:solidFill>
                                          <a:srgbClr val="002060"/>
                                        </a:solidFill>
                                        <a:latin typeface="Cambria Math"/>
                                        <a:ea typeface="+mn-ea"/>
                                        <a:cs typeface="+mn-cs"/>
                                      </a:rPr>
                                    </m:ctrlPr>
                                  </m:sSubPr>
                                  <m:e>
                                    <m:r>
                                      <m:rPr/>
                                      <a:rPr lang="en-US" sz="1900" b="1" i="1">
                                        <a:solidFill>
                                          <a:srgbClr val="002060"/>
                                        </a:solidFill>
                                        <a:latin typeface="Cambria Math"/>
                                        <a:ea typeface="+mn-ea"/>
                                        <a:cs typeface="+mn-cs"/>
                                      </a:rPr>
                                      <m:t>𝑿</m:t>
                                    </m:r>
                                  </m:e>
                                  <m:sub>
                                    <m:r>
                                      <m:rPr/>
                                      <a:rPr lang="en-US" sz="1900" b="1" i="1">
                                        <a:solidFill>
                                          <a:srgbClr val="002060"/>
                                        </a:solidFill>
                                        <a:latin typeface="Cambria Math"/>
                                        <a:ea typeface="+mn-ea"/>
                                        <a:cs typeface="+mn-cs"/>
                                      </a:rPr>
                                      <m:t>𝟏</m:t>
                                    </m:r>
                                  </m:sub>
                                </m:sSub>
                              </m:oMath>
                            </m:oMathPara>
                          </a14:m>
                        </mc:Choice>
                        <mc:Fallback/>
                      </mc:AlternateContent>
                      <a:endParaRPr lang="en-US" sz="1900" b="1">
                        <a:solidFill>
                          <a:srgbClr val="002060"/>
                        </a:solidFill>
                        <a:latin typeface="+mn-lt"/>
                        <a:ea typeface="+mn-ea"/>
                        <a:cs typeface="+mn-cs"/>
                      </a:endParaRPr>
                    </a:p>
                  </a:txBody>
                  <a:tcPr/>
                </a:tc>
                <a:tc>
                  <a:txBody>
                    <a:bodyPr/>
                    <a:p>
                      <a:pPr algn="ctr">
                        <a:defRPr/>
                      </a:pPr>
                      <a:r>
                        <a:rPr lang="en-US" b="1">
                          <a:solidFill>
                            <a:srgbClr val="002060"/>
                          </a:solidFill>
                        </a:rPr>
                        <a:t>1</a:t>
                      </a:r>
                      <a:endParaRPr/>
                    </a:p>
                  </a:txBody>
                  <a:tcPr/>
                </a:tc>
                <a:tc gridSpan="2">
                  <a:txBody>
                    <a:bodyPr/>
                    <a:p>
                      <a:pPr algn="ctr">
                        <a:defRPr/>
                      </a:pPr>
                      <a:r>
                        <a:rPr lang="en-US" b="1">
                          <a:solidFill>
                            <a:srgbClr val="002060"/>
                          </a:solidFill>
                        </a:rPr>
                        <a:t>-1</a:t>
                      </a:r>
                      <a:endParaRPr/>
                    </a:p>
                  </a:txBody>
                  <a:tcPr/>
                </a:tc>
                <a:tc hMerge="1">
                  <a:txBody>
                    <a:bodyPr/>
                    <a:p>
                      <a:endParaRPr/>
                    </a:p>
                  </a:txBody>
                </a:tc>
              </a:tr>
              <a:tr h="446227">
                <a:tc>
                  <a:txBody>
                    <a:bodyPr/>
                    <a:p>
                      <a:pPr marL="0" algn="ctr" defTabSz="914354" rtl="0">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sSub>
                                  <m:sSubPr>
                                    <m:ctrlPr>
                                      <a:rPr lang="en-US" sz="1900" b="1" i="1">
                                        <a:solidFill>
                                          <a:srgbClr val="002060"/>
                                        </a:solidFill>
                                        <a:latin typeface="Cambria Math"/>
                                        <a:ea typeface="+mn-ea"/>
                                        <a:cs typeface="+mn-cs"/>
                                      </a:rPr>
                                    </m:ctrlPr>
                                  </m:sSubPr>
                                  <m:e>
                                    <m:r>
                                      <m:rPr/>
                                      <a:rPr lang="en-US" sz="1900" b="1" i="1">
                                        <a:solidFill>
                                          <a:srgbClr val="002060"/>
                                        </a:solidFill>
                                        <a:latin typeface="Cambria Math"/>
                                        <a:ea typeface="+mn-ea"/>
                                        <a:cs typeface="+mn-cs"/>
                                      </a:rPr>
                                      <m:t>𝑿</m:t>
                                    </m:r>
                                  </m:e>
                                  <m:sub>
                                    <m:r>
                                      <m:rPr/>
                                      <a:rPr lang="en-US" sz="1900" b="1" i="1">
                                        <a:solidFill>
                                          <a:srgbClr val="002060"/>
                                        </a:solidFill>
                                        <a:latin typeface="Cambria Math"/>
                                        <a:ea typeface="+mn-ea"/>
                                        <a:cs typeface="+mn-cs"/>
                                      </a:rPr>
                                      <m:t>𝟐</m:t>
                                    </m:r>
                                  </m:sub>
                                </m:sSub>
                              </m:oMath>
                            </m:oMathPara>
                          </a14:m>
                        </mc:Choice>
                        <mc:Fallback/>
                      </mc:AlternateContent>
                      <a:endParaRPr lang="en-US" sz="1900" b="1">
                        <a:solidFill>
                          <a:srgbClr val="002060"/>
                        </a:solidFill>
                        <a:latin typeface="+mn-lt"/>
                        <a:ea typeface="+mn-ea"/>
                        <a:cs typeface="+mn-cs"/>
                      </a:endParaRPr>
                    </a:p>
                  </a:txBody>
                  <a:tcPr/>
                </a:tc>
                <a:tc>
                  <a:txBody>
                    <a:bodyPr/>
                    <a:p>
                      <a:pPr algn="ctr">
                        <a:defRPr/>
                      </a:pPr>
                      <a:r>
                        <a:rPr lang="en-US" b="1">
                          <a:solidFill>
                            <a:srgbClr val="002060"/>
                          </a:solidFill>
                        </a:rPr>
                        <a:t>0</a:t>
                      </a:r>
                      <a:endParaRPr/>
                    </a:p>
                  </a:txBody>
                  <a:tcPr/>
                </a:tc>
                <a:tc>
                  <a:txBody>
                    <a:bodyPr/>
                    <a:p>
                      <a:pPr marL="0" algn="ctr" defTabSz="914354" rtl="0">
                        <a:defRPr/>
                      </a:pPr>
                      <a:r>
                        <a:rPr lang="en-US" sz="1900" b="1">
                          <a:solidFill>
                            <a:srgbClr val="002060"/>
                          </a:solidFill>
                          <a:latin typeface="+mn-lt"/>
                          <a:ea typeface="+mn-ea"/>
                          <a:cs typeface="+mn-cs"/>
                        </a:rPr>
                        <a:t>1</a:t>
                      </a:r>
                      <a:endParaRPr/>
                    </a:p>
                  </a:txBody>
                  <a:tcPr/>
                </a:tc>
                <a:tc>
                  <a:txBody>
                    <a:bodyPr/>
                    <a:p>
                      <a:pPr algn="ctr">
                        <a:defRPr/>
                      </a:pPr>
                      <a:r>
                        <a:rPr lang="en-US" b="1">
                          <a:solidFill>
                            <a:srgbClr val="002060"/>
                          </a:solidFill>
                        </a:rPr>
                        <a:t>-1</a:t>
                      </a:r>
                      <a:endParaRPr/>
                    </a:p>
                  </a:txBody>
                  <a:tcPr/>
                </a:tc>
              </a:tr>
            </a:tbl>
          </a:graphicData>
        </a:graphic>
      </p:graphicFrame>
      <p:graphicFrame>
        <p:nvGraphicFramePr>
          <p:cNvPr id="779978263" name="Object 9"/>
          <p:cNvGraphicFramePr>
            <a:graphicFrameLocks xmlns:a="http://schemas.openxmlformats.org/drawingml/2006/main" noChangeAspect="1"/>
          </p:cNvGraphicFramePr>
          <p:nvPr/>
        </p:nvGraphicFramePr>
        <p:xfrm>
          <a:off x="641745" y="4368931"/>
          <a:ext cx="8116887" cy="422275"/>
        </p:xfrm>
        <a:graphic>
          <a:graphicData uri="http://schemas.openxmlformats.org/presentationml/2006/ole">
            <p:oleObj name="oleObj" r:id="rId4" imgW="4380865" imgH="228600" progId="Equation.DSMT4">
              <p:embed/>
              <p:pic>
                <p:nvPicPr>
                  <p:cNvPr id="779978263" name="Object 9"/>
                  <p:cNvPicPr/>
                  <p:nvPr/>
                </p:nvPicPr>
                <p:blipFill rotWithShape="1">
                  <a:blip r:embed="rId3"/>
                  <a:stretch/>
                </p:blipFill>
                <p:spPr bwMode="auto">
                  <a:xfrm>
                    <a:off x="641745" y="4368931"/>
                    <a:ext cx="8116887" cy="422275"/>
                  </a:xfrm>
                  <a:prstGeom prst="rect">
                    <a:avLst/>
                  </a:prstGeom>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73290975" name="Rectangle 2"/>
          <p:cNvSpPr>
            <a:spLocks noChangeArrowheads="1" noGrp="1"/>
          </p:cNvSpPr>
          <p:nvPr>
            <p:ph type="title"/>
          </p:nvPr>
        </p:nvSpPr>
        <p:spPr bwMode="auto">
          <a:xfrm>
            <a:off x="711200" y="228600"/>
            <a:ext cx="10668000" cy="762000"/>
          </a:xfrm>
        </p:spPr>
        <p:txBody>
          <a:bodyPr anchor="t">
            <a:normAutofit/>
          </a:bodyPr>
          <a:lstStyle/>
          <a:p>
            <a:pPr>
              <a:defRPr/>
            </a:pPr>
            <a:r>
              <a:rPr lang="en-US"/>
              <a:t>Ví dụ: Tính hiệp phương sai</a:t>
            </a:r>
            <a:endParaRPr/>
          </a:p>
        </p:txBody>
      </p:sp>
      <p:sp>
        <p:nvSpPr>
          <p:cNvPr id="1016078668" name="Rectangle 3"/>
          <p:cNvSpPr>
            <a:spLocks noChangeArrowheads="1" noGrp="1"/>
          </p:cNvSpPr>
          <p:nvPr>
            <p:ph type="body" idx="1"/>
          </p:nvPr>
        </p:nvSpPr>
        <p:spPr bwMode="auto">
          <a:xfrm>
            <a:off x="558089" y="1175180"/>
            <a:ext cx="10971759" cy="5551441"/>
          </a:xfrm>
        </p:spPr>
        <p:txBody>
          <a:bodyPr/>
          <a:lstStyle/>
          <a:p>
            <a:pPr>
              <a:spcAft>
                <a:spcPts val="600"/>
              </a:spcAft>
              <a:defRPr/>
            </a:pPr>
            <a:r>
              <a:rPr lang="en-US" sz="2000">
                <a:latin typeface="Calibri"/>
              </a:rPr>
              <a:t>Giả sử hai cổ phiếu X</a:t>
            </a:r>
            <a:r>
              <a:rPr lang="en-US" sz="2000" baseline="-25000">
                <a:latin typeface="Calibri"/>
              </a:rPr>
              <a:t>1</a:t>
            </a:r>
            <a:r>
              <a:rPr lang="en-US" sz="2000">
                <a:latin typeface="Calibri"/>
              </a:rPr>
              <a:t> và X</a:t>
            </a:r>
            <a:r>
              <a:rPr lang="en-US" sz="2000" baseline="-25000">
                <a:latin typeface="Calibri"/>
              </a:rPr>
              <a:t>2</a:t>
            </a:r>
            <a:r>
              <a:rPr lang="en-US" sz="2000">
                <a:latin typeface="Calibri"/>
              </a:rPr>
              <a:t> có các giá trị sau trong một tuần:  </a:t>
            </a:r>
            <a:endParaRPr/>
          </a:p>
          <a:p>
            <a:pPr lvl="2">
              <a:spcAft>
                <a:spcPts val="600"/>
              </a:spcAft>
              <a:defRPr/>
            </a:pPr>
            <a:r>
              <a:rPr lang="en-US" sz="2000">
                <a:latin typeface="Calibri"/>
              </a:rPr>
              <a:t>(2, 5), (3, 8), (5, 10), (4, 11), (6, 14)</a:t>
            </a:r>
            <a:endParaRPr/>
          </a:p>
          <a:p>
            <a:pPr>
              <a:spcAft>
                <a:spcPts val="600"/>
              </a:spcAft>
              <a:defRPr/>
            </a:pPr>
            <a:r>
              <a:rPr lang="en-US" sz="2000">
                <a:latin typeface="Calibri"/>
              </a:rPr>
              <a:t>Câu hỏi: Nếu hai cổ phiếu chịu ảnh hưởng bởi cùng xu hướng ngành, giá của chúng sẽ tăng hay giảm cùng nhau?</a:t>
            </a:r>
            <a:endParaRPr/>
          </a:p>
          <a:p>
            <a:pPr>
              <a:spcAft>
                <a:spcPts val="600"/>
              </a:spcAft>
              <a:defRPr/>
            </a:pPr>
            <a:r>
              <a:rPr lang="en-US" sz="2000">
                <a:latin typeface="Calibri"/>
              </a:rPr>
              <a:t>Công thức hiệp phương sai</a:t>
            </a:r>
            <a:endParaRPr/>
          </a:p>
          <a:p>
            <a:pPr>
              <a:spcAft>
                <a:spcPts val="600"/>
              </a:spcAft>
              <a:defRPr/>
            </a:pPr>
            <a:endParaRPr lang="en-US" sz="2400">
              <a:latin typeface="Calibri"/>
            </a:endParaRPr>
          </a:p>
          <a:p>
            <a:pPr>
              <a:spcAft>
                <a:spcPts val="600"/>
              </a:spcAft>
              <a:defRPr/>
            </a:pPr>
            <a:r>
              <a:rPr lang="en-US" sz="2000">
                <a:latin typeface="Calibri"/>
              </a:rPr>
              <a:t>Việc tính toán có thể đơn giản hóa như sau: </a:t>
            </a:r>
            <a:endParaRPr/>
          </a:p>
          <a:p>
            <a:pPr lvl="1">
              <a:spcAft>
                <a:spcPts val="600"/>
              </a:spcAft>
              <a:defRPr/>
            </a:pPr>
            <a:r>
              <a:rPr lang="en-US" sz="2000">
                <a:latin typeface="Calibri"/>
              </a:rPr>
              <a:t>E(X</a:t>
            </a:r>
            <a:r>
              <a:rPr lang="en-US" sz="2000" baseline="-25000">
                <a:latin typeface="Calibri"/>
              </a:rPr>
              <a:t>1</a:t>
            </a:r>
            <a:r>
              <a:rPr lang="en-US" sz="2000">
                <a:latin typeface="Calibri"/>
              </a:rPr>
              <a:t>) = (2 + 3 + 5 + 4 + 6)/ 5 = 20/5 = 4</a:t>
            </a:r>
            <a:endParaRPr/>
          </a:p>
          <a:p>
            <a:pPr lvl="1">
              <a:spcAft>
                <a:spcPts val="600"/>
              </a:spcAft>
              <a:defRPr/>
            </a:pPr>
            <a:r>
              <a:rPr lang="en-US" sz="2000">
                <a:latin typeface="Calibri"/>
              </a:rPr>
              <a:t>E(X</a:t>
            </a:r>
            <a:r>
              <a:rPr lang="en-US" sz="2000" baseline="-25000">
                <a:latin typeface="Calibri"/>
              </a:rPr>
              <a:t>2</a:t>
            </a:r>
            <a:r>
              <a:rPr lang="en-US" sz="2000">
                <a:latin typeface="Calibri"/>
              </a:rPr>
              <a:t>) = (5 + 8 + 10 + 11 + 14) /5 = 48/5 = 9.6</a:t>
            </a:r>
            <a:endParaRPr/>
          </a:p>
          <a:p>
            <a:pPr lvl="1">
              <a:spcAft>
                <a:spcPts val="600"/>
              </a:spcAft>
              <a:defRPr/>
            </a:pPr>
            <a:r>
              <a:rPr lang="el-GR" sz="2000">
                <a:latin typeface="Calibri"/>
              </a:rPr>
              <a:t>σ</a:t>
            </a:r>
            <a:r>
              <a:rPr lang="en-US" sz="2000" baseline="-25000">
                <a:latin typeface="Calibri"/>
              </a:rPr>
              <a:t>12</a:t>
            </a:r>
            <a:r>
              <a:rPr lang="en-US" sz="2000">
                <a:latin typeface="Calibri"/>
              </a:rPr>
              <a:t> = (2×5 + 3×8 + 5×10 + 4×11 + 6×14)/5 − 4 × 9.6 = 4</a:t>
            </a:r>
            <a:endParaRPr/>
          </a:p>
          <a:p>
            <a:pPr>
              <a:spcAft>
                <a:spcPts val="600"/>
              </a:spcAft>
              <a:defRPr/>
            </a:pPr>
            <a:r>
              <a:rPr lang="en-US" sz="2000">
                <a:latin typeface="Calibri"/>
              </a:rPr>
              <a:t>Vậy, X</a:t>
            </a:r>
            <a:r>
              <a:rPr lang="en-US" sz="2000" baseline="-25000">
                <a:latin typeface="Calibri"/>
              </a:rPr>
              <a:t>1</a:t>
            </a:r>
            <a:r>
              <a:rPr lang="en-US" sz="2000">
                <a:latin typeface="Calibri"/>
              </a:rPr>
              <a:t> và X</a:t>
            </a:r>
            <a:r>
              <a:rPr lang="en-US" sz="2000" baseline="-25000">
                <a:latin typeface="Calibri"/>
              </a:rPr>
              <a:t>2</a:t>
            </a:r>
            <a:r>
              <a:rPr lang="en-US" sz="2000">
                <a:latin typeface="Calibri"/>
              </a:rPr>
              <a:t> tăng cùng nhau vì </a:t>
            </a:r>
            <a:r>
              <a:rPr lang="el-GR" sz="2000">
                <a:latin typeface="Calibri"/>
              </a:rPr>
              <a:t>σ</a:t>
            </a:r>
            <a:r>
              <a:rPr lang="en-US" sz="2000" baseline="-25000">
                <a:latin typeface="Calibri"/>
              </a:rPr>
              <a:t>12</a:t>
            </a:r>
            <a:r>
              <a:rPr lang="en-US" sz="2000">
                <a:latin typeface="Calibri"/>
              </a:rPr>
              <a:t> &gt; 0</a:t>
            </a:r>
            <a:endParaRPr/>
          </a:p>
        </p:txBody>
      </p:sp>
      <p:graphicFrame>
        <p:nvGraphicFramePr>
          <p:cNvPr id="1873203397" name="Object 7"/>
          <p:cNvGraphicFramePr>
            <a:graphicFrameLocks xmlns:a="http://schemas.openxmlformats.org/drawingml/2006/main" noChangeAspect="1"/>
          </p:cNvGraphicFramePr>
          <p:nvPr/>
        </p:nvGraphicFramePr>
        <p:xfrm>
          <a:off x="1447155" y="3585335"/>
          <a:ext cx="8116887" cy="422275"/>
        </p:xfrm>
        <a:graphic>
          <a:graphicData uri="http://schemas.openxmlformats.org/presentationml/2006/ole">
            <p:oleObj name="oleObj" r:id="rId4" imgW="4380865" imgH="228600" progId="Equation.DSMT4">
              <p:embed/>
              <p:pic>
                <p:nvPicPr>
                  <p:cNvPr id="1873203397" name="Object 7"/>
                  <p:cNvPicPr/>
                  <p:nvPr/>
                </p:nvPicPr>
                <p:blipFill rotWithShape="1">
                  <a:blip r:embed="rId3"/>
                  <a:stretch/>
                </p:blipFill>
                <p:spPr bwMode="auto">
                  <a:xfrm>
                    <a:off x="1447155" y="3585335"/>
                    <a:ext cx="8116887" cy="422275"/>
                  </a:xfrm>
                  <a:prstGeom prst="rect">
                    <a:avLst/>
                  </a:prstGeom>
                </p:spPr>
              </p:pic>
            </p:oleObj>
          </a:graphicData>
        </a:graphic>
      </p:graphicFrame>
      <p:graphicFrame>
        <p:nvGraphicFramePr>
          <p:cNvPr id="1242767923" name="Object 8"/>
          <p:cNvGraphicFramePr>
            <a:graphicFrameLocks xmlns:a="http://schemas.openxmlformats.org/drawingml/2006/main" noChangeAspect="1"/>
          </p:cNvGraphicFramePr>
          <p:nvPr/>
        </p:nvGraphicFramePr>
        <p:xfrm>
          <a:off x="5904990" y="4150053"/>
          <a:ext cx="3340100" cy="422275"/>
        </p:xfrm>
        <a:graphic>
          <a:graphicData uri="http://schemas.openxmlformats.org/presentationml/2006/ole">
            <p:oleObj name="oleObj" r:id="rId6" imgW="1802765" imgH="228600" progId="Equation.DSMT4">
              <p:embed/>
              <p:pic>
                <p:nvPicPr>
                  <p:cNvPr id="1242767923" name="Object 8"/>
                  <p:cNvPicPr/>
                  <p:nvPr/>
                </p:nvPicPr>
                <p:blipFill rotWithShape="1">
                  <a:blip r:embed="rId5"/>
                  <a:stretch/>
                </p:blipFill>
                <p:spPr bwMode="auto">
                  <a:xfrm>
                    <a:off x="5904990" y="4150053"/>
                    <a:ext cx="3340100" cy="422275"/>
                  </a:xfrm>
                  <a:prstGeom prst="rect">
                    <a:avLst/>
                  </a:prstGeom>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2085180" name="Rectangle 2"/>
          <p:cNvSpPr>
            <a:spLocks noChangeArrowheads="1" noGrp="1"/>
          </p:cNvSpPr>
          <p:nvPr>
            <p:ph type="title"/>
          </p:nvPr>
        </p:nvSpPr>
        <p:spPr bwMode="auto">
          <a:xfrm>
            <a:off x="-64656" y="191655"/>
            <a:ext cx="12302836" cy="762000"/>
          </a:xfrm>
        </p:spPr>
        <p:txBody>
          <a:bodyPr anchor="t">
            <a:noAutofit/>
          </a:bodyPr>
          <a:lstStyle/>
          <a:p>
            <a:pPr>
              <a:defRPr/>
            </a:pPr>
            <a:r>
              <a:rPr lang="en-US"/>
              <a:t>Tương quan giữa hai biến số</a:t>
            </a:r>
            <a:endParaRPr/>
          </a:p>
        </p:txBody>
      </p:sp>
      <p:sp>
        <p:nvSpPr>
          <p:cNvPr id="616796807" name="Rectangle 3"/>
          <p:cNvSpPr>
            <a:spLocks noChangeArrowheads="1" noGrp="1"/>
          </p:cNvSpPr>
          <p:nvPr>
            <p:ph type="body" idx="1"/>
          </p:nvPr>
        </p:nvSpPr>
        <p:spPr bwMode="auto">
          <a:xfrm>
            <a:off x="552262" y="1168754"/>
            <a:ext cx="10919301" cy="5450312"/>
          </a:xfrm>
        </p:spPr>
        <p:txBody>
          <a:bodyPr/>
          <a:lstStyle/>
          <a:p>
            <a:pPr marL="285744" lvl="1" indent="-285744">
              <a:spcAft>
                <a:spcPts val="600"/>
              </a:spcAft>
              <a:buClr>
                <a:srgbClr val="0000CC"/>
              </a:buClr>
              <a:defRPr/>
            </a:pPr>
            <a:r>
              <a:rPr lang="en-US" sz="2000" b="1">
                <a:latin typeface="Calibri"/>
              </a:rPr>
              <a:t>Tương quan</a:t>
            </a:r>
            <a:r>
              <a:rPr lang="en-US" sz="2000">
                <a:latin typeface="Calibri"/>
              </a:rPr>
              <a:t> giữa hai biến X</a:t>
            </a:r>
            <a:r>
              <a:rPr lang="en-US" sz="2000" baseline="-25000">
                <a:latin typeface="Calibri"/>
              </a:rPr>
              <a:t>1 </a:t>
            </a:r>
            <a:r>
              <a:rPr lang="en-US" sz="2000">
                <a:latin typeface="Calibri"/>
              </a:rPr>
              <a:t>và X</a:t>
            </a:r>
            <a:r>
              <a:rPr lang="en-US" sz="2000" baseline="-25000">
                <a:latin typeface="Calibri"/>
              </a:rPr>
              <a:t>2 </a:t>
            </a:r>
            <a:r>
              <a:rPr lang="en-US" sz="2000">
                <a:latin typeface="Calibri"/>
              </a:rPr>
              <a:t>là hiệp phương sai chuẩn hóa, thu được bằng cách chuẩn hóa hiệp phương sai với độ lệch chuẩn của mỗi biến</a:t>
            </a:r>
            <a:endParaRPr/>
          </a:p>
          <a:p>
            <a:pPr>
              <a:spcAft>
                <a:spcPts val="600"/>
              </a:spcAft>
              <a:defRPr/>
            </a:pPr>
            <a:endParaRPr lang="en-US" sz="2400">
              <a:latin typeface="Calibri"/>
            </a:endParaRPr>
          </a:p>
          <a:p>
            <a:pPr>
              <a:spcAft>
                <a:spcPts val="600"/>
              </a:spcAft>
              <a:defRPr/>
            </a:pPr>
            <a:r>
              <a:rPr lang="en-US" sz="2000" b="1">
                <a:latin typeface="Calibri"/>
              </a:rPr>
              <a:t>Tương quan mẫu </a:t>
            </a:r>
            <a:r>
              <a:rPr lang="en-US" sz="2000">
                <a:latin typeface="Calibri"/>
              </a:rPr>
              <a:t>cho hai thuộc tính X</a:t>
            </a:r>
            <a:r>
              <a:rPr lang="en-US" sz="2000" baseline="-25000">
                <a:latin typeface="Calibri"/>
              </a:rPr>
              <a:t>1 </a:t>
            </a:r>
            <a:r>
              <a:rPr lang="en-US" sz="2000">
                <a:latin typeface="Calibri"/>
              </a:rPr>
              <a:t>và X</a:t>
            </a:r>
            <a:r>
              <a:rPr lang="en-US" sz="2000" baseline="-25000">
                <a:latin typeface="Calibri"/>
              </a:rPr>
              <a:t>2</a:t>
            </a:r>
            <a:r>
              <a:rPr lang="en-US" sz="2000">
                <a:latin typeface="Calibri"/>
              </a:rPr>
              <a:t>: </a:t>
            </a:r>
            <a:endParaRPr/>
          </a:p>
          <a:p>
            <a:pPr lvl="3">
              <a:spcAft>
                <a:spcPts val="600"/>
              </a:spcAft>
              <a:buNone/>
              <a:defRPr/>
            </a:pPr>
            <a:endParaRPr lang="en-US" sz="2400">
              <a:latin typeface="Calibri"/>
            </a:endParaRPr>
          </a:p>
          <a:p>
            <a:pPr lvl="3">
              <a:spcAft>
                <a:spcPts val="600"/>
              </a:spcAft>
              <a:buNone/>
              <a:defRPr/>
            </a:pPr>
            <a:r>
              <a:rPr lang="en-US" sz="2000">
                <a:latin typeface="Calibri"/>
              </a:rPr>
              <a:t>trong đó n là số bộ dữ liệu (tuple), µ</a:t>
            </a:r>
            <a:r>
              <a:rPr lang="en-US" sz="2000" baseline="-25000">
                <a:latin typeface="Calibri"/>
              </a:rPr>
              <a:t>1</a:t>
            </a:r>
            <a:r>
              <a:rPr lang="en-US" sz="2000">
                <a:latin typeface="Calibri"/>
              </a:rPr>
              <a:t> và µ</a:t>
            </a:r>
            <a:r>
              <a:rPr lang="en-US" sz="2000" baseline="-25000">
                <a:latin typeface="Calibri"/>
              </a:rPr>
              <a:t>2</a:t>
            </a:r>
            <a:r>
              <a:rPr lang="en-US" sz="2000">
                <a:latin typeface="Calibri"/>
              </a:rPr>
              <a:t> là các trung bình tương ứng của X</a:t>
            </a:r>
            <a:r>
              <a:rPr lang="en-US" sz="2000" baseline="-25000">
                <a:latin typeface="Calibri"/>
              </a:rPr>
              <a:t>1</a:t>
            </a:r>
            <a:r>
              <a:rPr lang="en-US" sz="2000">
                <a:latin typeface="Calibri"/>
              </a:rPr>
              <a:t> và X</a:t>
            </a:r>
            <a:r>
              <a:rPr lang="en-US" sz="2000" baseline="-25000">
                <a:latin typeface="Calibri"/>
              </a:rPr>
              <a:t>2 </a:t>
            </a:r>
            <a:r>
              <a:rPr lang="en-US" sz="2000">
                <a:latin typeface="Calibri"/>
              </a:rPr>
              <a:t>, </a:t>
            </a:r>
            <a:r>
              <a:rPr lang="el-GR" sz="2000">
                <a:latin typeface="Calibri"/>
              </a:rPr>
              <a:t>σ</a:t>
            </a:r>
            <a:r>
              <a:rPr lang="en-US" sz="2000" baseline="-25000">
                <a:latin typeface="Calibri"/>
              </a:rPr>
              <a:t>1 </a:t>
            </a:r>
            <a:r>
              <a:rPr lang="en-US" sz="2000">
                <a:latin typeface="Calibri"/>
              </a:rPr>
              <a:t>và </a:t>
            </a:r>
            <a:r>
              <a:rPr lang="el-GR" sz="2000">
                <a:latin typeface="Calibri"/>
              </a:rPr>
              <a:t>σ</a:t>
            </a:r>
            <a:r>
              <a:rPr lang="en-US" sz="2000" baseline="-25000">
                <a:latin typeface="Calibri"/>
              </a:rPr>
              <a:t>2 </a:t>
            </a:r>
            <a:r>
              <a:rPr lang="en-US" sz="2000">
                <a:latin typeface="Calibri"/>
              </a:rPr>
              <a:t>là độ lệch chuẩn tương ứng của X</a:t>
            </a:r>
            <a:r>
              <a:rPr lang="en-US" sz="2000" baseline="-25000">
                <a:latin typeface="Calibri"/>
              </a:rPr>
              <a:t>1</a:t>
            </a:r>
            <a:r>
              <a:rPr lang="en-US" sz="2000">
                <a:latin typeface="Calibri"/>
              </a:rPr>
              <a:t> và X</a:t>
            </a:r>
            <a:r>
              <a:rPr lang="en-US" sz="2000" baseline="-25000">
                <a:latin typeface="Calibri"/>
              </a:rPr>
              <a:t>2</a:t>
            </a:r>
            <a:endParaRPr/>
          </a:p>
          <a:p>
            <a:pPr>
              <a:spcAft>
                <a:spcPts val="600"/>
              </a:spcAft>
              <a:defRPr/>
            </a:pPr>
            <a:r>
              <a:rPr lang="en-US" sz="2000">
                <a:latin typeface="Calibri"/>
              </a:rPr>
              <a:t>Nếu </a:t>
            </a:r>
            <a:r>
              <a:rPr lang="el-GR" sz="2000">
                <a:latin typeface="Calibri"/>
              </a:rPr>
              <a:t>ρ</a:t>
            </a:r>
            <a:r>
              <a:rPr lang="en-US" sz="2000" baseline="-25000">
                <a:latin typeface="Calibri"/>
              </a:rPr>
              <a:t>12</a:t>
            </a:r>
            <a:r>
              <a:rPr lang="en-US" sz="2000">
                <a:latin typeface="Calibri"/>
              </a:rPr>
              <a:t> &gt; 0: A và B có tương quan dương (giá trị của X</a:t>
            </a:r>
            <a:r>
              <a:rPr lang="en-US" sz="2000" baseline="-25000">
                <a:latin typeface="Calibri"/>
              </a:rPr>
              <a:t>1</a:t>
            </a:r>
            <a:r>
              <a:rPr lang="en-US" sz="2000">
                <a:latin typeface="Calibri"/>
              </a:rPr>
              <a:t> tăng khi X</a:t>
            </a:r>
            <a:r>
              <a:rPr lang="en-US" sz="2000" baseline="-25000">
                <a:latin typeface="Calibri"/>
              </a:rPr>
              <a:t>2</a:t>
            </a:r>
            <a:r>
              <a:rPr lang="en-US" sz="2000">
                <a:latin typeface="Calibri"/>
              </a:rPr>
              <a:t> tăng)</a:t>
            </a:r>
            <a:endParaRPr/>
          </a:p>
          <a:p>
            <a:pPr lvl="1">
              <a:spcAft>
                <a:spcPts val="600"/>
              </a:spcAft>
              <a:defRPr/>
            </a:pPr>
            <a:r>
              <a:rPr lang="en-US" sz="2000">
                <a:latin typeface="Calibri"/>
              </a:rPr>
              <a:t> Giá trị càng cao, tương quan càng mạnh</a:t>
            </a:r>
            <a:endParaRPr/>
          </a:p>
          <a:p>
            <a:pPr>
              <a:spcAft>
                <a:spcPts val="600"/>
              </a:spcAft>
              <a:defRPr/>
            </a:pPr>
            <a:r>
              <a:rPr lang="en-US" sz="2000">
                <a:latin typeface="Calibri"/>
              </a:rPr>
              <a:t>Nếu </a:t>
            </a:r>
            <a:r>
              <a:rPr lang="el-GR" sz="2000">
                <a:latin typeface="Calibri"/>
              </a:rPr>
              <a:t>ρ</a:t>
            </a:r>
            <a:r>
              <a:rPr lang="en-US" sz="2000" baseline="-25000">
                <a:latin typeface="Calibri"/>
              </a:rPr>
              <a:t>12</a:t>
            </a:r>
            <a:r>
              <a:rPr lang="en-US" sz="2000">
                <a:latin typeface="Calibri"/>
              </a:rPr>
              <a:t> = 0: độc lập (theo cùng giả định đã thảo luận ở hiệp phương sai)</a:t>
            </a:r>
            <a:endParaRPr/>
          </a:p>
          <a:p>
            <a:pPr>
              <a:spcAft>
                <a:spcPts val="600"/>
              </a:spcAft>
              <a:defRPr/>
            </a:pPr>
            <a:r>
              <a:rPr lang="en-US" sz="2000">
                <a:latin typeface="Calibri"/>
              </a:rPr>
              <a:t>Nếu </a:t>
            </a:r>
            <a:r>
              <a:rPr lang="el-GR" sz="2000">
                <a:latin typeface="Calibri"/>
              </a:rPr>
              <a:t>ρ</a:t>
            </a:r>
            <a:r>
              <a:rPr lang="en-US" sz="2000" baseline="-25000">
                <a:latin typeface="Calibri"/>
              </a:rPr>
              <a:t>12</a:t>
            </a:r>
            <a:r>
              <a:rPr lang="en-US" sz="2000">
                <a:latin typeface="Calibri"/>
              </a:rPr>
              <a:t> &lt; 0: tương quan âm</a:t>
            </a:r>
            <a:endParaRPr/>
          </a:p>
        </p:txBody>
      </p:sp>
      <p:graphicFrame>
        <p:nvGraphicFramePr>
          <p:cNvPr id="801139560" name="Object 6"/>
          <p:cNvGraphicFramePr>
            <a:graphicFrameLocks xmlns:a="http://schemas.openxmlformats.org/drawingml/2006/main" noChangeAspect="1"/>
          </p:cNvGraphicFramePr>
          <p:nvPr/>
        </p:nvGraphicFramePr>
        <p:xfrm>
          <a:off x="3856775" y="1880689"/>
          <a:ext cx="2284307" cy="773693"/>
        </p:xfrm>
        <a:graphic>
          <a:graphicData uri="http://schemas.openxmlformats.org/presentationml/2006/ole">
            <p:oleObj name="oleObj" r:id="rId4" imgW="1383665" imgH="469265" progId="Equation.DSMT4">
              <p:embed/>
              <p:pic>
                <p:nvPicPr>
                  <p:cNvPr id="801139560" name="Object 6"/>
                  <p:cNvPicPr/>
                  <p:nvPr/>
                </p:nvPicPr>
                <p:blipFill rotWithShape="1">
                  <a:blip r:embed="rId3"/>
                  <a:stretch/>
                </p:blipFill>
                <p:spPr bwMode="auto">
                  <a:xfrm>
                    <a:off x="3856775" y="1880689"/>
                    <a:ext cx="2284307" cy="773693"/>
                  </a:xfrm>
                  <a:prstGeom prst="rect">
                    <a:avLst/>
                  </a:prstGeom>
                </p:spPr>
              </p:pic>
            </p:oleObj>
          </a:graphicData>
        </a:graphic>
      </p:graphicFrame>
      <p:sp>
        <p:nvSpPr>
          <p:cNvPr id="1697157703" name="矩形 1"/>
          <p:cNvSpPr/>
          <p:nvPr/>
        </p:nvSpPr>
        <p:spPr bwMode="auto">
          <a:xfrm>
            <a:off x="6690507" y="2732002"/>
            <a:ext cx="5435527" cy="1078757"/>
          </a:xfrm>
          <a:prstGeom prst="rect">
            <a:avLst/>
          </a:prstGeom>
        </p:spPr>
        <p:txBody>
          <a:bodyPr wrap="none">
            <a:spAutoFit/>
          </a:bodyPr>
          <a:lstStyle/>
          <a:p>
            <a:pPr>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sSub>
                        <m:sSubPr>
                          <m:ctrlPr>
                            <a:rPr lang="en-US" sz="2000" i="1">
                              <a:latin typeface="Cambria Math"/>
                              <a:ea typeface="Cambria Math"/>
                              <a:cs typeface="Cambria Math"/>
                            </a:rPr>
                          </m:ctrlPr>
                        </m:sSubPr>
                        <m:e>
                          <m:acc>
                            <m:accPr>
                              <m:chr m:val="̂"/>
                              <m:ctrlPr>
                                <a:rPr lang="en-US" sz="2000" i="1">
                                  <a:latin typeface="Cambria Math"/>
                                  <a:ea typeface="Cambria Math"/>
                                  <a:cs typeface="Cambria Math"/>
                                </a:rPr>
                              </m:ctrlPr>
                            </m:accPr>
                            <m:e>
                              <m:r>
                                <m:rPr/>
                                <a:rPr lang="en-US" sz="2000" i="1">
                                  <a:latin typeface="Cambria Math"/>
                                </a:rPr>
                                <m:t>𝜌</m:t>
                              </m:r>
                            </m:e>
                          </m:acc>
                        </m:e>
                        <m:sub>
                          <m:r>
                            <m:rPr/>
                            <a:rPr lang="en-US" sz="2000" i="1">
                              <a:latin typeface="Cambria Math"/>
                            </a:rPr>
                            <m:t>12</m:t>
                          </m:r>
                        </m:sub>
                      </m:sSub>
                      <m:r>
                        <m:rPr/>
                        <a:rPr lang="en-US" sz="2000" i="1">
                          <a:latin typeface="Cambria Math"/>
                        </a:rPr>
                        <m:t>=</m:t>
                      </m:r>
                      <m:f>
                        <m:fPr>
                          <m:ctrlPr>
                            <a:rPr lang="en-US" sz="2000" i="1">
                              <a:latin typeface="Cambria Math"/>
                              <a:ea typeface="Cambria Math"/>
                              <a:cs typeface="Cambria Math"/>
                            </a:rPr>
                          </m:ctrlPr>
                        </m:fPr>
                        <m:num>
                          <m:sSub>
                            <m:sSubPr>
                              <m:ctrlPr>
                                <a:rPr lang="en-US" sz="2000" i="1">
                                  <a:latin typeface="Cambria Math"/>
                                  <a:ea typeface="Cambria Math"/>
                                  <a:cs typeface="Cambria Math"/>
                                </a:rPr>
                              </m:ctrlPr>
                            </m:sSubPr>
                            <m:e>
                              <m:acc>
                                <m:accPr>
                                  <m:chr m:val="̂"/>
                                  <m:ctrlPr>
                                    <a:rPr lang="en-US" sz="2000" i="1">
                                      <a:latin typeface="Cambria Math"/>
                                      <a:ea typeface="Cambria Math"/>
                                      <a:cs typeface="Cambria Math"/>
                                    </a:rPr>
                                  </m:ctrlPr>
                                </m:accPr>
                                <m:e>
                                  <m:r>
                                    <m:rPr/>
                                    <a:rPr lang="en-US" sz="2000" i="1">
                                      <a:latin typeface="Cambria Math"/>
                                    </a:rPr>
                                    <m:t>𝜎</m:t>
                                  </m:r>
                                </m:e>
                              </m:acc>
                            </m:e>
                            <m:sub>
                              <m:r>
                                <m:rPr/>
                                <a:rPr lang="en-US" sz="2000" i="1">
                                  <a:latin typeface="Cambria Math"/>
                                </a:rPr>
                                <m:t>12</m:t>
                              </m:r>
                            </m:sub>
                          </m:sSub>
                        </m:num>
                        <m:den>
                          <m:sSub>
                            <m:sSubPr>
                              <m:ctrlPr>
                                <a:rPr lang="en-US" sz="2000" i="1">
                                  <a:latin typeface="Cambria Math"/>
                                  <a:ea typeface="Cambria Math"/>
                                  <a:cs typeface="Cambria Math"/>
                                </a:rPr>
                              </m:ctrlPr>
                            </m:sSubPr>
                            <m:e>
                              <m:acc>
                                <m:accPr>
                                  <m:chr m:val="̂"/>
                                  <m:ctrlPr>
                                    <a:rPr lang="en-US" sz="2000" i="1">
                                      <a:latin typeface="Cambria Math"/>
                                      <a:ea typeface="Cambria Math"/>
                                      <a:cs typeface="Cambria Math"/>
                                    </a:rPr>
                                  </m:ctrlPr>
                                </m:accPr>
                                <m:e>
                                  <m:r>
                                    <m:rPr/>
                                    <a:rPr lang="en-US" sz="2000" i="1">
                                      <a:latin typeface="Cambria Math"/>
                                    </a:rPr>
                                    <m:t>𝜎</m:t>
                                  </m:r>
                                </m:e>
                              </m:acc>
                            </m:e>
                            <m:sub>
                              <m:r>
                                <m:rPr/>
                                <a:rPr lang="en-US" sz="2000" i="1">
                                  <a:latin typeface="Cambria Math"/>
                                </a:rPr>
                                <m:t>1</m:t>
                              </m:r>
                            </m:sub>
                          </m:sSub>
                          <m:sSub>
                            <m:sSubPr>
                              <m:ctrlPr>
                                <a:rPr lang="en-US" sz="2000" i="1">
                                  <a:latin typeface="Cambria Math"/>
                                  <a:ea typeface="Cambria Math"/>
                                  <a:cs typeface="Cambria Math"/>
                                </a:rPr>
                              </m:ctrlPr>
                            </m:sSubPr>
                            <m:e>
                              <m:acc>
                                <m:accPr>
                                  <m:chr m:val="̂"/>
                                  <m:ctrlPr>
                                    <a:rPr lang="en-US" sz="2000" i="1">
                                      <a:latin typeface="Cambria Math"/>
                                      <a:ea typeface="Cambria Math"/>
                                      <a:cs typeface="Cambria Math"/>
                                    </a:rPr>
                                  </m:ctrlPr>
                                </m:accPr>
                                <m:e>
                                  <m:r>
                                    <m:rPr/>
                                    <a:rPr lang="en-US" sz="2000" i="1">
                                      <a:latin typeface="Cambria Math"/>
                                    </a:rPr>
                                    <m:t>𝜎</m:t>
                                  </m:r>
                                </m:e>
                              </m:acc>
                            </m:e>
                            <m:sub>
                              <m:r>
                                <m:rPr/>
                                <a:rPr lang="en-US" sz="2000" i="1">
                                  <a:latin typeface="Cambria Math"/>
                                </a:rPr>
                                <m:t>2</m:t>
                              </m:r>
                            </m:sub>
                          </m:sSub>
                        </m:den>
                      </m:f>
                      <m:r>
                        <m:rPr/>
                        <a:rPr lang="en-US" sz="2000" i="1">
                          <a:latin typeface="Cambria Math"/>
                        </a:rPr>
                        <m:t>=</m:t>
                      </m:r>
                      <m:f>
                        <m:fPr>
                          <m:ctrlPr>
                            <a:rPr lang="en-US" sz="2000" i="1">
                              <a:latin typeface="Cambria Math"/>
                              <a:ea typeface="Cambria Math"/>
                              <a:cs typeface="Cambria Math"/>
                            </a:rPr>
                          </m:ctrlPr>
                        </m:fPr>
                        <m:num>
                          <m:nary>
                            <m:naryPr>
                              <m:chr m:val="∑"/>
                              <m:grow m:val="off"/>
                              <m:ctrlPr>
                                <a:rPr lang="en-US" sz="2000" i="1">
                                  <a:latin typeface="Cambria Math"/>
                                  <a:ea typeface="Cambria Math"/>
                                  <a:cs typeface="Cambria Math"/>
                                </a:rPr>
                              </m:ctrlPr>
                            </m:naryPr>
                            <m:sub>
                              <m:r>
                                <m:rPr>
                                  <m:brk m:alnAt="23"/>
                                </m:rPr>
                                <a:rPr lang="en-US" sz="2000" i="1">
                                  <a:latin typeface="Cambria Math"/>
                                </a:rPr>
                                <m:t>𝑖</m:t>
                              </m:r>
                              <m:r>
                                <m:rPr/>
                                <a:rPr lang="en-US" sz="2000" i="1">
                                  <a:latin typeface="Cambria Math"/>
                                </a:rPr>
                                <m:t>=</m:t>
                              </m:r>
                              <m:r>
                                <m:rPr>
                                  <m:brk m:alnAt="23"/>
                                </m:rPr>
                                <a:rPr lang="en-US" sz="2000" i="1">
                                  <a:latin typeface="Cambria Math"/>
                                </a:rPr>
                                <m:t>1</m:t>
                              </m:r>
                            </m:sub>
                            <m:sup>
                              <m:r>
                                <m:rPr/>
                                <a:rPr lang="en-US" sz="2000" i="1">
                                  <a:latin typeface="Cambria Math"/>
                                </a:rPr>
                                <m:t>𝑛</m:t>
                              </m:r>
                            </m:sup>
                            <m:e>
                              <m:d>
                                <m:dPr>
                                  <m:ctrlPr>
                                    <a:rPr lang="en-US" sz="2000" i="1">
                                      <a:latin typeface="Cambria Math"/>
                                      <a:ea typeface="Cambria Math"/>
                                      <a:cs typeface="Cambria Math"/>
                                    </a:rPr>
                                  </m:ctrlPr>
                                </m:dPr>
                                <m:e>
                                  <m:sSub>
                                    <m:sSubPr>
                                      <m:ctrlPr>
                                        <a:rPr lang="en-US" sz="2000" i="1">
                                          <a:latin typeface="Cambria Math"/>
                                          <a:ea typeface="Cambria Math"/>
                                          <a:cs typeface="Cambria Math"/>
                                        </a:rPr>
                                      </m:ctrlPr>
                                    </m:sSubPr>
                                    <m:e>
                                      <m:r>
                                        <m:rPr/>
                                        <a:rPr lang="en-US" sz="2000" i="1">
                                          <a:latin typeface="Cambria Math"/>
                                        </a:rPr>
                                        <m:t>𝑥</m:t>
                                      </m:r>
                                    </m:e>
                                    <m:sub>
                                      <m:r>
                                        <m:rPr/>
                                        <a:rPr lang="en-US" sz="2000" i="1">
                                          <a:latin typeface="Cambria Math"/>
                                        </a:rPr>
                                        <m:t>𝑖</m:t>
                                      </m:r>
                                      <m:r>
                                        <m:rPr/>
                                        <a:rPr lang="en-US" sz="2000" i="1">
                                          <a:latin typeface="Cambria Math"/>
                                        </a:rPr>
                                        <m:t>1</m:t>
                                      </m:r>
                                    </m:sub>
                                  </m:sSub>
                                  <m:r>
                                    <m:rPr/>
                                    <a:rPr lang="en-US" sz="2000" i="1">
                                      <a:latin typeface="Cambria Math"/>
                                    </a:rPr>
                                    <m:t>−</m:t>
                                  </m:r>
                                  <m:sSub>
                                    <m:sSubPr>
                                      <m:ctrlPr>
                                        <a:rPr lang="en-US" sz="2000" i="1">
                                          <a:latin typeface="Cambria Math"/>
                                          <a:ea typeface="Cambria Math"/>
                                          <a:cs typeface="Cambria Math"/>
                                        </a:rPr>
                                      </m:ctrlPr>
                                    </m:sSubPr>
                                    <m:e>
                                      <m:acc>
                                        <m:accPr>
                                          <m:chr m:val="̂"/>
                                          <m:ctrlPr>
                                            <a:rPr lang="en-US" sz="2000" i="1">
                                              <a:latin typeface="Cambria Math"/>
                                              <a:ea typeface="Cambria Math"/>
                                              <a:cs typeface="Cambria Math"/>
                                            </a:rPr>
                                          </m:ctrlPr>
                                        </m:accPr>
                                        <m:e>
                                          <m:r>
                                            <m:rPr/>
                                            <a:rPr lang="en-US" sz="2000" i="1">
                                              <a:latin typeface="Cambria Math"/>
                                            </a:rPr>
                                            <m:t>𝜇</m:t>
                                          </m:r>
                                        </m:e>
                                      </m:acc>
                                    </m:e>
                                    <m:sub>
                                      <m:r>
                                        <m:rPr/>
                                        <a:rPr lang="en-US" sz="2000" i="1">
                                          <a:latin typeface="Cambria Math"/>
                                        </a:rPr>
                                        <m:t>1</m:t>
                                      </m:r>
                                    </m:sub>
                                  </m:sSub>
                                </m:e>
                              </m:d>
                            </m:e>
                          </m:nary>
                          <m:d>
                            <m:dPr>
                              <m:ctrlPr>
                                <a:rPr lang="en-US" sz="2000" i="1">
                                  <a:latin typeface="Cambria Math"/>
                                  <a:ea typeface="Cambria Math"/>
                                  <a:cs typeface="Cambria Math"/>
                                </a:rPr>
                              </m:ctrlPr>
                            </m:dPr>
                            <m:e>
                              <m:sSub>
                                <m:sSubPr>
                                  <m:ctrlPr>
                                    <a:rPr lang="en-US" sz="2000" i="1">
                                      <a:latin typeface="Cambria Math"/>
                                      <a:ea typeface="Cambria Math"/>
                                      <a:cs typeface="Cambria Math"/>
                                    </a:rPr>
                                  </m:ctrlPr>
                                </m:sSubPr>
                                <m:e>
                                  <m:r>
                                    <m:rPr/>
                                    <a:rPr lang="en-US" sz="2000" i="1">
                                      <a:latin typeface="Cambria Math"/>
                                    </a:rPr>
                                    <m:t>𝑥</m:t>
                                  </m:r>
                                </m:e>
                                <m:sub>
                                  <m:r>
                                    <m:rPr/>
                                    <a:rPr lang="en-US" sz="2000" i="1">
                                      <a:latin typeface="Cambria Math"/>
                                    </a:rPr>
                                    <m:t>𝑖</m:t>
                                  </m:r>
                                  <m:r>
                                    <m:rPr/>
                                    <a:rPr lang="en-US" sz="2000" i="1">
                                      <a:latin typeface="Cambria Math"/>
                                    </a:rPr>
                                    <m:t>2</m:t>
                                  </m:r>
                                </m:sub>
                              </m:sSub>
                              <m:r>
                                <m:rPr/>
                                <a:rPr lang="en-US" sz="2000" i="1">
                                  <a:latin typeface="Cambria Math"/>
                                </a:rPr>
                                <m:t>−</m:t>
                              </m:r>
                              <m:sSub>
                                <m:sSubPr>
                                  <m:ctrlPr>
                                    <a:rPr lang="en-US" sz="2000" i="1">
                                      <a:latin typeface="Cambria Math"/>
                                      <a:ea typeface="Cambria Math"/>
                                      <a:cs typeface="Cambria Math"/>
                                    </a:rPr>
                                  </m:ctrlPr>
                                </m:sSubPr>
                                <m:e>
                                  <m:acc>
                                    <m:accPr>
                                      <m:chr m:val="̂"/>
                                      <m:ctrlPr>
                                        <a:rPr lang="en-US" sz="2000" i="1">
                                          <a:latin typeface="Cambria Math"/>
                                          <a:ea typeface="Cambria Math"/>
                                          <a:cs typeface="Cambria Math"/>
                                        </a:rPr>
                                      </m:ctrlPr>
                                    </m:accPr>
                                    <m:e>
                                      <m:r>
                                        <m:rPr/>
                                        <a:rPr lang="en-US" sz="2000" i="1">
                                          <a:latin typeface="Cambria Math"/>
                                        </a:rPr>
                                        <m:t>𝜇</m:t>
                                      </m:r>
                                    </m:e>
                                  </m:acc>
                                </m:e>
                                <m:sub>
                                  <m:r>
                                    <m:rPr/>
                                    <a:rPr lang="en-US" sz="2000" i="1">
                                      <a:latin typeface="Cambria Math"/>
                                    </a:rPr>
                                    <m:t>2</m:t>
                                  </m:r>
                                </m:sub>
                              </m:sSub>
                            </m:e>
                          </m:d>
                        </m:num>
                        <m:den>
                          <m:rad>
                            <m:radPr>
                              <m:degHide m:val="on"/>
                              <m:ctrlPr>
                                <a:rPr lang="en-US" sz="2000" i="1">
                                  <a:latin typeface="Cambria Math"/>
                                  <a:ea typeface="Cambria Math"/>
                                  <a:cs typeface="Cambria Math"/>
                                </a:rPr>
                              </m:ctrlPr>
                            </m:radPr>
                            <m:deg>
                              <m:r>
                                <m:rPr/>
                                <a:rPr>
                                  <a:latin typeface="Cambria Math"/>
                                  <a:ea typeface="Cambria Math"/>
                                  <a:cs typeface="Cambria Math"/>
                                </a:rPr>
                                <m:t/>
                              </m:r>
                            </m:deg>
                            <m:e>
                              <m:nary>
                                <m:naryPr>
                                  <m:chr m:val="∑"/>
                                  <m:grow m:val="off"/>
                                  <m:ctrlPr>
                                    <a:rPr lang="en-US" sz="2000" i="1">
                                      <a:latin typeface="Cambria Math"/>
                                      <a:ea typeface="Cambria Math"/>
                                      <a:cs typeface="Cambria Math"/>
                                    </a:rPr>
                                  </m:ctrlPr>
                                </m:naryPr>
                                <m:sub>
                                  <m:r>
                                    <m:rPr>
                                      <m:brk m:alnAt="23"/>
                                    </m:rPr>
                                    <a:rPr lang="en-US" sz="2000" i="1">
                                      <a:latin typeface="Cambria Math"/>
                                    </a:rPr>
                                    <m:t>𝑖</m:t>
                                  </m:r>
                                  <m:r>
                                    <m:rPr/>
                                    <a:rPr lang="en-US" sz="2000" i="1">
                                      <a:latin typeface="Cambria Math"/>
                                    </a:rPr>
                                    <m:t>=1</m:t>
                                  </m:r>
                                </m:sub>
                                <m:sup>
                                  <m:r>
                                    <m:rPr/>
                                    <a:rPr lang="en-US" sz="2000" i="1">
                                      <a:latin typeface="Cambria Math"/>
                                    </a:rPr>
                                    <m:t>𝑛</m:t>
                                  </m:r>
                                </m:sup>
                                <m:e>
                                  <m:sSup>
                                    <m:sSupPr>
                                      <m:ctrlPr>
                                        <a:rPr lang="en-US" sz="2000" i="1">
                                          <a:latin typeface="Cambria Math"/>
                                          <a:ea typeface="Cambria Math"/>
                                          <a:cs typeface="Cambria Math"/>
                                        </a:rPr>
                                      </m:ctrlPr>
                                    </m:sSupPr>
                                    <m:e>
                                      <m:d>
                                        <m:dPr>
                                          <m:ctrlPr>
                                            <a:rPr lang="en-US" sz="2000" i="1">
                                              <a:latin typeface="Cambria Math"/>
                                              <a:ea typeface="Cambria Math"/>
                                              <a:cs typeface="Cambria Math"/>
                                            </a:rPr>
                                          </m:ctrlPr>
                                        </m:dPr>
                                        <m:e>
                                          <m:sSub>
                                            <m:sSubPr>
                                              <m:ctrlPr>
                                                <a:rPr lang="en-US" sz="2000" i="1">
                                                  <a:latin typeface="Cambria Math"/>
                                                  <a:ea typeface="Cambria Math"/>
                                                  <a:cs typeface="Cambria Math"/>
                                                </a:rPr>
                                              </m:ctrlPr>
                                            </m:sSubPr>
                                            <m:e>
                                              <m:r>
                                                <m:rPr/>
                                                <a:rPr lang="en-US" sz="2000" i="1">
                                                  <a:latin typeface="Cambria Math"/>
                                                </a:rPr>
                                                <m:t>𝑥</m:t>
                                              </m:r>
                                            </m:e>
                                            <m:sub>
                                              <m:r>
                                                <m:rPr/>
                                                <a:rPr lang="en-US" sz="2000" i="1">
                                                  <a:latin typeface="Cambria Math"/>
                                                </a:rPr>
                                                <m:t>𝑖</m:t>
                                              </m:r>
                                              <m:r>
                                                <m:rPr/>
                                                <a:rPr lang="en-US" sz="2000" i="1">
                                                  <a:latin typeface="Cambria Math"/>
                                                </a:rPr>
                                                <m:t>1</m:t>
                                              </m:r>
                                            </m:sub>
                                          </m:sSub>
                                          <m:r>
                                            <m:rPr/>
                                            <a:rPr lang="en-US" sz="2000" i="1">
                                              <a:latin typeface="Cambria Math"/>
                                            </a:rPr>
                                            <m:t>−</m:t>
                                          </m:r>
                                          <m:sSub>
                                            <m:sSubPr>
                                              <m:ctrlPr>
                                                <a:rPr lang="en-US" sz="2000" i="1">
                                                  <a:latin typeface="Cambria Math"/>
                                                  <a:ea typeface="Cambria Math"/>
                                                  <a:cs typeface="Cambria Math"/>
                                                </a:rPr>
                                              </m:ctrlPr>
                                            </m:sSubPr>
                                            <m:e>
                                              <m:acc>
                                                <m:accPr>
                                                  <m:chr m:val="̂"/>
                                                  <m:ctrlPr>
                                                    <a:rPr lang="en-US" sz="2000" i="1">
                                                      <a:latin typeface="Cambria Math"/>
                                                      <a:ea typeface="Cambria Math"/>
                                                      <a:cs typeface="Cambria Math"/>
                                                    </a:rPr>
                                                  </m:ctrlPr>
                                                </m:accPr>
                                                <m:e>
                                                  <m:r>
                                                    <m:rPr/>
                                                    <a:rPr lang="en-US" sz="2000" i="1">
                                                      <a:latin typeface="Cambria Math"/>
                                                    </a:rPr>
                                                    <m:t>𝜇</m:t>
                                                  </m:r>
                                                </m:e>
                                              </m:acc>
                                            </m:e>
                                            <m:sub>
                                              <m:r>
                                                <m:rPr/>
                                                <a:rPr lang="en-US" sz="2000" i="1">
                                                  <a:latin typeface="Cambria Math"/>
                                                </a:rPr>
                                                <m:t>1</m:t>
                                              </m:r>
                                            </m:sub>
                                          </m:sSub>
                                        </m:e>
                                      </m:d>
                                    </m:e>
                                    <m:sup>
                                      <m:r>
                                        <m:rPr/>
                                        <a:rPr lang="en-US" sz="2000" i="1">
                                          <a:latin typeface="Cambria Math"/>
                                        </a:rPr>
                                        <m:t>2</m:t>
                                      </m:r>
                                    </m:sup>
                                  </m:sSup>
                                </m:e>
                              </m:nary>
                              <m:sSup>
                                <m:sSupPr>
                                  <m:ctrlPr>
                                    <a:rPr lang="en-US" sz="2000" i="1">
                                      <a:latin typeface="Cambria Math"/>
                                      <a:ea typeface="Cambria Math"/>
                                      <a:cs typeface="Cambria Math"/>
                                    </a:rPr>
                                  </m:ctrlPr>
                                </m:sSupPr>
                                <m:e>
                                  <m:nary>
                                    <m:naryPr>
                                      <m:chr m:val="∑"/>
                                      <m:grow m:val="off"/>
                                      <m:limLoc m:val="subSup"/>
                                      <m:ctrlPr>
                                        <a:rPr lang="en-US" sz="2000" i="1">
                                          <a:latin typeface="Cambria Math"/>
                                          <a:ea typeface="Cambria Math"/>
                                          <a:cs typeface="Cambria Math"/>
                                        </a:rPr>
                                      </m:ctrlPr>
                                    </m:naryPr>
                                    <m:sub>
                                      <m:r>
                                        <m:rPr>
                                          <m:brk m:alnAt="25"/>
                                        </m:rPr>
                                        <a:rPr lang="en-US" sz="2000" b="0" i="1">
                                          <a:latin typeface="Cambria Math"/>
                                        </a:rPr>
                                        <m:t>𝑖</m:t>
                                      </m:r>
                                      <m:r>
                                        <m:rPr/>
                                        <a:rPr lang="en-US" sz="2000" b="0" i="1">
                                          <a:latin typeface="Cambria Math"/>
                                        </a:rPr>
                                        <m:t>=1</m:t>
                                      </m:r>
                                    </m:sub>
                                    <m:sup>
                                      <m:r>
                                        <m:rPr/>
                                        <a:rPr lang="en-US" sz="2000" b="0" i="1">
                                          <a:latin typeface="Cambria Math"/>
                                        </a:rPr>
                                        <m:t>𝑛</m:t>
                                      </m:r>
                                    </m:sup>
                                    <m:e>
                                      <m:d>
                                        <m:dPr>
                                          <m:ctrlPr>
                                            <a:rPr lang="en-US" sz="2000" i="1">
                                              <a:latin typeface="Cambria Math"/>
                                              <a:ea typeface="Cambria Math"/>
                                              <a:cs typeface="Cambria Math"/>
                                            </a:rPr>
                                          </m:ctrlPr>
                                        </m:dPr>
                                        <m:e>
                                          <m:sSub>
                                            <m:sSubPr>
                                              <m:ctrlPr>
                                                <a:rPr lang="en-US" sz="2000" i="1">
                                                  <a:latin typeface="Cambria Math"/>
                                                  <a:ea typeface="Cambria Math"/>
                                                  <a:cs typeface="Cambria Math"/>
                                                </a:rPr>
                                              </m:ctrlPr>
                                            </m:sSubPr>
                                            <m:e>
                                              <m:r>
                                                <m:rPr/>
                                                <a:rPr lang="en-US" sz="2000" i="1">
                                                  <a:latin typeface="Cambria Math"/>
                                                </a:rPr>
                                                <m:t>𝑥</m:t>
                                              </m:r>
                                            </m:e>
                                            <m:sub>
                                              <m:r>
                                                <m:rPr/>
                                                <a:rPr lang="en-US" sz="2000" i="1">
                                                  <a:latin typeface="Cambria Math"/>
                                                </a:rPr>
                                                <m:t>𝑖</m:t>
                                              </m:r>
                                              <m:r>
                                                <m:rPr/>
                                                <a:rPr lang="en-US" sz="2000" i="1">
                                                  <a:latin typeface="Cambria Math"/>
                                                </a:rPr>
                                                <m:t>2</m:t>
                                              </m:r>
                                            </m:sub>
                                          </m:sSub>
                                          <m:r>
                                            <m:rPr/>
                                            <a:rPr lang="en-US" sz="2000" i="1">
                                              <a:latin typeface="Cambria Math"/>
                                            </a:rPr>
                                            <m:t>−</m:t>
                                          </m:r>
                                          <m:sSub>
                                            <m:sSubPr>
                                              <m:ctrlPr>
                                                <a:rPr lang="en-US" sz="2000" i="1">
                                                  <a:latin typeface="Cambria Math"/>
                                                  <a:ea typeface="Cambria Math"/>
                                                  <a:cs typeface="Cambria Math"/>
                                                </a:rPr>
                                              </m:ctrlPr>
                                            </m:sSubPr>
                                            <m:e>
                                              <m:acc>
                                                <m:accPr>
                                                  <m:chr m:val="̂"/>
                                                  <m:ctrlPr>
                                                    <a:rPr lang="en-US" sz="2000" i="1">
                                                      <a:latin typeface="Cambria Math"/>
                                                      <a:ea typeface="Cambria Math"/>
                                                      <a:cs typeface="Cambria Math"/>
                                                    </a:rPr>
                                                  </m:ctrlPr>
                                                </m:accPr>
                                                <m:e>
                                                  <m:r>
                                                    <m:rPr/>
                                                    <a:rPr lang="en-US" sz="2000" i="1">
                                                      <a:latin typeface="Cambria Math"/>
                                                    </a:rPr>
                                                    <m:t>𝜇</m:t>
                                                  </m:r>
                                                </m:e>
                                              </m:acc>
                                            </m:e>
                                            <m:sub>
                                              <m:r>
                                                <m:rPr/>
                                                <a:rPr lang="en-US" sz="2000" i="1">
                                                  <a:latin typeface="Cambria Math"/>
                                                </a:rPr>
                                                <m:t>2</m:t>
                                              </m:r>
                                            </m:sub>
                                          </m:sSub>
                                        </m:e>
                                      </m:d>
                                    </m:e>
                                  </m:nary>
                                </m:e>
                                <m:sup>
                                  <m:r>
                                    <m:rPr/>
                                    <a:rPr lang="en-US" sz="2000" i="1">
                                      <a:latin typeface="Cambria Math"/>
                                    </a:rPr>
                                    <m:t>2</m:t>
                                  </m:r>
                                </m:sup>
                              </m:sSup>
                            </m:e>
                          </m:rad>
                        </m:den>
                      </m:f>
                    </m:oMath>
                  </m:oMathPara>
                </a14:m>
              </mc:Choice>
              <mc:Fallback/>
            </mc:AlternateContent>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55393984" name="Rectangle 2"/>
          <p:cNvSpPr>
            <a:spLocks noChangeArrowheads="1" noGrp="1"/>
          </p:cNvSpPr>
          <p:nvPr>
            <p:ph type="title"/>
          </p:nvPr>
        </p:nvSpPr>
        <p:spPr bwMode="auto">
          <a:xfrm>
            <a:off x="0" y="228600"/>
            <a:ext cx="12192000" cy="762000"/>
          </a:xfrm>
        </p:spPr>
        <p:txBody>
          <a:bodyPr anchor="t">
            <a:normAutofit/>
          </a:bodyPr>
          <a:lstStyle/>
          <a:p>
            <a:pPr>
              <a:defRPr/>
            </a:pPr>
            <a:r>
              <a:rPr lang="en-US" sz="3000"/>
              <a:t>Trực quan hóa sự thay đổi của hệ số tương quan</a:t>
            </a:r>
            <a:endParaRPr/>
          </a:p>
        </p:txBody>
      </p:sp>
      <p:sp>
        <p:nvSpPr>
          <p:cNvPr id="1091947422" name="Rectangle 3"/>
          <p:cNvSpPr>
            <a:spLocks noChangeArrowheads="1" noGrp="1"/>
          </p:cNvSpPr>
          <p:nvPr>
            <p:ph type="body" idx="1"/>
          </p:nvPr>
        </p:nvSpPr>
        <p:spPr bwMode="auto">
          <a:xfrm>
            <a:off x="6224668" y="2496963"/>
            <a:ext cx="4997512" cy="2143534"/>
          </a:xfrm>
        </p:spPr>
        <p:txBody>
          <a:bodyPr/>
          <a:lstStyle/>
          <a:p>
            <a:pPr defTabSz="914400">
              <a:spcBef>
                <a:spcPts val="0"/>
              </a:spcBef>
              <a:spcAft>
                <a:spcPts val="0"/>
              </a:spcAft>
              <a:defRPr/>
            </a:pPr>
            <a:r>
              <a:rPr lang="en-US" sz="2000">
                <a:solidFill>
                  <a:srgbClr val="000000"/>
                </a:solidFill>
              </a:rPr>
              <a:t>Miền giá trị của hệ số tương quan: [–1, 1]</a:t>
            </a:r>
            <a:endParaRPr/>
          </a:p>
          <a:p>
            <a:pPr defTabSz="914400">
              <a:spcBef>
                <a:spcPts val="0"/>
              </a:spcBef>
              <a:spcAft>
                <a:spcPts val="0"/>
              </a:spcAft>
              <a:defRPr/>
            </a:pPr>
            <a:r>
              <a:rPr lang="en-US" sz="2000">
                <a:solidFill>
                  <a:srgbClr val="000000"/>
                </a:solidFill>
              </a:rPr>
              <a:t>Một tập các biểu đồ phân tán cho thấy các tập điểm và hệ số tương quan của chúng thay đổi từ –1 đến 1 </a:t>
            </a:r>
            <a:r>
              <a:rPr lang="en-US" sz="2000"/>
              <a:t> </a:t>
            </a:r>
            <a:endParaRPr/>
          </a:p>
        </p:txBody>
      </p:sp>
      <p:graphicFrame>
        <p:nvGraphicFramePr>
          <p:cNvPr id="1266574162" name="Object 3"/>
          <p:cNvGraphicFramePr>
            <a:graphicFrameLocks xmlns:a="http://schemas.openxmlformats.org/drawingml/2006/main" noChangeAspect="1"/>
          </p:cNvGraphicFramePr>
          <p:nvPr/>
        </p:nvGraphicFramePr>
        <p:xfrm>
          <a:off x="0" y="1256281"/>
          <a:ext cx="6096000" cy="5381625"/>
        </p:xfrm>
        <a:graphic>
          <a:graphicData uri="http://schemas.openxmlformats.org/presentationml/2006/ole">
            <p:oleObj name="oleObj" r:id="rId4" imgW="6035040" imgH="5783580" progId="Paint.Picture">
              <p:embed/>
              <p:pic>
                <p:nvPicPr>
                  <p:cNvPr id="1266574162" name="Object 3"/>
                  <p:cNvPicPr/>
                  <p:nvPr/>
                </p:nvPicPr>
                <p:blipFill rotWithShape="1">
                  <a:blip r:embed="rId3"/>
                  <a:srcRect l="0" t="0" r="0" b="7918"/>
                  <a:stretch/>
                </p:blipFill>
                <p:spPr bwMode="auto">
                  <a:xfrm>
                    <a:off x="0" y="1256281"/>
                    <a:ext cx="6096000" cy="5381625"/>
                  </a:xfrm>
                  <a:prstGeom prst="rect">
                    <a:avLst/>
                  </a:prstGeom>
                  <a:noFill/>
                  <a:ln>
                    <a:noFill/>
                  </a:ln>
                  <a:effectLst/>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16600408" name="Rectangle 2"/>
          <p:cNvSpPr>
            <a:spLocks noChangeArrowheads="1" noGrp="1"/>
          </p:cNvSpPr>
          <p:nvPr>
            <p:ph type="title"/>
          </p:nvPr>
        </p:nvSpPr>
        <p:spPr bwMode="auto">
          <a:xfrm>
            <a:off x="711200" y="228600"/>
            <a:ext cx="10668000" cy="762000"/>
          </a:xfrm>
        </p:spPr>
        <p:txBody>
          <a:bodyPr anchor="t">
            <a:normAutofit/>
          </a:bodyPr>
          <a:lstStyle/>
          <a:p>
            <a:pPr>
              <a:defRPr/>
            </a:pPr>
            <a:r>
              <a:rPr lang="en-US"/>
              <a:t>Ma trận hiệp phương sai</a:t>
            </a:r>
            <a:endParaRPr/>
          </a:p>
        </p:txBody>
      </p:sp>
      <p:sp>
        <p:nvSpPr>
          <p:cNvPr id="601511143" name="Rectangle 3"/>
          <p:cNvSpPr>
            <a:spLocks noChangeArrowheads="1" noGrp="1"/>
          </p:cNvSpPr>
          <p:nvPr>
            <p:ph type="body" idx="1"/>
          </p:nvPr>
        </p:nvSpPr>
        <p:spPr bwMode="auto">
          <a:xfrm>
            <a:off x="628934" y="1183315"/>
            <a:ext cx="9896191" cy="3312485"/>
          </a:xfrm>
        </p:spPr>
        <p:txBody>
          <a:bodyPr/>
          <a:lstStyle/>
          <a:p>
            <a:pPr>
              <a:spcAft>
                <a:spcPts val="600"/>
              </a:spcAft>
              <a:defRPr/>
            </a:pPr>
            <a:r>
              <a:rPr lang="en-US" sz="2000">
                <a:latin typeface="Calibri"/>
              </a:rPr>
              <a:t>Thông tin phương sai và hiệp phương sai của hai biến X</a:t>
            </a:r>
            <a:r>
              <a:rPr lang="en-US" sz="2000" baseline="-25000">
                <a:latin typeface="Calibri"/>
              </a:rPr>
              <a:t>1</a:t>
            </a:r>
            <a:r>
              <a:rPr lang="en-US" sz="2000">
                <a:latin typeface="Calibri"/>
              </a:rPr>
              <a:t> và X</a:t>
            </a:r>
            <a:r>
              <a:rPr lang="en-US" sz="2000" baseline="-25000">
                <a:latin typeface="Calibri"/>
              </a:rPr>
              <a:t>2</a:t>
            </a:r>
            <a:r>
              <a:rPr lang="en-US" sz="2000">
                <a:latin typeface="Calibri"/>
              </a:rPr>
              <a:t> có thể được tóm tắt dưới dạng ma trận hiệp phương sai 2 X 2 như sau </a:t>
            </a:r>
            <a:endParaRPr/>
          </a:p>
          <a:p>
            <a:pPr>
              <a:spcAft>
                <a:spcPts val="600"/>
              </a:spcAft>
              <a:defRPr/>
            </a:pPr>
            <a:endParaRPr lang="en-US" sz="2400">
              <a:latin typeface="Calibri"/>
            </a:endParaRPr>
          </a:p>
          <a:p>
            <a:pPr marL="0" indent="0">
              <a:spcAft>
                <a:spcPts val="600"/>
              </a:spcAft>
              <a:buNone/>
              <a:defRPr/>
            </a:pPr>
            <a:endParaRPr lang="en-US" sz="2400">
              <a:latin typeface="Calibri"/>
            </a:endParaRPr>
          </a:p>
          <a:p>
            <a:pPr marL="0" indent="0">
              <a:spcAft>
                <a:spcPts val="600"/>
              </a:spcAft>
              <a:buNone/>
              <a:defRPr/>
            </a:pPr>
            <a:endParaRPr lang="en-US" sz="2400">
              <a:latin typeface="Calibri"/>
            </a:endParaRPr>
          </a:p>
          <a:p>
            <a:pPr marL="0" indent="0">
              <a:spcAft>
                <a:spcPts val="600"/>
              </a:spcAft>
              <a:buNone/>
              <a:defRPr/>
            </a:pPr>
            <a:endParaRPr lang="en-US" sz="2400">
              <a:latin typeface="Calibri"/>
            </a:endParaRPr>
          </a:p>
          <a:p>
            <a:pPr>
              <a:spcAft>
                <a:spcPts val="600"/>
              </a:spcAft>
              <a:defRPr/>
            </a:pPr>
            <a:r>
              <a:rPr lang="en-US" sz="2000">
                <a:latin typeface="Calibri"/>
              </a:rPr>
              <a:t>Tổng quát hóa lên </a:t>
            </a:r>
            <a:r>
              <a:rPr lang="en-US" sz="2000" i="1">
                <a:latin typeface="Calibri"/>
              </a:rPr>
              <a:t>d</a:t>
            </a:r>
            <a:r>
              <a:rPr lang="en-US" sz="2000">
                <a:latin typeface="Calibri"/>
              </a:rPr>
              <a:t> chiều, ta có,</a:t>
            </a:r>
            <a:endParaRPr/>
          </a:p>
          <a:p>
            <a:pPr marL="0" indent="0">
              <a:spcBef>
                <a:spcPts val="1200"/>
              </a:spcBef>
              <a:buNone/>
              <a:defRPr/>
            </a:pPr>
            <a:endParaRPr lang="en-US" sz="2000">
              <a:latin typeface="Calibri"/>
            </a:endParaRPr>
          </a:p>
        </p:txBody>
      </p:sp>
      <p:graphicFrame>
        <p:nvGraphicFramePr>
          <p:cNvPr id="1476510622" name="Object 5"/>
          <p:cNvGraphicFramePr>
            <a:graphicFrameLocks xmlns:a="http://schemas.openxmlformats.org/drawingml/2006/main" noChangeAspect="1"/>
          </p:cNvGraphicFramePr>
          <p:nvPr/>
        </p:nvGraphicFramePr>
        <p:xfrm>
          <a:off x="2138494" y="1812140"/>
          <a:ext cx="6478949" cy="832516"/>
        </p:xfrm>
        <a:graphic>
          <a:graphicData uri="http://schemas.openxmlformats.org/presentationml/2006/ole">
            <p:oleObj name="oleObj" r:id="rId4" imgW="3555365" imgH="457200" progId="Equation.DSMT4">
              <p:embed/>
              <p:pic>
                <p:nvPicPr>
                  <p:cNvPr id="1476510622" name="Object 5"/>
                  <p:cNvPicPr/>
                  <p:nvPr/>
                </p:nvPicPr>
                <p:blipFill rotWithShape="1">
                  <a:blip r:embed="rId3"/>
                  <a:stretch/>
                </p:blipFill>
                <p:spPr bwMode="auto">
                  <a:xfrm>
                    <a:off x="2138494" y="1812140"/>
                    <a:ext cx="6478949" cy="832516"/>
                  </a:xfrm>
                  <a:prstGeom prst="rect">
                    <a:avLst/>
                  </a:prstGeom>
                </p:spPr>
              </p:pic>
            </p:oleObj>
          </a:graphicData>
        </a:graphic>
      </p:graphicFrame>
      <p:graphicFrame>
        <p:nvGraphicFramePr>
          <p:cNvPr id="232186441" name="Object 6"/>
          <p:cNvGraphicFramePr>
            <a:graphicFrameLocks xmlns:a="http://schemas.openxmlformats.org/drawingml/2006/main" noChangeAspect="1"/>
          </p:cNvGraphicFramePr>
          <p:nvPr/>
        </p:nvGraphicFramePr>
        <p:xfrm>
          <a:off x="2304170" y="2564377"/>
          <a:ext cx="5621510" cy="1742683"/>
        </p:xfrm>
        <a:graphic>
          <a:graphicData uri="http://schemas.openxmlformats.org/presentationml/2006/ole">
            <p:oleObj name="oleObj" r:id="rId6" imgW="3110865" imgH="964565" progId="Equation.DSMT4">
              <p:embed/>
              <p:pic>
                <p:nvPicPr>
                  <p:cNvPr id="232186441" name="Object 6"/>
                  <p:cNvPicPr/>
                  <p:nvPr/>
                </p:nvPicPr>
                <p:blipFill rotWithShape="1">
                  <a:blip r:embed="rId5"/>
                  <a:stretch/>
                </p:blipFill>
                <p:spPr bwMode="auto">
                  <a:xfrm>
                    <a:off x="2304170" y="2564377"/>
                    <a:ext cx="5621510" cy="1742683"/>
                  </a:xfrm>
                  <a:prstGeom prst="rect">
                    <a:avLst/>
                  </a:prstGeom>
                </p:spPr>
              </p:pic>
            </p:oleObj>
          </a:graphicData>
        </a:graphic>
      </p:graphicFrame>
      <p:pic>
        <p:nvPicPr>
          <p:cNvPr id="640558689" name="Picture 1"/>
          <p:cNvPicPr>
            <a:picLocks noChangeAspect="1"/>
          </p:cNvPicPr>
          <p:nvPr/>
        </p:nvPicPr>
        <p:blipFill rotWithShape="1">
          <a:blip r:embed="rId7">
            <a:extLst>
              <a:ext uri="{96DAC541-7B7A-43D3-8B79-37D633B846F1}">
                <asvg:svgBlip xmlns:asvg="http://schemas.microsoft.com/office/drawing/2016/SVG/main" r:embed="rId8"/>
              </a:ext>
            </a:extLst>
          </a:blip>
          <a:stretch/>
        </p:blipFill>
        <p:spPr bwMode="auto">
          <a:xfrm>
            <a:off x="711200" y="4697506"/>
            <a:ext cx="4403725" cy="1800458"/>
          </a:xfrm>
          <a:prstGeom prst="rect">
            <a:avLst/>
          </a:prstGeom>
        </p:spPr>
      </p:pic>
      <p:pic>
        <p:nvPicPr>
          <p:cNvPr id="258601768" name="Picture 2"/>
          <p:cNvPicPr>
            <a:picLocks noChangeAspect="1"/>
          </p:cNvPicPr>
          <p:nvPr/>
        </p:nvPicPr>
        <p:blipFill rotWithShape="1">
          <a:blip r:embed="rId9">
            <a:extLst>
              <a:ext uri="{96DAC541-7B7A-43D3-8B79-37D633B846F1}">
                <asvg:svgBlip xmlns:asvg="http://schemas.microsoft.com/office/drawing/2016/SVG/main" r:embed="rId10"/>
              </a:ext>
            </a:extLst>
          </a:blip>
          <a:stretch/>
        </p:blipFill>
        <p:spPr bwMode="auto">
          <a:xfrm>
            <a:off x="5377968" y="4767783"/>
            <a:ext cx="6334125" cy="165990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94220097" name="Rectangle 2"/>
          <p:cNvSpPr>
            <a:spLocks noChangeArrowheads="1" noGrp="1"/>
          </p:cNvSpPr>
          <p:nvPr>
            <p:ph type="title"/>
          </p:nvPr>
        </p:nvSpPr>
        <p:spPr bwMode="auto">
          <a:xfrm>
            <a:off x="0" y="228600"/>
            <a:ext cx="12192000" cy="762000"/>
          </a:xfrm>
        </p:spPr>
        <p:txBody>
          <a:bodyPr anchor="t">
            <a:noAutofit/>
          </a:bodyPr>
          <a:lstStyle/>
          <a:p>
            <a:pPr>
              <a:defRPr/>
            </a:pPr>
            <a:r>
              <a:rPr lang="en-US"/>
              <a:t>Biểu diễn đồ họa các mô tả thống kê cơ bản</a:t>
            </a:r>
            <a:endParaRPr/>
          </a:p>
        </p:txBody>
      </p:sp>
      <p:sp>
        <p:nvSpPr>
          <p:cNvPr id="18922409" name="Rectangle 3"/>
          <p:cNvSpPr>
            <a:spLocks noChangeArrowheads="1" noGrp="1"/>
          </p:cNvSpPr>
          <p:nvPr>
            <p:ph type="body" idx="1"/>
          </p:nvPr>
        </p:nvSpPr>
        <p:spPr bwMode="auto">
          <a:xfrm>
            <a:off x="571499" y="1219200"/>
            <a:ext cx="11049001" cy="5384800"/>
          </a:xfrm>
        </p:spPr>
        <p:txBody>
          <a:bodyPr/>
          <a:lstStyle/>
          <a:p>
            <a:pPr>
              <a:spcAft>
                <a:spcPts val="600"/>
              </a:spcAft>
              <a:buSzPct val="80000"/>
              <a:defRPr/>
            </a:pPr>
            <a:r>
              <a:rPr lang="en-US" sz="2000" b="1"/>
              <a:t>Biểu đồ hộp</a:t>
            </a:r>
            <a:r>
              <a:rPr lang="en-US" sz="2000"/>
              <a:t>: biểu diễn đồ họa của bản tóm tắt năm số</a:t>
            </a:r>
            <a:endParaRPr/>
          </a:p>
          <a:p>
            <a:pPr>
              <a:spcAft>
                <a:spcPts val="600"/>
              </a:spcAft>
              <a:buSzPct val="80000"/>
              <a:defRPr/>
            </a:pPr>
            <a:r>
              <a:rPr lang="en-US" sz="2000" b="1"/>
              <a:t>Biểu đồ tần suất (Histogram)</a:t>
            </a:r>
            <a:r>
              <a:rPr lang="en-US" sz="2000"/>
              <a:t>: trục x là các giá trị, trục y </a:t>
            </a:r>
            <a:r>
              <a:rPr lang="en-US" sz="2000"/>
              <a:t>biểu diễn</a:t>
            </a:r>
            <a:r>
              <a:rPr lang="en-US" sz="2000"/>
              <a:t> tần suất </a:t>
            </a:r>
            <a:endParaRPr/>
          </a:p>
          <a:p>
            <a:pPr>
              <a:spcAft>
                <a:spcPts val="600"/>
              </a:spcAft>
              <a:buSzPct val="80000"/>
              <a:defRPr/>
            </a:pPr>
            <a:r>
              <a:rPr lang="en-US" sz="2000" b="1"/>
              <a:t>Biểu đồ phân vị</a:t>
            </a:r>
            <a:r>
              <a:rPr lang="en-US" sz="2000"/>
              <a:t>:  mỗi giá trị </a:t>
            </a:r>
            <a:r>
              <a:rPr lang="en-US" sz="2000" i="1"/>
              <a:t>x</a:t>
            </a:r>
            <a:r>
              <a:rPr lang="en-US" sz="2000" i="1" baseline="-25000"/>
              <a:t>i</a:t>
            </a:r>
            <a:r>
              <a:rPr lang="en-US" sz="2000" baseline="-25000"/>
              <a:t>  </a:t>
            </a:r>
            <a:r>
              <a:rPr lang="en-US" sz="2000"/>
              <a:t>được ghép với </a:t>
            </a:r>
            <a:r>
              <a:rPr lang="en-US" sz="2000" i="1"/>
              <a:t>f</a:t>
            </a:r>
            <a:r>
              <a:rPr lang="en-US" sz="2000" i="1" baseline="-25000"/>
              <a:t>i </a:t>
            </a:r>
            <a:r>
              <a:rPr lang="en-US" sz="2000"/>
              <a:t> cho biết rằng xấp xỉ 100 </a:t>
            </a:r>
            <a:r>
              <a:rPr lang="en-US" sz="2000" i="1"/>
              <a:t>f</a:t>
            </a:r>
            <a:r>
              <a:rPr lang="en-US" sz="2000" i="1" baseline="-25000"/>
              <a:t>i </a:t>
            </a:r>
            <a:r>
              <a:rPr lang="en-US" sz="2000"/>
              <a:t>% dữ liệu  nhỏ hơn hoặc bằng </a:t>
            </a:r>
            <a:r>
              <a:rPr lang="en-US" sz="2000"/>
              <a:t></a:t>
            </a:r>
            <a:r>
              <a:rPr lang="en-US" sz="2000"/>
              <a:t> </a:t>
            </a:r>
            <a:r>
              <a:rPr lang="en-US" sz="2000" i="1"/>
              <a:t>x</a:t>
            </a:r>
            <a:r>
              <a:rPr lang="en-US" sz="2000" i="1" baseline="-25000"/>
              <a:t>i</a:t>
            </a:r>
            <a:r>
              <a:rPr lang="en-US" sz="2000" baseline="-25000"/>
              <a:t> </a:t>
            </a:r>
            <a:endParaRPr lang="en-US" sz="2400"/>
          </a:p>
          <a:p>
            <a:pPr>
              <a:spcAft>
                <a:spcPts val="600"/>
              </a:spcAft>
              <a:buSzPct val="80000"/>
              <a:defRPr/>
            </a:pPr>
            <a:r>
              <a:rPr lang="en-US" sz="2000" b="1"/>
              <a:t>Biểu đồ phân vị-phân vị (q-q)</a:t>
            </a:r>
            <a:r>
              <a:rPr lang="en-US" sz="2000"/>
              <a:t>: vẽ các phân vị của một phân bố đơn biến so với các phân vị tương ứng của một phân bố khác</a:t>
            </a:r>
            <a:endParaRPr/>
          </a:p>
          <a:p>
            <a:pPr>
              <a:spcAft>
                <a:spcPts val="600"/>
              </a:spcAft>
              <a:buSzPct val="80000"/>
              <a:defRPr/>
            </a:pPr>
            <a:r>
              <a:rPr lang="en-US" sz="2000" b="1"/>
              <a:t>Biểu đồ phân tán</a:t>
            </a:r>
            <a:r>
              <a:rPr lang="en-US" sz="2000"/>
              <a:t>: mỗi cặp giá trị là một cặp tọa độ và được vẽ dưới dạng điểm trên mặt phẳng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79063022" name="Rectangle 2"/>
          <p:cNvSpPr>
            <a:spLocks noChangeArrowheads="1" noGrp="1"/>
          </p:cNvSpPr>
          <p:nvPr>
            <p:ph type="title"/>
          </p:nvPr>
        </p:nvSpPr>
        <p:spPr bwMode="auto">
          <a:xfrm>
            <a:off x="-71718" y="0"/>
            <a:ext cx="12263718" cy="950259"/>
          </a:xfrm>
        </p:spPr>
        <p:txBody>
          <a:bodyPr anchor="t">
            <a:noAutofit/>
          </a:bodyPr>
          <a:lstStyle/>
          <a:p>
            <a:pPr>
              <a:defRPr/>
            </a:pPr>
            <a:r>
              <a:rPr lang="en-US" sz="3000"/>
              <a:t>Đo độ phân tán của dữ liệu: Tứ phân vị và biểu đồ hộp   </a:t>
            </a:r>
            <a:endParaRPr/>
          </a:p>
        </p:txBody>
      </p:sp>
      <p:sp>
        <p:nvSpPr>
          <p:cNvPr id="1409186797" name="Rectangle 3"/>
          <p:cNvSpPr>
            <a:spLocks noChangeArrowheads="1" noGrp="1"/>
          </p:cNvSpPr>
          <p:nvPr>
            <p:ph type="body" sz="half" idx="1"/>
          </p:nvPr>
        </p:nvSpPr>
        <p:spPr bwMode="auto">
          <a:xfrm>
            <a:off x="571500" y="1164292"/>
            <a:ext cx="7153364" cy="4516072"/>
          </a:xfrm>
        </p:spPr>
        <p:txBody>
          <a:bodyPr/>
          <a:lstStyle/>
          <a:p>
            <a:pPr>
              <a:spcAft>
                <a:spcPts val="600"/>
              </a:spcAft>
              <a:defRPr/>
            </a:pPr>
            <a:r>
              <a:rPr lang="en-US" sz="1600" b="1">
                <a:latin typeface="Calibri"/>
              </a:rPr>
              <a:t>Tứ phân vị</a:t>
            </a:r>
            <a:r>
              <a:rPr lang="en-US" sz="1600">
                <a:latin typeface="Calibri"/>
              </a:rPr>
              <a:t>: Q</a:t>
            </a:r>
            <a:r>
              <a:rPr lang="en-US" sz="1600" baseline="-25000">
                <a:latin typeface="Calibri"/>
              </a:rPr>
              <a:t>1</a:t>
            </a:r>
            <a:r>
              <a:rPr lang="en-US" sz="1600">
                <a:latin typeface="Calibri"/>
              </a:rPr>
              <a:t> (phân vị thứ 25</a:t>
            </a:r>
            <a:r>
              <a:rPr lang="en-US" sz="1600" baseline="30000">
                <a:latin typeface="Calibri"/>
              </a:rPr>
              <a:t>th</a:t>
            </a:r>
            <a:r>
              <a:rPr lang="en-US" sz="1600">
                <a:latin typeface="Calibri"/>
              </a:rPr>
              <a:t>), Q</a:t>
            </a:r>
            <a:r>
              <a:rPr lang="en-US" sz="1600" baseline="-25000">
                <a:latin typeface="Calibri"/>
              </a:rPr>
              <a:t>3</a:t>
            </a:r>
            <a:r>
              <a:rPr lang="en-US" sz="1600">
                <a:latin typeface="Calibri"/>
              </a:rPr>
              <a:t> (phân vị thứ 75</a:t>
            </a:r>
            <a:r>
              <a:rPr lang="en-US" sz="1600" baseline="30000">
                <a:latin typeface="Calibri"/>
              </a:rPr>
              <a:t>th</a:t>
            </a:r>
            <a:r>
              <a:rPr lang="en-US" sz="1600">
                <a:latin typeface="Calibri"/>
              </a:rPr>
              <a:t>)</a:t>
            </a:r>
            <a:endParaRPr/>
          </a:p>
          <a:p>
            <a:pPr>
              <a:spcAft>
                <a:spcPts val="600"/>
              </a:spcAft>
              <a:defRPr/>
            </a:pPr>
            <a:r>
              <a:rPr lang="en-US" sz="1600" b="1">
                <a:latin typeface="Calibri"/>
              </a:rPr>
              <a:t>Khoảng tứ phân vị</a:t>
            </a:r>
            <a:r>
              <a:rPr lang="en-US" sz="1600">
                <a:latin typeface="Calibri"/>
              </a:rPr>
              <a:t>: IQR = Q</a:t>
            </a:r>
            <a:r>
              <a:rPr lang="en-US" sz="1600" baseline="-25000">
                <a:latin typeface="Calibri"/>
              </a:rPr>
              <a:t>3 </a:t>
            </a:r>
            <a:r>
              <a:rPr lang="en-US" sz="1600">
                <a:latin typeface="Calibri"/>
              </a:rPr>
              <a:t>–</a:t>
            </a:r>
            <a:r>
              <a:rPr lang="en-US" sz="1600" baseline="-25000">
                <a:latin typeface="Calibri"/>
              </a:rPr>
              <a:t> </a:t>
            </a:r>
            <a:r>
              <a:rPr lang="en-US" sz="1600">
                <a:latin typeface="Calibri"/>
              </a:rPr>
              <a:t>Q</a:t>
            </a:r>
            <a:r>
              <a:rPr lang="en-US" sz="1600" baseline="-25000">
                <a:latin typeface="Calibri"/>
              </a:rPr>
              <a:t>1 </a:t>
            </a:r>
            <a:endParaRPr/>
          </a:p>
          <a:p>
            <a:pPr>
              <a:spcAft>
                <a:spcPts val="600"/>
              </a:spcAft>
              <a:defRPr/>
            </a:pPr>
            <a:r>
              <a:rPr lang="en-US" sz="1600" b="1">
                <a:latin typeface="Calibri"/>
              </a:rPr>
              <a:t>Tóm tắt năm số</a:t>
            </a:r>
            <a:r>
              <a:rPr lang="en-US" sz="1600">
                <a:latin typeface="Calibri"/>
              </a:rPr>
              <a:t>: nhỏ nhất, Q</a:t>
            </a:r>
            <a:r>
              <a:rPr lang="en-US" sz="1600" baseline="-25000">
                <a:latin typeface="Calibri"/>
              </a:rPr>
              <a:t>1</a:t>
            </a:r>
            <a:r>
              <a:rPr lang="en-US" sz="1600">
                <a:latin typeface="Calibri"/>
              </a:rPr>
              <a:t>, trung vị,</a:t>
            </a:r>
            <a:r>
              <a:rPr lang="en-US" sz="1600" baseline="-25000">
                <a:latin typeface="Calibri"/>
              </a:rPr>
              <a:t> </a:t>
            </a:r>
            <a:r>
              <a:rPr lang="en-US" sz="1600">
                <a:latin typeface="Calibri"/>
              </a:rPr>
              <a:t>Q</a:t>
            </a:r>
            <a:r>
              <a:rPr lang="en-US" sz="1600" baseline="-25000">
                <a:latin typeface="Calibri"/>
              </a:rPr>
              <a:t>3</a:t>
            </a:r>
            <a:r>
              <a:rPr lang="en-US" sz="1600">
                <a:latin typeface="Calibri"/>
              </a:rPr>
              <a:t>, lớn nhất</a:t>
            </a:r>
            <a:endParaRPr/>
          </a:p>
          <a:p>
            <a:pPr>
              <a:spcAft>
                <a:spcPts val="600"/>
              </a:spcAft>
              <a:defRPr/>
            </a:pPr>
            <a:r>
              <a:rPr lang="en-US" sz="1600" b="1">
                <a:latin typeface="Calibri"/>
              </a:rPr>
              <a:t>Biểu đồ hộp</a:t>
            </a:r>
            <a:r>
              <a:rPr lang="en-US" sz="1600">
                <a:latin typeface="Calibri"/>
              </a:rPr>
              <a:t>: Dữ liệu được biểu diễn bằng một hộp</a:t>
            </a:r>
            <a:endParaRPr/>
          </a:p>
          <a:p>
            <a:pPr lvl="1">
              <a:lnSpc>
                <a:spcPct val="120000"/>
              </a:lnSpc>
              <a:defRPr/>
            </a:pPr>
            <a:r>
              <a:rPr lang="en-US" sz="1400">
                <a:latin typeface="Calibri"/>
              </a:rPr>
              <a:t>Q</a:t>
            </a:r>
            <a:r>
              <a:rPr lang="en-US" sz="1400" baseline="-25000">
                <a:latin typeface="Calibri"/>
              </a:rPr>
              <a:t>1</a:t>
            </a:r>
            <a:r>
              <a:rPr lang="en-US" sz="1400">
                <a:latin typeface="Calibri"/>
              </a:rPr>
              <a:t>, Q</a:t>
            </a:r>
            <a:r>
              <a:rPr lang="en-US" sz="1400" baseline="-25000">
                <a:latin typeface="Calibri"/>
              </a:rPr>
              <a:t>3</a:t>
            </a:r>
            <a:r>
              <a:rPr lang="en-US" sz="1400">
                <a:latin typeface="Calibri"/>
              </a:rPr>
              <a:t>, IQR: Hai cạnh của hộp nằm ở tứ phân vị thứ nhất và thứ ba, tức chiều cao của hộp là IQR</a:t>
            </a:r>
            <a:endParaRPr/>
          </a:p>
          <a:p>
            <a:pPr lvl="1">
              <a:spcAft>
                <a:spcPts val="600"/>
              </a:spcAft>
              <a:defRPr/>
            </a:pPr>
            <a:r>
              <a:rPr lang="en-US" sz="1400">
                <a:latin typeface="Calibri"/>
              </a:rPr>
              <a:t>Trung vị (Q</a:t>
            </a:r>
            <a:r>
              <a:rPr lang="en-US" sz="1400" baseline="-25000">
                <a:latin typeface="Calibri"/>
              </a:rPr>
              <a:t>2</a:t>
            </a:r>
            <a:r>
              <a:rPr lang="en-US" sz="1400">
                <a:latin typeface="Calibri"/>
              </a:rPr>
              <a:t>) được đánh dấu bằng một đường bên trong hộp </a:t>
            </a:r>
            <a:endParaRPr/>
          </a:p>
          <a:p>
            <a:pPr lvl="1">
              <a:lnSpc>
                <a:spcPct val="120000"/>
              </a:lnSpc>
              <a:defRPr/>
            </a:pPr>
            <a:r>
              <a:rPr lang="en-US" sz="1400">
                <a:latin typeface="Calibri"/>
              </a:rPr>
              <a:t>Râu (whisker): hai đường bên ngoài hộp kéo dài đến giá trị nhỏ nhất và lớn nhất</a:t>
            </a:r>
            <a:endParaRPr/>
          </a:p>
        </p:txBody>
      </p:sp>
      <p:pic>
        <p:nvPicPr>
          <p:cNvPr id="869537932" name="Picture 2" descr="http://blog.contextures.com/wp-content/uploads/2013/06/boxplotsimple08.png"/>
          <p:cNvPicPr>
            <a:picLocks noChangeAspect="1" noChangeArrowheads="1"/>
          </p:cNvPicPr>
          <p:nvPr/>
        </p:nvPicPr>
        <p:blipFill rotWithShape="1">
          <a:blip r:embed="rId3"/>
          <a:stretch/>
        </p:blipFill>
        <p:spPr bwMode="auto">
          <a:xfrm>
            <a:off x="7850370" y="1262902"/>
            <a:ext cx="3467100" cy="3771901"/>
          </a:xfrm>
          <a:prstGeom prst="rect">
            <a:avLst/>
          </a:prstGeom>
          <a:noFill/>
        </p:spPr>
      </p:pic>
      <p:sp>
        <p:nvSpPr>
          <p:cNvPr id="260839492" name="Rectangle 3"/>
          <p:cNvSpPr txBox="1">
            <a:spLocks noChangeArrowheads="1"/>
          </p:cNvSpPr>
          <p:nvPr/>
        </p:nvSpPr>
        <p:spPr bwMode="auto">
          <a:xfrm>
            <a:off x="571500" y="5476348"/>
            <a:ext cx="10595264" cy="1033318"/>
          </a:xfrm>
          <a:prstGeom prst="rect">
            <a:avLst/>
          </a:prstGeom>
        </p:spPr>
        <p:txBody>
          <a:bodyPr vert="horz" lIns="91436" tIns="45718" rIns="91436" bIns="45718" rtlCol="0">
            <a:noAutofit/>
          </a:bodyPr>
          <a:lstStyle>
            <a:lvl1pPr marL="341305" indent="-341305" algn="l" defTabSz="914354" rtl="0">
              <a:lnSpc>
                <a:spcPct val="100000"/>
              </a:lnSpc>
              <a:spcBef>
                <a:spcPts val="600"/>
              </a:spcBef>
              <a:spcAft>
                <a:spcPts val="0"/>
              </a:spcAft>
              <a:buClr>
                <a:srgbClr val="0000CC"/>
              </a:buClr>
              <a:buSzPct val="80000"/>
              <a:buFont typeface="Wingdings"/>
              <a:buChar char="q"/>
              <a:defRPr sz="2400">
                <a:solidFill>
                  <a:schemeClr val="tx1"/>
                </a:solidFill>
                <a:latin typeface="+mn-lt"/>
                <a:ea typeface="+mn-ea"/>
                <a:cs typeface="+mn-cs"/>
              </a:defRPr>
            </a:lvl1pPr>
            <a:lvl2pPr marL="573074" indent="-373053" algn="l" defTabSz="914354" rtl="0">
              <a:lnSpc>
                <a:spcPct val="100000"/>
              </a:lnSpc>
              <a:spcBef>
                <a:spcPts val="600"/>
              </a:spcBef>
              <a:spcAft>
                <a:spcPts val="0"/>
              </a:spcAft>
              <a:buClr>
                <a:srgbClr val="BD582C"/>
              </a:buClr>
              <a:buSzPct val="80000"/>
              <a:buFont typeface="Wingdings"/>
              <a:buChar char="q"/>
              <a:defRPr sz="2400">
                <a:solidFill>
                  <a:schemeClr val="tx1"/>
                </a:solidFill>
                <a:latin typeface="+mn-lt"/>
                <a:ea typeface="+mn-ea"/>
                <a:cs typeface="+mn-cs"/>
              </a:defRPr>
            </a:lvl2pPr>
            <a:lvl3pPr marL="684179" indent="-300023" algn="l" defTabSz="914354" rtl="0">
              <a:lnSpc>
                <a:spcPct val="100000"/>
              </a:lnSpc>
              <a:spcBef>
                <a:spcPts val="600"/>
              </a:spcBef>
              <a:spcAft>
                <a:spcPts val="0"/>
              </a:spcAft>
              <a:buClr>
                <a:srgbClr val="008080"/>
              </a:buClr>
              <a:buSzPct val="80000"/>
              <a:buFont typeface="Wingdings"/>
              <a:buChar char="q"/>
              <a:defRPr sz="2400">
                <a:solidFill>
                  <a:schemeClr val="tx1"/>
                </a:solidFill>
                <a:latin typeface="+mn-lt"/>
                <a:ea typeface="+mn-ea"/>
                <a:cs typeface="+mn-cs"/>
              </a:defRPr>
            </a:lvl3pPr>
            <a:lvl4pPr marL="912791" indent="-290506" algn="l" defTabSz="914354" rtl="0">
              <a:lnSpc>
                <a:spcPct val="100000"/>
              </a:lnSpc>
              <a:spcBef>
                <a:spcPts val="600"/>
              </a:spcBef>
              <a:spcAft>
                <a:spcPts val="0"/>
              </a:spcAft>
              <a:buClr>
                <a:srgbClr val="FF0000"/>
              </a:buClr>
              <a:buSzPct val="80000"/>
              <a:buFont typeface="Wingdings"/>
              <a:buChar char="q"/>
              <a:defRPr sz="2400">
                <a:solidFill>
                  <a:schemeClr val="tx1"/>
                </a:solidFill>
                <a:latin typeface="+mn-lt"/>
                <a:ea typeface="+mn-ea"/>
                <a:cs typeface="+mn-cs"/>
              </a:defRPr>
            </a:lvl4pPr>
            <a:lvl5pPr marL="1142971" indent="-274632" algn="l" defTabSz="914354" rtl="0">
              <a:lnSpc>
                <a:spcPct val="100000"/>
              </a:lnSpc>
              <a:spcBef>
                <a:spcPts val="600"/>
              </a:spcBef>
              <a:spcAft>
                <a:spcPts val="0"/>
              </a:spcAft>
              <a:buClr>
                <a:srgbClr val="7030A0"/>
              </a:buClr>
              <a:buSzPct val="80000"/>
              <a:buFont typeface="Wingdings"/>
              <a:buChar char="q"/>
              <a:defRPr sz="2400">
                <a:solidFill>
                  <a:schemeClr val="tx1"/>
                </a:solidFill>
                <a:latin typeface="+mn-lt"/>
                <a:ea typeface="+mn-ea"/>
                <a:cs typeface="+mn-cs"/>
              </a:defRPr>
            </a:lvl5pPr>
            <a:lvl6pPr marL="1099946" indent="-228589" algn="l" defTabSz="914354" rtl="0">
              <a:lnSpc>
                <a:spcPct val="90000"/>
              </a:lnSpc>
              <a:spcBef>
                <a:spcPts val="200"/>
              </a:spcBef>
              <a:spcAft>
                <a:spcPts val="400"/>
              </a:spcAft>
              <a:buClr>
                <a:schemeClr val="accent1"/>
              </a:buClr>
              <a:buFont typeface="Calibri"/>
              <a:buChar char="◦"/>
              <a:defRPr sz="1500">
                <a:solidFill>
                  <a:schemeClr val="tx1">
                    <a:lumMod val="75000"/>
                    <a:lumOff val="25000"/>
                  </a:schemeClr>
                </a:solidFill>
                <a:latin typeface="+mn-lt"/>
                <a:ea typeface="+mn-ea"/>
                <a:cs typeface="+mn-cs"/>
              </a:defRPr>
            </a:lvl6pPr>
            <a:lvl7pPr marL="1299936" indent="-228589" algn="l" defTabSz="914354" rtl="0">
              <a:lnSpc>
                <a:spcPct val="90000"/>
              </a:lnSpc>
              <a:spcBef>
                <a:spcPts val="200"/>
              </a:spcBef>
              <a:spcAft>
                <a:spcPts val="400"/>
              </a:spcAft>
              <a:buClr>
                <a:schemeClr val="accent1"/>
              </a:buClr>
              <a:buFont typeface="Calibri"/>
              <a:buChar char="◦"/>
              <a:defRPr sz="1500">
                <a:solidFill>
                  <a:schemeClr val="tx1">
                    <a:lumMod val="75000"/>
                    <a:lumOff val="25000"/>
                  </a:schemeClr>
                </a:solidFill>
                <a:latin typeface="+mn-lt"/>
                <a:ea typeface="+mn-ea"/>
                <a:cs typeface="+mn-cs"/>
              </a:defRPr>
            </a:lvl7pPr>
            <a:lvl8pPr marL="1499925" indent="-228589" algn="l" defTabSz="914354" rtl="0">
              <a:lnSpc>
                <a:spcPct val="90000"/>
              </a:lnSpc>
              <a:spcBef>
                <a:spcPts val="200"/>
              </a:spcBef>
              <a:spcAft>
                <a:spcPts val="400"/>
              </a:spcAft>
              <a:buClr>
                <a:schemeClr val="accent1"/>
              </a:buClr>
              <a:buFont typeface="Calibri"/>
              <a:buChar char="◦"/>
              <a:defRPr sz="1500">
                <a:solidFill>
                  <a:schemeClr val="tx1">
                    <a:lumMod val="75000"/>
                    <a:lumOff val="25000"/>
                  </a:schemeClr>
                </a:solidFill>
                <a:latin typeface="+mn-lt"/>
                <a:ea typeface="+mn-ea"/>
                <a:cs typeface="+mn-cs"/>
              </a:defRPr>
            </a:lvl8pPr>
            <a:lvl9pPr marL="1699916" indent="-228589" algn="l" defTabSz="914354" rtl="0">
              <a:lnSpc>
                <a:spcPct val="90000"/>
              </a:lnSpc>
              <a:spcBef>
                <a:spcPts val="200"/>
              </a:spcBef>
              <a:spcAft>
                <a:spcPts val="400"/>
              </a:spcAft>
              <a:buClr>
                <a:schemeClr val="accent1"/>
              </a:buClr>
              <a:buFont typeface="Calibri"/>
              <a:buChar char="◦"/>
              <a:defRPr sz="1500">
                <a:solidFill>
                  <a:schemeClr val="tx1">
                    <a:lumMod val="75000"/>
                    <a:lumOff val="25000"/>
                  </a:schemeClr>
                </a:solidFill>
                <a:latin typeface="+mn-lt"/>
                <a:ea typeface="+mn-ea"/>
                <a:cs typeface="+mn-cs"/>
              </a:defRPr>
            </a:lvl9pPr>
          </a:lstStyle>
          <a:p>
            <a:pPr lvl="1">
              <a:lnSpc>
                <a:spcPct val="120000"/>
              </a:lnSpc>
              <a:defRPr/>
            </a:pPr>
            <a:r>
              <a:rPr lang="en-US">
                <a:latin typeface="Calibri"/>
              </a:rPr>
              <a:t>Ngoại lệ: các điểm vượt quá ngưỡng ngoại lệ quy định, được vẽ riêng lẻ</a:t>
            </a:r>
            <a:endParaRPr/>
          </a:p>
          <a:p>
            <a:pPr lvl="2">
              <a:spcAft>
                <a:spcPts val="600"/>
              </a:spcAft>
              <a:defRPr/>
            </a:pPr>
            <a:r>
              <a:rPr lang="en-US" b="1">
                <a:latin typeface="Calibri"/>
              </a:rPr>
              <a:t>Ngoại lệ</a:t>
            </a:r>
            <a:r>
              <a:rPr lang="en-US">
                <a:latin typeface="Calibri"/>
              </a:rPr>
              <a:t>: thường là giá trị lớn hơn/nhỏ hơn 1.5 lần IQR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aphicFrame>
        <p:nvGraphicFramePr>
          <p:cNvPr id="864120208" name="Object 1029"/>
          <p:cNvGraphicFramePr>
            <a:graphicFrameLocks xmlns:a="http://schemas.openxmlformats.org/drawingml/2006/main" noChangeAspect="1"/>
          </p:cNvGraphicFramePr>
          <p:nvPr/>
        </p:nvGraphicFramePr>
        <p:xfrm>
          <a:off x="7511303" y="1088090"/>
          <a:ext cx="4833097" cy="3197039"/>
        </p:xfrm>
        <a:graphic>
          <a:graphicData uri="http://schemas.openxmlformats.org/presentationml/2006/ole">
            <p:oleObj name="oleObj" r:id="rId4" imgW="7914640" imgH="3848100" progId="MSGraph.Chart.8">
              <p:embed/>
              <p:pic>
                <p:nvPicPr>
                  <p:cNvPr id="864120208" name="Object 1029"/>
                  <p:cNvPicPr/>
                  <p:nvPr/>
                </p:nvPicPr>
                <p:blipFill rotWithShape="1">
                  <a:blip r:embed="rId3"/>
                  <a:stretch/>
                </p:blipFill>
                <p:spPr bwMode="auto">
                  <a:xfrm>
                    <a:off x="7511303" y="1088090"/>
                    <a:ext cx="4833097" cy="3197039"/>
                  </a:xfrm>
                  <a:prstGeom prst="rect">
                    <a:avLst/>
                  </a:prstGeom>
                  <a:noFill/>
                  <a:ln>
                    <a:noFill/>
                  </a:ln>
                  <a:effectLst/>
                </p:spPr>
              </p:pic>
            </p:oleObj>
          </a:graphicData>
        </a:graphic>
      </p:graphicFrame>
      <p:sp>
        <p:nvSpPr>
          <p:cNvPr id="689142433" name="Rectangle 1026"/>
          <p:cNvSpPr>
            <a:spLocks noChangeArrowheads="1" noGrp="1"/>
          </p:cNvSpPr>
          <p:nvPr>
            <p:ph type="title"/>
          </p:nvPr>
        </p:nvSpPr>
        <p:spPr bwMode="auto"/>
        <p:txBody>
          <a:bodyPr anchor="t">
            <a:noAutofit/>
          </a:bodyPr>
          <a:lstStyle/>
          <a:p>
            <a:pPr>
              <a:defRPr/>
            </a:pPr>
            <a:r>
              <a:rPr lang="en-US"/>
              <a:t>Phân tích biểu đồ tần suất (Histogram)</a:t>
            </a:r>
            <a:endParaRPr/>
          </a:p>
        </p:txBody>
      </p:sp>
      <p:sp>
        <p:nvSpPr>
          <p:cNvPr id="517482098" name="Rectangle 1027"/>
          <p:cNvSpPr>
            <a:spLocks noChangeArrowheads="1" noGrp="1"/>
          </p:cNvSpPr>
          <p:nvPr>
            <p:ph type="body" sz="half" idx="1"/>
          </p:nvPr>
        </p:nvSpPr>
        <p:spPr bwMode="auto">
          <a:xfrm>
            <a:off x="595032" y="1088090"/>
            <a:ext cx="6747062" cy="5689227"/>
          </a:xfrm>
        </p:spPr>
        <p:txBody>
          <a:bodyPr/>
          <a:lstStyle/>
          <a:p>
            <a:pPr>
              <a:lnSpc>
                <a:spcPct val="110000"/>
              </a:lnSpc>
              <a:defRPr/>
            </a:pPr>
            <a:r>
              <a:rPr lang="en-US">
                <a:latin typeface="Calibri"/>
              </a:rPr>
              <a:t>Biểu đồ tần suất: biểu diễn đồ họa của bảng tần suất, dưới dạng các cột</a:t>
            </a:r>
            <a:endParaRPr/>
          </a:p>
          <a:p>
            <a:pPr>
              <a:lnSpc>
                <a:spcPct val="110000"/>
              </a:lnSpc>
              <a:defRPr/>
            </a:pPr>
            <a:r>
              <a:rPr lang="en-US">
                <a:latin typeface="Calibri"/>
              </a:rPr>
              <a:t>Sự khác biệt giữa biểu đồ tần suất và biểu đồ cột</a:t>
            </a:r>
            <a:endParaRPr/>
          </a:p>
          <a:p>
            <a:pPr lvl="1">
              <a:defRPr/>
            </a:pPr>
            <a:r>
              <a:rPr lang="en-US"/>
              <a:t>Biểu đồ tần suất dùng để thể hiện phân bố của biến, còn biểu đồ cột dùng để so sánh các biến</a:t>
            </a:r>
            <a:endParaRPr/>
          </a:p>
          <a:p>
            <a:pPr lvl="1">
              <a:defRPr/>
            </a:pPr>
            <a:r>
              <a:rPr lang="en-US"/>
              <a:t>Biểu đồ tần suất vẽ dữ liệu định lượng đã gom nhóm, còn biểu đồ cột vẽ dữ liệu phân loại</a:t>
            </a:r>
            <a:endParaRPr/>
          </a:p>
          <a:p>
            <a:pPr lvl="1">
              <a:defRPr/>
            </a:pPr>
            <a:r>
              <a:rPr lang="en-US"/>
              <a:t>Các cột có thể sắp xếp lại trong biểu đồ cột nhưng không thể trong biểu đồ tần suất</a:t>
            </a:r>
            <a:endParaRPr/>
          </a:p>
          <a:p>
            <a:pPr lvl="1">
              <a:defRPr/>
            </a:pPr>
            <a:r>
              <a:rPr lang="en-US"/>
              <a:t>Khác với biểu đồ cột ở chỗ diện tích của cột biểu thị giá trị, chứ không phải chiều cao như trong biểu đồ cột — điều này rất quan trọng khi các danh mục không có độ rộng đồng đều </a:t>
            </a:r>
            <a:endParaRPr/>
          </a:p>
        </p:txBody>
      </p:sp>
      <p:pic>
        <p:nvPicPr>
          <p:cNvPr id="1182539260" name="Picture 33" descr="http://canvasjs.com/wp-content/uploads/2013/01/html5_multi_series_bar_chart.jpg"/>
          <p:cNvPicPr>
            <a:picLocks noChangeAspect="1" noChangeArrowheads="1"/>
          </p:cNvPicPr>
          <p:nvPr/>
        </p:nvPicPr>
        <p:blipFill rotWithShape="1">
          <a:blip r:embed="rId5"/>
          <a:stretch/>
        </p:blipFill>
        <p:spPr bwMode="auto">
          <a:xfrm>
            <a:off x="6661135" y="4204446"/>
            <a:ext cx="5351571" cy="2572871"/>
          </a:xfrm>
          <a:prstGeom prst="rect">
            <a:avLst/>
          </a:prstGeom>
          <a:noFill/>
        </p:spPr>
      </p:pic>
      <p:sp>
        <p:nvSpPr>
          <p:cNvPr id="1157584471" name="TextBox 1"/>
          <p:cNvSpPr txBox="1"/>
          <p:nvPr/>
        </p:nvSpPr>
        <p:spPr bwMode="auto">
          <a:xfrm>
            <a:off x="10318378" y="895729"/>
            <a:ext cx="1343584" cy="384721"/>
          </a:xfrm>
          <a:prstGeom prst="rect">
            <a:avLst/>
          </a:prstGeom>
          <a:solidFill>
            <a:srgbClr val="92D050"/>
          </a:solidFill>
        </p:spPr>
        <p:txBody>
          <a:bodyPr wrap="square" rtlCol="0">
            <a:spAutoFit/>
          </a:bodyPr>
          <a:lstStyle/>
          <a:p>
            <a:pPr algn="ctr">
              <a:defRPr/>
            </a:pPr>
            <a:r>
              <a:rPr lang="en-US"/>
              <a:t>Biểu đồ tần suất</a:t>
            </a:r>
            <a:endParaRPr/>
          </a:p>
        </p:txBody>
      </p:sp>
      <p:sp>
        <p:nvSpPr>
          <p:cNvPr id="357720493" name="TextBox 7"/>
          <p:cNvSpPr txBox="1"/>
          <p:nvPr/>
        </p:nvSpPr>
        <p:spPr bwMode="auto">
          <a:xfrm>
            <a:off x="10723110" y="6473279"/>
            <a:ext cx="1164090" cy="384721"/>
          </a:xfrm>
          <a:prstGeom prst="rect">
            <a:avLst/>
          </a:prstGeom>
          <a:solidFill>
            <a:srgbClr val="00B0F0"/>
          </a:solidFill>
        </p:spPr>
        <p:txBody>
          <a:bodyPr wrap="square" rtlCol="0">
            <a:spAutoFit/>
          </a:bodyPr>
          <a:lstStyle/>
          <a:p>
            <a:pPr algn="ctr">
              <a:defRPr/>
            </a:pPr>
            <a:r>
              <a:rPr lang="en-US"/>
              <a:t>Biểu đồ cột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62828526" name="Rectangle 2"/>
          <p:cNvSpPr>
            <a:spLocks noChangeArrowheads="1" noGrp="1"/>
          </p:cNvSpPr>
          <p:nvPr>
            <p:ph type="title"/>
          </p:nvPr>
        </p:nvSpPr>
        <p:spPr bwMode="auto">
          <a:xfrm>
            <a:off x="457200" y="152400"/>
            <a:ext cx="11201400" cy="762000"/>
          </a:xfrm>
        </p:spPr>
        <p:txBody>
          <a:bodyPr anchor="t">
            <a:noAutofit/>
          </a:bodyPr>
          <a:lstStyle/>
          <a:p>
            <a:pPr>
              <a:defRPr/>
            </a:pPr>
            <a:r>
              <a:rPr lang="en-US" sz="3000"/>
              <a:t>Biểu đồ tần suất thường cho biết nhiều hơn biểu đồ hộp</a:t>
            </a:r>
            <a:endParaRPr/>
          </a:p>
        </p:txBody>
      </p:sp>
      <p:graphicFrame>
        <p:nvGraphicFramePr>
          <p:cNvPr id="817508547" name="Object 4"/>
          <p:cNvGraphicFramePr>
            <a:graphicFrameLocks xmlns:a="http://schemas.openxmlformats.org/drawingml/2006/main" noChangeAspect="1"/>
          </p:cNvGraphicFramePr>
          <p:nvPr/>
        </p:nvGraphicFramePr>
        <p:xfrm>
          <a:off x="1314450" y="1277936"/>
          <a:ext cx="3962400" cy="2417763"/>
        </p:xfrm>
        <a:graphic>
          <a:graphicData uri="http://schemas.openxmlformats.org/presentationml/2006/ole">
            <p:oleObj name="oleObj" r:id="rId4" imgW="3063240" imgH="1691640" progId="SmartDraw.2">
              <p:embed/>
              <p:pic>
                <p:nvPicPr>
                  <p:cNvPr id="817508547" name="Object 4"/>
                  <p:cNvPicPr/>
                  <p:nvPr/>
                </p:nvPicPr>
                <p:blipFill rotWithShape="1">
                  <a:blip r:embed="rId3"/>
                  <a:stretch/>
                </p:blipFill>
                <p:spPr bwMode="auto">
                  <a:xfrm>
                    <a:off x="1314450" y="1277936"/>
                    <a:ext cx="3962400" cy="2417763"/>
                  </a:xfrm>
                  <a:prstGeom prst="rect">
                    <a:avLst/>
                  </a:prstGeom>
                  <a:noFill/>
                  <a:ln>
                    <a:noFill/>
                  </a:ln>
                  <a:effectLst/>
                </p:spPr>
              </p:pic>
            </p:oleObj>
          </a:graphicData>
        </a:graphic>
      </p:graphicFrame>
      <p:graphicFrame>
        <p:nvGraphicFramePr>
          <p:cNvPr id="481308316" name="Object 7"/>
          <p:cNvGraphicFramePr>
            <a:graphicFrameLocks xmlns:a="http://schemas.openxmlformats.org/drawingml/2006/main" noChangeAspect="1"/>
          </p:cNvGraphicFramePr>
          <p:nvPr/>
        </p:nvGraphicFramePr>
        <p:xfrm>
          <a:off x="1390650" y="4059235"/>
          <a:ext cx="3886200" cy="2433637"/>
        </p:xfrm>
        <a:graphic>
          <a:graphicData uri="http://schemas.openxmlformats.org/presentationml/2006/ole">
            <p:oleObj name="oleObj" r:id="rId6" imgW="3063240" imgH="1691640" progId="SmartDraw.2">
              <p:embed/>
              <p:pic>
                <p:nvPicPr>
                  <p:cNvPr id="481308316" name="Object 7"/>
                  <p:cNvPicPr/>
                  <p:nvPr/>
                </p:nvPicPr>
                <p:blipFill rotWithShape="1">
                  <a:blip r:embed="rId5"/>
                  <a:stretch/>
                </p:blipFill>
                <p:spPr bwMode="auto">
                  <a:xfrm>
                    <a:off x="1390650" y="4059235"/>
                    <a:ext cx="3886200" cy="2433637"/>
                  </a:xfrm>
                  <a:prstGeom prst="rect">
                    <a:avLst/>
                  </a:prstGeom>
                  <a:noFill/>
                  <a:ln>
                    <a:noFill/>
                  </a:ln>
                  <a:effectLst/>
                </p:spPr>
              </p:pic>
            </p:oleObj>
          </a:graphicData>
        </a:graphic>
      </p:graphicFrame>
      <p:sp>
        <p:nvSpPr>
          <p:cNvPr id="1755144425" name="Rectangle 9"/>
          <p:cNvSpPr>
            <a:spLocks noChangeArrowheads="1"/>
          </p:cNvSpPr>
          <p:nvPr/>
        </p:nvSpPr>
        <p:spPr bwMode="auto">
          <a:xfrm>
            <a:off x="6400800" y="1522414"/>
            <a:ext cx="3657600" cy="4725986"/>
          </a:xfrm>
          <a:prstGeom prst="rect">
            <a:avLst/>
          </a:prstGeom>
          <a:noFill/>
          <a:ln>
            <a:noFill/>
          </a:ln>
        </p:spPr>
        <p:txBody>
          <a:bodyPr/>
          <a:lstStyle>
            <a:lvl1pPr marL="342900" indent="-342900">
              <a:spcBef>
                <a:spcPts val="0"/>
              </a:spcBef>
              <a:buClr>
                <a:schemeClr val="folHlink"/>
              </a:buClr>
              <a:buSzPct val="60000"/>
              <a:buFont typeface="Wingdings"/>
              <a:buChar char="n"/>
              <a:defRPr sz="2800">
                <a:solidFill>
                  <a:schemeClr val="tx1"/>
                </a:solidFill>
                <a:latin typeface="Tahoma"/>
              </a:defRPr>
            </a:lvl1pPr>
            <a:lvl2pPr marL="742950" indent="-285750">
              <a:spcBef>
                <a:spcPts val="0"/>
              </a:spcBef>
              <a:buClr>
                <a:schemeClr val="hlink"/>
              </a:buClr>
              <a:buSzPct val="55000"/>
              <a:buFont typeface="Wingdings"/>
              <a:buChar char="n"/>
              <a:defRPr sz="2800">
                <a:solidFill>
                  <a:schemeClr val="tx1"/>
                </a:solidFill>
                <a:latin typeface="Tahoma"/>
              </a:defRPr>
            </a:lvl2pPr>
            <a:lvl3pPr marL="1143000" indent="-228600">
              <a:spcBef>
                <a:spcPts val="0"/>
              </a:spcBef>
              <a:buClr>
                <a:schemeClr val="folHlink"/>
              </a:buClr>
              <a:buSzPct val="50000"/>
              <a:buFont typeface="Wingdings"/>
              <a:buChar char="n"/>
              <a:defRPr sz="2400">
                <a:solidFill>
                  <a:schemeClr val="tx1"/>
                </a:solidFill>
                <a:latin typeface="Tahoma"/>
              </a:defRPr>
            </a:lvl3pPr>
            <a:lvl4pPr marL="1600200" indent="-228600">
              <a:spcBef>
                <a:spcPts val="0"/>
              </a:spcBef>
              <a:buClr>
                <a:schemeClr val="accent2"/>
              </a:buClr>
              <a:buSzPct val="55000"/>
              <a:buFont typeface="Wingdings"/>
              <a:buChar char="n"/>
              <a:defRPr sz="2000">
                <a:solidFill>
                  <a:schemeClr val="tx1"/>
                </a:solidFill>
                <a:latin typeface="Tahoma"/>
              </a:defRPr>
            </a:lvl4pPr>
            <a:lvl5pPr marL="2057400" indent="-228600">
              <a:spcBef>
                <a:spcPts val="0"/>
              </a:spcBef>
              <a:buClr>
                <a:schemeClr val="accent1"/>
              </a:buClr>
              <a:buSzPct val="50000"/>
              <a:buFont typeface="Wingdings"/>
              <a:buChar char="n"/>
              <a:defRPr sz="2000">
                <a:solidFill>
                  <a:schemeClr val="tx1"/>
                </a:solidFill>
                <a:latin typeface="Tahoma"/>
              </a:defRPr>
            </a:lvl5pPr>
            <a:lvl6pPr marL="2514600" indent="-228600">
              <a:spcBef>
                <a:spcPts val="0"/>
              </a:spcBef>
              <a:spcAft>
                <a:spcPts val="0"/>
              </a:spcAft>
              <a:buClr>
                <a:schemeClr val="accent1"/>
              </a:buClr>
              <a:buSzPct val="50000"/>
              <a:buFont typeface="Wingdings"/>
              <a:buChar char="n"/>
              <a:defRPr sz="2000">
                <a:solidFill>
                  <a:schemeClr val="tx1"/>
                </a:solidFill>
                <a:latin typeface="Tahoma"/>
              </a:defRPr>
            </a:lvl6pPr>
            <a:lvl7pPr marL="2971800" indent="-228600">
              <a:spcBef>
                <a:spcPts val="0"/>
              </a:spcBef>
              <a:spcAft>
                <a:spcPts val="0"/>
              </a:spcAft>
              <a:buClr>
                <a:schemeClr val="accent1"/>
              </a:buClr>
              <a:buSzPct val="50000"/>
              <a:buFont typeface="Wingdings"/>
              <a:buChar char="n"/>
              <a:defRPr sz="2000">
                <a:solidFill>
                  <a:schemeClr val="tx1"/>
                </a:solidFill>
                <a:latin typeface="Tahoma"/>
              </a:defRPr>
            </a:lvl7pPr>
            <a:lvl8pPr marL="3429000" indent="-228600">
              <a:spcBef>
                <a:spcPts val="0"/>
              </a:spcBef>
              <a:spcAft>
                <a:spcPts val="0"/>
              </a:spcAft>
              <a:buClr>
                <a:schemeClr val="accent1"/>
              </a:buClr>
              <a:buSzPct val="50000"/>
              <a:buFont typeface="Wingdings"/>
              <a:buChar char="n"/>
              <a:defRPr sz="2000">
                <a:solidFill>
                  <a:schemeClr val="tx1"/>
                </a:solidFill>
                <a:latin typeface="Tahoma"/>
              </a:defRPr>
            </a:lvl8pPr>
            <a:lvl9pPr marL="3886200" indent="-228600">
              <a:spcBef>
                <a:spcPts val="0"/>
              </a:spcBef>
              <a:spcAft>
                <a:spcPts val="0"/>
              </a:spcAft>
              <a:buClr>
                <a:schemeClr val="accent1"/>
              </a:buClr>
              <a:buSzPct val="50000"/>
              <a:buFont typeface="Wingdings"/>
              <a:buChar char="n"/>
              <a:defRPr sz="2000">
                <a:solidFill>
                  <a:schemeClr val="tx1"/>
                </a:solidFill>
                <a:latin typeface="Tahoma"/>
              </a:defRPr>
            </a:lvl9pPr>
          </a:lstStyle>
          <a:p>
            <a:pPr>
              <a:lnSpc>
                <a:spcPct val="110000"/>
              </a:lnSpc>
              <a:defRPr/>
            </a:pPr>
            <a:endParaRPr lang="en-US" sz="2400">
              <a:latin typeface="Calibri"/>
            </a:endParaRPr>
          </a:p>
        </p:txBody>
      </p:sp>
      <p:sp>
        <p:nvSpPr>
          <p:cNvPr id="1807656852" name="Rectangle 3"/>
          <p:cNvSpPr txBox="1">
            <a:spLocks noChangeArrowheads="1"/>
          </p:cNvSpPr>
          <p:nvPr/>
        </p:nvSpPr>
        <p:spPr bwMode="auto">
          <a:xfrm>
            <a:off x="5800725" y="2039935"/>
            <a:ext cx="5457825" cy="3379790"/>
          </a:xfrm>
          <a:prstGeom prst="rect">
            <a:avLst/>
          </a:prstGeom>
        </p:spPr>
        <p:txBody>
          <a:bodyPr vert="horz" lIns="91436" tIns="45718" rIns="91436" bIns="45718" rtlCol="0">
            <a:noAutofit/>
          </a:bodyPr>
          <a:lstStyle>
            <a:lvl1pPr marL="341305" indent="-341305" algn="l" defTabSz="914354" rtl="0">
              <a:lnSpc>
                <a:spcPct val="100000"/>
              </a:lnSpc>
              <a:spcBef>
                <a:spcPts val="600"/>
              </a:spcBef>
              <a:spcAft>
                <a:spcPts val="0"/>
              </a:spcAft>
              <a:buClr>
                <a:srgbClr val="0000CC"/>
              </a:buClr>
              <a:buSzPct val="80000"/>
              <a:buFont typeface="Wingdings"/>
              <a:buChar char="q"/>
              <a:defRPr sz="2800">
                <a:solidFill>
                  <a:schemeClr val="tx1"/>
                </a:solidFill>
                <a:latin typeface="+mn-lt"/>
                <a:ea typeface="+mn-ea"/>
                <a:cs typeface="+mn-cs"/>
              </a:defRPr>
            </a:lvl1pPr>
            <a:lvl2pPr marL="573074" indent="-373053" algn="l" defTabSz="914354" rtl="0">
              <a:lnSpc>
                <a:spcPct val="100000"/>
              </a:lnSpc>
              <a:spcBef>
                <a:spcPts val="600"/>
              </a:spcBef>
              <a:spcAft>
                <a:spcPts val="0"/>
              </a:spcAft>
              <a:buClr>
                <a:srgbClr val="BD582C"/>
              </a:buClr>
              <a:buSzPct val="80000"/>
              <a:buFont typeface="Wingdings"/>
              <a:buChar char="q"/>
              <a:defRPr sz="2400">
                <a:solidFill>
                  <a:schemeClr val="tx1"/>
                </a:solidFill>
                <a:latin typeface="+mn-lt"/>
                <a:ea typeface="+mn-ea"/>
                <a:cs typeface="+mn-cs"/>
              </a:defRPr>
            </a:lvl2pPr>
            <a:lvl3pPr marL="684179" indent="-300023" algn="l" defTabSz="914354" rtl="0">
              <a:lnSpc>
                <a:spcPct val="100000"/>
              </a:lnSpc>
              <a:spcBef>
                <a:spcPts val="600"/>
              </a:spcBef>
              <a:spcAft>
                <a:spcPts val="0"/>
              </a:spcAft>
              <a:buClr>
                <a:srgbClr val="008080"/>
              </a:buClr>
              <a:buSzPct val="80000"/>
              <a:buFont typeface="Wingdings"/>
              <a:buChar char="q"/>
              <a:defRPr sz="2000">
                <a:solidFill>
                  <a:schemeClr val="tx1"/>
                </a:solidFill>
                <a:latin typeface="+mn-lt"/>
                <a:ea typeface="+mn-ea"/>
                <a:cs typeface="+mn-cs"/>
              </a:defRPr>
            </a:lvl3pPr>
            <a:lvl4pPr marL="912791" indent="-290506" algn="l" defTabSz="914354" rtl="0">
              <a:lnSpc>
                <a:spcPct val="100000"/>
              </a:lnSpc>
              <a:spcBef>
                <a:spcPts val="600"/>
              </a:spcBef>
              <a:spcAft>
                <a:spcPts val="0"/>
              </a:spcAft>
              <a:buClr>
                <a:srgbClr val="FF0000"/>
              </a:buClr>
              <a:buSzPct val="80000"/>
              <a:buFont typeface="Wingdings"/>
              <a:buChar char="q"/>
              <a:defRPr sz="1800">
                <a:solidFill>
                  <a:schemeClr val="tx1"/>
                </a:solidFill>
                <a:latin typeface="+mn-lt"/>
                <a:ea typeface="+mn-ea"/>
                <a:cs typeface="+mn-cs"/>
              </a:defRPr>
            </a:lvl4pPr>
            <a:lvl5pPr marL="1142971" indent="-274632" algn="l" defTabSz="914354" rtl="0">
              <a:lnSpc>
                <a:spcPct val="100000"/>
              </a:lnSpc>
              <a:spcBef>
                <a:spcPts val="600"/>
              </a:spcBef>
              <a:spcAft>
                <a:spcPts val="0"/>
              </a:spcAft>
              <a:buClr>
                <a:srgbClr val="7030A0"/>
              </a:buClr>
              <a:buSzPct val="80000"/>
              <a:buFont typeface="Wingdings"/>
              <a:buChar char="q"/>
              <a:defRPr sz="1800">
                <a:solidFill>
                  <a:schemeClr val="tx1"/>
                </a:solidFill>
                <a:latin typeface="+mn-lt"/>
                <a:ea typeface="+mn-ea"/>
                <a:cs typeface="+mn-cs"/>
              </a:defRPr>
            </a:lvl5pPr>
            <a:lvl6pPr marL="1099946" indent="-228589" algn="l" defTabSz="914354" rtl="0">
              <a:lnSpc>
                <a:spcPct val="90000"/>
              </a:lnSpc>
              <a:spcBef>
                <a:spcPts val="200"/>
              </a:spcBef>
              <a:spcAft>
                <a:spcPts val="400"/>
              </a:spcAft>
              <a:buClr>
                <a:schemeClr val="accent1"/>
              </a:buClr>
              <a:buFont typeface="Calibri"/>
              <a:buChar char="◦"/>
              <a:defRPr sz="1800">
                <a:solidFill>
                  <a:schemeClr val="tx1">
                    <a:lumMod val="75000"/>
                    <a:lumOff val="25000"/>
                  </a:schemeClr>
                </a:solidFill>
                <a:latin typeface="+mn-lt"/>
                <a:ea typeface="+mn-ea"/>
                <a:cs typeface="+mn-cs"/>
              </a:defRPr>
            </a:lvl6pPr>
            <a:lvl7pPr marL="1299936" indent="-228589" algn="l" defTabSz="914354" rtl="0">
              <a:lnSpc>
                <a:spcPct val="90000"/>
              </a:lnSpc>
              <a:spcBef>
                <a:spcPts val="200"/>
              </a:spcBef>
              <a:spcAft>
                <a:spcPts val="400"/>
              </a:spcAft>
              <a:buClr>
                <a:schemeClr val="accent1"/>
              </a:buClr>
              <a:buFont typeface="Calibri"/>
              <a:buChar char="◦"/>
              <a:defRPr sz="1800">
                <a:solidFill>
                  <a:schemeClr val="tx1">
                    <a:lumMod val="75000"/>
                    <a:lumOff val="25000"/>
                  </a:schemeClr>
                </a:solidFill>
                <a:latin typeface="+mn-lt"/>
                <a:ea typeface="+mn-ea"/>
                <a:cs typeface="+mn-cs"/>
              </a:defRPr>
            </a:lvl7pPr>
            <a:lvl8pPr marL="1499925" indent="-228589" algn="l" defTabSz="914354" rtl="0">
              <a:lnSpc>
                <a:spcPct val="90000"/>
              </a:lnSpc>
              <a:spcBef>
                <a:spcPts val="200"/>
              </a:spcBef>
              <a:spcAft>
                <a:spcPts val="400"/>
              </a:spcAft>
              <a:buClr>
                <a:schemeClr val="accent1"/>
              </a:buClr>
              <a:buFont typeface="Calibri"/>
              <a:buChar char="◦"/>
              <a:defRPr sz="1800">
                <a:solidFill>
                  <a:schemeClr val="tx1">
                    <a:lumMod val="75000"/>
                    <a:lumOff val="25000"/>
                  </a:schemeClr>
                </a:solidFill>
                <a:latin typeface="+mn-lt"/>
                <a:ea typeface="+mn-ea"/>
                <a:cs typeface="+mn-cs"/>
              </a:defRPr>
            </a:lvl8pPr>
            <a:lvl9pPr marL="1699916" indent="-228589" algn="l" defTabSz="914354" rtl="0">
              <a:lnSpc>
                <a:spcPct val="90000"/>
              </a:lnSpc>
              <a:spcBef>
                <a:spcPts val="200"/>
              </a:spcBef>
              <a:spcAft>
                <a:spcPts val="400"/>
              </a:spcAft>
              <a:buClr>
                <a:schemeClr val="accent1"/>
              </a:buClr>
              <a:buFont typeface="Calibri"/>
              <a:buChar char="◦"/>
              <a:defRPr sz="1800">
                <a:solidFill>
                  <a:schemeClr val="tx1">
                    <a:lumMod val="75000"/>
                    <a:lumOff val="25000"/>
                  </a:schemeClr>
                </a:solidFill>
                <a:latin typeface="+mn-lt"/>
                <a:ea typeface="+mn-ea"/>
                <a:cs typeface="+mn-cs"/>
              </a:defRPr>
            </a:lvl9pPr>
          </a:lstStyle>
          <a:p>
            <a:pPr>
              <a:lnSpc>
                <a:spcPct val="110000"/>
              </a:lnSpc>
              <a:defRPr/>
            </a:pPr>
            <a:r>
              <a:rPr lang="en-US" sz="2000">
                <a:latin typeface="Calibri"/>
              </a:rPr>
              <a:t>Hai biểu đồ tần suất ở bên trái có thể có cùng biểu diễn dạng biểu đồ hộp</a:t>
            </a:r>
            <a:endParaRPr/>
          </a:p>
          <a:p>
            <a:pPr lvl="1">
              <a:lnSpc>
                <a:spcPct val="110000"/>
              </a:lnSpc>
              <a:defRPr/>
            </a:pPr>
            <a:r>
              <a:rPr lang="en-US">
                <a:latin typeface="Calibri"/>
              </a:rPr>
              <a:t>Cùng các giá trị: nhỏ nhất, Q1, trung vị, Q3, lớn nhất</a:t>
            </a:r>
            <a:endParaRPr/>
          </a:p>
          <a:p>
            <a:pPr>
              <a:lnSpc>
                <a:spcPct val="110000"/>
              </a:lnSpc>
              <a:defRPr/>
            </a:pPr>
            <a:r>
              <a:rPr lang="en-US" sz="2000">
                <a:latin typeface="Calibri"/>
              </a:rPr>
              <a:t>Nhưng chúng có phân bố dữ liệu khá khác nhau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1469114" name="Footer Placeholder 4"/>
          <p:cNvSpPr>
            <a:spLocks noGrp="1"/>
          </p:cNvSpPr>
          <p:nvPr>
            <p:ph type="ftr" sz="quarter" idx="4294967295"/>
          </p:nvPr>
        </p:nvSpPr>
        <p:spPr bwMode="auto">
          <a:xfrm>
            <a:off x="4648200" y="6477000"/>
            <a:ext cx="2895600" cy="381000"/>
          </a:xfrm>
          <a:prstGeom prst="rect">
            <a:avLst/>
          </a:prstGeom>
          <a:noFill/>
        </p:spPr>
        <p:txBody>
          <a:bodyPr anchor="b"/>
          <a:lstStyle>
            <a:lvl1pPr>
              <a:spcBef>
                <a:spcPts val="0"/>
              </a:spcBef>
              <a:buClr>
                <a:schemeClr val="folHlink"/>
              </a:buClr>
              <a:buSzPct val="60000"/>
              <a:buFont typeface="Wingdings"/>
              <a:buChar char="n"/>
              <a:defRPr sz="2800">
                <a:solidFill>
                  <a:schemeClr val="tx1"/>
                </a:solidFill>
                <a:latin typeface="Tahoma"/>
              </a:defRPr>
            </a:lvl1pPr>
            <a:lvl2pPr marL="742950" indent="-285750">
              <a:spcBef>
                <a:spcPts val="0"/>
              </a:spcBef>
              <a:buClr>
                <a:schemeClr val="hlink"/>
              </a:buClr>
              <a:buSzPct val="55000"/>
              <a:buFont typeface="Wingdings"/>
              <a:buChar char="n"/>
              <a:defRPr sz="2800">
                <a:solidFill>
                  <a:schemeClr val="tx1"/>
                </a:solidFill>
                <a:latin typeface="Tahoma"/>
              </a:defRPr>
            </a:lvl2pPr>
            <a:lvl3pPr marL="1143000" indent="-228600">
              <a:spcBef>
                <a:spcPts val="0"/>
              </a:spcBef>
              <a:buClr>
                <a:schemeClr val="folHlink"/>
              </a:buClr>
              <a:buSzPct val="50000"/>
              <a:buFont typeface="Wingdings"/>
              <a:buChar char="n"/>
              <a:defRPr sz="2400">
                <a:solidFill>
                  <a:schemeClr val="tx1"/>
                </a:solidFill>
                <a:latin typeface="Tahoma"/>
              </a:defRPr>
            </a:lvl3pPr>
            <a:lvl4pPr marL="1600200" indent="-228600">
              <a:spcBef>
                <a:spcPts val="0"/>
              </a:spcBef>
              <a:buClr>
                <a:schemeClr val="accent2"/>
              </a:buClr>
              <a:buSzPct val="55000"/>
              <a:buFont typeface="Wingdings"/>
              <a:buChar char="n"/>
              <a:defRPr sz="2000">
                <a:solidFill>
                  <a:schemeClr val="tx1"/>
                </a:solidFill>
                <a:latin typeface="Tahoma"/>
              </a:defRPr>
            </a:lvl4pPr>
            <a:lvl5pPr marL="2057400" indent="-228600">
              <a:spcBef>
                <a:spcPts val="0"/>
              </a:spcBef>
              <a:buClr>
                <a:schemeClr val="accent1"/>
              </a:buClr>
              <a:buSzPct val="50000"/>
              <a:buFont typeface="Wingdings"/>
              <a:buChar char="n"/>
              <a:defRPr sz="2000">
                <a:solidFill>
                  <a:schemeClr val="tx1"/>
                </a:solidFill>
                <a:latin typeface="Tahoma"/>
              </a:defRPr>
            </a:lvl5pPr>
            <a:lvl6pPr marL="2514600" indent="-228600">
              <a:spcBef>
                <a:spcPts val="0"/>
              </a:spcBef>
              <a:spcAft>
                <a:spcPts val="0"/>
              </a:spcAft>
              <a:buClr>
                <a:schemeClr val="accent1"/>
              </a:buClr>
              <a:buSzPct val="50000"/>
              <a:buFont typeface="Wingdings"/>
              <a:buChar char="n"/>
              <a:defRPr sz="2000">
                <a:solidFill>
                  <a:schemeClr val="tx1"/>
                </a:solidFill>
                <a:latin typeface="Tahoma"/>
              </a:defRPr>
            </a:lvl6pPr>
            <a:lvl7pPr marL="2971800" indent="-228600">
              <a:spcBef>
                <a:spcPts val="0"/>
              </a:spcBef>
              <a:spcAft>
                <a:spcPts val="0"/>
              </a:spcAft>
              <a:buClr>
                <a:schemeClr val="accent1"/>
              </a:buClr>
              <a:buSzPct val="50000"/>
              <a:buFont typeface="Wingdings"/>
              <a:buChar char="n"/>
              <a:defRPr sz="2000">
                <a:solidFill>
                  <a:schemeClr val="tx1"/>
                </a:solidFill>
                <a:latin typeface="Tahoma"/>
              </a:defRPr>
            </a:lvl7pPr>
            <a:lvl8pPr marL="3429000" indent="-228600">
              <a:spcBef>
                <a:spcPts val="0"/>
              </a:spcBef>
              <a:spcAft>
                <a:spcPts val="0"/>
              </a:spcAft>
              <a:buClr>
                <a:schemeClr val="accent1"/>
              </a:buClr>
              <a:buSzPct val="50000"/>
              <a:buFont typeface="Wingdings"/>
              <a:buChar char="n"/>
              <a:defRPr sz="2000">
                <a:solidFill>
                  <a:schemeClr val="tx1"/>
                </a:solidFill>
                <a:latin typeface="Tahoma"/>
              </a:defRPr>
            </a:lvl8pPr>
            <a:lvl9pPr marL="3886200" indent="-228600">
              <a:spcBef>
                <a:spcPts val="0"/>
              </a:spcBef>
              <a:spcAft>
                <a:spcPts val="0"/>
              </a:spcAft>
              <a:buClr>
                <a:schemeClr val="accent1"/>
              </a:buClr>
              <a:buSzPct val="50000"/>
              <a:buFont typeface="Wingdings"/>
              <a:buChar char="n"/>
              <a:defRPr sz="2000">
                <a:solidFill>
                  <a:schemeClr val="tx1"/>
                </a:solidFill>
                <a:latin typeface="Tahoma"/>
              </a:defRPr>
            </a:lvl9pPr>
          </a:lstStyle>
          <a:p>
            <a:pPr algn="ctr">
              <a:spcBef>
                <a:spcPts val="0"/>
              </a:spcBef>
              <a:buClrTx/>
              <a:buSzTx/>
              <a:buFontTx/>
              <a:buNone/>
              <a:defRPr/>
            </a:pPr>
            <a:r>
              <a:rPr lang="en-US" sz="1200"/>
              <a:t>Khai phá dữ liệu: Khái niệm và kỹ thuật</a:t>
            </a:r>
            <a:endParaRPr/>
          </a:p>
        </p:txBody>
      </p:sp>
      <p:sp>
        <p:nvSpPr>
          <p:cNvPr id="814592736" name="Rectangle 2"/>
          <p:cNvSpPr>
            <a:spLocks noChangeArrowheads="1" noGrp="1"/>
          </p:cNvSpPr>
          <p:nvPr>
            <p:ph type="title"/>
          </p:nvPr>
        </p:nvSpPr>
        <p:spPr bwMode="auto">
          <a:xfrm>
            <a:off x="334818" y="269301"/>
            <a:ext cx="11369963" cy="738909"/>
          </a:xfrm>
        </p:spPr>
        <p:txBody>
          <a:bodyPr anchor="t"/>
          <a:lstStyle/>
          <a:p>
            <a:pPr>
              <a:defRPr/>
            </a:pPr>
            <a:r>
              <a:rPr lang="en-US"/>
              <a:t>Biểu đồ phân vị</a:t>
            </a:r>
            <a:endParaRPr/>
          </a:p>
        </p:txBody>
      </p:sp>
      <p:sp>
        <p:nvSpPr>
          <p:cNvPr id="1577556356" name="Rectangle 3"/>
          <p:cNvSpPr>
            <a:spLocks noChangeArrowheads="1" noGrp="1"/>
          </p:cNvSpPr>
          <p:nvPr>
            <p:ph type="body" idx="1"/>
          </p:nvPr>
        </p:nvSpPr>
        <p:spPr bwMode="auto">
          <a:xfrm>
            <a:off x="552449" y="1331914"/>
            <a:ext cx="10810875" cy="2478087"/>
          </a:xfrm>
        </p:spPr>
        <p:txBody>
          <a:bodyPr/>
          <a:lstStyle/>
          <a:p>
            <a:pPr>
              <a:spcAft>
                <a:spcPts val="600"/>
              </a:spcAft>
              <a:defRPr/>
            </a:pPr>
            <a:r>
              <a:rPr lang="en-US" sz="2000"/>
              <a:t>Hiển thị toàn bộ dữ liệu (cho phép người dùng đánh giá cả xu hướng chung lẫn các hiện tượng bất thường)</a:t>
            </a:r>
            <a:endParaRPr/>
          </a:p>
          <a:p>
            <a:pPr>
              <a:spcAft>
                <a:spcPts val="600"/>
              </a:spcAft>
              <a:defRPr/>
            </a:pPr>
            <a:r>
              <a:rPr lang="en-US" sz="2000"/>
              <a:t>Vẽ thông tin </a:t>
            </a:r>
            <a:r>
              <a:rPr lang="en-US" sz="2000" b="1"/>
              <a:t>phân vị</a:t>
            </a:r>
            <a:r>
              <a:rPr lang="en-US" sz="2000"/>
              <a:t> </a:t>
            </a:r>
            <a:endParaRPr/>
          </a:p>
          <a:p>
            <a:pPr lvl="1">
              <a:spcAft>
                <a:spcPts val="600"/>
              </a:spcAft>
              <a:defRPr/>
            </a:pPr>
            <a:r>
              <a:rPr lang="en-US" sz="2000"/>
              <a:t>Với dữ liệu </a:t>
            </a:r>
            <a:r>
              <a:rPr lang="en-US" sz="2000" i="1"/>
              <a:t>x</a:t>
            </a:r>
            <a:r>
              <a:rPr lang="en-US" sz="2000" i="1" baseline="-25000"/>
              <a:t>i</a:t>
            </a:r>
            <a:r>
              <a:rPr lang="en-US" sz="2000" i="1"/>
              <a:t> </a:t>
            </a:r>
            <a:r>
              <a:rPr lang="en-US" sz="2000"/>
              <a:t> đã sắp xếp tăng dần, </a:t>
            </a:r>
            <a:r>
              <a:rPr lang="en-US" sz="2000" i="1"/>
              <a:t>f</a:t>
            </a:r>
            <a:r>
              <a:rPr lang="en-US" sz="2000" i="1" baseline="-25000"/>
              <a:t>i</a:t>
            </a:r>
            <a:r>
              <a:rPr lang="en-US" sz="2000" i="1"/>
              <a:t> </a:t>
            </a:r>
            <a:r>
              <a:rPr lang="en-US" sz="2000"/>
              <a:t>cho biết rằng xấp xỉ 100 </a:t>
            </a:r>
            <a:r>
              <a:rPr lang="en-US" sz="2000" i="1"/>
              <a:t>f</a:t>
            </a:r>
            <a:r>
              <a:rPr lang="en-US" sz="2000" i="1" baseline="-25000"/>
              <a:t>i</a:t>
            </a:r>
            <a:r>
              <a:rPr lang="en-US" sz="2000"/>
              <a:t>% dữ liệu nhỏ hơn hoặc bằng giá trị </a:t>
            </a:r>
            <a:r>
              <a:rPr lang="en-US" sz="2000" i="1"/>
              <a:t>x</a:t>
            </a:r>
            <a:r>
              <a:rPr lang="en-US" sz="2000" i="1" baseline="-25000"/>
              <a:t>i</a:t>
            </a:r>
            <a:endParaRPr/>
          </a:p>
        </p:txBody>
      </p:sp>
      <p:pic>
        <p:nvPicPr>
          <p:cNvPr id="191386085" name="Picture 8"/>
          <p:cNvPicPr>
            <a:picLocks noChangeAspect="1" noChangeArrowheads="1"/>
          </p:cNvPicPr>
          <p:nvPr/>
        </p:nvPicPr>
        <p:blipFill rotWithShape="1">
          <a:blip r:embed="rId3"/>
          <a:stretch/>
        </p:blipFill>
        <p:spPr bwMode="auto">
          <a:xfrm>
            <a:off x="2228850" y="3602038"/>
            <a:ext cx="6400800" cy="3255962"/>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40875033" name="Picture 8"/>
          <p:cNvPicPr>
            <a:picLocks noChangeAspect="1" noChangeArrowheads="1"/>
          </p:cNvPicPr>
          <p:nvPr/>
        </p:nvPicPr>
        <p:blipFill rotWithShape="1">
          <a:blip r:embed="rId3"/>
          <a:stretch/>
        </p:blipFill>
        <p:spPr bwMode="auto">
          <a:xfrm>
            <a:off x="180976" y="3257550"/>
            <a:ext cx="6029325" cy="3460750"/>
          </a:xfrm>
          <a:prstGeom prst="rect">
            <a:avLst/>
          </a:prstGeom>
          <a:noFill/>
          <a:ln>
            <a:noFill/>
          </a:ln>
        </p:spPr>
      </p:pic>
      <p:sp>
        <p:nvSpPr>
          <p:cNvPr id="2002088184" name="Rectangle 2"/>
          <p:cNvSpPr>
            <a:spLocks noChangeArrowheads="1" noGrp="1"/>
          </p:cNvSpPr>
          <p:nvPr>
            <p:ph type="title"/>
          </p:nvPr>
        </p:nvSpPr>
        <p:spPr bwMode="auto"/>
        <p:txBody>
          <a:bodyPr anchor="t"/>
          <a:lstStyle/>
          <a:p>
            <a:pPr>
              <a:defRPr/>
            </a:pPr>
            <a:r>
              <a:rPr lang="en-US"/>
              <a:t>Biểu đồ phân vị-phân vị (Q-Q)</a:t>
            </a:r>
            <a:endParaRPr/>
          </a:p>
        </p:txBody>
      </p:sp>
      <p:sp>
        <p:nvSpPr>
          <p:cNvPr id="701963993" name="Rectangle 3"/>
          <p:cNvSpPr>
            <a:spLocks noChangeArrowheads="1" noGrp="1"/>
          </p:cNvSpPr>
          <p:nvPr>
            <p:ph type="body" idx="1"/>
          </p:nvPr>
        </p:nvSpPr>
        <p:spPr bwMode="auto">
          <a:xfrm>
            <a:off x="587666" y="1143000"/>
            <a:ext cx="10896600" cy="2209800"/>
          </a:xfrm>
        </p:spPr>
        <p:txBody>
          <a:bodyPr/>
          <a:lstStyle/>
          <a:p>
            <a:pPr>
              <a:defRPr/>
            </a:pPr>
            <a:r>
              <a:rPr lang="en-US" sz="2000"/>
              <a:t>Vẽ các phân vị của một phân bố đơn biến so với các phân vị tương ứng của một phân bố khác</a:t>
            </a:r>
            <a:endParaRPr/>
          </a:p>
          <a:p>
            <a:pPr>
              <a:defRPr/>
            </a:pPr>
            <a:r>
              <a:rPr lang="en-US" sz="2000"/>
              <a:t>Quan sát: Có sự dịch chuyển khi đi từ phân bố này sang phân bố khác không?</a:t>
            </a:r>
            <a:endParaRPr/>
          </a:p>
          <a:p>
            <a:pPr>
              <a:defRPr/>
            </a:pPr>
            <a:r>
              <a:rPr lang="en-US" sz="2000"/>
              <a:t>Ví dụ cho thấy đơn giá mặt hàng bán tại Chi nhánh 1 so với Chi nhánh 2 theo từng phân vị. Đơn giá mặt hàng bán tại Chi nhánh 1 có xu hướng thấp hơn so với Chi nhánh 2</a:t>
            </a:r>
            <a:endParaRPr/>
          </a:p>
        </p:txBody>
      </p:sp>
      <p:pic>
        <p:nvPicPr>
          <p:cNvPr id="1437233548" name="Picture 2" descr="Image result for quantile-quantile plot"/>
          <p:cNvPicPr>
            <a:picLocks noChangeAspect="1" noChangeArrowheads="1"/>
          </p:cNvPicPr>
          <p:nvPr/>
        </p:nvPicPr>
        <p:blipFill rotWithShape="1">
          <a:blip r:embed="rId4"/>
          <a:stretch/>
        </p:blipFill>
        <p:spPr bwMode="auto">
          <a:xfrm>
            <a:off x="6781799" y="3187700"/>
            <a:ext cx="4969087" cy="360045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02442934" name="Picture 2" descr="Image result for scatter plot"/>
          <p:cNvPicPr>
            <a:picLocks noChangeAspect="1" noChangeArrowheads="1"/>
          </p:cNvPicPr>
          <p:nvPr/>
        </p:nvPicPr>
        <p:blipFill rotWithShape="1">
          <a:blip r:embed="rId3"/>
          <a:stretch/>
        </p:blipFill>
        <p:spPr bwMode="auto">
          <a:xfrm>
            <a:off x="5226008" y="1918060"/>
            <a:ext cx="6824476" cy="4874626"/>
          </a:xfrm>
          <a:prstGeom prst="rect">
            <a:avLst/>
          </a:prstGeom>
          <a:noFill/>
        </p:spPr>
      </p:pic>
      <p:sp>
        <p:nvSpPr>
          <p:cNvPr id="1553085026" name="Rectangle 1026"/>
          <p:cNvSpPr>
            <a:spLocks noChangeArrowheads="1" noGrp="1"/>
          </p:cNvSpPr>
          <p:nvPr>
            <p:ph type="title"/>
          </p:nvPr>
        </p:nvSpPr>
        <p:spPr bwMode="auto"/>
        <p:txBody>
          <a:bodyPr anchor="t"/>
          <a:lstStyle/>
          <a:p>
            <a:pPr>
              <a:defRPr/>
            </a:pPr>
            <a:r>
              <a:rPr lang="en-US"/>
              <a:t>Biểu đồ phân tán</a:t>
            </a:r>
            <a:endParaRPr/>
          </a:p>
        </p:txBody>
      </p:sp>
      <p:sp>
        <p:nvSpPr>
          <p:cNvPr id="461842848" name="Rectangle 1027"/>
          <p:cNvSpPr>
            <a:spLocks noChangeArrowheads="1" noGrp="1"/>
          </p:cNvSpPr>
          <p:nvPr>
            <p:ph type="body" idx="1"/>
          </p:nvPr>
        </p:nvSpPr>
        <p:spPr bwMode="auto">
          <a:xfrm>
            <a:off x="571500" y="1295400"/>
            <a:ext cx="10972800" cy="1779588"/>
          </a:xfrm>
        </p:spPr>
        <p:txBody>
          <a:bodyPr/>
          <a:lstStyle/>
          <a:p>
            <a:pPr>
              <a:defRPr/>
            </a:pPr>
            <a:r>
              <a:rPr lang="en-US" sz="2000"/>
              <a:t>Cung cấp cái nhìn đầu tiên về dữ liệu hai biến để thấy các cụm điểm, ngoại lệ, v.v.</a:t>
            </a:r>
            <a:endParaRPr/>
          </a:p>
          <a:p>
            <a:pPr>
              <a:defRPr/>
            </a:pPr>
            <a:r>
              <a:rPr lang="en-US" sz="2000"/>
              <a:t>Mỗi cặp giá trị được coi là một cặp tọa độ và được vẽ dưới dạng điểm trên mặt phẳng</a:t>
            </a:r>
            <a:endParaRPr/>
          </a:p>
        </p:txBody>
      </p:sp>
      <p:pic>
        <p:nvPicPr>
          <p:cNvPr id="1855764140" name="Picture 8"/>
          <p:cNvPicPr>
            <a:picLocks noChangeAspect="1" noChangeArrowheads="1"/>
          </p:cNvPicPr>
          <p:nvPr/>
        </p:nvPicPr>
        <p:blipFill rotWithShape="1">
          <a:blip r:embed="rId4"/>
          <a:stretch/>
        </p:blipFill>
        <p:spPr bwMode="auto">
          <a:xfrm>
            <a:off x="258535" y="3112915"/>
            <a:ext cx="5217842" cy="28960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30695300" name="Rectangle 2"/>
          <p:cNvSpPr>
            <a:spLocks noChangeArrowheads="1" noGrp="1"/>
          </p:cNvSpPr>
          <p:nvPr>
            <p:ph type="title"/>
          </p:nvPr>
        </p:nvSpPr>
        <p:spPr bwMode="auto">
          <a:xfrm>
            <a:off x="619125" y="209550"/>
            <a:ext cx="10972800" cy="857250"/>
          </a:xfrm>
          <a:prstGeom prst="rect">
            <a:avLst/>
          </a:prstGeom>
          <a:noFill/>
        </p:spPr>
        <p:txBody>
          <a:bodyPr vert="horz" lIns="92075" tIns="46038" rIns="92075" bIns="46038" rtlCol="0" anchor="t">
            <a:normAutofit/>
          </a:bodyPr>
          <a:lstStyle/>
          <a:p>
            <a:pPr>
              <a:defRPr/>
            </a:pPr>
            <a:r>
              <a:rPr lang="en-US"/>
              <a:t>Dữ liệu tương quan dương và tương quan âm</a:t>
            </a:r>
            <a:endParaRPr/>
          </a:p>
        </p:txBody>
      </p:sp>
      <p:sp>
        <p:nvSpPr>
          <p:cNvPr id="2061971289" name="Rectangle 3"/>
          <p:cNvSpPr>
            <a:spLocks noChangeArrowheads="1" noGrp="1"/>
          </p:cNvSpPr>
          <p:nvPr>
            <p:ph type="body" idx="1"/>
          </p:nvPr>
        </p:nvSpPr>
        <p:spPr bwMode="auto">
          <a:xfrm>
            <a:off x="6562724" y="4437062"/>
            <a:ext cx="4676775" cy="2116138"/>
          </a:xfrm>
          <a:prstGeom prst="rect">
            <a:avLst/>
          </a:prstGeom>
          <a:noFill/>
        </p:spPr>
        <p:txBody>
          <a:bodyPr vert="horz" lIns="92075" tIns="46038" rIns="92075" bIns="46038" rtlCol="0">
            <a:noAutofit/>
          </a:bodyPr>
          <a:lstStyle/>
          <a:p>
            <a:pPr>
              <a:lnSpc>
                <a:spcPct val="140000"/>
              </a:lnSpc>
              <a:defRPr/>
            </a:pPr>
            <a:r>
              <a:rPr lang="en-US" sz="2000"/>
              <a:t>Nửa mảnh bên trái có tương quan dương</a:t>
            </a:r>
            <a:endParaRPr/>
          </a:p>
          <a:p>
            <a:pPr>
              <a:lnSpc>
                <a:spcPct val="140000"/>
              </a:lnSpc>
              <a:defRPr/>
            </a:pPr>
            <a:r>
              <a:rPr lang="en-US" sz="2000"/>
              <a:t>Nửa bên phải có tương quan âm</a:t>
            </a:r>
            <a:endParaRPr lang="en-US" sz="2400">
              <a:solidFill>
                <a:schemeClr val="hlink"/>
              </a:solidFill>
            </a:endParaRPr>
          </a:p>
        </p:txBody>
      </p:sp>
      <p:pic>
        <p:nvPicPr>
          <p:cNvPr id="118792109" name="Picture 4" descr="ha02correl1"/>
          <p:cNvPicPr>
            <a:picLocks noChangeAspect="1" noChangeArrowheads="1"/>
          </p:cNvPicPr>
          <p:nvPr/>
        </p:nvPicPr>
        <p:blipFill rotWithShape="1">
          <a:blip r:embed="rId3">
            <a:extLst>
              <a:ext uri="{96DAC541-7B7A-43D3-8B79-37D633B846F1}">
                <asvg:svgBlip xmlns:asvg="http://schemas.microsoft.com/office/drawing/2016/SVG/main" r:embed="rId4"/>
              </a:ext>
            </a:extLst>
          </a:blip>
          <a:stretch/>
        </p:blipFill>
        <p:spPr bwMode="auto">
          <a:xfrm>
            <a:off x="2209800" y="1295400"/>
            <a:ext cx="3365500" cy="2768600"/>
          </a:xfrm>
          <a:prstGeom prst="rect">
            <a:avLst/>
          </a:prstGeom>
          <a:noFill/>
          <a:ln>
            <a:noFill/>
          </a:ln>
        </p:spPr>
      </p:pic>
      <p:pic>
        <p:nvPicPr>
          <p:cNvPr id="926815108" name="Picture 5" descr="ha02correl2"/>
          <p:cNvPicPr>
            <a:picLocks noChangeAspect="1" noChangeArrowheads="1"/>
          </p:cNvPicPr>
          <p:nvPr/>
        </p:nvPicPr>
        <p:blipFill rotWithShape="1">
          <a:blip r:embed="rId5">
            <a:extLst>
              <a:ext uri="{96DAC541-7B7A-43D3-8B79-37D633B846F1}">
                <asvg:svgBlip xmlns:asvg="http://schemas.microsoft.com/office/drawing/2016/SVG/main" r:embed="rId6"/>
              </a:ext>
            </a:extLst>
          </a:blip>
          <a:stretch/>
        </p:blipFill>
        <p:spPr bwMode="auto">
          <a:xfrm>
            <a:off x="6629400" y="1219200"/>
            <a:ext cx="3810000" cy="2895600"/>
          </a:xfrm>
          <a:prstGeom prst="rect">
            <a:avLst/>
          </a:prstGeom>
          <a:noFill/>
          <a:ln>
            <a:noFill/>
          </a:ln>
        </p:spPr>
      </p:pic>
      <p:pic>
        <p:nvPicPr>
          <p:cNvPr id="224579518" name="Picture 6" descr="fig46"/>
          <p:cNvPicPr>
            <a:picLocks noChangeAspect="1" noChangeArrowheads="1"/>
          </p:cNvPicPr>
          <p:nvPr/>
        </p:nvPicPr>
        <p:blipFill rotWithShape="1">
          <a:blip r:embed="rId7">
            <a:extLst>
              <a:ext uri="{96DAC541-7B7A-43D3-8B79-37D633B846F1}">
                <asvg:svgBlip xmlns:asvg="http://schemas.microsoft.com/office/drawing/2016/SVG/main" r:embed="rId8"/>
              </a:ext>
            </a:extLst>
          </a:blip>
          <a:stretch/>
        </p:blipFill>
        <p:spPr bwMode="auto">
          <a:xfrm>
            <a:off x="2209800" y="4114800"/>
            <a:ext cx="3505199" cy="2438400"/>
          </a:xfrm>
          <a:prstGeom prst="rect">
            <a:avLst/>
          </a:prstGeom>
          <a:noFill/>
          <a:ln>
            <a:noFill/>
          </a:ln>
        </p:spPr>
      </p:pic>
      <p:sp>
        <p:nvSpPr>
          <p:cNvPr id="470037505" name="Right Arrow 1"/>
          <p:cNvSpPr/>
          <p:nvPr/>
        </p:nvSpPr>
        <p:spPr bwMode="auto">
          <a:xfrm>
            <a:off x="5715000" y="5076825"/>
            <a:ext cx="609600" cy="514350"/>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34309917" name="Picture 3" descr="fig18-1"/>
          <p:cNvPicPr>
            <a:picLocks noChangeAspect="1" noChangeArrowheads="1" noGrp="1"/>
          </p:cNvPicPr>
          <p:nvPr>
            <p:ph sz="quarter" idx="4"/>
          </p:nvPr>
        </p:nvPicPr>
        <p:blipFill rotWithShape="1">
          <a:blip r:embed="rId3"/>
          <a:stretch/>
        </p:blipFill>
        <p:spPr bwMode="auto">
          <a:xfrm>
            <a:off x="3917950" y="1714500"/>
            <a:ext cx="4038600" cy="3733800"/>
          </a:xfrm>
          <a:prstGeom prst="rect">
            <a:avLst/>
          </a:prstGeom>
          <a:noFill/>
        </p:spPr>
      </p:pic>
      <p:pic>
        <p:nvPicPr>
          <p:cNvPr id="711394842" name="Picture 4" descr="fig18-2"/>
          <p:cNvPicPr>
            <a:picLocks noChangeAspect="1" noChangeArrowheads="1" noGrp="1"/>
          </p:cNvPicPr>
          <p:nvPr>
            <p:ph sz="quarter" idx="1"/>
          </p:nvPr>
        </p:nvPicPr>
        <p:blipFill rotWithShape="1">
          <a:blip r:embed="rId4"/>
          <a:stretch/>
        </p:blipFill>
        <p:spPr bwMode="auto">
          <a:xfrm>
            <a:off x="7696200" y="1943100"/>
            <a:ext cx="4191000" cy="3505199"/>
          </a:xfrm>
          <a:prstGeom prst="rect">
            <a:avLst/>
          </a:prstGeom>
          <a:noFill/>
        </p:spPr>
      </p:pic>
      <p:pic>
        <p:nvPicPr>
          <p:cNvPr id="1212823414" name="Picture 5" descr="fig18-3"/>
          <p:cNvPicPr>
            <a:picLocks noChangeAspect="1" noChangeArrowheads="1" noGrp="1"/>
          </p:cNvPicPr>
          <p:nvPr>
            <p:ph sz="quarter" idx="2"/>
          </p:nvPr>
        </p:nvPicPr>
        <p:blipFill rotWithShape="1">
          <a:blip r:embed="rId5"/>
          <a:stretch/>
        </p:blipFill>
        <p:spPr bwMode="auto">
          <a:xfrm>
            <a:off x="107949" y="1735138"/>
            <a:ext cx="4267200" cy="3606800"/>
          </a:xfrm>
          <a:prstGeom prst="rect">
            <a:avLst/>
          </a:prstGeom>
          <a:noFill/>
        </p:spPr>
      </p:pic>
      <p:sp>
        <p:nvSpPr>
          <p:cNvPr id="1665393086" name="Rectangle 2"/>
          <p:cNvSpPr>
            <a:spLocks noChangeArrowheads="1" noGrp="1"/>
          </p:cNvSpPr>
          <p:nvPr>
            <p:ph type="title" sz="quarter"/>
          </p:nvPr>
        </p:nvSpPr>
        <p:spPr bwMode="auto"/>
        <p:txBody>
          <a:bodyPr anchor="t">
            <a:normAutofit fontScale="90000"/>
          </a:bodyPr>
          <a:lstStyle/>
          <a:p>
            <a:pPr>
              <a:defRPr/>
            </a:pPr>
            <a:r>
              <a:rPr lang="en-US" sz="3200"/>
              <a:t> </a:t>
            </a:r>
            <a:r>
              <a:rPr lang="en-US" sz="4900"/>
              <a:t>Dữ liệu không tương quan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39001094" name="Rectangle 2"/>
          <p:cNvSpPr>
            <a:spLocks noChangeArrowheads="1" noGrp="1"/>
          </p:cNvSpPr>
          <p:nvPr>
            <p:ph type="title"/>
          </p:nvPr>
        </p:nvSpPr>
        <p:spPr bwMode="auto">
          <a:xfrm>
            <a:off x="571500" y="228600"/>
            <a:ext cx="11106150" cy="838200"/>
          </a:xfrm>
        </p:spPr>
        <p:txBody>
          <a:bodyPr anchor="t">
            <a:normAutofit/>
          </a:bodyPr>
          <a:lstStyle/>
          <a:p>
            <a:pPr>
              <a:defRPr/>
            </a:pPr>
            <a:r>
              <a:rPr lang="en-US" sz="4400"/>
              <a:t>Độ đo tương tự và khoảng cách</a:t>
            </a:r>
            <a:endParaRPr lang="en-US"/>
          </a:p>
        </p:txBody>
      </p:sp>
      <p:sp>
        <p:nvSpPr>
          <p:cNvPr id="1253493974" name="Rectangle 3"/>
          <p:cNvSpPr>
            <a:spLocks noChangeArrowheads="1" noGrp="1"/>
          </p:cNvSpPr>
          <p:nvPr>
            <p:ph type="body" idx="1"/>
          </p:nvPr>
        </p:nvSpPr>
        <p:spPr bwMode="auto">
          <a:xfrm>
            <a:off x="663388" y="1209235"/>
            <a:ext cx="10865223" cy="5257800"/>
          </a:xfrm>
        </p:spPr>
        <p:txBody>
          <a:bodyPr/>
          <a:lstStyle/>
          <a:p>
            <a:pPr>
              <a:spcAft>
                <a:spcPts val="600"/>
              </a:spcAft>
              <a:defRPr/>
            </a:pPr>
            <a:r>
              <a:rPr lang="en-US"/>
              <a:t>Ma trận dữ liệu so với ma trận phi tương tự </a:t>
            </a:r>
            <a:endParaRPr/>
          </a:p>
          <a:p>
            <a:pPr>
              <a:spcAft>
                <a:spcPts val="600"/>
              </a:spcAft>
              <a:defRPr/>
            </a:pPr>
            <a:r>
              <a:rPr lang="en-US"/>
              <a:t>Độ đo gần cho thuộc tính định danh </a:t>
            </a:r>
            <a:endParaRPr/>
          </a:p>
          <a:p>
            <a:pPr>
              <a:spcAft>
                <a:spcPts val="600"/>
              </a:spcAft>
              <a:defRPr/>
            </a:pPr>
            <a:r>
              <a:rPr lang="en-US"/>
              <a:t>Độ đo gần cho thuộc tính nhị phân</a:t>
            </a:r>
            <a:endParaRPr/>
          </a:p>
          <a:p>
            <a:pPr>
              <a:spcAft>
                <a:spcPts val="600"/>
              </a:spcAft>
              <a:defRPr/>
            </a:pPr>
            <a:r>
              <a:rPr lang="en-US"/>
              <a:t>Phi tương tự của dữ liệu số: Khoảng cách </a:t>
            </a:r>
            <a:r>
              <a:rPr lang="en-US"/>
              <a:t>Minkowski</a:t>
            </a:r>
            <a:endParaRPr/>
          </a:p>
          <a:p>
            <a:pPr>
              <a:spcAft>
                <a:spcPts val="600"/>
              </a:spcAft>
              <a:defRPr/>
            </a:pPr>
            <a:r>
              <a:rPr lang="en-US"/>
              <a:t>Độ đo gần cho thuộc tính thứ bậc </a:t>
            </a:r>
            <a:endParaRPr/>
          </a:p>
          <a:p>
            <a:pPr>
              <a:spcAft>
                <a:spcPts val="600"/>
              </a:spcAft>
              <a:defRPr/>
            </a:pPr>
            <a:r>
              <a:rPr lang="en-US"/>
              <a:t>Phi tương tự cho thuộc tính hỗn hợp</a:t>
            </a:r>
            <a:endParaRPr/>
          </a:p>
          <a:p>
            <a:pPr>
              <a:spcAft>
                <a:spcPts val="600"/>
              </a:spcAft>
              <a:defRPr/>
            </a:pPr>
            <a:r>
              <a:rPr lang="en-US"/>
              <a:t>Độ tương tự Cosine</a:t>
            </a:r>
            <a:endParaRPr/>
          </a:p>
          <a:p>
            <a:pPr>
              <a:spcAft>
                <a:spcPts val="600"/>
              </a:spcAft>
              <a:defRPr/>
            </a:pPr>
            <a:r>
              <a:rPr lang="en-US"/>
              <a:t>Đo các phân bố tương tự: Độ phân kỳ </a:t>
            </a:r>
            <a:r>
              <a:rPr lang="en-US"/>
              <a:t>Kullback-Leibler</a:t>
            </a:r>
            <a:r>
              <a:rPr lang="en-US"/>
              <a:t> </a:t>
            </a:r>
            <a:endParaRPr/>
          </a:p>
          <a:p>
            <a:pPr>
              <a:spcAft>
                <a:spcPts val="600"/>
              </a:spcAft>
              <a:defRPr/>
            </a:pPr>
            <a:r>
              <a:rPr lang="en-US"/>
              <a:t>Nắm bắt ngữ nghĩa ẩn trong các độ đo tương tự</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81034664" name="Rectangle 2"/>
          <p:cNvSpPr>
            <a:spLocks noChangeArrowheads="1" noGrp="1"/>
          </p:cNvSpPr>
          <p:nvPr>
            <p:ph type="title"/>
          </p:nvPr>
        </p:nvSpPr>
        <p:spPr bwMode="auto">
          <a:xfrm>
            <a:off x="711200" y="228600"/>
            <a:ext cx="10668000" cy="762000"/>
          </a:xfrm>
        </p:spPr>
        <p:txBody>
          <a:bodyPr anchor="t"/>
          <a:lstStyle/>
          <a:p>
            <a:pPr>
              <a:defRPr/>
            </a:pPr>
            <a:r>
              <a:rPr lang="en-US"/>
              <a:t>Tương tự, phi tương tự và độ gần</a:t>
            </a:r>
            <a:endParaRPr/>
          </a:p>
        </p:txBody>
      </p:sp>
      <p:sp>
        <p:nvSpPr>
          <p:cNvPr id="196277031" name="Rectangle 3"/>
          <p:cNvSpPr>
            <a:spLocks noChangeArrowheads="1" noGrp="1"/>
          </p:cNvSpPr>
          <p:nvPr>
            <p:ph type="body" idx="1"/>
          </p:nvPr>
        </p:nvSpPr>
        <p:spPr bwMode="auto">
          <a:xfrm>
            <a:off x="552262" y="1233409"/>
            <a:ext cx="10148934" cy="5450312"/>
          </a:xfrm>
        </p:spPr>
        <p:txBody>
          <a:bodyPr/>
          <a:lstStyle/>
          <a:p>
            <a:pPr>
              <a:spcBef>
                <a:spcPts val="1200"/>
              </a:spcBef>
              <a:defRPr/>
            </a:pPr>
            <a:r>
              <a:rPr lang="en-US" sz="2000" b="1"/>
              <a:t>Độ đo </a:t>
            </a:r>
            <a:r>
              <a:rPr lang="en-US" sz="2000" b="1"/>
              <a:t>tương tự</a:t>
            </a:r>
            <a:r>
              <a:rPr lang="en-US" sz="2000"/>
              <a:t> hay </a:t>
            </a:r>
            <a:r>
              <a:rPr lang="en-US" sz="2000" b="1"/>
              <a:t>hàm tương tự</a:t>
            </a:r>
            <a:endParaRPr lang="en-US" sz="2400" b="1"/>
          </a:p>
          <a:p>
            <a:pPr lvl="1">
              <a:spcBef>
                <a:spcPts val="1200"/>
              </a:spcBef>
              <a:defRPr/>
            </a:pPr>
            <a:r>
              <a:rPr lang="en-US" sz="2000"/>
              <a:t>Một hàm giá trị thực định lượng mức độ tương tự giữa hai đối tượng</a:t>
            </a:r>
            <a:endParaRPr lang="en-US" sz="2400" b="1"/>
          </a:p>
          <a:p>
            <a:pPr lvl="1">
              <a:spcBef>
                <a:spcPts val="1200"/>
              </a:spcBef>
              <a:defRPr/>
            </a:pPr>
            <a:r>
              <a:rPr lang="en-US" sz="2000"/>
              <a:t>Đo mức độ giống nhau của hai đối tượng dữ liệu: giá trị càng cao, càng giống nhau</a:t>
            </a:r>
            <a:endParaRPr/>
          </a:p>
          <a:p>
            <a:pPr lvl="1">
              <a:spcBef>
                <a:spcPts val="1200"/>
              </a:spcBef>
              <a:defRPr/>
            </a:pPr>
            <a:r>
              <a:rPr lang="en-US" sz="2000"/>
              <a:t>Thường nằm trong khoảng [0,1]: 0: không tương tự; 1: hoàn toàn tương tự</a:t>
            </a:r>
            <a:endParaRPr/>
          </a:p>
          <a:p>
            <a:pPr>
              <a:spcBef>
                <a:spcPts val="1200"/>
              </a:spcBef>
              <a:defRPr/>
            </a:pPr>
            <a:r>
              <a:rPr lang="en-US" sz="2000" b="1"/>
              <a:t>Độ đo </a:t>
            </a:r>
            <a:r>
              <a:rPr lang="en-US" sz="2000"/>
              <a:t>phi tương tự</a:t>
            </a:r>
            <a:r>
              <a:rPr lang="en-US" sz="2000" b="1"/>
              <a:t> (hay </a:t>
            </a:r>
            <a:r>
              <a:rPr lang="en-US" sz="2000"/>
              <a:t>khoảng cách</a:t>
            </a:r>
            <a:endParaRPr/>
          </a:p>
          <a:p>
            <a:pPr lvl="1">
              <a:spcBef>
                <a:spcPts val="1200"/>
              </a:spcBef>
              <a:defRPr/>
            </a:pPr>
            <a:r>
              <a:rPr lang="en-US" sz="2000"/>
              <a:t>Độ đo số học về mức độ khác nhau của hai đối tượng dữ liệu</a:t>
            </a:r>
            <a:endParaRPr/>
          </a:p>
          <a:p>
            <a:pPr lvl="1">
              <a:spcBef>
                <a:spcPts val="1200"/>
              </a:spcBef>
              <a:defRPr/>
            </a:pPr>
            <a:r>
              <a:rPr lang="en-US" sz="2000"/>
              <a:t>Theo một nghĩa nào đó, là nghịch đảo của độ tương tự: </a:t>
            </a:r>
            <a:r>
              <a:rPr lang="en-US" sz="2000"/>
              <a:t> </a:t>
            </a:r>
            <a:r>
              <a:rPr lang="en-US" sz="2000"/>
              <a:t>càng thấp, càng giống nhau</a:t>
            </a:r>
            <a:endParaRPr/>
          </a:p>
          <a:p>
            <a:pPr lvl="1">
              <a:spcBef>
                <a:spcPts val="1200"/>
              </a:spcBef>
              <a:defRPr/>
            </a:pPr>
            <a:r>
              <a:rPr lang="en-US" sz="2000"/>
              <a:t>Độ phi tương tự nhỏ nhất thường là 0 (tức hoàn toàn giống nhau)</a:t>
            </a:r>
            <a:endParaRPr/>
          </a:p>
          <a:p>
            <a:pPr lvl="1">
              <a:spcBef>
                <a:spcPts val="1200"/>
              </a:spcBef>
              <a:defRPr/>
            </a:pPr>
            <a:r>
              <a:rPr lang="en-US" sz="2000"/>
              <a:t>Miền giá trị [0, 1] hoặc [0, ∞), tùy theo định nghĩa</a:t>
            </a:r>
            <a:endParaRPr/>
          </a:p>
          <a:p>
            <a:pPr>
              <a:spcBef>
                <a:spcPts val="1200"/>
              </a:spcBef>
              <a:defRPr/>
            </a:pPr>
            <a:r>
              <a:rPr lang="en-US" sz="2000" b="1"/>
              <a:t>Độ gần</a:t>
            </a:r>
            <a:r>
              <a:rPr lang="en-US" sz="2000"/>
              <a:t> thường dùng để chỉ độ tương tự hoặc độ phi tương tự</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56324619" name="Rectangle 2"/>
          <p:cNvSpPr>
            <a:spLocks noChangeArrowheads="1" noGrp="1"/>
          </p:cNvSpPr>
          <p:nvPr>
            <p:ph type="title"/>
          </p:nvPr>
        </p:nvSpPr>
        <p:spPr bwMode="auto">
          <a:xfrm>
            <a:off x="711200" y="228600"/>
            <a:ext cx="10668000" cy="762000"/>
          </a:xfrm>
        </p:spPr>
        <p:txBody>
          <a:bodyPr anchor="t">
            <a:normAutofit/>
          </a:bodyPr>
          <a:lstStyle/>
          <a:p>
            <a:pPr>
              <a:defRPr/>
            </a:pPr>
            <a:r>
              <a:rPr lang="en-US" sz="4000"/>
              <a:t>Ma trận dữ liệu và ma trận phi tương tự</a:t>
            </a:r>
            <a:endParaRPr/>
          </a:p>
        </p:txBody>
      </p:sp>
      <p:sp>
        <p:nvSpPr>
          <p:cNvPr id="448480219" name="Rectangle 3"/>
          <p:cNvSpPr>
            <a:spLocks noChangeArrowheads="1" noGrp="1"/>
          </p:cNvSpPr>
          <p:nvPr>
            <p:ph type="body" idx="1"/>
          </p:nvPr>
        </p:nvSpPr>
        <p:spPr bwMode="auto">
          <a:xfrm>
            <a:off x="552262" y="1167897"/>
            <a:ext cx="7912728" cy="5316648"/>
          </a:xfrm>
        </p:spPr>
        <p:txBody>
          <a:bodyPr/>
          <a:lstStyle/>
          <a:p>
            <a:pPr>
              <a:spcBef>
                <a:spcPts val="1200"/>
              </a:spcBef>
              <a:spcAft>
                <a:spcPts val="600"/>
              </a:spcAft>
              <a:defRPr/>
            </a:pPr>
            <a:r>
              <a:rPr lang="en-US" sz="2000"/>
              <a:t>Ma trận dữ liệu</a:t>
            </a:r>
            <a:endParaRPr/>
          </a:p>
          <a:p>
            <a:pPr lvl="1">
              <a:spcBef>
                <a:spcPts val="1200"/>
              </a:spcBef>
              <a:spcAft>
                <a:spcPts val="600"/>
              </a:spcAft>
              <a:defRPr/>
            </a:pPr>
            <a:r>
              <a:rPr lang="en-US" sz="2000"/>
              <a:t>Một ma trận dữ liệu gồm n điểm dữ liệu với </a:t>
            </a:r>
            <a:r>
              <a:rPr lang="en-US" sz="2000" i="1"/>
              <a:t>l</a:t>
            </a:r>
            <a:r>
              <a:rPr lang="en-US" sz="2000"/>
              <a:t> chiều</a:t>
            </a:r>
            <a:endParaRPr/>
          </a:p>
          <a:p>
            <a:pPr>
              <a:spcBef>
                <a:spcPts val="1200"/>
              </a:spcBef>
              <a:spcAft>
                <a:spcPts val="600"/>
              </a:spcAft>
              <a:defRPr/>
            </a:pPr>
            <a:r>
              <a:rPr lang="en-US" sz="2000"/>
              <a:t>Ma trận phi tương tự (khoảng cách)</a:t>
            </a:r>
            <a:endParaRPr/>
          </a:p>
          <a:p>
            <a:pPr lvl="1">
              <a:spcBef>
                <a:spcPts val="1200"/>
              </a:spcBef>
              <a:spcAft>
                <a:spcPts val="600"/>
              </a:spcAft>
              <a:defRPr/>
            </a:pPr>
            <a:r>
              <a:rPr lang="en-US" sz="2000"/>
              <a:t>n điểm dữ liệu, nhưng chỉ ghi lại khoảng cách </a:t>
            </a:r>
            <a:r>
              <a:rPr lang="en-US" sz="2000" i="1">
                <a:ea typeface="SimSun"/>
              </a:rPr>
              <a:t>d</a:t>
            </a:r>
            <a:r>
              <a:rPr lang="en-US" sz="2000">
                <a:ea typeface="SimSun"/>
              </a:rPr>
              <a:t>(</a:t>
            </a:r>
            <a:r>
              <a:rPr lang="en-US" sz="2000" i="1">
                <a:ea typeface="SimSun"/>
              </a:rPr>
              <a:t>i</a:t>
            </a:r>
            <a:r>
              <a:rPr lang="en-US" sz="2000" i="1">
                <a:ea typeface="SimSun"/>
              </a:rPr>
              <a:t>, j</a:t>
            </a:r>
            <a:r>
              <a:rPr lang="en-US" sz="2000">
                <a:ea typeface="SimSun"/>
              </a:rPr>
              <a:t>) (thường là một metric)</a:t>
            </a:r>
            <a:endParaRPr lang="en-US" sz="2400"/>
          </a:p>
          <a:p>
            <a:pPr lvl="1">
              <a:spcBef>
                <a:spcPts val="1200"/>
              </a:spcBef>
              <a:spcAft>
                <a:spcPts val="600"/>
              </a:spcAft>
              <a:defRPr/>
            </a:pPr>
            <a:r>
              <a:rPr lang="en-US" sz="2000"/>
              <a:t>Thường đối xứng, do đó là một ma trận tam giác</a:t>
            </a:r>
            <a:endParaRPr/>
          </a:p>
          <a:p>
            <a:pPr lvl="1">
              <a:spcBef>
                <a:spcPts val="1200"/>
              </a:spcBef>
              <a:spcAft>
                <a:spcPts val="600"/>
              </a:spcAft>
              <a:defRPr/>
            </a:pPr>
            <a:r>
              <a:rPr lang="en-US" sz="2000">
                <a:solidFill>
                  <a:srgbClr val="FF0000"/>
                </a:solidFill>
                <a:ea typeface="SimSun"/>
              </a:rPr>
              <a:t>Các hàm khoảng cách </a:t>
            </a:r>
            <a:r>
              <a:rPr lang="en-US" sz="2000">
                <a:ea typeface="SimSun"/>
              </a:rPr>
              <a:t>thường khác nhau đối với biến số thực, </a:t>
            </a:r>
            <a:r>
              <a:rPr lang="en-US" sz="2000">
                <a:ea typeface="SimSun"/>
              </a:rPr>
              <a:t>boolean</a:t>
            </a:r>
            <a:r>
              <a:rPr lang="en-US" sz="2000">
                <a:ea typeface="SimSun"/>
              </a:rPr>
              <a:t>, danh mục, thứ bậc, tỉ lệ và vectơ</a:t>
            </a:r>
            <a:endParaRPr/>
          </a:p>
          <a:p>
            <a:pPr lvl="1">
              <a:spcBef>
                <a:spcPts val="1200"/>
              </a:spcBef>
              <a:spcAft>
                <a:spcPts val="600"/>
              </a:spcAft>
              <a:defRPr/>
            </a:pPr>
            <a:r>
              <a:rPr lang="en-US" sz="2000">
                <a:ea typeface="SimSun"/>
              </a:rPr>
              <a:t>Có thể gán trọng số cho các biến khác nhau tùy theo ứng dụng và ngữ nghĩa dữ liệu</a:t>
            </a:r>
            <a:endParaRPr lang="en-US" sz="2400">
              <a:ea typeface="SimSun"/>
            </a:endParaRPr>
          </a:p>
          <a:p>
            <a:pPr lvl="1">
              <a:defRPr/>
            </a:pPr>
            <a:endParaRPr lang="en-US" sz="2400"/>
          </a:p>
        </p:txBody>
      </p:sp>
      <p:sp>
        <p:nvSpPr>
          <p:cNvPr id="373411447" name="Right Arrow 1"/>
          <p:cNvSpPr/>
          <p:nvPr/>
        </p:nvSpPr>
        <p:spPr bwMode="auto">
          <a:xfrm>
            <a:off x="7427666" y="1762408"/>
            <a:ext cx="914400" cy="497940"/>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68236388" name="Right Arrow 2"/>
          <p:cNvSpPr/>
          <p:nvPr/>
        </p:nvSpPr>
        <p:spPr bwMode="auto">
          <a:xfrm rot="777763">
            <a:off x="7523431" y="3563671"/>
            <a:ext cx="769545" cy="525101"/>
          </a:xfrm>
          <a:prstGeom prst="rightArrow">
            <a:avLst>
              <a:gd name="adj1" fmla="val 50000"/>
              <a:gd name="adj2" fmla="val 50000"/>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defRPr/>
            </a:pPr>
            <a:endParaRPr lang="en-US"/>
          </a:p>
        </p:txBody>
      </p:sp>
      <p:graphicFrame>
        <p:nvGraphicFramePr>
          <p:cNvPr id="427018211" name="Object 7"/>
          <p:cNvGraphicFramePr>
            <a:graphicFrameLocks xmlns:a="http://schemas.openxmlformats.org/drawingml/2006/main" noChangeAspect="1"/>
          </p:cNvGraphicFramePr>
          <p:nvPr/>
        </p:nvGraphicFramePr>
        <p:xfrm>
          <a:off x="8233763" y="1190896"/>
          <a:ext cx="3529680" cy="2138904"/>
        </p:xfrm>
        <a:graphic>
          <a:graphicData uri="http://schemas.openxmlformats.org/presentationml/2006/ole">
            <p:oleObj name="oleObj" r:id="rId4" imgW="1548765" imgH="939165" progId="Equation.DSMT4">
              <p:embed/>
              <p:pic>
                <p:nvPicPr>
                  <p:cNvPr id="427018211" name="Object 7"/>
                  <p:cNvPicPr/>
                  <p:nvPr/>
                </p:nvPicPr>
                <p:blipFill rotWithShape="1">
                  <a:blip r:embed="rId3"/>
                  <a:stretch/>
                </p:blipFill>
                <p:spPr bwMode="auto">
                  <a:xfrm>
                    <a:off x="8233763" y="1190896"/>
                    <a:ext cx="3529680" cy="2138904"/>
                  </a:xfrm>
                  <a:prstGeom prst="rect">
                    <a:avLst/>
                  </a:prstGeom>
                </p:spPr>
              </p:pic>
            </p:oleObj>
          </a:graphicData>
        </a:graphic>
      </p:graphicFrame>
      <p:graphicFrame>
        <p:nvGraphicFramePr>
          <p:cNvPr id="637594880" name="Object 8"/>
          <p:cNvGraphicFramePr>
            <a:graphicFrameLocks xmlns:a="http://schemas.openxmlformats.org/drawingml/2006/main" noChangeAspect="1"/>
          </p:cNvGraphicFramePr>
          <p:nvPr/>
        </p:nvGraphicFramePr>
        <p:xfrm>
          <a:off x="8516938" y="3687751"/>
          <a:ext cx="3246505" cy="1837115"/>
        </p:xfrm>
        <a:graphic>
          <a:graphicData uri="http://schemas.openxmlformats.org/presentationml/2006/ole">
            <p:oleObj name="oleObj" r:id="rId6" imgW="1612265" imgH="914400" progId="Equation.DSMT4">
              <p:embed/>
              <p:pic>
                <p:nvPicPr>
                  <p:cNvPr id="637594880" name="Object 8"/>
                  <p:cNvPicPr/>
                  <p:nvPr/>
                </p:nvPicPr>
                <p:blipFill rotWithShape="1">
                  <a:blip r:embed="rId5"/>
                  <a:stretch/>
                </p:blipFill>
                <p:spPr bwMode="auto">
                  <a:xfrm>
                    <a:off x="8516938" y="3687751"/>
                    <a:ext cx="3246505" cy="1837115"/>
                  </a:xfrm>
                  <a:prstGeom prst="rect">
                    <a:avLst/>
                  </a:prstGeom>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64603575" name="Rectangle 2"/>
          <p:cNvSpPr>
            <a:spLocks noChangeArrowheads="1" noGrp="1"/>
          </p:cNvSpPr>
          <p:nvPr>
            <p:ph type="title"/>
          </p:nvPr>
        </p:nvSpPr>
        <p:spPr bwMode="auto">
          <a:prstGeom prst="rect">
            <a:avLst/>
          </a:prstGeom>
          <a:noFill/>
        </p:spPr>
        <p:txBody>
          <a:bodyPr vert="horz" lIns="92075" tIns="46038" rIns="92075" bIns="46038" rtlCol="0" anchor="t">
            <a:noAutofit/>
          </a:bodyPr>
          <a:lstStyle/>
          <a:p>
            <a:pPr>
              <a:defRPr/>
            </a:pPr>
            <a:r>
              <a:rPr lang="en-US"/>
              <a:t>Chuẩn hóa dữ liệu số</a:t>
            </a:r>
            <a:endParaRPr/>
          </a:p>
        </p:txBody>
      </p:sp>
      <p:sp>
        <p:nvSpPr>
          <p:cNvPr id="1310608383" name="Rectangle 3"/>
          <p:cNvSpPr>
            <a:spLocks noChangeArrowheads="1" noGrp="1"/>
          </p:cNvSpPr>
          <p:nvPr>
            <p:ph type="body" sz="half" idx="1"/>
          </p:nvPr>
        </p:nvSpPr>
        <p:spPr bwMode="auto">
          <a:xfrm>
            <a:off x="629138" y="1281967"/>
            <a:ext cx="10832123" cy="5282955"/>
          </a:xfrm>
          <a:prstGeom prst="rect">
            <a:avLst/>
          </a:prstGeom>
          <a:noFill/>
        </p:spPr>
        <p:txBody>
          <a:bodyPr vert="horz" lIns="92075" tIns="46038" rIns="92075" bIns="46038" rtlCol="0">
            <a:noAutofit/>
          </a:bodyPr>
          <a:lstStyle/>
          <a:p>
            <a:pPr>
              <a:lnSpc>
                <a:spcPct val="110000"/>
              </a:lnSpc>
              <a:defRPr/>
            </a:pPr>
            <a:r>
              <a:rPr lang="en-US">
                <a:latin typeface="Calibri"/>
              </a:rPr>
              <a:t>Z-score: </a:t>
            </a:r>
            <a:endParaRPr/>
          </a:p>
          <a:p>
            <a:pPr lvl="1">
              <a:lnSpc>
                <a:spcPct val="110000"/>
              </a:lnSpc>
              <a:defRPr/>
            </a:pPr>
            <a:r>
              <a:rPr lang="en-US">
                <a:latin typeface="Calibri"/>
              </a:rPr>
              <a:t>X: điểm thô cần chuẩn hóa, </a:t>
            </a:r>
            <a:r>
              <a:rPr lang="el-GR">
                <a:latin typeface="Calibri"/>
                <a:cs typeface="Tahoma"/>
              </a:rPr>
              <a:t>μ</a:t>
            </a:r>
            <a:r>
              <a:rPr lang="en-US">
                <a:latin typeface="Calibri"/>
                <a:cs typeface="Tahoma"/>
              </a:rPr>
              <a:t>: trung bình của tổng thể, </a:t>
            </a:r>
            <a:r>
              <a:rPr lang="el-GR">
                <a:latin typeface="Calibri"/>
                <a:cs typeface="Tahoma"/>
              </a:rPr>
              <a:t>σ</a:t>
            </a:r>
            <a:r>
              <a:rPr lang="en-US">
                <a:latin typeface="Calibri"/>
                <a:cs typeface="Tahoma"/>
              </a:rPr>
              <a:t>: độ lệch chuẩn</a:t>
            </a:r>
            <a:endParaRPr lang="el-GR">
              <a:latin typeface="Calibri"/>
              <a:cs typeface="Tahoma"/>
            </a:endParaRPr>
          </a:p>
          <a:p>
            <a:pPr lvl="1">
              <a:lnSpc>
                <a:spcPct val="110000"/>
              </a:lnSpc>
              <a:defRPr/>
            </a:pPr>
            <a:r>
              <a:rPr lang="en-US">
                <a:latin typeface="Calibri"/>
              </a:rPr>
              <a:t>khoảng cách giữa điểm thô và trung bình tổng thể, tính theo đơn vị độ lệch chuẩn</a:t>
            </a:r>
            <a:endParaRPr/>
          </a:p>
          <a:p>
            <a:pPr lvl="1">
              <a:lnSpc>
                <a:spcPct val="110000"/>
              </a:lnSpc>
              <a:defRPr/>
            </a:pPr>
            <a:r>
              <a:rPr lang="en-US">
                <a:latin typeface="Calibri"/>
                <a:cs typeface="Tahoma"/>
              </a:rPr>
              <a:t>âm </a:t>
            </a:r>
            <a:r>
              <a:rPr lang="en-US">
                <a:latin typeface="Calibri"/>
              </a:rPr>
              <a:t>khi điểm thô thấp hơn trung bình, “+” khi cao hơn</a:t>
            </a:r>
            <a:endParaRPr/>
          </a:p>
          <a:p>
            <a:pPr>
              <a:lnSpc>
                <a:spcPct val="110000"/>
              </a:lnSpc>
              <a:defRPr/>
            </a:pPr>
            <a:r>
              <a:rPr lang="en-US">
                <a:latin typeface="Calibri"/>
              </a:rPr>
              <a:t>Một cách khác: Tính độ lệch tuyệt đối trung bình</a:t>
            </a:r>
            <a:endParaRPr/>
          </a:p>
          <a:p>
            <a:pPr>
              <a:lnSpc>
                <a:spcPct val="110000"/>
              </a:lnSpc>
              <a:defRPr/>
            </a:pPr>
            <a:endParaRPr lang="en-US">
              <a:latin typeface="Calibri"/>
            </a:endParaRPr>
          </a:p>
          <a:p>
            <a:pPr lvl="1">
              <a:lnSpc>
                <a:spcPct val="110000"/>
              </a:lnSpc>
              <a:buFont typeface="Wingdings"/>
              <a:buNone/>
              <a:defRPr/>
            </a:pPr>
            <a:r>
              <a:rPr lang="en-US">
                <a:latin typeface="Calibri"/>
              </a:rPr>
              <a:t>trong đó</a:t>
            </a:r>
            <a:endParaRPr/>
          </a:p>
          <a:p>
            <a:pPr lvl="1">
              <a:lnSpc>
                <a:spcPct val="110000"/>
              </a:lnSpc>
              <a:defRPr/>
            </a:pPr>
            <a:endParaRPr lang="en-US">
              <a:latin typeface="Calibri"/>
            </a:endParaRPr>
          </a:p>
          <a:p>
            <a:pPr lvl="1">
              <a:lnSpc>
                <a:spcPct val="110000"/>
              </a:lnSpc>
              <a:defRPr/>
            </a:pPr>
            <a:r>
              <a:rPr lang="en-US">
                <a:latin typeface="Calibri"/>
              </a:rPr>
              <a:t>độ đo đã chuẩn hóa (</a:t>
            </a:r>
            <a:r>
              <a:rPr lang="en-US" i="1">
                <a:latin typeface="Calibri"/>
              </a:rPr>
              <a:t>z-score</a:t>
            </a:r>
            <a:r>
              <a:rPr lang="en-US">
                <a:latin typeface="Calibri"/>
              </a:rPr>
              <a:t>):</a:t>
            </a:r>
            <a:endParaRPr/>
          </a:p>
          <a:p>
            <a:pPr>
              <a:lnSpc>
                <a:spcPct val="110000"/>
              </a:lnSpc>
              <a:defRPr/>
            </a:pPr>
            <a:r>
              <a:rPr lang="en-US">
                <a:latin typeface="Calibri"/>
              </a:rPr>
              <a:t>Sử dụng độ lệch tuyệt đối trung bình mạnh mẽ (robust) hơn so với dùng độ lệch chuẩn </a:t>
            </a:r>
            <a:endParaRPr/>
          </a:p>
        </p:txBody>
      </p:sp>
      <p:graphicFrame>
        <p:nvGraphicFramePr>
          <p:cNvPr id="1305211377" name="Object 4"/>
          <p:cNvGraphicFramePr>
            <a:graphicFrameLocks xmlns:a="http://schemas.openxmlformats.org/drawingml/2006/main" noChangeAspect="1"/>
          </p:cNvGraphicFramePr>
          <p:nvPr/>
        </p:nvGraphicFramePr>
        <p:xfrm>
          <a:off x="2403231" y="4849813"/>
          <a:ext cx="2819400" cy="495300"/>
        </p:xfrm>
        <a:graphic>
          <a:graphicData uri="http://schemas.openxmlformats.org/presentationml/2006/ole">
            <p:oleObj name="oleObj" r:id="rId4" imgW="2374900" imgH="419100" progId="Equation.3">
              <p:embed/>
              <p:pic>
                <p:nvPicPr>
                  <p:cNvPr id="1305211377" name="Object 4"/>
                  <p:cNvPicPr/>
                  <p:nvPr/>
                </p:nvPicPr>
                <p:blipFill rotWithShape="1">
                  <a:blip r:embed="rId3"/>
                  <a:stretch/>
                </p:blipFill>
                <p:spPr bwMode="auto">
                  <a:xfrm>
                    <a:off x="2403231" y="4849813"/>
                    <a:ext cx="2819400" cy="495300"/>
                  </a:xfrm>
                  <a:prstGeom prst="rect">
                    <a:avLst/>
                  </a:prstGeom>
                  <a:noFill/>
                  <a:ln>
                    <a:noFill/>
                  </a:ln>
                  <a:effectLst/>
                </p:spPr>
              </p:pic>
            </p:oleObj>
          </a:graphicData>
        </a:graphic>
      </p:graphicFrame>
      <p:graphicFrame>
        <p:nvGraphicFramePr>
          <p:cNvPr id="1693634255" name="Object 5"/>
          <p:cNvGraphicFramePr>
            <a:graphicFrameLocks xmlns:a="http://schemas.openxmlformats.org/drawingml/2006/main" noChangeAspect="1"/>
          </p:cNvGraphicFramePr>
          <p:nvPr/>
        </p:nvGraphicFramePr>
        <p:xfrm>
          <a:off x="3505199" y="4087814"/>
          <a:ext cx="5334000" cy="496887"/>
        </p:xfrm>
        <a:graphic>
          <a:graphicData uri="http://schemas.openxmlformats.org/presentationml/2006/ole">
            <p:oleObj name="oleObj" r:id="rId6" imgW="4343400" imgH="406400" progId="Equation.3">
              <p:embed/>
              <p:pic>
                <p:nvPicPr>
                  <p:cNvPr id="1693634255" name="Object 5"/>
                  <p:cNvPicPr/>
                  <p:nvPr/>
                </p:nvPicPr>
                <p:blipFill rotWithShape="1">
                  <a:blip r:embed="rId5"/>
                  <a:stretch/>
                </p:blipFill>
                <p:spPr bwMode="auto">
                  <a:xfrm>
                    <a:off x="3505199" y="4087814"/>
                    <a:ext cx="5334000" cy="496887"/>
                  </a:xfrm>
                  <a:prstGeom prst="rect">
                    <a:avLst/>
                  </a:prstGeom>
                  <a:noFill/>
                  <a:ln>
                    <a:noFill/>
                  </a:ln>
                  <a:effectLst/>
                </p:spPr>
              </p:pic>
            </p:oleObj>
          </a:graphicData>
        </a:graphic>
      </p:graphicFrame>
      <p:graphicFrame>
        <p:nvGraphicFramePr>
          <p:cNvPr id="2123669161" name="Object 6"/>
          <p:cNvGraphicFramePr>
            <a:graphicFrameLocks xmlns:a="http://schemas.openxmlformats.org/drawingml/2006/main" noChangeAspect="1"/>
          </p:cNvGraphicFramePr>
          <p:nvPr/>
        </p:nvGraphicFramePr>
        <p:xfrm>
          <a:off x="5791200" y="5274164"/>
          <a:ext cx="1905000" cy="892175"/>
        </p:xfrm>
        <a:graphic>
          <a:graphicData uri="http://schemas.openxmlformats.org/presentationml/2006/ole">
            <p:oleObj name="oleObj" r:id="rId8" imgW="1409065" imgH="659765" progId="Equation.3">
              <p:embed/>
              <p:pic>
                <p:nvPicPr>
                  <p:cNvPr id="2123669161" name="Object 6"/>
                  <p:cNvPicPr/>
                  <p:nvPr/>
                </p:nvPicPr>
                <p:blipFill rotWithShape="1">
                  <a:blip r:embed="rId7"/>
                  <a:stretch/>
                </p:blipFill>
                <p:spPr bwMode="auto">
                  <a:xfrm>
                    <a:off x="5791200" y="5274164"/>
                    <a:ext cx="1905000" cy="892175"/>
                  </a:xfrm>
                  <a:prstGeom prst="rect">
                    <a:avLst/>
                  </a:prstGeom>
                  <a:noFill/>
                  <a:ln>
                    <a:noFill/>
                  </a:ln>
                  <a:effectLst/>
                </p:spPr>
              </p:pic>
            </p:oleObj>
          </a:graphicData>
        </a:graphic>
      </p:graphicFrame>
      <p:graphicFrame>
        <p:nvGraphicFramePr>
          <p:cNvPr id="1321223841" name="Object 7"/>
          <p:cNvGraphicFramePr>
            <a:graphicFrameLocks xmlns:a="http://schemas.openxmlformats.org/drawingml/2006/main" noChangeAspect="1"/>
          </p:cNvGraphicFramePr>
          <p:nvPr/>
        </p:nvGraphicFramePr>
        <p:xfrm>
          <a:off x="3505199" y="1303338"/>
          <a:ext cx="1409700" cy="601662"/>
        </p:xfrm>
        <a:graphic>
          <a:graphicData uri="http://schemas.openxmlformats.org/presentationml/2006/ole">
            <p:oleObj name="oleObj" r:id="rId10" imgW="951865" imgH="405765" progId="Equation.3">
              <p:embed/>
              <p:pic>
                <p:nvPicPr>
                  <p:cNvPr id="1321223841" name="Object 7"/>
                  <p:cNvPicPr/>
                  <p:nvPr/>
                </p:nvPicPr>
                <p:blipFill rotWithShape="1">
                  <a:blip r:embed="rId9"/>
                  <a:stretch/>
                </p:blipFill>
                <p:spPr bwMode="auto">
                  <a:xfrm>
                    <a:off x="3505199" y="1303338"/>
                    <a:ext cx="1409700" cy="601662"/>
                  </a:xfrm>
                  <a:prstGeom prst="rect">
                    <a:avLst/>
                  </a:prstGeom>
                  <a:noFill/>
                  <a:ln>
                    <a:noFill/>
                  </a:ln>
                  <a:effectLst/>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32984904" name="Rectangle 2"/>
          <p:cNvSpPr>
            <a:spLocks noChangeArrowheads="1" noGrp="1"/>
          </p:cNvSpPr>
          <p:nvPr>
            <p:ph type="title"/>
          </p:nvPr>
        </p:nvSpPr>
        <p:spPr bwMode="auto">
          <a:xfrm>
            <a:off x="534154" y="304800"/>
            <a:ext cx="11325886" cy="762000"/>
          </a:xfrm>
        </p:spPr>
        <p:txBody>
          <a:bodyPr anchor="t">
            <a:normAutofit/>
          </a:bodyPr>
          <a:lstStyle/>
          <a:p>
            <a:pPr>
              <a:defRPr/>
            </a:pPr>
            <a:r>
              <a:rPr lang="en-US" sz="3000"/>
              <a:t>Ví dụ: Ma trận dữ liệu và ma trận phi tương tự</a:t>
            </a:r>
            <a:endParaRPr/>
          </a:p>
        </p:txBody>
      </p:sp>
      <p:graphicFrame>
        <p:nvGraphicFramePr>
          <p:cNvPr id="637644947" name="Object 4"/>
          <p:cNvGraphicFramePr>
            <a:graphicFrameLocks xmlns:a="http://schemas.openxmlformats.org/drawingml/2006/main" noChangeAspect="1"/>
          </p:cNvGraphicFramePr>
          <p:nvPr/>
        </p:nvGraphicFramePr>
        <p:xfrm>
          <a:off x="5069021" y="1961582"/>
          <a:ext cx="2947987" cy="1581150"/>
        </p:xfrm>
        <a:graphic>
          <a:graphicData uri="http://schemas.openxmlformats.org/presentationml/2006/ole">
            <p:oleObj name="oleObj" r:id="rId4" imgW="1837690" imgH="857250" progId="Excel.Sheet.8">
              <p:embed/>
              <p:pic>
                <p:nvPicPr>
                  <p:cNvPr id="637644947" name="Object 4"/>
                  <p:cNvPicPr/>
                  <p:nvPr/>
                </p:nvPicPr>
                <p:blipFill rotWithShape="1">
                  <a:blip r:embed="rId3"/>
                  <a:stretch/>
                </p:blipFill>
                <p:spPr bwMode="auto">
                  <a:xfrm>
                    <a:off x="5069021" y="1961582"/>
                    <a:ext cx="2947987" cy="1581150"/>
                  </a:xfrm>
                  <a:prstGeom prst="rect">
                    <a:avLst/>
                  </a:prstGeom>
                  <a:noFill/>
                  <a:ln>
                    <a:noFill/>
                  </a:ln>
                  <a:effectLst/>
                </p:spPr>
              </p:pic>
            </p:oleObj>
          </a:graphicData>
        </a:graphic>
      </p:graphicFrame>
      <p:sp>
        <p:nvSpPr>
          <p:cNvPr id="408192409" name="Text Box 5"/>
          <p:cNvSpPr txBox="1">
            <a:spLocks noChangeArrowheads="1"/>
          </p:cNvSpPr>
          <p:nvPr/>
        </p:nvSpPr>
        <p:spPr bwMode="auto">
          <a:xfrm>
            <a:off x="4904715" y="3962401"/>
            <a:ext cx="6240101" cy="400110"/>
          </a:xfrm>
          <a:prstGeom prst="rect">
            <a:avLst/>
          </a:prstGeom>
          <a:noFill/>
          <a:ln>
            <a:noFill/>
          </a:ln>
        </p:spPr>
        <p:txBody>
          <a:bodyPr wrap="square">
            <a:spAutoFit/>
          </a:bodyPr>
          <a:lstStyle>
            <a:lvl1pPr>
              <a:spcBef>
                <a:spcPts val="0"/>
              </a:spcBef>
              <a:buClr>
                <a:schemeClr val="folHlink"/>
              </a:buClr>
              <a:buSzPct val="60000"/>
              <a:buFont typeface="Wingdings"/>
              <a:buChar char="n"/>
              <a:defRPr sz="2800">
                <a:solidFill>
                  <a:schemeClr val="tx1"/>
                </a:solidFill>
                <a:latin typeface="Tahoma"/>
              </a:defRPr>
            </a:lvl1pPr>
            <a:lvl2pPr marL="742950" indent="-285750">
              <a:spcBef>
                <a:spcPts val="0"/>
              </a:spcBef>
              <a:buClr>
                <a:schemeClr val="hlink"/>
              </a:buClr>
              <a:buSzPct val="55000"/>
              <a:buFont typeface="Wingdings"/>
              <a:buChar char="n"/>
              <a:defRPr sz="2800">
                <a:solidFill>
                  <a:schemeClr val="tx1"/>
                </a:solidFill>
                <a:latin typeface="Tahoma"/>
              </a:defRPr>
            </a:lvl2pPr>
            <a:lvl3pPr marL="1143000" indent="-228600">
              <a:spcBef>
                <a:spcPts val="0"/>
              </a:spcBef>
              <a:buClr>
                <a:schemeClr val="folHlink"/>
              </a:buClr>
              <a:buSzPct val="50000"/>
              <a:buFont typeface="Wingdings"/>
              <a:buChar char="n"/>
              <a:defRPr sz="2400">
                <a:solidFill>
                  <a:schemeClr val="tx1"/>
                </a:solidFill>
                <a:latin typeface="Tahoma"/>
              </a:defRPr>
            </a:lvl3pPr>
            <a:lvl4pPr marL="1600200" indent="-228600">
              <a:spcBef>
                <a:spcPts val="0"/>
              </a:spcBef>
              <a:buClr>
                <a:schemeClr val="accent2"/>
              </a:buClr>
              <a:buSzPct val="55000"/>
              <a:buFont typeface="Wingdings"/>
              <a:buChar char="n"/>
              <a:defRPr sz="2000">
                <a:solidFill>
                  <a:schemeClr val="tx1"/>
                </a:solidFill>
                <a:latin typeface="Tahoma"/>
              </a:defRPr>
            </a:lvl4pPr>
            <a:lvl5pPr marL="2057400" indent="-228600">
              <a:spcBef>
                <a:spcPts val="0"/>
              </a:spcBef>
              <a:buClr>
                <a:schemeClr val="accent1"/>
              </a:buClr>
              <a:buSzPct val="50000"/>
              <a:buFont typeface="Wingdings"/>
              <a:buChar char="n"/>
              <a:defRPr sz="2000">
                <a:solidFill>
                  <a:schemeClr val="tx1"/>
                </a:solidFill>
                <a:latin typeface="Tahoma"/>
              </a:defRPr>
            </a:lvl5pPr>
            <a:lvl6pPr marL="2514600" indent="-228600">
              <a:spcBef>
                <a:spcPts val="0"/>
              </a:spcBef>
              <a:spcAft>
                <a:spcPts val="0"/>
              </a:spcAft>
              <a:buClr>
                <a:schemeClr val="accent1"/>
              </a:buClr>
              <a:buSzPct val="50000"/>
              <a:buFont typeface="Wingdings"/>
              <a:buChar char="n"/>
              <a:defRPr sz="2000">
                <a:solidFill>
                  <a:schemeClr val="tx1"/>
                </a:solidFill>
                <a:latin typeface="Tahoma"/>
              </a:defRPr>
            </a:lvl6pPr>
            <a:lvl7pPr marL="2971800" indent="-228600">
              <a:spcBef>
                <a:spcPts val="0"/>
              </a:spcBef>
              <a:spcAft>
                <a:spcPts val="0"/>
              </a:spcAft>
              <a:buClr>
                <a:schemeClr val="accent1"/>
              </a:buClr>
              <a:buSzPct val="50000"/>
              <a:buFont typeface="Wingdings"/>
              <a:buChar char="n"/>
              <a:defRPr sz="2000">
                <a:solidFill>
                  <a:schemeClr val="tx1"/>
                </a:solidFill>
                <a:latin typeface="Tahoma"/>
              </a:defRPr>
            </a:lvl7pPr>
            <a:lvl8pPr marL="3429000" indent="-228600">
              <a:spcBef>
                <a:spcPts val="0"/>
              </a:spcBef>
              <a:spcAft>
                <a:spcPts val="0"/>
              </a:spcAft>
              <a:buClr>
                <a:schemeClr val="accent1"/>
              </a:buClr>
              <a:buSzPct val="50000"/>
              <a:buFont typeface="Wingdings"/>
              <a:buChar char="n"/>
              <a:defRPr sz="2000">
                <a:solidFill>
                  <a:schemeClr val="tx1"/>
                </a:solidFill>
                <a:latin typeface="Tahoma"/>
              </a:defRPr>
            </a:lvl8pPr>
            <a:lvl9pPr marL="3886200" indent="-228600">
              <a:spcBef>
                <a:spcPts val="0"/>
              </a:spcBef>
              <a:spcAft>
                <a:spcPts val="0"/>
              </a:spcAft>
              <a:buClr>
                <a:schemeClr val="accent1"/>
              </a:buClr>
              <a:buSzPct val="50000"/>
              <a:buFont typeface="Wingdings"/>
              <a:buChar char="n"/>
              <a:defRPr sz="2000">
                <a:solidFill>
                  <a:schemeClr val="tx1"/>
                </a:solidFill>
                <a:latin typeface="Tahoma"/>
              </a:defRPr>
            </a:lvl9pPr>
          </a:lstStyle>
          <a:p>
            <a:pPr algn="ctr" defTabSz="914400">
              <a:spcBef>
                <a:spcPts val="0"/>
              </a:spcBef>
              <a:spcAft>
                <a:spcPts val="0"/>
              </a:spcAft>
              <a:buClrTx/>
              <a:buSzTx/>
              <a:buNone/>
              <a:defRPr/>
            </a:pPr>
            <a:r>
              <a:rPr lang="en-US" sz="1700" b="1">
                <a:solidFill>
                  <a:srgbClr val="000000"/>
                </a:solidFill>
              </a:rPr>
              <a:t>Ma trận phi tương tự (theo </a:t>
            </a:r>
            <a:r>
              <a:rPr lang="en-US" sz="1700" b="1">
                <a:solidFill>
                  <a:srgbClr val="FF0000"/>
                </a:solidFill>
              </a:rPr>
              <a:t>khoảng cách Euclid</a:t>
            </a:r>
            <a:r>
              <a:rPr lang="en-US" sz="1700" b="1">
                <a:solidFill>
                  <a:srgbClr val="333399"/>
                </a:solidFill>
              </a:rPr>
              <a:t>)</a:t>
            </a:r>
            <a:endParaRPr/>
          </a:p>
        </p:txBody>
      </p:sp>
      <p:graphicFrame>
        <p:nvGraphicFramePr>
          <p:cNvPr id="646020434" name="Object 6"/>
          <p:cNvGraphicFramePr>
            <a:graphicFrameLocks xmlns:a="http://schemas.openxmlformats.org/drawingml/2006/main" noChangeAspect="1"/>
          </p:cNvGraphicFramePr>
          <p:nvPr/>
        </p:nvGraphicFramePr>
        <p:xfrm>
          <a:off x="5069021" y="4417446"/>
          <a:ext cx="4906962" cy="1365250"/>
        </p:xfrm>
        <a:graphic>
          <a:graphicData uri="http://schemas.openxmlformats.org/presentationml/2006/ole">
            <p:oleObj name="oleObj" r:id="rId6" imgW="3056890" imgH="866140" progId="Excel.Sheet.8">
              <p:embed/>
              <p:pic>
                <p:nvPicPr>
                  <p:cNvPr id="646020434" name="Object 6"/>
                  <p:cNvPicPr/>
                  <p:nvPr/>
                </p:nvPicPr>
                <p:blipFill rotWithShape="1">
                  <a:blip r:embed="rId5"/>
                  <a:stretch/>
                </p:blipFill>
                <p:spPr bwMode="auto">
                  <a:xfrm>
                    <a:off x="5069021" y="4417446"/>
                    <a:ext cx="4906962" cy="1365250"/>
                  </a:xfrm>
                  <a:prstGeom prst="rect">
                    <a:avLst/>
                  </a:prstGeom>
                  <a:noFill/>
                  <a:ln>
                    <a:noFill/>
                  </a:ln>
                  <a:effectLst/>
                </p:spPr>
              </p:pic>
            </p:oleObj>
          </a:graphicData>
        </a:graphic>
      </p:graphicFrame>
      <p:sp>
        <p:nvSpPr>
          <p:cNvPr id="1846246546" name="Text Box 7"/>
          <p:cNvSpPr txBox="1">
            <a:spLocks noChangeArrowheads="1"/>
          </p:cNvSpPr>
          <p:nvPr/>
        </p:nvSpPr>
        <p:spPr bwMode="auto">
          <a:xfrm>
            <a:off x="4904715" y="1325562"/>
            <a:ext cx="3276600" cy="396875"/>
          </a:xfrm>
          <a:prstGeom prst="rect">
            <a:avLst/>
          </a:prstGeom>
          <a:noFill/>
          <a:ln>
            <a:noFill/>
          </a:ln>
        </p:spPr>
        <p:txBody>
          <a:bodyPr>
            <a:spAutoFit/>
          </a:bodyPr>
          <a:lstStyle>
            <a:lvl1pPr>
              <a:spcBef>
                <a:spcPts val="0"/>
              </a:spcBef>
              <a:buClr>
                <a:schemeClr val="folHlink"/>
              </a:buClr>
              <a:buSzPct val="60000"/>
              <a:buFont typeface="Wingdings"/>
              <a:buChar char="n"/>
              <a:defRPr sz="2800">
                <a:solidFill>
                  <a:schemeClr val="tx1"/>
                </a:solidFill>
                <a:latin typeface="Tahoma"/>
              </a:defRPr>
            </a:lvl1pPr>
            <a:lvl2pPr marL="742950" indent="-285750">
              <a:spcBef>
                <a:spcPts val="0"/>
              </a:spcBef>
              <a:buClr>
                <a:schemeClr val="hlink"/>
              </a:buClr>
              <a:buSzPct val="55000"/>
              <a:buFont typeface="Wingdings"/>
              <a:buChar char="n"/>
              <a:defRPr sz="2800">
                <a:solidFill>
                  <a:schemeClr val="tx1"/>
                </a:solidFill>
                <a:latin typeface="Tahoma"/>
              </a:defRPr>
            </a:lvl2pPr>
            <a:lvl3pPr marL="1143000" indent="-228600">
              <a:spcBef>
                <a:spcPts val="0"/>
              </a:spcBef>
              <a:buClr>
                <a:schemeClr val="folHlink"/>
              </a:buClr>
              <a:buSzPct val="50000"/>
              <a:buFont typeface="Wingdings"/>
              <a:buChar char="n"/>
              <a:defRPr sz="2400">
                <a:solidFill>
                  <a:schemeClr val="tx1"/>
                </a:solidFill>
                <a:latin typeface="Tahoma"/>
              </a:defRPr>
            </a:lvl3pPr>
            <a:lvl4pPr marL="1600200" indent="-228600">
              <a:spcBef>
                <a:spcPts val="0"/>
              </a:spcBef>
              <a:buClr>
                <a:schemeClr val="accent2"/>
              </a:buClr>
              <a:buSzPct val="55000"/>
              <a:buFont typeface="Wingdings"/>
              <a:buChar char="n"/>
              <a:defRPr sz="2000">
                <a:solidFill>
                  <a:schemeClr val="tx1"/>
                </a:solidFill>
                <a:latin typeface="Tahoma"/>
              </a:defRPr>
            </a:lvl4pPr>
            <a:lvl5pPr marL="2057400" indent="-228600">
              <a:spcBef>
                <a:spcPts val="0"/>
              </a:spcBef>
              <a:buClr>
                <a:schemeClr val="accent1"/>
              </a:buClr>
              <a:buSzPct val="50000"/>
              <a:buFont typeface="Wingdings"/>
              <a:buChar char="n"/>
              <a:defRPr sz="2000">
                <a:solidFill>
                  <a:schemeClr val="tx1"/>
                </a:solidFill>
                <a:latin typeface="Tahoma"/>
              </a:defRPr>
            </a:lvl5pPr>
            <a:lvl6pPr marL="2514600" indent="-228600">
              <a:spcBef>
                <a:spcPts val="0"/>
              </a:spcBef>
              <a:spcAft>
                <a:spcPts val="0"/>
              </a:spcAft>
              <a:buClr>
                <a:schemeClr val="accent1"/>
              </a:buClr>
              <a:buSzPct val="50000"/>
              <a:buFont typeface="Wingdings"/>
              <a:buChar char="n"/>
              <a:defRPr sz="2000">
                <a:solidFill>
                  <a:schemeClr val="tx1"/>
                </a:solidFill>
                <a:latin typeface="Tahoma"/>
              </a:defRPr>
            </a:lvl6pPr>
            <a:lvl7pPr marL="2971800" indent="-228600">
              <a:spcBef>
                <a:spcPts val="0"/>
              </a:spcBef>
              <a:spcAft>
                <a:spcPts val="0"/>
              </a:spcAft>
              <a:buClr>
                <a:schemeClr val="accent1"/>
              </a:buClr>
              <a:buSzPct val="50000"/>
              <a:buFont typeface="Wingdings"/>
              <a:buChar char="n"/>
              <a:defRPr sz="2000">
                <a:solidFill>
                  <a:schemeClr val="tx1"/>
                </a:solidFill>
                <a:latin typeface="Tahoma"/>
              </a:defRPr>
            </a:lvl7pPr>
            <a:lvl8pPr marL="3429000" indent="-228600">
              <a:spcBef>
                <a:spcPts val="0"/>
              </a:spcBef>
              <a:spcAft>
                <a:spcPts val="0"/>
              </a:spcAft>
              <a:buClr>
                <a:schemeClr val="accent1"/>
              </a:buClr>
              <a:buSzPct val="50000"/>
              <a:buFont typeface="Wingdings"/>
              <a:buChar char="n"/>
              <a:defRPr sz="2000">
                <a:solidFill>
                  <a:schemeClr val="tx1"/>
                </a:solidFill>
                <a:latin typeface="Tahoma"/>
              </a:defRPr>
            </a:lvl8pPr>
            <a:lvl9pPr marL="3886200" indent="-228600">
              <a:spcBef>
                <a:spcPts val="0"/>
              </a:spcBef>
              <a:spcAft>
                <a:spcPts val="0"/>
              </a:spcAft>
              <a:buClr>
                <a:schemeClr val="accent1"/>
              </a:buClr>
              <a:buSzPct val="50000"/>
              <a:buFont typeface="Wingdings"/>
              <a:buChar char="n"/>
              <a:defRPr sz="2000">
                <a:solidFill>
                  <a:schemeClr val="tx1"/>
                </a:solidFill>
                <a:latin typeface="Tahoma"/>
              </a:defRPr>
            </a:lvl9pPr>
          </a:lstStyle>
          <a:p>
            <a:pPr algn="ctr" defTabSz="914400">
              <a:spcBef>
                <a:spcPts val="0"/>
              </a:spcBef>
              <a:spcAft>
                <a:spcPts val="0"/>
              </a:spcAft>
              <a:buClrTx/>
              <a:buSzTx/>
              <a:buNone/>
              <a:defRPr/>
            </a:pPr>
            <a:r>
              <a:rPr lang="en-US" sz="1700" b="1">
                <a:solidFill>
                  <a:srgbClr val="000000"/>
                </a:solidFill>
                <a:latin typeface="Arial"/>
              </a:rPr>
              <a:t>Ma trận dữ liệu</a:t>
            </a:r>
            <a:endParaRPr/>
          </a:p>
        </p:txBody>
      </p:sp>
      <p:graphicFrame>
        <p:nvGraphicFramePr>
          <p:cNvPr id="623497016" name="Object 12"/>
          <p:cNvGraphicFramePr>
            <a:graphicFrameLocks xmlns:a="http://schemas.openxmlformats.org/drawingml/2006/main" noChangeAspect="1"/>
          </p:cNvGraphicFramePr>
          <p:nvPr/>
        </p:nvGraphicFramePr>
        <p:xfrm>
          <a:off x="398352" y="1282574"/>
          <a:ext cx="4209862" cy="4191000"/>
        </p:xfrm>
        <a:graphic>
          <a:graphicData uri="http://schemas.openxmlformats.org/presentationml/2006/ole">
            <p:oleObj name="oleObj" r:id="rId8" imgW="4379595" imgH="5551805" progId="SmartDraw.2">
              <p:embed/>
              <p:pic>
                <p:nvPicPr>
                  <p:cNvPr id="623497016" name="Object 12"/>
                  <p:cNvPicPr/>
                  <p:nvPr/>
                </p:nvPicPr>
                <p:blipFill rotWithShape="1">
                  <a:blip r:embed="rId7"/>
                  <a:stretch/>
                </p:blipFill>
                <p:spPr bwMode="auto">
                  <a:xfrm>
                    <a:off x="398352" y="1282574"/>
                    <a:ext cx="4209862" cy="4191000"/>
                  </a:xfrm>
                  <a:prstGeom prst="rect">
                    <a:avLst/>
                  </a:prstGeom>
                  <a:noFill/>
                  <a:ln>
                    <a:noFill/>
                  </a:ln>
                  <a:effectLst/>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2069984" name="Rectangle 2"/>
          <p:cNvSpPr>
            <a:spLocks noChangeArrowheads="1" noGrp="1"/>
          </p:cNvSpPr>
          <p:nvPr>
            <p:ph type="title"/>
          </p:nvPr>
        </p:nvSpPr>
        <p:spPr bwMode="auto">
          <a:xfrm>
            <a:off x="497941" y="228600"/>
            <a:ext cx="11117655" cy="685800"/>
          </a:xfrm>
        </p:spPr>
        <p:txBody>
          <a:bodyPr anchor="t">
            <a:noAutofit/>
          </a:bodyPr>
          <a:lstStyle/>
          <a:p>
            <a:pPr>
              <a:defRPr/>
            </a:pPr>
            <a:r>
              <a:rPr lang="en-US" sz="3000"/>
              <a:t>Khoảng cách trên dữ liệu số: Khoảng cách </a:t>
            </a:r>
            <a:r>
              <a:rPr lang="en-US" sz="3000"/>
              <a:t>Minkowski</a:t>
            </a:r>
            <a:endParaRPr/>
          </a:p>
        </p:txBody>
      </p:sp>
      <p:sp>
        <p:nvSpPr>
          <p:cNvPr id="1782644832" name="Rectangle 3"/>
          <p:cNvSpPr>
            <a:spLocks noChangeArrowheads="1" noGrp="1"/>
          </p:cNvSpPr>
          <p:nvPr>
            <p:ph type="body" idx="1"/>
          </p:nvPr>
        </p:nvSpPr>
        <p:spPr bwMode="auto">
          <a:xfrm>
            <a:off x="669955" y="1119617"/>
            <a:ext cx="10420539" cy="5426044"/>
          </a:xfrm>
        </p:spPr>
        <p:txBody>
          <a:bodyPr/>
          <a:lstStyle/>
          <a:p>
            <a:pPr marL="381000" indent="-381000">
              <a:spcBef>
                <a:spcPts val="600"/>
              </a:spcBef>
              <a:spcAft>
                <a:spcPts val="600"/>
              </a:spcAft>
              <a:defRPr/>
            </a:pPr>
            <a:r>
              <a:rPr lang="en-US" sz="2000">
                <a:solidFill>
                  <a:srgbClr val="FF0000"/>
                </a:solidFill>
              </a:rPr>
              <a:t>Khoảng cách </a:t>
            </a:r>
            <a:r>
              <a:rPr lang="en-US" sz="2000">
                <a:solidFill>
                  <a:srgbClr val="FF0000"/>
                </a:solidFill>
              </a:rPr>
              <a:t>Minkowski</a:t>
            </a:r>
            <a:r>
              <a:rPr lang="en-US" sz="2000"/>
              <a:t>: Một độ đo khoảng cách phổ biến</a:t>
            </a:r>
            <a:endParaRPr/>
          </a:p>
          <a:p>
            <a:pPr marL="838200" lvl="1" indent="-381000">
              <a:spcBef>
                <a:spcPts val="600"/>
              </a:spcBef>
              <a:spcAft>
                <a:spcPts val="600"/>
              </a:spcAft>
              <a:buNone/>
              <a:defRPr/>
            </a:pPr>
            <a:endParaRPr lang="en-US" sz="2400"/>
          </a:p>
          <a:p>
            <a:pPr marL="838200" lvl="1" indent="-381000">
              <a:spcBef>
                <a:spcPts val="600"/>
              </a:spcBef>
              <a:spcAft>
                <a:spcPts val="600"/>
              </a:spcAft>
              <a:buNone/>
              <a:defRPr/>
            </a:pPr>
            <a:r>
              <a:rPr lang="en-US" sz="2000"/>
              <a:t>trong đó  </a:t>
            </a:r>
            <a:r>
              <a:rPr lang="en-US" sz="2000" i="1"/>
              <a:t>i</a:t>
            </a:r>
            <a:r>
              <a:rPr lang="en-US" sz="2000"/>
              <a:t> = (</a:t>
            </a:r>
            <a:r>
              <a:rPr lang="en-US" sz="2000" i="1"/>
              <a:t>x</a:t>
            </a:r>
            <a:r>
              <a:rPr lang="en-US" sz="2000" baseline="-25000"/>
              <a:t>i1</a:t>
            </a:r>
            <a:r>
              <a:rPr lang="en-US" sz="2000"/>
              <a:t>, </a:t>
            </a:r>
            <a:r>
              <a:rPr lang="en-US" sz="2000" i="1"/>
              <a:t>x</a:t>
            </a:r>
            <a:r>
              <a:rPr lang="en-US" sz="2000" baseline="-25000"/>
              <a:t>i2</a:t>
            </a:r>
            <a:r>
              <a:rPr lang="en-US" sz="2000"/>
              <a:t>, …, </a:t>
            </a:r>
            <a:r>
              <a:rPr lang="en-US" sz="2000" i="1"/>
              <a:t>x</a:t>
            </a:r>
            <a:r>
              <a:rPr lang="en-US" sz="2000" baseline="-25000"/>
              <a:t>il</a:t>
            </a:r>
            <a:r>
              <a:rPr lang="en-US" sz="2000"/>
              <a:t> và </a:t>
            </a:r>
            <a:r>
              <a:rPr lang="en-US" sz="2000" i="1"/>
              <a:t> j</a:t>
            </a:r>
            <a:r>
              <a:rPr lang="en-US" sz="2000"/>
              <a:t> = (</a:t>
            </a:r>
            <a:r>
              <a:rPr lang="en-US" sz="2000" i="1"/>
              <a:t>x</a:t>
            </a:r>
            <a:r>
              <a:rPr lang="en-US" sz="2000" baseline="-25000"/>
              <a:t>j1</a:t>
            </a:r>
            <a:r>
              <a:rPr lang="en-US" sz="2000"/>
              <a:t>, </a:t>
            </a:r>
            <a:r>
              <a:rPr lang="en-US" sz="2000" i="1"/>
              <a:t>x</a:t>
            </a:r>
            <a:r>
              <a:rPr lang="en-US" sz="2000" baseline="-25000"/>
              <a:t>j2</a:t>
            </a:r>
            <a:r>
              <a:rPr lang="en-US" sz="2000"/>
              <a:t>, …, </a:t>
            </a:r>
            <a:r>
              <a:rPr lang="en-US" sz="2000" i="1"/>
              <a:t>x</a:t>
            </a:r>
            <a:r>
              <a:rPr lang="en-US" sz="2000" baseline="-25000"/>
              <a:t>jl</a:t>
            </a:r>
            <a:r>
              <a:rPr lang="en-US" sz="2000"/>
              <a:t> là hai đối tượng dữ liệu </a:t>
            </a:r>
            <a:r>
              <a:rPr lang="en-US" sz="2000" i="1"/>
              <a:t>l</a:t>
            </a:r>
            <a:r>
              <a:rPr lang="en-US" sz="2000"/>
              <a:t> chiều, và </a:t>
            </a:r>
            <a:r>
              <a:rPr lang="en-US" sz="2000" i="1"/>
              <a:t>p</a:t>
            </a:r>
            <a:r>
              <a:rPr lang="en-US" sz="2000"/>
              <a:t> là bậc (khoảng cách định nghĩa như vậy còn gọi là chuẩn L-</a:t>
            </a:r>
            <a:r>
              <a:rPr lang="en-US" sz="2000" i="1"/>
              <a:t>p</a:t>
            </a:r>
            <a:r>
              <a:rPr lang="en-US" sz="2000"/>
              <a:t>)</a:t>
            </a:r>
            <a:endParaRPr/>
          </a:p>
          <a:p>
            <a:pPr marL="381000" indent="-381000">
              <a:spcAft>
                <a:spcPts val="600"/>
              </a:spcAft>
              <a:defRPr/>
            </a:pPr>
            <a:r>
              <a:rPr lang="en-US" sz="2000"/>
              <a:t>Tính chất</a:t>
            </a:r>
            <a:endParaRPr/>
          </a:p>
          <a:p>
            <a:pPr marL="838200" lvl="1" indent="-381000">
              <a:spcBef>
                <a:spcPts val="600"/>
              </a:spcBef>
              <a:spcAft>
                <a:spcPts val="600"/>
              </a:spcAft>
              <a:defRPr/>
            </a:pPr>
            <a:r>
              <a:rPr lang="en-US" sz="2000"/>
              <a:t>d(</a:t>
            </a:r>
            <a:r>
              <a:rPr lang="en-US" sz="2000"/>
              <a:t>i</a:t>
            </a:r>
            <a:r>
              <a:rPr lang="en-US" sz="2000"/>
              <a:t>, j) </a:t>
            </a:r>
            <a:r>
              <a:rPr lang="en-US" sz="2000"/>
              <a:t>&gt; 0 if </a:t>
            </a:r>
            <a:r>
              <a:rPr lang="en-US" sz="2000"/>
              <a:t>i</a:t>
            </a:r>
            <a:r>
              <a:rPr lang="en-US" sz="2000"/>
              <a:t> </a:t>
            </a:r>
            <a:r>
              <a:rPr lang="en-US" sz="2000">
                <a:cs typeface="Tahoma"/>
              </a:rPr>
              <a:t>≠ j</a:t>
            </a:r>
            <a:r>
              <a:rPr lang="en-US" sz="2000">
                <a:cs typeface="Tahoma"/>
              </a:rPr>
              <a:t>, and </a:t>
            </a:r>
            <a:r>
              <a:rPr lang="en-US" sz="2000"/>
              <a:t>d(</a:t>
            </a:r>
            <a:r>
              <a:rPr lang="en-US" sz="2000"/>
              <a:t>i</a:t>
            </a:r>
            <a:r>
              <a:rPr lang="en-US" sz="2000"/>
              <a:t>, </a:t>
            </a:r>
            <a:r>
              <a:rPr lang="en-US" sz="2000"/>
              <a:t>i</a:t>
            </a:r>
            <a:r>
              <a:rPr lang="en-US" sz="2000"/>
              <a:t>) </a:t>
            </a:r>
            <a:r>
              <a:rPr lang="en-US" sz="2000"/>
              <a:t>= 0 </a:t>
            </a:r>
            <a:r>
              <a:rPr lang="en-US" sz="2000"/>
              <a:t> (Tính dương)</a:t>
            </a:r>
            <a:endParaRPr/>
          </a:p>
          <a:p>
            <a:pPr marL="838200" lvl="1" indent="-381000">
              <a:spcBef>
                <a:spcPts val="600"/>
              </a:spcBef>
              <a:spcAft>
                <a:spcPts val="600"/>
              </a:spcAft>
              <a:defRPr/>
            </a:pPr>
            <a:r>
              <a:rPr lang="en-US" sz="2000"/>
              <a:t>d(</a:t>
            </a:r>
            <a:r>
              <a:rPr lang="en-US" sz="2000"/>
              <a:t>i</a:t>
            </a:r>
            <a:r>
              <a:rPr lang="en-US" sz="2000"/>
              <a:t>, j) </a:t>
            </a:r>
            <a:r>
              <a:rPr lang="en-US" sz="2000"/>
              <a:t>= </a:t>
            </a:r>
            <a:r>
              <a:rPr lang="en-US" sz="2000"/>
              <a:t>d(j, </a:t>
            </a:r>
            <a:r>
              <a:rPr lang="en-US" sz="2000"/>
              <a:t>i</a:t>
            </a:r>
            <a:r>
              <a:rPr lang="en-US" sz="2000"/>
              <a:t>)</a:t>
            </a:r>
            <a:r>
              <a:rPr lang="en-US" sz="2000" i="1"/>
              <a:t>  </a:t>
            </a:r>
            <a:r>
              <a:rPr lang="en-US" sz="2000"/>
              <a:t> (Tính đối xứng)</a:t>
            </a:r>
            <a:endParaRPr/>
          </a:p>
          <a:p>
            <a:pPr marL="838200" lvl="1" indent="-381000">
              <a:spcBef>
                <a:spcPts val="600"/>
              </a:spcBef>
              <a:spcAft>
                <a:spcPts val="600"/>
              </a:spcAft>
              <a:defRPr/>
            </a:pPr>
            <a:r>
              <a:rPr lang="en-US" sz="2000"/>
              <a:t>d(</a:t>
            </a:r>
            <a:r>
              <a:rPr lang="en-US" sz="2000"/>
              <a:t>i</a:t>
            </a:r>
            <a:r>
              <a:rPr lang="en-US" sz="2000"/>
              <a:t>, j) </a:t>
            </a:r>
            <a:r>
              <a:rPr lang="en-US" sz="2000"/>
              <a:t> </a:t>
            </a:r>
            <a:r>
              <a:rPr lang="en-US" sz="2000"/>
              <a:t>d(</a:t>
            </a:r>
            <a:r>
              <a:rPr lang="en-US" sz="2000"/>
              <a:t>i</a:t>
            </a:r>
            <a:r>
              <a:rPr lang="en-US" sz="2000"/>
              <a:t>, k) </a:t>
            </a:r>
            <a:r>
              <a:rPr lang="en-US" sz="2000"/>
              <a:t>+ </a:t>
            </a:r>
            <a:r>
              <a:rPr lang="en-US" sz="2000"/>
              <a:t>d(k, j)</a:t>
            </a:r>
            <a:r>
              <a:rPr lang="en-US" sz="2000" i="1"/>
              <a:t>  </a:t>
            </a:r>
            <a:r>
              <a:rPr lang="en-US" sz="2000"/>
              <a:t> (Bất đẳng thức tam giác)</a:t>
            </a:r>
            <a:endParaRPr lang="en-US" sz="2400" i="1"/>
          </a:p>
          <a:p>
            <a:pPr marL="381000" indent="-381000">
              <a:spcBef>
                <a:spcPts val="600"/>
              </a:spcBef>
              <a:spcAft>
                <a:spcPts val="600"/>
              </a:spcAft>
              <a:defRPr/>
            </a:pPr>
            <a:r>
              <a:rPr lang="en-US" sz="2000"/>
              <a:t>Một khoảng cách thỏa các tính chất trên được gọi là một </a:t>
            </a:r>
            <a:r>
              <a:rPr lang="en-US" sz="2000">
                <a:solidFill>
                  <a:srgbClr val="FF0000"/>
                </a:solidFill>
              </a:rPr>
              <a:t>metric</a:t>
            </a:r>
            <a:endParaRPr/>
          </a:p>
          <a:p>
            <a:pPr marL="381000" indent="-381000">
              <a:spcBef>
                <a:spcPts val="600"/>
              </a:spcBef>
              <a:spcAft>
                <a:spcPts val="600"/>
              </a:spcAft>
              <a:defRPr/>
            </a:pPr>
            <a:r>
              <a:rPr lang="en-US" sz="2000"/>
              <a:t>Lưu ý: Có những độ phi tương tự không phải metric, ví dụ: hiệu tập hợp</a:t>
            </a:r>
            <a:endParaRPr/>
          </a:p>
        </p:txBody>
      </p:sp>
      <p:graphicFrame>
        <p:nvGraphicFramePr>
          <p:cNvPr id="593845317" name="Object 4"/>
          <p:cNvGraphicFramePr>
            <a:graphicFrameLocks xmlns:a="http://schemas.openxmlformats.org/drawingml/2006/main" noChangeAspect="1"/>
          </p:cNvGraphicFramePr>
          <p:nvPr/>
        </p:nvGraphicFramePr>
        <p:xfrm>
          <a:off x="2197976" y="1550715"/>
          <a:ext cx="6481586" cy="624927"/>
        </p:xfrm>
        <a:graphic>
          <a:graphicData uri="http://schemas.openxmlformats.org/presentationml/2006/ole">
            <p:oleObj name="oleObj" r:id="rId4" imgW="3161665" imgH="304165" progId="Equation.DSMT4">
              <p:embed/>
              <p:pic>
                <p:nvPicPr>
                  <p:cNvPr id="593845317" name="Object 4"/>
                  <p:cNvPicPr/>
                  <p:nvPr/>
                </p:nvPicPr>
                <p:blipFill rotWithShape="1">
                  <a:blip r:embed="rId3"/>
                  <a:stretch/>
                </p:blipFill>
                <p:spPr bwMode="auto">
                  <a:xfrm>
                    <a:off x="2197976" y="1550715"/>
                    <a:ext cx="6481586" cy="624927"/>
                  </a:xfrm>
                  <a:prstGeom prst="rect">
                    <a:avLst/>
                  </a:prstGeom>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48867588" name="Rectangle 2"/>
          <p:cNvSpPr>
            <a:spLocks noChangeArrowheads="1" noGrp="1"/>
          </p:cNvSpPr>
          <p:nvPr>
            <p:ph type="title"/>
          </p:nvPr>
        </p:nvSpPr>
        <p:spPr bwMode="auto"/>
        <p:txBody>
          <a:bodyPr anchor="t">
            <a:normAutofit/>
          </a:bodyPr>
          <a:lstStyle/>
          <a:p>
            <a:pPr>
              <a:defRPr/>
            </a:pPr>
            <a:r>
              <a:rPr lang="en-US" sz="3000"/>
              <a:t>Các trường hợp đặc biệt của khoảng cách </a:t>
            </a:r>
            <a:r>
              <a:rPr lang="en-US" sz="3000"/>
              <a:t>Minkowski</a:t>
            </a:r>
            <a:endParaRPr lang="en-US" sz="5400"/>
          </a:p>
        </p:txBody>
      </p:sp>
      <p:sp>
        <p:nvSpPr>
          <p:cNvPr id="304553866" name="Rectangle 3"/>
          <p:cNvSpPr>
            <a:spLocks noChangeArrowheads="1" noGrp="1"/>
          </p:cNvSpPr>
          <p:nvPr>
            <p:ph type="body" sz="half" idx="1"/>
          </p:nvPr>
        </p:nvSpPr>
        <p:spPr bwMode="auto">
          <a:xfrm>
            <a:off x="642795" y="1295400"/>
            <a:ext cx="10465807" cy="4055122"/>
          </a:xfrm>
        </p:spPr>
        <p:txBody>
          <a:bodyPr/>
          <a:lstStyle/>
          <a:p>
            <a:pPr>
              <a:defRPr/>
            </a:pPr>
            <a:r>
              <a:rPr lang="en-US" i="1">
                <a:latin typeface="Calibri"/>
                <a:cs typeface="Times New Roman"/>
              </a:rPr>
              <a:t>p</a:t>
            </a:r>
            <a:r>
              <a:rPr lang="en-US">
                <a:latin typeface="Calibri"/>
                <a:cs typeface="Times New Roman"/>
              </a:rPr>
              <a:t> = 1: (chuẩn L</a:t>
            </a:r>
            <a:r>
              <a:rPr lang="en-US" baseline="-25000">
                <a:latin typeface="Calibri"/>
                <a:cs typeface="Times New Roman"/>
              </a:rPr>
              <a:t>1</a:t>
            </a:r>
            <a:r>
              <a:rPr lang="en-US">
                <a:latin typeface="Calibri"/>
                <a:cs typeface="Times New Roman"/>
              </a:rPr>
              <a:t>) </a:t>
            </a:r>
            <a:r>
              <a:rPr lang="en-US">
                <a:solidFill>
                  <a:srgbClr val="FF0000"/>
                </a:solidFill>
                <a:latin typeface="Calibri"/>
                <a:cs typeface="Times New Roman"/>
              </a:rPr>
              <a:t>Khoảng cách Manhattan (hay khoảng cách khối phố)</a:t>
            </a:r>
            <a:endParaRPr/>
          </a:p>
          <a:p>
            <a:pPr lvl="1">
              <a:defRPr/>
            </a:pPr>
            <a:r>
              <a:rPr lang="en-US">
                <a:latin typeface="Calibri"/>
                <a:cs typeface="Times New Roman"/>
              </a:rPr>
              <a:t>Ví dụ, khoảng cách Hamming: số bit khác nhau giữa hai vectơ nhị phân</a:t>
            </a:r>
            <a:endParaRPr/>
          </a:p>
          <a:p>
            <a:pPr marL="0" indent="0">
              <a:buNone/>
              <a:defRPr/>
            </a:pPr>
            <a:endParaRPr lang="en-US" i="1">
              <a:latin typeface="Calibri"/>
              <a:cs typeface="Times New Roman"/>
            </a:endParaRPr>
          </a:p>
          <a:p>
            <a:pPr>
              <a:defRPr/>
            </a:pPr>
            <a:r>
              <a:rPr lang="en-US" i="1">
                <a:latin typeface="Calibri"/>
                <a:cs typeface="Times New Roman"/>
              </a:rPr>
              <a:t>p </a:t>
            </a:r>
            <a:r>
              <a:rPr lang="en-US">
                <a:latin typeface="Calibri"/>
                <a:cs typeface="Times New Roman"/>
              </a:rPr>
              <a:t>= 2:  (chuẩn L</a:t>
            </a:r>
            <a:r>
              <a:rPr lang="en-US" baseline="-25000">
                <a:latin typeface="Calibri"/>
                <a:cs typeface="Times New Roman"/>
              </a:rPr>
              <a:t>2</a:t>
            </a:r>
            <a:r>
              <a:rPr lang="en-US">
                <a:latin typeface="Calibri"/>
                <a:cs typeface="Times New Roman"/>
              </a:rPr>
              <a:t>) </a:t>
            </a:r>
            <a:r>
              <a:rPr lang="en-US">
                <a:solidFill>
                  <a:srgbClr val="FF0000"/>
                </a:solidFill>
                <a:latin typeface="Calibri"/>
                <a:cs typeface="Times New Roman"/>
              </a:rPr>
              <a:t>Khoảng cách Euclid</a:t>
            </a:r>
            <a:endParaRPr/>
          </a:p>
          <a:p>
            <a:pPr lvl="4">
              <a:defRPr/>
            </a:pPr>
            <a:endParaRPr lang="en-US">
              <a:latin typeface="Calibri"/>
              <a:cs typeface="Times New Roman"/>
            </a:endParaRPr>
          </a:p>
          <a:p>
            <a:pPr>
              <a:defRPr/>
            </a:pPr>
            <a:endParaRPr lang="en-US" i="1">
              <a:latin typeface="Calibri"/>
              <a:cs typeface="Times New Roman"/>
            </a:endParaRPr>
          </a:p>
          <a:p>
            <a:pPr>
              <a:defRPr/>
            </a:pPr>
            <a:r>
              <a:rPr lang="en-US" i="1">
                <a:latin typeface="Calibri"/>
                <a:cs typeface="Times New Roman"/>
              </a:rPr>
              <a:t>p </a:t>
            </a:r>
            <a:r>
              <a:rPr lang="en-US">
                <a:latin typeface="Calibri"/>
                <a:cs typeface="Times New Roman"/>
              </a:rPr>
              <a:t></a:t>
            </a:r>
            <a:r>
              <a:rPr lang="en-US">
                <a:latin typeface="Calibri"/>
                <a:cs typeface="Times New Roman"/>
              </a:rPr>
              <a:t> </a:t>
            </a:r>
            <a:r>
              <a:rPr lang="en-US">
                <a:latin typeface="Calibri"/>
                <a:cs typeface="Times New Roman"/>
              </a:rPr>
              <a:t></a:t>
            </a:r>
            <a:r>
              <a:rPr lang="en-US">
                <a:latin typeface="Calibri"/>
                <a:cs typeface="Times New Roman"/>
              </a:rPr>
              <a:t>: (</a:t>
            </a:r>
            <a:r>
              <a:rPr lang="en-US">
                <a:latin typeface="Calibri"/>
                <a:cs typeface="Times New Roman"/>
              </a:rPr>
              <a:t>L</a:t>
            </a:r>
            <a:r>
              <a:rPr lang="en-US" baseline="-25000">
                <a:latin typeface="Calibri"/>
                <a:cs typeface="Times New Roman"/>
              </a:rPr>
              <a:t>max</a:t>
            </a:r>
            <a:r>
              <a:rPr lang="en-US" baseline="-25000">
                <a:latin typeface="Calibri"/>
                <a:cs typeface="Times New Roman"/>
              </a:rPr>
              <a:t> </a:t>
            </a:r>
            <a:r>
              <a:rPr lang="en-US">
                <a:latin typeface="Calibri"/>
                <a:cs typeface="Times New Roman"/>
              </a:rPr>
              <a:t>norm, L</a:t>
            </a:r>
            <a:r>
              <a:rPr lang="en-US" baseline="-25000">
                <a:latin typeface="Calibri"/>
                <a:cs typeface="Times New Roman"/>
              </a:rPr>
              <a:t></a:t>
            </a:r>
            <a:r>
              <a:rPr lang="en-US" baseline="-25000">
                <a:latin typeface="Calibri"/>
                <a:cs typeface="Times New Roman"/>
              </a:rPr>
              <a:t> </a:t>
            </a:r>
            <a:r>
              <a:rPr lang="en-US">
                <a:latin typeface="Calibri"/>
                <a:cs typeface="Times New Roman"/>
              </a:rPr>
              <a:t>norm) </a:t>
            </a:r>
            <a:r>
              <a:rPr lang="en-US">
                <a:solidFill>
                  <a:srgbClr val="FF0000"/>
                </a:solidFill>
                <a:latin typeface="Calibri"/>
                <a:cs typeface="Times New Roman"/>
              </a:rPr>
              <a:t>khoảng cách “supremum”</a:t>
            </a:r>
            <a:endParaRPr/>
          </a:p>
          <a:p>
            <a:pPr lvl="1">
              <a:defRPr/>
            </a:pPr>
            <a:r>
              <a:rPr lang="en-US">
                <a:latin typeface="Calibri"/>
                <a:cs typeface="Times New Roman"/>
              </a:rPr>
              <a:t>Sự khác biệt lớn nhất giữa bất kỳ thành phần (thuộc tính) nào của các vectơ</a:t>
            </a:r>
            <a:endParaRPr/>
          </a:p>
          <a:p>
            <a:pPr lvl="1">
              <a:defRPr/>
            </a:pPr>
            <a:endParaRPr lang="en-US" sz="2000">
              <a:latin typeface="Calibri"/>
              <a:cs typeface="Times New Roman"/>
            </a:endParaRPr>
          </a:p>
        </p:txBody>
      </p:sp>
      <p:graphicFrame>
        <p:nvGraphicFramePr>
          <p:cNvPr id="294730971" name="Object 6"/>
          <p:cNvGraphicFramePr>
            <a:graphicFrameLocks xmlns:a="http://schemas.openxmlformats.org/drawingml/2006/main" noChangeAspect="1"/>
          </p:cNvGraphicFramePr>
          <p:nvPr/>
        </p:nvGraphicFramePr>
        <p:xfrm>
          <a:off x="3743325" y="2289175"/>
          <a:ext cx="5700713" cy="493713"/>
        </p:xfrm>
        <a:graphic>
          <a:graphicData uri="http://schemas.openxmlformats.org/presentationml/2006/ole">
            <p:oleObj name="oleObj" r:id="rId4" imgW="2780665" imgH="240665" progId="Equation.DSMT4">
              <p:embed/>
              <p:pic>
                <p:nvPicPr>
                  <p:cNvPr id="294730971" name="Object 6"/>
                  <p:cNvPicPr/>
                  <p:nvPr/>
                </p:nvPicPr>
                <p:blipFill rotWithShape="1">
                  <a:blip r:embed="rId3"/>
                  <a:stretch/>
                </p:blipFill>
                <p:spPr bwMode="auto">
                  <a:xfrm>
                    <a:off x="3743325" y="2289175"/>
                    <a:ext cx="5700713" cy="493713"/>
                  </a:xfrm>
                  <a:prstGeom prst="rect">
                    <a:avLst/>
                  </a:prstGeom>
                </p:spPr>
              </p:pic>
            </p:oleObj>
          </a:graphicData>
        </a:graphic>
      </p:graphicFrame>
      <p:graphicFrame>
        <p:nvGraphicFramePr>
          <p:cNvPr id="576571139" name="Content Placeholder 8"/>
          <p:cNvGraphicFramePr>
            <a:graphicFrameLocks xmlns:a="http://schemas.openxmlformats.org/drawingml/2006/main" noChangeAspect="1"/>
          </p:cNvGraphicFramePr>
          <p:nvPr/>
        </p:nvGraphicFramePr>
        <p:xfrm>
          <a:off x="2757488" y="3552497"/>
          <a:ext cx="7956550" cy="689303"/>
        </p:xfrm>
        <a:graphic>
          <a:graphicData uri="http://schemas.openxmlformats.org/presentationml/2006/ole">
            <p:oleObj name="oleObj" r:id="rId6" imgW="3123565" imgH="304165" progId="Equation.DSMT4">
              <p:embed/>
              <p:pic>
                <p:nvPicPr>
                  <p:cNvPr id="576571139" name="Content Placeholder 8"/>
                  <p:cNvPicPr/>
                  <p:nvPr/>
                </p:nvPicPr>
                <p:blipFill rotWithShape="1">
                  <a:blip r:embed="rId5"/>
                  <a:stretch/>
                </p:blipFill>
                <p:spPr bwMode="auto">
                  <a:xfrm>
                    <a:off x="2757488" y="3552497"/>
                    <a:ext cx="7956550" cy="689303"/>
                  </a:xfrm>
                  <a:prstGeom prst="rect">
                    <a:avLst/>
                  </a:prstGeom>
                </p:spPr>
              </p:pic>
            </p:oleObj>
          </a:graphicData>
        </a:graphic>
      </p:graphicFrame>
      <p:pic>
        <p:nvPicPr>
          <p:cNvPr id="1449448381" name="Picture 3"/>
          <p:cNvPicPr>
            <a:picLocks noChangeAspect="1"/>
          </p:cNvPicPr>
          <p:nvPr/>
        </p:nvPicPr>
        <p:blipFill rotWithShape="1">
          <a:blip r:embed="rId7">
            <a:extLst>
              <a:ext uri="{96DAC541-7B7A-43D3-8B79-37D633B846F1}">
                <asvg:svgBlip xmlns:asvg="http://schemas.microsoft.com/office/drawing/2016/SVG/main" r:embed="rId8"/>
              </a:ext>
            </a:extLst>
          </a:blip>
          <a:stretch/>
        </p:blipFill>
        <p:spPr bwMode="auto">
          <a:xfrm>
            <a:off x="1334085" y="5350522"/>
            <a:ext cx="9774517" cy="69168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9473892" name="Rectangle 2"/>
          <p:cNvSpPr>
            <a:spLocks noChangeArrowheads="1" noGrp="1"/>
          </p:cNvSpPr>
          <p:nvPr>
            <p:ph type="title"/>
          </p:nvPr>
        </p:nvSpPr>
        <p:spPr bwMode="auto"/>
        <p:txBody>
          <a:bodyPr anchor="t"/>
          <a:lstStyle/>
          <a:p>
            <a:pPr>
              <a:defRPr/>
            </a:pPr>
            <a:r>
              <a:rPr lang="en-US" sz="3000"/>
              <a:t>Ví dụ: Khoảng cách </a:t>
            </a:r>
            <a:r>
              <a:rPr lang="en-US" sz="3000"/>
              <a:t>Minkowski</a:t>
            </a:r>
            <a:r>
              <a:rPr lang="en-US" sz="3000"/>
              <a:t> trong các trường hợp đặc biệt</a:t>
            </a:r>
            <a:endParaRPr/>
          </a:p>
        </p:txBody>
      </p:sp>
      <p:graphicFrame>
        <p:nvGraphicFramePr>
          <p:cNvPr id="832449526" name="Object 4"/>
          <p:cNvGraphicFramePr>
            <a:graphicFrameLocks xmlns:a="http://schemas.openxmlformats.org/drawingml/2006/main" noChangeAspect="1"/>
          </p:cNvGraphicFramePr>
          <p:nvPr/>
        </p:nvGraphicFramePr>
        <p:xfrm>
          <a:off x="1238179" y="1295399"/>
          <a:ext cx="2962275" cy="1363663"/>
        </p:xfrm>
        <a:graphic>
          <a:graphicData uri="http://schemas.openxmlformats.org/presentationml/2006/ole">
            <p:oleObj name="oleObj" r:id="rId4" imgW="1837690" imgH="819150" progId="Excel.Sheet.8">
              <p:embed/>
              <p:pic>
                <p:nvPicPr>
                  <p:cNvPr id="832449526" name="Object 4"/>
                  <p:cNvPicPr/>
                  <p:nvPr/>
                </p:nvPicPr>
                <p:blipFill rotWithShape="1">
                  <a:blip r:embed="rId3"/>
                  <a:stretch/>
                </p:blipFill>
                <p:spPr bwMode="auto">
                  <a:xfrm>
                    <a:off x="1238179" y="1295399"/>
                    <a:ext cx="2962275" cy="1363663"/>
                  </a:xfrm>
                  <a:prstGeom prst="rect">
                    <a:avLst/>
                  </a:prstGeom>
                  <a:noFill/>
                  <a:ln>
                    <a:noFill/>
                  </a:ln>
                  <a:effectLst/>
                </p:spPr>
              </p:pic>
            </p:oleObj>
          </a:graphicData>
        </a:graphic>
      </p:graphicFrame>
      <p:graphicFrame>
        <p:nvGraphicFramePr>
          <p:cNvPr id="1838816297" name="Object 5"/>
          <p:cNvGraphicFramePr>
            <a:graphicFrameLocks xmlns:a="http://schemas.openxmlformats.org/drawingml/2006/main" noChangeAspect="1"/>
          </p:cNvGraphicFramePr>
          <p:nvPr/>
        </p:nvGraphicFramePr>
        <p:xfrm>
          <a:off x="5334000" y="1600200"/>
          <a:ext cx="4948238" cy="1320800"/>
        </p:xfrm>
        <a:graphic>
          <a:graphicData uri="http://schemas.openxmlformats.org/presentationml/2006/ole">
            <p:oleObj name="oleObj" r:id="rId6" imgW="3056890" imgH="819150" progId="Excel.Sheet.8">
              <p:embed/>
              <p:pic>
                <p:nvPicPr>
                  <p:cNvPr id="1838816297" name="Object 5"/>
                  <p:cNvPicPr/>
                  <p:nvPr/>
                </p:nvPicPr>
                <p:blipFill rotWithShape="1">
                  <a:blip r:embed="rId5"/>
                  <a:stretch/>
                </p:blipFill>
                <p:spPr bwMode="auto">
                  <a:xfrm>
                    <a:off x="5334000" y="1600200"/>
                    <a:ext cx="4948238" cy="1320800"/>
                  </a:xfrm>
                  <a:prstGeom prst="rect">
                    <a:avLst/>
                  </a:prstGeom>
                  <a:noFill/>
                  <a:ln>
                    <a:noFill/>
                  </a:ln>
                  <a:effectLst/>
                </p:spPr>
              </p:pic>
            </p:oleObj>
          </a:graphicData>
        </a:graphic>
      </p:graphicFrame>
      <p:graphicFrame>
        <p:nvGraphicFramePr>
          <p:cNvPr id="1892818798" name="Object 6"/>
          <p:cNvGraphicFramePr>
            <a:graphicFrameLocks xmlns:a="http://schemas.openxmlformats.org/drawingml/2006/main" noChangeAspect="1"/>
          </p:cNvGraphicFramePr>
          <p:nvPr/>
        </p:nvGraphicFramePr>
        <p:xfrm>
          <a:off x="5334000" y="3429000"/>
          <a:ext cx="4948238" cy="1320800"/>
        </p:xfrm>
        <a:graphic>
          <a:graphicData uri="http://schemas.openxmlformats.org/presentationml/2006/ole">
            <p:oleObj name="oleObj" r:id="rId8" imgW="3056890" imgH="819150" progId="Excel.Sheet.8">
              <p:embed/>
              <p:pic>
                <p:nvPicPr>
                  <p:cNvPr id="1892818798" name="Object 6"/>
                  <p:cNvPicPr/>
                  <p:nvPr/>
                </p:nvPicPr>
                <p:blipFill rotWithShape="1">
                  <a:blip r:embed="rId7"/>
                  <a:stretch/>
                </p:blipFill>
                <p:spPr bwMode="auto">
                  <a:xfrm>
                    <a:off x="5334000" y="3429000"/>
                    <a:ext cx="4948238" cy="1320800"/>
                  </a:xfrm>
                  <a:prstGeom prst="rect">
                    <a:avLst/>
                  </a:prstGeom>
                  <a:noFill/>
                  <a:ln>
                    <a:noFill/>
                  </a:ln>
                  <a:effectLst/>
                </p:spPr>
              </p:pic>
            </p:oleObj>
          </a:graphicData>
        </a:graphic>
      </p:graphicFrame>
      <p:graphicFrame>
        <p:nvGraphicFramePr>
          <p:cNvPr id="1507893204" name="Object 7"/>
          <p:cNvGraphicFramePr>
            <a:graphicFrameLocks xmlns:a="http://schemas.openxmlformats.org/drawingml/2006/main" noChangeAspect="1"/>
          </p:cNvGraphicFramePr>
          <p:nvPr/>
        </p:nvGraphicFramePr>
        <p:xfrm>
          <a:off x="5334000" y="5254626"/>
          <a:ext cx="4872038" cy="1374775"/>
        </p:xfrm>
        <a:graphic>
          <a:graphicData uri="http://schemas.openxmlformats.org/presentationml/2006/ole">
            <p:oleObj name="oleObj" r:id="rId10" imgW="3056890" imgH="838200" progId="Excel.Sheet.8">
              <p:embed/>
              <p:pic>
                <p:nvPicPr>
                  <p:cNvPr id="1507893204" name="Object 7"/>
                  <p:cNvPicPr/>
                  <p:nvPr/>
                </p:nvPicPr>
                <p:blipFill rotWithShape="1">
                  <a:blip r:embed="rId9"/>
                  <a:stretch/>
                </p:blipFill>
                <p:spPr bwMode="auto">
                  <a:xfrm>
                    <a:off x="5334000" y="5254626"/>
                    <a:ext cx="4872038" cy="1374775"/>
                  </a:xfrm>
                  <a:prstGeom prst="rect">
                    <a:avLst/>
                  </a:prstGeom>
                  <a:noFill/>
                  <a:ln>
                    <a:noFill/>
                  </a:ln>
                  <a:effectLst/>
                </p:spPr>
              </p:pic>
            </p:oleObj>
          </a:graphicData>
        </a:graphic>
      </p:graphicFrame>
      <p:sp>
        <p:nvSpPr>
          <p:cNvPr id="618010250" name="Rectangle 16"/>
          <p:cNvSpPr>
            <a:spLocks noChangeArrowheads="1"/>
          </p:cNvSpPr>
          <p:nvPr/>
        </p:nvSpPr>
        <p:spPr bwMode="auto">
          <a:xfrm>
            <a:off x="5249339" y="1175542"/>
            <a:ext cx="2576512" cy="457200"/>
          </a:xfrm>
          <a:prstGeom prst="rect">
            <a:avLst/>
          </a:prstGeom>
          <a:noFill/>
          <a:ln>
            <a:noFill/>
          </a:ln>
        </p:spPr>
        <p:txBody>
          <a:bodyPr>
            <a:spAutoFit/>
          </a:bodyPr>
          <a:lstStyle>
            <a:lvl1pPr>
              <a:spcBef>
                <a:spcPts val="0"/>
              </a:spcBef>
              <a:buClr>
                <a:schemeClr val="folHlink"/>
              </a:buClr>
              <a:buSzPct val="60000"/>
              <a:buFont typeface="Wingdings"/>
              <a:buChar char="n"/>
              <a:defRPr sz="2800">
                <a:solidFill>
                  <a:schemeClr val="tx1"/>
                </a:solidFill>
                <a:latin typeface="Tahoma"/>
              </a:defRPr>
            </a:lvl1pPr>
            <a:lvl2pPr marL="742950" indent="-285750">
              <a:spcBef>
                <a:spcPts val="0"/>
              </a:spcBef>
              <a:buClr>
                <a:schemeClr val="hlink"/>
              </a:buClr>
              <a:buSzPct val="55000"/>
              <a:buFont typeface="Wingdings"/>
              <a:buChar char="n"/>
              <a:defRPr sz="2800">
                <a:solidFill>
                  <a:schemeClr val="tx1"/>
                </a:solidFill>
                <a:latin typeface="Tahoma"/>
              </a:defRPr>
            </a:lvl2pPr>
            <a:lvl3pPr marL="1143000" indent="-228600">
              <a:spcBef>
                <a:spcPts val="0"/>
              </a:spcBef>
              <a:buClr>
                <a:schemeClr val="folHlink"/>
              </a:buClr>
              <a:buSzPct val="50000"/>
              <a:buFont typeface="Wingdings"/>
              <a:buChar char="n"/>
              <a:defRPr sz="2400">
                <a:solidFill>
                  <a:schemeClr val="tx1"/>
                </a:solidFill>
                <a:latin typeface="Tahoma"/>
              </a:defRPr>
            </a:lvl3pPr>
            <a:lvl4pPr marL="1600200" indent="-228600">
              <a:spcBef>
                <a:spcPts val="0"/>
              </a:spcBef>
              <a:buClr>
                <a:schemeClr val="accent2"/>
              </a:buClr>
              <a:buSzPct val="55000"/>
              <a:buFont typeface="Wingdings"/>
              <a:buChar char="n"/>
              <a:defRPr sz="2000">
                <a:solidFill>
                  <a:schemeClr val="tx1"/>
                </a:solidFill>
                <a:latin typeface="Tahoma"/>
              </a:defRPr>
            </a:lvl4pPr>
            <a:lvl5pPr marL="2057400" indent="-228600">
              <a:spcBef>
                <a:spcPts val="0"/>
              </a:spcBef>
              <a:buClr>
                <a:schemeClr val="accent1"/>
              </a:buClr>
              <a:buSzPct val="50000"/>
              <a:buFont typeface="Wingdings"/>
              <a:buChar char="n"/>
              <a:defRPr sz="2000">
                <a:solidFill>
                  <a:schemeClr val="tx1"/>
                </a:solidFill>
                <a:latin typeface="Tahoma"/>
              </a:defRPr>
            </a:lvl5pPr>
            <a:lvl6pPr marL="2514600" indent="-228600">
              <a:spcBef>
                <a:spcPts val="0"/>
              </a:spcBef>
              <a:spcAft>
                <a:spcPts val="0"/>
              </a:spcAft>
              <a:buClr>
                <a:schemeClr val="accent1"/>
              </a:buClr>
              <a:buSzPct val="50000"/>
              <a:buFont typeface="Wingdings"/>
              <a:buChar char="n"/>
              <a:defRPr sz="2000">
                <a:solidFill>
                  <a:schemeClr val="tx1"/>
                </a:solidFill>
                <a:latin typeface="Tahoma"/>
              </a:defRPr>
            </a:lvl6pPr>
            <a:lvl7pPr marL="2971800" indent="-228600">
              <a:spcBef>
                <a:spcPts val="0"/>
              </a:spcBef>
              <a:spcAft>
                <a:spcPts val="0"/>
              </a:spcAft>
              <a:buClr>
                <a:schemeClr val="accent1"/>
              </a:buClr>
              <a:buSzPct val="50000"/>
              <a:buFont typeface="Wingdings"/>
              <a:buChar char="n"/>
              <a:defRPr sz="2000">
                <a:solidFill>
                  <a:schemeClr val="tx1"/>
                </a:solidFill>
                <a:latin typeface="Tahoma"/>
              </a:defRPr>
            </a:lvl7pPr>
            <a:lvl8pPr marL="3429000" indent="-228600">
              <a:spcBef>
                <a:spcPts val="0"/>
              </a:spcBef>
              <a:spcAft>
                <a:spcPts val="0"/>
              </a:spcAft>
              <a:buClr>
                <a:schemeClr val="accent1"/>
              </a:buClr>
              <a:buSzPct val="50000"/>
              <a:buFont typeface="Wingdings"/>
              <a:buChar char="n"/>
              <a:defRPr sz="2000">
                <a:solidFill>
                  <a:schemeClr val="tx1"/>
                </a:solidFill>
                <a:latin typeface="Tahoma"/>
              </a:defRPr>
            </a:lvl8pPr>
            <a:lvl9pPr marL="3886200" indent="-228600">
              <a:spcBef>
                <a:spcPts val="0"/>
              </a:spcBef>
              <a:spcAft>
                <a:spcPts val="0"/>
              </a:spcAft>
              <a:buClr>
                <a:schemeClr val="accent1"/>
              </a:buClr>
              <a:buSzPct val="50000"/>
              <a:buFont typeface="Wingdings"/>
              <a:buChar char="n"/>
              <a:defRPr sz="2000">
                <a:solidFill>
                  <a:schemeClr val="tx1"/>
                </a:solidFill>
                <a:latin typeface="Tahoma"/>
              </a:defRPr>
            </a:lvl9pPr>
          </a:lstStyle>
          <a:p>
            <a:pPr defTabSz="914400">
              <a:spcBef>
                <a:spcPts val="0"/>
              </a:spcBef>
              <a:spcAft>
                <a:spcPts val="0"/>
              </a:spcAft>
              <a:buClrTx/>
              <a:buSzTx/>
              <a:buNone/>
              <a:defRPr/>
            </a:pPr>
            <a:r>
              <a:rPr lang="en-US" sz="2000" b="1">
                <a:solidFill>
                  <a:srgbClr val="000000"/>
                </a:solidFill>
                <a:latin typeface="+mn-lt"/>
              </a:rPr>
              <a:t>Manhattan (L</a:t>
            </a:r>
            <a:r>
              <a:rPr lang="en-US" sz="2000" b="1" baseline="-25000">
                <a:solidFill>
                  <a:srgbClr val="000000"/>
                </a:solidFill>
                <a:latin typeface="+mn-lt"/>
              </a:rPr>
              <a:t>1</a:t>
            </a:r>
            <a:r>
              <a:rPr lang="en-US" sz="2000" b="1">
                <a:solidFill>
                  <a:srgbClr val="000000"/>
                </a:solidFill>
                <a:latin typeface="+mn-lt"/>
              </a:rPr>
              <a:t>)</a:t>
            </a:r>
            <a:endParaRPr/>
          </a:p>
        </p:txBody>
      </p:sp>
      <p:sp>
        <p:nvSpPr>
          <p:cNvPr id="101098538" name="Rectangle 17"/>
          <p:cNvSpPr>
            <a:spLocks noChangeArrowheads="1"/>
          </p:cNvSpPr>
          <p:nvPr/>
        </p:nvSpPr>
        <p:spPr bwMode="auto">
          <a:xfrm>
            <a:off x="5285551" y="3018135"/>
            <a:ext cx="1912703" cy="461665"/>
          </a:xfrm>
          <a:prstGeom prst="rect">
            <a:avLst/>
          </a:prstGeom>
          <a:noFill/>
          <a:ln>
            <a:noFill/>
          </a:ln>
        </p:spPr>
        <p:txBody>
          <a:bodyPr wrap="none">
            <a:spAutoFit/>
          </a:bodyPr>
          <a:lstStyle>
            <a:lvl1pPr>
              <a:spcBef>
                <a:spcPts val="0"/>
              </a:spcBef>
              <a:buClr>
                <a:schemeClr val="folHlink"/>
              </a:buClr>
              <a:buSzPct val="60000"/>
              <a:buFont typeface="Wingdings"/>
              <a:buChar char="n"/>
              <a:defRPr sz="2800">
                <a:solidFill>
                  <a:schemeClr val="tx1"/>
                </a:solidFill>
                <a:latin typeface="Tahoma"/>
              </a:defRPr>
            </a:lvl1pPr>
            <a:lvl2pPr marL="742950" indent="-285750">
              <a:spcBef>
                <a:spcPts val="0"/>
              </a:spcBef>
              <a:buClr>
                <a:schemeClr val="hlink"/>
              </a:buClr>
              <a:buSzPct val="55000"/>
              <a:buFont typeface="Wingdings"/>
              <a:buChar char="n"/>
              <a:defRPr sz="2800">
                <a:solidFill>
                  <a:schemeClr val="tx1"/>
                </a:solidFill>
                <a:latin typeface="Tahoma"/>
              </a:defRPr>
            </a:lvl2pPr>
            <a:lvl3pPr marL="1143000" indent="-228600">
              <a:spcBef>
                <a:spcPts val="0"/>
              </a:spcBef>
              <a:buClr>
                <a:schemeClr val="folHlink"/>
              </a:buClr>
              <a:buSzPct val="50000"/>
              <a:buFont typeface="Wingdings"/>
              <a:buChar char="n"/>
              <a:defRPr sz="2400">
                <a:solidFill>
                  <a:schemeClr val="tx1"/>
                </a:solidFill>
                <a:latin typeface="Tahoma"/>
              </a:defRPr>
            </a:lvl3pPr>
            <a:lvl4pPr marL="1600200" indent="-228600">
              <a:spcBef>
                <a:spcPts val="0"/>
              </a:spcBef>
              <a:buClr>
                <a:schemeClr val="accent2"/>
              </a:buClr>
              <a:buSzPct val="55000"/>
              <a:buFont typeface="Wingdings"/>
              <a:buChar char="n"/>
              <a:defRPr sz="2000">
                <a:solidFill>
                  <a:schemeClr val="tx1"/>
                </a:solidFill>
                <a:latin typeface="Tahoma"/>
              </a:defRPr>
            </a:lvl4pPr>
            <a:lvl5pPr marL="2057400" indent="-228600">
              <a:spcBef>
                <a:spcPts val="0"/>
              </a:spcBef>
              <a:buClr>
                <a:schemeClr val="accent1"/>
              </a:buClr>
              <a:buSzPct val="50000"/>
              <a:buFont typeface="Wingdings"/>
              <a:buChar char="n"/>
              <a:defRPr sz="2000">
                <a:solidFill>
                  <a:schemeClr val="tx1"/>
                </a:solidFill>
                <a:latin typeface="Tahoma"/>
              </a:defRPr>
            </a:lvl5pPr>
            <a:lvl6pPr marL="2514600" indent="-228600">
              <a:spcBef>
                <a:spcPts val="0"/>
              </a:spcBef>
              <a:spcAft>
                <a:spcPts val="0"/>
              </a:spcAft>
              <a:buClr>
                <a:schemeClr val="accent1"/>
              </a:buClr>
              <a:buSzPct val="50000"/>
              <a:buFont typeface="Wingdings"/>
              <a:buChar char="n"/>
              <a:defRPr sz="2000">
                <a:solidFill>
                  <a:schemeClr val="tx1"/>
                </a:solidFill>
                <a:latin typeface="Tahoma"/>
              </a:defRPr>
            </a:lvl6pPr>
            <a:lvl7pPr marL="2971800" indent="-228600">
              <a:spcBef>
                <a:spcPts val="0"/>
              </a:spcBef>
              <a:spcAft>
                <a:spcPts val="0"/>
              </a:spcAft>
              <a:buClr>
                <a:schemeClr val="accent1"/>
              </a:buClr>
              <a:buSzPct val="50000"/>
              <a:buFont typeface="Wingdings"/>
              <a:buChar char="n"/>
              <a:defRPr sz="2000">
                <a:solidFill>
                  <a:schemeClr val="tx1"/>
                </a:solidFill>
                <a:latin typeface="Tahoma"/>
              </a:defRPr>
            </a:lvl7pPr>
            <a:lvl8pPr marL="3429000" indent="-228600">
              <a:spcBef>
                <a:spcPts val="0"/>
              </a:spcBef>
              <a:spcAft>
                <a:spcPts val="0"/>
              </a:spcAft>
              <a:buClr>
                <a:schemeClr val="accent1"/>
              </a:buClr>
              <a:buSzPct val="50000"/>
              <a:buFont typeface="Wingdings"/>
              <a:buChar char="n"/>
              <a:defRPr sz="2000">
                <a:solidFill>
                  <a:schemeClr val="tx1"/>
                </a:solidFill>
                <a:latin typeface="Tahoma"/>
              </a:defRPr>
            </a:lvl8pPr>
            <a:lvl9pPr marL="3886200" indent="-228600">
              <a:spcBef>
                <a:spcPts val="0"/>
              </a:spcBef>
              <a:spcAft>
                <a:spcPts val="0"/>
              </a:spcAft>
              <a:buClr>
                <a:schemeClr val="accent1"/>
              </a:buClr>
              <a:buSzPct val="50000"/>
              <a:buFont typeface="Wingdings"/>
              <a:buChar char="n"/>
              <a:defRPr sz="2000">
                <a:solidFill>
                  <a:schemeClr val="tx1"/>
                </a:solidFill>
                <a:latin typeface="Tahoma"/>
              </a:defRPr>
            </a:lvl9pPr>
          </a:lstStyle>
          <a:p>
            <a:pPr defTabSz="914400">
              <a:spcBef>
                <a:spcPts val="0"/>
              </a:spcBef>
              <a:spcAft>
                <a:spcPts val="0"/>
              </a:spcAft>
              <a:buClrTx/>
              <a:buSzTx/>
              <a:buNone/>
              <a:defRPr/>
            </a:pPr>
            <a:r>
              <a:rPr lang="en-US" sz="2000" b="1">
                <a:solidFill>
                  <a:srgbClr val="000000"/>
                </a:solidFill>
                <a:latin typeface="+mn-lt"/>
              </a:rPr>
              <a:t>Euclid (L</a:t>
            </a:r>
            <a:r>
              <a:rPr lang="en-US" sz="2000" b="1" baseline="-25000">
                <a:solidFill>
                  <a:srgbClr val="000000"/>
                </a:solidFill>
                <a:latin typeface="+mn-lt"/>
              </a:rPr>
              <a:t>2</a:t>
            </a:r>
            <a:r>
              <a:rPr lang="en-US" sz="2000" b="1">
                <a:solidFill>
                  <a:srgbClr val="000000"/>
                </a:solidFill>
                <a:latin typeface="+mn-lt"/>
              </a:rPr>
              <a:t>)</a:t>
            </a:r>
            <a:endParaRPr/>
          </a:p>
        </p:txBody>
      </p:sp>
      <p:sp>
        <p:nvSpPr>
          <p:cNvPr id="223348240" name="Rectangle 18"/>
          <p:cNvSpPr>
            <a:spLocks noChangeArrowheads="1"/>
          </p:cNvSpPr>
          <p:nvPr/>
        </p:nvSpPr>
        <p:spPr bwMode="auto">
          <a:xfrm>
            <a:off x="5285551" y="4802014"/>
            <a:ext cx="2189767" cy="461665"/>
          </a:xfrm>
          <a:prstGeom prst="rect">
            <a:avLst/>
          </a:prstGeom>
          <a:noFill/>
          <a:ln>
            <a:noFill/>
          </a:ln>
        </p:spPr>
        <p:txBody>
          <a:bodyPr wrap="none">
            <a:spAutoFit/>
          </a:bodyPr>
          <a:lstStyle>
            <a:lvl1pPr>
              <a:spcBef>
                <a:spcPts val="0"/>
              </a:spcBef>
              <a:buClr>
                <a:schemeClr val="folHlink"/>
              </a:buClr>
              <a:buSzPct val="60000"/>
              <a:buFont typeface="Wingdings"/>
              <a:buChar char="n"/>
              <a:defRPr sz="2800">
                <a:solidFill>
                  <a:schemeClr val="tx1"/>
                </a:solidFill>
                <a:latin typeface="Tahoma"/>
              </a:defRPr>
            </a:lvl1pPr>
            <a:lvl2pPr marL="742950" indent="-285750">
              <a:spcBef>
                <a:spcPts val="0"/>
              </a:spcBef>
              <a:buClr>
                <a:schemeClr val="hlink"/>
              </a:buClr>
              <a:buSzPct val="55000"/>
              <a:buFont typeface="Wingdings"/>
              <a:buChar char="n"/>
              <a:defRPr sz="2800">
                <a:solidFill>
                  <a:schemeClr val="tx1"/>
                </a:solidFill>
                <a:latin typeface="Tahoma"/>
              </a:defRPr>
            </a:lvl2pPr>
            <a:lvl3pPr marL="1143000" indent="-228600">
              <a:spcBef>
                <a:spcPts val="0"/>
              </a:spcBef>
              <a:buClr>
                <a:schemeClr val="folHlink"/>
              </a:buClr>
              <a:buSzPct val="50000"/>
              <a:buFont typeface="Wingdings"/>
              <a:buChar char="n"/>
              <a:defRPr sz="2400">
                <a:solidFill>
                  <a:schemeClr val="tx1"/>
                </a:solidFill>
                <a:latin typeface="Tahoma"/>
              </a:defRPr>
            </a:lvl3pPr>
            <a:lvl4pPr marL="1600200" indent="-228600">
              <a:spcBef>
                <a:spcPts val="0"/>
              </a:spcBef>
              <a:buClr>
                <a:schemeClr val="accent2"/>
              </a:buClr>
              <a:buSzPct val="55000"/>
              <a:buFont typeface="Wingdings"/>
              <a:buChar char="n"/>
              <a:defRPr sz="2000">
                <a:solidFill>
                  <a:schemeClr val="tx1"/>
                </a:solidFill>
                <a:latin typeface="Tahoma"/>
              </a:defRPr>
            </a:lvl4pPr>
            <a:lvl5pPr marL="2057400" indent="-228600">
              <a:spcBef>
                <a:spcPts val="0"/>
              </a:spcBef>
              <a:buClr>
                <a:schemeClr val="accent1"/>
              </a:buClr>
              <a:buSzPct val="50000"/>
              <a:buFont typeface="Wingdings"/>
              <a:buChar char="n"/>
              <a:defRPr sz="2000">
                <a:solidFill>
                  <a:schemeClr val="tx1"/>
                </a:solidFill>
                <a:latin typeface="Tahoma"/>
              </a:defRPr>
            </a:lvl5pPr>
            <a:lvl6pPr marL="2514600" indent="-228600">
              <a:spcBef>
                <a:spcPts val="0"/>
              </a:spcBef>
              <a:spcAft>
                <a:spcPts val="0"/>
              </a:spcAft>
              <a:buClr>
                <a:schemeClr val="accent1"/>
              </a:buClr>
              <a:buSzPct val="50000"/>
              <a:buFont typeface="Wingdings"/>
              <a:buChar char="n"/>
              <a:defRPr sz="2000">
                <a:solidFill>
                  <a:schemeClr val="tx1"/>
                </a:solidFill>
                <a:latin typeface="Tahoma"/>
              </a:defRPr>
            </a:lvl6pPr>
            <a:lvl7pPr marL="2971800" indent="-228600">
              <a:spcBef>
                <a:spcPts val="0"/>
              </a:spcBef>
              <a:spcAft>
                <a:spcPts val="0"/>
              </a:spcAft>
              <a:buClr>
                <a:schemeClr val="accent1"/>
              </a:buClr>
              <a:buSzPct val="50000"/>
              <a:buFont typeface="Wingdings"/>
              <a:buChar char="n"/>
              <a:defRPr sz="2000">
                <a:solidFill>
                  <a:schemeClr val="tx1"/>
                </a:solidFill>
                <a:latin typeface="Tahoma"/>
              </a:defRPr>
            </a:lvl7pPr>
            <a:lvl8pPr marL="3429000" indent="-228600">
              <a:spcBef>
                <a:spcPts val="0"/>
              </a:spcBef>
              <a:spcAft>
                <a:spcPts val="0"/>
              </a:spcAft>
              <a:buClr>
                <a:schemeClr val="accent1"/>
              </a:buClr>
              <a:buSzPct val="50000"/>
              <a:buFont typeface="Wingdings"/>
              <a:buChar char="n"/>
              <a:defRPr sz="2000">
                <a:solidFill>
                  <a:schemeClr val="tx1"/>
                </a:solidFill>
                <a:latin typeface="Tahoma"/>
              </a:defRPr>
            </a:lvl8pPr>
            <a:lvl9pPr marL="3886200" indent="-228600">
              <a:spcBef>
                <a:spcPts val="0"/>
              </a:spcBef>
              <a:spcAft>
                <a:spcPts val="0"/>
              </a:spcAft>
              <a:buClr>
                <a:schemeClr val="accent1"/>
              </a:buClr>
              <a:buSzPct val="50000"/>
              <a:buFont typeface="Wingdings"/>
              <a:buChar char="n"/>
              <a:defRPr sz="2000">
                <a:solidFill>
                  <a:schemeClr val="tx1"/>
                </a:solidFill>
                <a:latin typeface="Tahoma"/>
              </a:defRPr>
            </a:lvl9pPr>
          </a:lstStyle>
          <a:p>
            <a:pPr defTabSz="914400">
              <a:spcBef>
                <a:spcPts val="0"/>
              </a:spcBef>
              <a:spcAft>
                <a:spcPts val="0"/>
              </a:spcAft>
              <a:buClrTx/>
              <a:buSzTx/>
              <a:buNone/>
              <a:defRPr/>
            </a:pPr>
            <a:r>
              <a:rPr lang="en-US" sz="2000" b="1">
                <a:solidFill>
                  <a:srgbClr val="000000"/>
                </a:solidFill>
                <a:latin typeface="+mn-lt"/>
              </a:rPr>
              <a:t>Supremum (</a:t>
            </a:r>
            <a:r>
              <a:rPr lang="en-US" sz="2000" b="1">
                <a:latin typeface="+mn-lt"/>
                <a:cs typeface="Times New Roman"/>
              </a:rPr>
              <a:t>L</a:t>
            </a:r>
            <a:r>
              <a:rPr lang="en-US" sz="2000" b="1" baseline="-25000">
                <a:latin typeface="+mn-lt"/>
                <a:cs typeface="Times New Roman"/>
              </a:rPr>
              <a:t></a:t>
            </a:r>
            <a:r>
              <a:rPr lang="en-US" sz="2000" b="1">
                <a:latin typeface="+mn-lt"/>
                <a:cs typeface="Times New Roman"/>
              </a:rPr>
              <a:t>) </a:t>
            </a:r>
            <a:endParaRPr lang="en-US" sz="2400" b="1">
              <a:solidFill>
                <a:srgbClr val="000000"/>
              </a:solidFill>
              <a:latin typeface="+mn-lt"/>
            </a:endParaRPr>
          </a:p>
        </p:txBody>
      </p:sp>
      <p:graphicFrame>
        <p:nvGraphicFramePr>
          <p:cNvPr id="1629966833" name="Object 19"/>
          <p:cNvGraphicFramePr>
            <a:graphicFrameLocks xmlns:a="http://schemas.openxmlformats.org/drawingml/2006/main" noChangeAspect="1"/>
          </p:cNvGraphicFramePr>
          <p:nvPr/>
        </p:nvGraphicFramePr>
        <p:xfrm>
          <a:off x="642796" y="2819400"/>
          <a:ext cx="4153043" cy="3810000"/>
        </p:xfrm>
        <a:graphic>
          <a:graphicData uri="http://schemas.openxmlformats.org/presentationml/2006/ole">
            <p:oleObj name="oleObj" r:id="rId12" imgW="4379595" imgH="5551805" progId="SmartDraw.2">
              <p:embed/>
              <p:pic>
                <p:nvPicPr>
                  <p:cNvPr id="1629966833" name="Object 19"/>
                  <p:cNvPicPr/>
                  <p:nvPr/>
                </p:nvPicPr>
                <p:blipFill rotWithShape="1">
                  <a:blip r:embed="rId11"/>
                  <a:stretch/>
                </p:blipFill>
                <p:spPr bwMode="auto">
                  <a:xfrm>
                    <a:off x="642796" y="2819400"/>
                    <a:ext cx="4153043" cy="3810000"/>
                  </a:xfrm>
                  <a:prstGeom prst="rect">
                    <a:avLst/>
                  </a:prstGeom>
                  <a:noFill/>
                  <a:ln>
                    <a:noFill/>
                  </a:ln>
                  <a:effectLst/>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86705856" name="Rectangle 2"/>
          <p:cNvSpPr>
            <a:spLocks noChangeArrowheads="1" noGrp="1"/>
          </p:cNvSpPr>
          <p:nvPr>
            <p:ph type="title"/>
          </p:nvPr>
        </p:nvSpPr>
        <p:spPr bwMode="auto">
          <a:xfrm>
            <a:off x="711200" y="228600"/>
            <a:ext cx="10668000" cy="762000"/>
          </a:xfrm>
        </p:spPr>
        <p:txBody>
          <a:bodyPr anchor="t">
            <a:normAutofit/>
          </a:bodyPr>
          <a:lstStyle/>
          <a:p>
            <a:pPr>
              <a:defRPr/>
            </a:pPr>
            <a:r>
              <a:rPr lang="en-US" sz="4000"/>
              <a:t>Độ đo gần cho thuộc tính nhị phân</a:t>
            </a:r>
            <a:endParaRPr/>
          </a:p>
        </p:txBody>
      </p:sp>
      <p:sp>
        <p:nvSpPr>
          <p:cNvPr id="1930650236" name="Rectangle 3"/>
          <p:cNvSpPr>
            <a:spLocks noChangeArrowheads="1" noGrp="1"/>
          </p:cNvSpPr>
          <p:nvPr>
            <p:ph type="body" idx="1"/>
          </p:nvPr>
        </p:nvSpPr>
        <p:spPr bwMode="auto">
          <a:xfrm>
            <a:off x="552261" y="988978"/>
            <a:ext cx="7161291" cy="4986322"/>
          </a:xfrm>
        </p:spPr>
        <p:txBody>
          <a:bodyPr/>
          <a:lstStyle/>
          <a:p>
            <a:pPr>
              <a:lnSpc>
                <a:spcPct val="150000"/>
              </a:lnSpc>
              <a:defRPr/>
            </a:pPr>
            <a:r>
              <a:rPr lang="en-US" sz="2000">
                <a:latin typeface="Calibri"/>
              </a:rPr>
              <a:t>Bảng ngẫu nhiên (contingency table) cho dữ liệu nhị phân</a:t>
            </a:r>
            <a:endParaRPr/>
          </a:p>
          <a:p>
            <a:pPr marL="0" indent="0">
              <a:lnSpc>
                <a:spcPct val="150000"/>
              </a:lnSpc>
              <a:buNone/>
              <a:defRPr/>
            </a:pPr>
            <a:endParaRPr lang="en-US" sz="2400">
              <a:latin typeface="Calibri"/>
            </a:endParaRPr>
          </a:p>
          <a:p>
            <a:pPr>
              <a:lnSpc>
                <a:spcPct val="150000"/>
              </a:lnSpc>
              <a:defRPr/>
            </a:pPr>
            <a:endParaRPr lang="en-US" sz="2400">
              <a:latin typeface="Calibri"/>
            </a:endParaRPr>
          </a:p>
          <a:p>
            <a:pPr>
              <a:lnSpc>
                <a:spcPct val="150000"/>
              </a:lnSpc>
              <a:defRPr/>
            </a:pPr>
            <a:r>
              <a:rPr lang="en-US" sz="2000">
                <a:latin typeface="Calibri"/>
              </a:rPr>
              <a:t>Độ đo khoảng cách cho biến nhị phân đối xứng: </a:t>
            </a:r>
            <a:endParaRPr/>
          </a:p>
          <a:p>
            <a:pPr>
              <a:lnSpc>
                <a:spcPct val="150000"/>
              </a:lnSpc>
              <a:defRPr/>
            </a:pPr>
            <a:r>
              <a:rPr lang="en-US" sz="2000">
                <a:latin typeface="Calibri"/>
              </a:rPr>
              <a:t>Độ đo khoảng cách cho biến nhị phân bất đối xứng: </a:t>
            </a:r>
            <a:endParaRPr/>
          </a:p>
          <a:p>
            <a:pPr>
              <a:lnSpc>
                <a:spcPct val="150000"/>
              </a:lnSpc>
              <a:defRPr/>
            </a:pPr>
            <a:r>
              <a:rPr lang="en-US" sz="2000">
                <a:latin typeface="Calibri"/>
              </a:rPr>
              <a:t>Hệ số </a:t>
            </a:r>
            <a:r>
              <a:rPr lang="en-US" sz="2000">
                <a:latin typeface="Calibri"/>
              </a:rPr>
              <a:t>Jaccard</a:t>
            </a:r>
            <a:r>
              <a:rPr lang="en-US" sz="2000" i="1">
                <a:solidFill>
                  <a:srgbClr val="FF0000"/>
                </a:solidFill>
                <a:latin typeface="Calibri"/>
              </a:rPr>
              <a:t> (độ đo </a:t>
            </a:r>
            <a:r>
              <a:rPr lang="en-US" sz="2000">
                <a:latin typeface="Calibri"/>
              </a:rPr>
              <a:t>tương tự</a:t>
            </a:r>
            <a:r>
              <a:rPr lang="en-US" sz="2000" i="1">
                <a:latin typeface="Calibri"/>
              </a:rPr>
              <a:t> cho biến nhị phân </a:t>
            </a:r>
            <a:r>
              <a:rPr lang="en-US" sz="2000">
                <a:latin typeface="Calibri"/>
              </a:rPr>
              <a:t>bất đối xứng): </a:t>
            </a:r>
            <a:endParaRPr/>
          </a:p>
          <a:p>
            <a:pPr>
              <a:lnSpc>
                <a:spcPct val="150000"/>
              </a:lnSpc>
              <a:defRPr/>
            </a:pPr>
            <a:r>
              <a:rPr lang="en-US" sz="2000">
                <a:solidFill>
                  <a:srgbClr val="000000"/>
                </a:solidFill>
                <a:latin typeface="Calibri"/>
              </a:rPr>
              <a:t>Lưu ý: </a:t>
            </a:r>
            <a:r>
              <a:rPr lang="en-US" sz="2000">
                <a:solidFill>
                  <a:srgbClr val="000000"/>
                </a:solidFill>
                <a:latin typeface="Calibri"/>
              </a:rPr>
              <a:t>Hệ số Jaccard</a:t>
            </a:r>
            <a:r>
              <a:rPr lang="en-US" sz="2000">
                <a:solidFill>
                  <a:srgbClr val="000000"/>
                </a:solidFill>
                <a:latin typeface="Calibri"/>
              </a:rPr>
              <a:t> giống với “độ liên kết” (coherence):</a:t>
            </a:r>
            <a:endParaRPr/>
          </a:p>
        </p:txBody>
      </p:sp>
      <p:pic>
        <p:nvPicPr>
          <p:cNvPr id="874873332" name="Picture 36" descr="eqcontingency2"/>
          <p:cNvPicPr>
            <a:picLocks noChangeAspect="1" noChangeArrowheads="1"/>
          </p:cNvPicPr>
          <p:nvPr/>
        </p:nvPicPr>
        <p:blipFill rotWithShape="1">
          <a:blip r:embed="rId3"/>
          <a:stretch/>
        </p:blipFill>
        <p:spPr bwMode="auto">
          <a:xfrm>
            <a:off x="1749582" y="1738069"/>
            <a:ext cx="3962400" cy="1238250"/>
          </a:xfrm>
          <a:prstGeom prst="rect">
            <a:avLst/>
          </a:prstGeom>
          <a:noFill/>
          <a:ln>
            <a:noFill/>
          </a:ln>
        </p:spPr>
      </p:pic>
      <p:sp>
        <p:nvSpPr>
          <p:cNvPr id="581456383" name="Text Box 37"/>
          <p:cNvSpPr txBox="1">
            <a:spLocks noChangeArrowheads="1"/>
          </p:cNvSpPr>
          <p:nvPr/>
        </p:nvSpPr>
        <p:spPr bwMode="auto">
          <a:xfrm>
            <a:off x="711200" y="2147889"/>
            <a:ext cx="963613" cy="366712"/>
          </a:xfrm>
          <a:prstGeom prst="rect">
            <a:avLst/>
          </a:prstGeom>
          <a:noFill/>
          <a:ln>
            <a:noFill/>
          </a:ln>
        </p:spPr>
        <p:txBody>
          <a:bodyPr wrap="none">
            <a:spAutoFit/>
          </a:bodyPr>
          <a:lstStyle>
            <a:lvl1pPr>
              <a:spcBef>
                <a:spcPts val="0"/>
              </a:spcBef>
              <a:buClr>
                <a:schemeClr val="folHlink"/>
              </a:buClr>
              <a:buSzPct val="60000"/>
              <a:buFont typeface="Wingdings"/>
              <a:buChar char="n"/>
              <a:defRPr sz="2800">
                <a:solidFill>
                  <a:schemeClr val="tx1"/>
                </a:solidFill>
                <a:latin typeface="Tahoma"/>
              </a:defRPr>
            </a:lvl1pPr>
            <a:lvl2pPr marL="742950" indent="-285750">
              <a:spcBef>
                <a:spcPts val="0"/>
              </a:spcBef>
              <a:buClr>
                <a:schemeClr val="hlink"/>
              </a:buClr>
              <a:buSzPct val="55000"/>
              <a:buFont typeface="Wingdings"/>
              <a:buChar char="n"/>
              <a:defRPr sz="2800">
                <a:solidFill>
                  <a:schemeClr val="tx1"/>
                </a:solidFill>
                <a:latin typeface="Tahoma"/>
              </a:defRPr>
            </a:lvl2pPr>
            <a:lvl3pPr marL="1143000" indent="-228600">
              <a:spcBef>
                <a:spcPts val="0"/>
              </a:spcBef>
              <a:buClr>
                <a:schemeClr val="folHlink"/>
              </a:buClr>
              <a:buSzPct val="50000"/>
              <a:buFont typeface="Wingdings"/>
              <a:buChar char="n"/>
              <a:defRPr sz="2400">
                <a:solidFill>
                  <a:schemeClr val="tx1"/>
                </a:solidFill>
                <a:latin typeface="Tahoma"/>
              </a:defRPr>
            </a:lvl3pPr>
            <a:lvl4pPr marL="1600200" indent="-228600">
              <a:spcBef>
                <a:spcPts val="0"/>
              </a:spcBef>
              <a:buClr>
                <a:schemeClr val="accent2"/>
              </a:buClr>
              <a:buSzPct val="55000"/>
              <a:buFont typeface="Wingdings"/>
              <a:buChar char="n"/>
              <a:defRPr sz="2000">
                <a:solidFill>
                  <a:schemeClr val="tx1"/>
                </a:solidFill>
                <a:latin typeface="Tahoma"/>
              </a:defRPr>
            </a:lvl4pPr>
            <a:lvl5pPr marL="2057400" indent="-228600">
              <a:spcBef>
                <a:spcPts val="0"/>
              </a:spcBef>
              <a:buClr>
                <a:schemeClr val="accent1"/>
              </a:buClr>
              <a:buSzPct val="50000"/>
              <a:buFont typeface="Wingdings"/>
              <a:buChar char="n"/>
              <a:defRPr sz="2000">
                <a:solidFill>
                  <a:schemeClr val="tx1"/>
                </a:solidFill>
                <a:latin typeface="Tahoma"/>
              </a:defRPr>
            </a:lvl5pPr>
            <a:lvl6pPr marL="2514600" indent="-228600">
              <a:spcBef>
                <a:spcPts val="0"/>
              </a:spcBef>
              <a:spcAft>
                <a:spcPts val="0"/>
              </a:spcAft>
              <a:buClr>
                <a:schemeClr val="accent1"/>
              </a:buClr>
              <a:buSzPct val="50000"/>
              <a:buFont typeface="Wingdings"/>
              <a:buChar char="n"/>
              <a:defRPr sz="2000">
                <a:solidFill>
                  <a:schemeClr val="tx1"/>
                </a:solidFill>
                <a:latin typeface="Tahoma"/>
              </a:defRPr>
            </a:lvl6pPr>
            <a:lvl7pPr marL="2971800" indent="-228600">
              <a:spcBef>
                <a:spcPts val="0"/>
              </a:spcBef>
              <a:spcAft>
                <a:spcPts val="0"/>
              </a:spcAft>
              <a:buClr>
                <a:schemeClr val="accent1"/>
              </a:buClr>
              <a:buSzPct val="50000"/>
              <a:buFont typeface="Wingdings"/>
              <a:buChar char="n"/>
              <a:defRPr sz="2000">
                <a:solidFill>
                  <a:schemeClr val="tx1"/>
                </a:solidFill>
                <a:latin typeface="Tahoma"/>
              </a:defRPr>
            </a:lvl7pPr>
            <a:lvl8pPr marL="3429000" indent="-228600">
              <a:spcBef>
                <a:spcPts val="0"/>
              </a:spcBef>
              <a:spcAft>
                <a:spcPts val="0"/>
              </a:spcAft>
              <a:buClr>
                <a:schemeClr val="accent1"/>
              </a:buClr>
              <a:buSzPct val="50000"/>
              <a:buFont typeface="Wingdings"/>
              <a:buChar char="n"/>
              <a:defRPr sz="2000">
                <a:solidFill>
                  <a:schemeClr val="tx1"/>
                </a:solidFill>
                <a:latin typeface="Tahoma"/>
              </a:defRPr>
            </a:lvl8pPr>
            <a:lvl9pPr marL="3886200" indent="-228600">
              <a:spcBef>
                <a:spcPts val="0"/>
              </a:spcBef>
              <a:spcAft>
                <a:spcPts val="0"/>
              </a:spcAft>
              <a:buClr>
                <a:schemeClr val="accent1"/>
              </a:buClr>
              <a:buSzPct val="50000"/>
              <a:buFont typeface="Wingdings"/>
              <a:buChar char="n"/>
              <a:defRPr sz="2000">
                <a:solidFill>
                  <a:schemeClr val="tx1"/>
                </a:solidFill>
                <a:latin typeface="Tahoma"/>
              </a:defRPr>
            </a:lvl9pPr>
          </a:lstStyle>
          <a:p>
            <a:pPr defTabSz="914400">
              <a:spcBef>
                <a:spcPts val="0"/>
              </a:spcBef>
              <a:spcAft>
                <a:spcPts val="0"/>
              </a:spcAft>
              <a:buClrTx/>
              <a:buSzTx/>
              <a:buNone/>
              <a:defRPr/>
            </a:pPr>
            <a:r>
              <a:rPr lang="en-US" sz="1500">
                <a:solidFill>
                  <a:srgbClr val="000000"/>
                </a:solidFill>
              </a:rPr>
              <a:t>Đối tượng </a:t>
            </a:r>
            <a:r>
              <a:rPr lang="en-US" sz="1500" i="1">
                <a:solidFill>
                  <a:srgbClr val="000000"/>
                </a:solidFill>
              </a:rPr>
              <a:t>i</a:t>
            </a:r>
            <a:endParaRPr lang="en-US" sz="1800">
              <a:solidFill>
                <a:srgbClr val="000000"/>
              </a:solidFill>
            </a:endParaRPr>
          </a:p>
        </p:txBody>
      </p:sp>
      <p:sp>
        <p:nvSpPr>
          <p:cNvPr id="92084450" name="Text Box 38"/>
          <p:cNvSpPr txBox="1">
            <a:spLocks noChangeArrowheads="1"/>
          </p:cNvSpPr>
          <p:nvPr/>
        </p:nvSpPr>
        <p:spPr bwMode="auto">
          <a:xfrm>
            <a:off x="3307484" y="1461455"/>
            <a:ext cx="976313" cy="366712"/>
          </a:xfrm>
          <a:prstGeom prst="rect">
            <a:avLst/>
          </a:prstGeom>
          <a:noFill/>
          <a:ln>
            <a:noFill/>
          </a:ln>
        </p:spPr>
        <p:txBody>
          <a:bodyPr wrap="none">
            <a:spAutoFit/>
          </a:bodyPr>
          <a:lstStyle>
            <a:lvl1pPr>
              <a:spcBef>
                <a:spcPts val="0"/>
              </a:spcBef>
              <a:buClr>
                <a:schemeClr val="folHlink"/>
              </a:buClr>
              <a:buSzPct val="60000"/>
              <a:buFont typeface="Wingdings"/>
              <a:buChar char="n"/>
              <a:defRPr sz="2800">
                <a:solidFill>
                  <a:schemeClr val="tx1"/>
                </a:solidFill>
                <a:latin typeface="Tahoma"/>
              </a:defRPr>
            </a:lvl1pPr>
            <a:lvl2pPr marL="742950" indent="-285750">
              <a:spcBef>
                <a:spcPts val="0"/>
              </a:spcBef>
              <a:buClr>
                <a:schemeClr val="hlink"/>
              </a:buClr>
              <a:buSzPct val="55000"/>
              <a:buFont typeface="Wingdings"/>
              <a:buChar char="n"/>
              <a:defRPr sz="2800">
                <a:solidFill>
                  <a:schemeClr val="tx1"/>
                </a:solidFill>
                <a:latin typeface="Tahoma"/>
              </a:defRPr>
            </a:lvl2pPr>
            <a:lvl3pPr marL="1143000" indent="-228600">
              <a:spcBef>
                <a:spcPts val="0"/>
              </a:spcBef>
              <a:buClr>
                <a:schemeClr val="folHlink"/>
              </a:buClr>
              <a:buSzPct val="50000"/>
              <a:buFont typeface="Wingdings"/>
              <a:buChar char="n"/>
              <a:defRPr sz="2400">
                <a:solidFill>
                  <a:schemeClr val="tx1"/>
                </a:solidFill>
                <a:latin typeface="Tahoma"/>
              </a:defRPr>
            </a:lvl3pPr>
            <a:lvl4pPr marL="1600200" indent="-228600">
              <a:spcBef>
                <a:spcPts val="0"/>
              </a:spcBef>
              <a:buClr>
                <a:schemeClr val="accent2"/>
              </a:buClr>
              <a:buSzPct val="55000"/>
              <a:buFont typeface="Wingdings"/>
              <a:buChar char="n"/>
              <a:defRPr sz="2000">
                <a:solidFill>
                  <a:schemeClr val="tx1"/>
                </a:solidFill>
                <a:latin typeface="Tahoma"/>
              </a:defRPr>
            </a:lvl4pPr>
            <a:lvl5pPr marL="2057400" indent="-228600">
              <a:spcBef>
                <a:spcPts val="0"/>
              </a:spcBef>
              <a:buClr>
                <a:schemeClr val="accent1"/>
              </a:buClr>
              <a:buSzPct val="50000"/>
              <a:buFont typeface="Wingdings"/>
              <a:buChar char="n"/>
              <a:defRPr sz="2000">
                <a:solidFill>
                  <a:schemeClr val="tx1"/>
                </a:solidFill>
                <a:latin typeface="Tahoma"/>
              </a:defRPr>
            </a:lvl5pPr>
            <a:lvl6pPr marL="2514600" indent="-228600">
              <a:spcBef>
                <a:spcPts val="0"/>
              </a:spcBef>
              <a:spcAft>
                <a:spcPts val="0"/>
              </a:spcAft>
              <a:buClr>
                <a:schemeClr val="accent1"/>
              </a:buClr>
              <a:buSzPct val="50000"/>
              <a:buFont typeface="Wingdings"/>
              <a:buChar char="n"/>
              <a:defRPr sz="2000">
                <a:solidFill>
                  <a:schemeClr val="tx1"/>
                </a:solidFill>
                <a:latin typeface="Tahoma"/>
              </a:defRPr>
            </a:lvl6pPr>
            <a:lvl7pPr marL="2971800" indent="-228600">
              <a:spcBef>
                <a:spcPts val="0"/>
              </a:spcBef>
              <a:spcAft>
                <a:spcPts val="0"/>
              </a:spcAft>
              <a:buClr>
                <a:schemeClr val="accent1"/>
              </a:buClr>
              <a:buSzPct val="50000"/>
              <a:buFont typeface="Wingdings"/>
              <a:buChar char="n"/>
              <a:defRPr sz="2000">
                <a:solidFill>
                  <a:schemeClr val="tx1"/>
                </a:solidFill>
                <a:latin typeface="Tahoma"/>
              </a:defRPr>
            </a:lvl7pPr>
            <a:lvl8pPr marL="3429000" indent="-228600">
              <a:spcBef>
                <a:spcPts val="0"/>
              </a:spcBef>
              <a:spcAft>
                <a:spcPts val="0"/>
              </a:spcAft>
              <a:buClr>
                <a:schemeClr val="accent1"/>
              </a:buClr>
              <a:buSzPct val="50000"/>
              <a:buFont typeface="Wingdings"/>
              <a:buChar char="n"/>
              <a:defRPr sz="2000">
                <a:solidFill>
                  <a:schemeClr val="tx1"/>
                </a:solidFill>
                <a:latin typeface="Tahoma"/>
              </a:defRPr>
            </a:lvl8pPr>
            <a:lvl9pPr marL="3886200" indent="-228600">
              <a:spcBef>
                <a:spcPts val="0"/>
              </a:spcBef>
              <a:spcAft>
                <a:spcPts val="0"/>
              </a:spcAft>
              <a:buClr>
                <a:schemeClr val="accent1"/>
              </a:buClr>
              <a:buSzPct val="50000"/>
              <a:buFont typeface="Wingdings"/>
              <a:buChar char="n"/>
              <a:defRPr sz="2000">
                <a:solidFill>
                  <a:schemeClr val="tx1"/>
                </a:solidFill>
                <a:latin typeface="Tahoma"/>
              </a:defRPr>
            </a:lvl9pPr>
          </a:lstStyle>
          <a:p>
            <a:pPr defTabSz="914400">
              <a:spcBef>
                <a:spcPts val="0"/>
              </a:spcBef>
              <a:spcAft>
                <a:spcPts val="0"/>
              </a:spcAft>
              <a:buClrTx/>
              <a:buSzTx/>
              <a:buNone/>
              <a:defRPr/>
            </a:pPr>
            <a:r>
              <a:rPr lang="en-US" sz="1500">
                <a:solidFill>
                  <a:srgbClr val="000000"/>
                </a:solidFill>
              </a:rPr>
              <a:t>Đối tượng </a:t>
            </a:r>
            <a:r>
              <a:rPr lang="en-US" sz="1500" i="1">
                <a:solidFill>
                  <a:srgbClr val="000000"/>
                </a:solidFill>
              </a:rPr>
              <a:t>j</a:t>
            </a:r>
            <a:endParaRPr lang="en-US" sz="1800">
              <a:solidFill>
                <a:srgbClr val="000000"/>
              </a:solidFill>
            </a:endParaRPr>
          </a:p>
        </p:txBody>
      </p:sp>
      <p:pic>
        <p:nvPicPr>
          <p:cNvPr id="1576411354" name="Picture 30" descr="eqbinarysym"/>
          <p:cNvPicPr>
            <a:picLocks noChangeAspect="1" noChangeArrowheads="1"/>
          </p:cNvPicPr>
          <p:nvPr/>
        </p:nvPicPr>
        <p:blipFill rotWithShape="1">
          <a:blip r:embed="rId4"/>
          <a:stretch/>
        </p:blipFill>
        <p:spPr bwMode="auto">
          <a:xfrm>
            <a:off x="7108479" y="2602463"/>
            <a:ext cx="3429000" cy="747713"/>
          </a:xfrm>
          <a:prstGeom prst="rect">
            <a:avLst/>
          </a:prstGeom>
          <a:noFill/>
          <a:ln>
            <a:noFill/>
          </a:ln>
        </p:spPr>
      </p:pic>
      <p:pic>
        <p:nvPicPr>
          <p:cNvPr id="1036779661" name="Picture 31" descr="eqbinaryasym"/>
          <p:cNvPicPr>
            <a:picLocks noChangeAspect="1" noChangeArrowheads="1"/>
          </p:cNvPicPr>
          <p:nvPr/>
        </p:nvPicPr>
        <p:blipFill rotWithShape="1">
          <a:blip r:embed="rId5"/>
          <a:stretch/>
        </p:blipFill>
        <p:spPr bwMode="auto">
          <a:xfrm>
            <a:off x="7429877" y="3466361"/>
            <a:ext cx="2971800" cy="600075"/>
          </a:xfrm>
          <a:prstGeom prst="rect">
            <a:avLst/>
          </a:prstGeom>
          <a:noFill/>
          <a:ln>
            <a:noFill/>
          </a:ln>
        </p:spPr>
      </p:pic>
      <p:pic>
        <p:nvPicPr>
          <p:cNvPr id="636464274" name="Picture 18" descr="eqjaccard"/>
          <p:cNvPicPr>
            <a:picLocks noChangeAspect="1" noChangeArrowheads="1"/>
          </p:cNvPicPr>
          <p:nvPr/>
        </p:nvPicPr>
        <p:blipFill rotWithShape="1">
          <a:blip r:embed="rId6"/>
          <a:stretch/>
        </p:blipFill>
        <p:spPr bwMode="auto">
          <a:xfrm>
            <a:off x="6284612" y="4623901"/>
            <a:ext cx="4343400" cy="676275"/>
          </a:xfrm>
          <a:prstGeom prst="rect">
            <a:avLst/>
          </a:prstGeom>
          <a:noFill/>
          <a:ln>
            <a:noFill/>
          </a:ln>
        </p:spPr>
      </p:pic>
      <p:pic>
        <p:nvPicPr>
          <p:cNvPr id="232303054" name="Picture 35" descr="eqcoherence"/>
          <p:cNvPicPr>
            <a:picLocks noChangeAspect="1" noChangeArrowheads="1"/>
          </p:cNvPicPr>
          <p:nvPr/>
        </p:nvPicPr>
        <p:blipFill rotWithShape="1">
          <a:blip r:embed="rId7"/>
          <a:stretch/>
        </p:blipFill>
        <p:spPr bwMode="auto">
          <a:xfrm>
            <a:off x="972507" y="5848936"/>
            <a:ext cx="8305800" cy="731838"/>
          </a:xfrm>
          <a:prstGeom prst="rect">
            <a:avLst/>
          </a:prstGeom>
          <a:noFill/>
        </p:spPr>
      </p:pic>
      <p:sp>
        <p:nvSpPr>
          <p:cNvPr id="1986840330" name="TextBox 1"/>
          <p:cNvSpPr txBox="1"/>
          <p:nvPr/>
        </p:nvSpPr>
        <p:spPr bwMode="auto">
          <a:xfrm>
            <a:off x="7517188" y="5472919"/>
            <a:ext cx="4362730" cy="384721"/>
          </a:xfrm>
          <a:prstGeom prst="rect">
            <a:avLst/>
          </a:prstGeom>
          <a:solidFill>
            <a:srgbClr val="F0CDBC"/>
          </a:solidFill>
        </p:spPr>
        <p:txBody>
          <a:bodyPr wrap="square" rtlCol="0">
            <a:spAutoFit/>
          </a:bodyPr>
          <a:lstStyle/>
          <a:p>
            <a:pPr>
              <a:defRPr/>
            </a:pPr>
            <a:r>
              <a:rPr lang="en-US"/>
              <a:t>(một khái niệm được thảo luận trong phần Khám phá mẫu)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10975069" name="Rectangle 2"/>
          <p:cNvSpPr>
            <a:spLocks noChangeArrowheads="1" noGrp="1"/>
          </p:cNvSpPr>
          <p:nvPr>
            <p:ph type="title"/>
          </p:nvPr>
        </p:nvSpPr>
        <p:spPr bwMode="auto">
          <a:xfrm>
            <a:off x="-35119" y="175475"/>
            <a:ext cx="12282535" cy="762000"/>
          </a:xfrm>
        </p:spPr>
        <p:txBody>
          <a:bodyPr anchor="t">
            <a:noAutofit/>
          </a:bodyPr>
          <a:lstStyle/>
          <a:p>
            <a:pPr>
              <a:defRPr/>
            </a:pPr>
            <a:r>
              <a:rPr lang="en-US" sz="3000"/>
              <a:t>Ví dụ: Độ phi tương tự giữa các biến nhị phân bất đối xứng</a:t>
            </a:r>
            <a:endParaRPr/>
          </a:p>
        </p:txBody>
      </p:sp>
      <p:sp>
        <p:nvSpPr>
          <p:cNvPr id="106100350" name="Rectangle 3"/>
          <p:cNvSpPr>
            <a:spLocks noChangeArrowheads="1" noGrp="1"/>
          </p:cNvSpPr>
          <p:nvPr>
            <p:ph type="body" idx="1"/>
          </p:nvPr>
        </p:nvSpPr>
        <p:spPr bwMode="auto">
          <a:xfrm>
            <a:off x="598446" y="2519143"/>
            <a:ext cx="10221362" cy="5450312"/>
          </a:xfrm>
        </p:spPr>
        <p:txBody>
          <a:bodyPr/>
          <a:lstStyle/>
          <a:p>
            <a:pPr>
              <a:spcAft>
                <a:spcPts val="600"/>
              </a:spcAft>
              <a:defRPr/>
            </a:pPr>
            <a:r>
              <a:rPr lang="en-US" sz="2000"/>
              <a:t>Giới tính là thuộc tính đối xứng (không tính vào)</a:t>
            </a:r>
            <a:endParaRPr/>
          </a:p>
          <a:p>
            <a:pPr>
              <a:spcAft>
                <a:spcPts val="600"/>
              </a:spcAft>
              <a:defRPr/>
            </a:pPr>
            <a:r>
              <a:rPr lang="en-US" sz="2000"/>
              <a:t>Các thuộc tính còn lại là nhị phân bất đối xứng</a:t>
            </a:r>
            <a:endParaRPr/>
          </a:p>
          <a:p>
            <a:pPr>
              <a:spcAft>
                <a:spcPts val="600"/>
              </a:spcAft>
              <a:defRPr/>
            </a:pPr>
            <a:r>
              <a:rPr lang="en-US" sz="2000"/>
              <a:t>Cho các giá trị Y và P là 1, giá trị N là 0</a:t>
            </a:r>
            <a:endParaRPr/>
          </a:p>
          <a:p>
            <a:pPr>
              <a:spcAft>
                <a:spcPts val="600"/>
              </a:spcAft>
              <a:defRPr/>
            </a:pPr>
            <a:r>
              <a:rPr lang="en-US" sz="2000">
                <a:latin typeface="Calibri"/>
              </a:rPr>
              <a:t>Khoảng cách: </a:t>
            </a:r>
            <a:endParaRPr lang="en-US" sz="2400"/>
          </a:p>
        </p:txBody>
      </p:sp>
      <p:graphicFrame>
        <p:nvGraphicFramePr>
          <p:cNvPr id="1600827300" name="Object 4"/>
          <p:cNvGraphicFramePr>
            <a:graphicFrameLocks xmlns:a="http://schemas.openxmlformats.org/drawingml/2006/main" noChangeAspect="1"/>
          </p:cNvGraphicFramePr>
          <p:nvPr/>
        </p:nvGraphicFramePr>
        <p:xfrm>
          <a:off x="593348" y="1230530"/>
          <a:ext cx="7368398" cy="1410718"/>
        </p:xfrm>
        <a:graphic>
          <a:graphicData uri="http://schemas.openxmlformats.org/presentationml/2006/ole">
            <p:oleObj name="oleObj" r:id="rId4" imgW="6819900" imgH="1475105" progId="Word.Document.8">
              <p:embed/>
              <p:pic>
                <p:nvPicPr>
                  <p:cNvPr id="1600827300" name="Object 4"/>
                  <p:cNvPicPr/>
                  <p:nvPr/>
                </p:nvPicPr>
                <p:blipFill rotWithShape="1">
                  <a:blip r:embed="rId3"/>
                  <a:stretch/>
                </p:blipFill>
                <p:spPr bwMode="auto">
                  <a:xfrm>
                    <a:off x="593348" y="1230530"/>
                    <a:ext cx="7368398" cy="1410718"/>
                  </a:xfrm>
                  <a:prstGeom prst="rect">
                    <a:avLst/>
                  </a:prstGeom>
                  <a:noFill/>
                  <a:ln>
                    <a:noFill/>
                  </a:ln>
                  <a:effectLst/>
                </p:spPr>
              </p:pic>
            </p:oleObj>
          </a:graphicData>
        </a:graphic>
      </p:graphicFrame>
      <p:graphicFrame>
        <p:nvGraphicFramePr>
          <p:cNvPr id="618025529" name="Object 5"/>
          <p:cNvGraphicFramePr>
            <a:graphicFrameLocks xmlns:a="http://schemas.openxmlformats.org/drawingml/2006/main" noChangeAspect="1"/>
          </p:cNvGraphicFramePr>
          <p:nvPr/>
        </p:nvGraphicFramePr>
        <p:xfrm>
          <a:off x="1465979" y="4780228"/>
          <a:ext cx="4448769" cy="1796359"/>
        </p:xfrm>
        <a:graphic>
          <a:graphicData uri="http://schemas.openxmlformats.org/presentationml/2006/ole">
            <p:oleObj name="oleObj" r:id="rId6" imgW="2019300" imgH="1219200" progId="Equation.3">
              <p:embed/>
              <p:pic>
                <p:nvPicPr>
                  <p:cNvPr id="618025529" name="Object 5"/>
                  <p:cNvPicPr/>
                  <p:nvPr/>
                </p:nvPicPr>
                <p:blipFill rotWithShape="1">
                  <a:blip r:embed="rId5"/>
                  <a:stretch/>
                </p:blipFill>
                <p:spPr bwMode="auto">
                  <a:xfrm>
                    <a:off x="1465979" y="4780228"/>
                    <a:ext cx="4448769" cy="1796359"/>
                  </a:xfrm>
                  <a:prstGeom prst="rect">
                    <a:avLst/>
                  </a:prstGeom>
                  <a:noFill/>
                  <a:ln>
                    <a:noFill/>
                  </a:ln>
                  <a:effectLst/>
                </p:spPr>
              </p:pic>
            </p:oleObj>
          </a:graphicData>
        </a:graphic>
      </p:graphicFrame>
      <p:graphicFrame>
        <p:nvGraphicFramePr>
          <p:cNvPr id="1025210443" name="Table 1"/>
          <p:cNvGraphicFramePr>
            <a:graphicFrameLocks xmlns:a="http://schemas.openxmlformats.org/drawingml/2006/main" noGrp="1"/>
          </p:cNvGraphicFramePr>
          <p:nvPr/>
        </p:nvGraphicFramePr>
        <p:xfrm rot="0">
          <a:off x="8875817" y="1409724"/>
          <a:ext cx="2118512" cy="1525480"/>
        </p:xfrm>
        <a:graphic>
          <a:graphicData uri="http://schemas.openxmlformats.org/drawingml/2006/table">
            <a:tbl>
              <a:tblPr firstRow="1" firstCol="0" lastRow="0" lastCol="0" bandRow="1" bandCol="0">
                <a:tableStyleId>{5C22544A-7EE6-4342-B048-85BDC9FD1C3A}</a:tableStyleId>
              </a:tblPr>
              <a:tblGrid>
                <a:gridCol w="506945"/>
                <a:gridCol w="506945"/>
                <a:gridCol w="506945"/>
                <a:gridCol w="597677"/>
              </a:tblGrid>
              <a:tr h="382480">
                <a:tc>
                  <a:txBody>
                    <a:bodyPr/>
                    <a:p>
                      <a:pPr>
                        <a:defRPr/>
                      </a:pPr>
                      <a:endParaRPr lang="en-US"/>
                    </a:p>
                  </a:txBody>
                  <a:tcPr/>
                </a:tc>
                <a:tc>
                  <a:txBody>
                    <a:bodyPr/>
                    <a:p>
                      <a:pPr>
                        <a:defRPr/>
                      </a:pPr>
                      <a:r>
                        <a:rPr lang="en-US"/>
                        <a:t>1</a:t>
                      </a:r>
                      <a:endParaRPr/>
                    </a:p>
                  </a:txBody>
                  <a:tcPr/>
                </a:tc>
                <a:tc>
                  <a:txBody>
                    <a:bodyPr/>
                    <a:p>
                      <a:pPr>
                        <a:defRPr/>
                      </a:pPr>
                      <a:r>
                        <a:rPr lang="en-US"/>
                        <a:t>0</a:t>
                      </a:r>
                      <a:endParaRPr/>
                    </a:p>
                  </a:txBody>
                  <a:tcPr/>
                </a:tc>
                <a:tc>
                  <a:txBody>
                    <a:bodyPr/>
                    <a:p>
                      <a:pPr>
                        <a:defRPr/>
                      </a:pPr>
                      <a:r>
                        <a:rPr lang="en-US"/>
                        <a:t>∑</a:t>
                      </a:r>
                      <a:r>
                        <a:rPr lang="en-US" baseline="-25000"/>
                        <a:t>row</a:t>
                      </a:r>
                      <a:endParaRPr/>
                    </a:p>
                  </a:txBody>
                  <a:tcPr/>
                </a:tc>
              </a:tr>
              <a:tr h="370840">
                <a:tc>
                  <a:txBody>
                    <a:bodyPr/>
                    <a:p>
                      <a:pPr>
                        <a:defRPr/>
                      </a:pPr>
                      <a:r>
                        <a:rPr lang="en-US"/>
                        <a:t>1</a:t>
                      </a:r>
                      <a:endParaRPr/>
                    </a:p>
                  </a:txBody>
                  <a:tcPr/>
                </a:tc>
                <a:tc>
                  <a:txBody>
                    <a:bodyPr/>
                    <a:p>
                      <a:pPr>
                        <a:defRPr/>
                      </a:pPr>
                      <a:r>
                        <a:rPr lang="en-US"/>
                        <a:t>2</a:t>
                      </a:r>
                      <a:endParaRPr/>
                    </a:p>
                  </a:txBody>
                  <a:tcPr/>
                </a:tc>
                <a:tc>
                  <a:txBody>
                    <a:bodyPr/>
                    <a:p>
                      <a:pPr>
                        <a:defRPr/>
                      </a:pPr>
                      <a:r>
                        <a:rPr lang="en-US"/>
                        <a:t>0</a:t>
                      </a:r>
                      <a:endParaRPr/>
                    </a:p>
                  </a:txBody>
                  <a:tcPr/>
                </a:tc>
                <a:tc>
                  <a:txBody>
                    <a:bodyPr/>
                    <a:p>
                      <a:pPr>
                        <a:defRPr/>
                      </a:pPr>
                      <a:r>
                        <a:rPr lang="en-US"/>
                        <a:t>2</a:t>
                      </a:r>
                      <a:endParaRPr/>
                    </a:p>
                  </a:txBody>
                  <a:tcPr/>
                </a:tc>
              </a:tr>
              <a:tr h="370840">
                <a:tc>
                  <a:txBody>
                    <a:bodyPr/>
                    <a:p>
                      <a:pPr>
                        <a:defRPr/>
                      </a:pPr>
                      <a:r>
                        <a:rPr lang="en-US"/>
                        <a:t>0</a:t>
                      </a:r>
                      <a:endParaRPr/>
                    </a:p>
                  </a:txBody>
                  <a:tcPr/>
                </a:tc>
                <a:tc>
                  <a:txBody>
                    <a:bodyPr/>
                    <a:p>
                      <a:pPr>
                        <a:defRPr/>
                      </a:pPr>
                      <a:r>
                        <a:rPr lang="en-US"/>
                        <a:t>1</a:t>
                      </a:r>
                      <a:endParaRPr/>
                    </a:p>
                  </a:txBody>
                  <a:tcPr/>
                </a:tc>
                <a:tc>
                  <a:txBody>
                    <a:bodyPr/>
                    <a:p>
                      <a:pPr>
                        <a:defRPr/>
                      </a:pPr>
                      <a:r>
                        <a:rPr lang="en-US"/>
                        <a:t>3</a:t>
                      </a:r>
                      <a:endParaRPr/>
                    </a:p>
                  </a:txBody>
                  <a:tcPr/>
                </a:tc>
                <a:tc>
                  <a:txBody>
                    <a:bodyPr/>
                    <a:p>
                      <a:pPr>
                        <a:defRPr/>
                      </a:pPr>
                      <a:r>
                        <a:rPr lang="en-US"/>
                        <a:t>4</a:t>
                      </a:r>
                      <a:endParaRPr/>
                    </a:p>
                  </a:txBody>
                  <a:tcPr/>
                </a:tc>
              </a:tr>
              <a:tr h="370840">
                <a:tc>
                  <a:txBody>
                    <a:bodyPr/>
                    <a:p>
                      <a:pPr>
                        <a:defRPr/>
                      </a:pPr>
                      <a:r>
                        <a:rPr lang="en-US"/>
                        <a:t>∑</a:t>
                      </a:r>
                      <a:r>
                        <a:rPr lang="en-US" baseline="-25000"/>
                        <a:t>col</a:t>
                      </a:r>
                      <a:endParaRPr/>
                    </a:p>
                  </a:txBody>
                  <a:tcPr/>
                </a:tc>
                <a:tc>
                  <a:txBody>
                    <a:bodyPr/>
                    <a:p>
                      <a:pPr>
                        <a:defRPr/>
                      </a:pPr>
                      <a:r>
                        <a:rPr lang="en-US"/>
                        <a:t>3</a:t>
                      </a:r>
                      <a:endParaRPr/>
                    </a:p>
                  </a:txBody>
                  <a:tcPr/>
                </a:tc>
                <a:tc>
                  <a:txBody>
                    <a:bodyPr/>
                    <a:p>
                      <a:pPr>
                        <a:defRPr/>
                      </a:pPr>
                      <a:r>
                        <a:rPr lang="en-US"/>
                        <a:t>3</a:t>
                      </a:r>
                      <a:endParaRPr/>
                    </a:p>
                  </a:txBody>
                  <a:tcPr/>
                </a:tc>
                <a:tc>
                  <a:txBody>
                    <a:bodyPr/>
                    <a:p>
                      <a:pPr>
                        <a:defRPr/>
                      </a:pPr>
                      <a:r>
                        <a:rPr lang="en-US"/>
                        <a:t>6</a:t>
                      </a:r>
                      <a:endParaRPr/>
                    </a:p>
                  </a:txBody>
                  <a:tcPr/>
                </a:tc>
              </a:tr>
            </a:tbl>
          </a:graphicData>
        </a:graphic>
      </p:graphicFrame>
      <p:sp>
        <p:nvSpPr>
          <p:cNvPr id="1858703064" name="TextBox 2"/>
          <p:cNvSpPr txBox="1"/>
          <p:nvPr/>
        </p:nvSpPr>
        <p:spPr bwMode="auto">
          <a:xfrm>
            <a:off x="8292408" y="1935889"/>
            <a:ext cx="615636" cy="384721"/>
          </a:xfrm>
          <a:prstGeom prst="rect">
            <a:avLst/>
          </a:prstGeom>
          <a:solidFill>
            <a:srgbClr val="00B0F0"/>
          </a:solidFill>
        </p:spPr>
        <p:txBody>
          <a:bodyPr wrap="square" rtlCol="0">
            <a:spAutoFit/>
          </a:bodyPr>
          <a:lstStyle/>
          <a:p>
            <a:pPr algn="ctr">
              <a:defRPr/>
            </a:pPr>
            <a:r>
              <a:rPr lang="en-US"/>
              <a:t>Jack</a:t>
            </a:r>
            <a:endParaRPr/>
          </a:p>
        </p:txBody>
      </p:sp>
      <p:sp>
        <p:nvSpPr>
          <p:cNvPr id="471752352" name="TextBox 7"/>
          <p:cNvSpPr txBox="1"/>
          <p:nvPr/>
        </p:nvSpPr>
        <p:spPr bwMode="auto">
          <a:xfrm>
            <a:off x="9655521" y="1038169"/>
            <a:ext cx="783048" cy="384721"/>
          </a:xfrm>
          <a:prstGeom prst="rect">
            <a:avLst/>
          </a:prstGeom>
          <a:solidFill>
            <a:srgbClr val="FFC000"/>
          </a:solidFill>
        </p:spPr>
        <p:txBody>
          <a:bodyPr wrap="square" rtlCol="0">
            <a:spAutoFit/>
          </a:bodyPr>
          <a:lstStyle/>
          <a:p>
            <a:pPr algn="ctr">
              <a:defRPr/>
            </a:pPr>
            <a:r>
              <a:rPr lang="en-US"/>
              <a:t>Mary</a:t>
            </a:r>
            <a:endParaRPr/>
          </a:p>
        </p:txBody>
      </p:sp>
      <p:graphicFrame>
        <p:nvGraphicFramePr>
          <p:cNvPr id="189374757" name="Table 8"/>
          <p:cNvGraphicFramePr>
            <a:graphicFrameLocks xmlns:a="http://schemas.openxmlformats.org/drawingml/2006/main" noGrp="1"/>
          </p:cNvGraphicFramePr>
          <p:nvPr/>
        </p:nvGraphicFramePr>
        <p:xfrm rot="0">
          <a:off x="8061080" y="3250594"/>
          <a:ext cx="2118512" cy="1524000"/>
        </p:xfrm>
        <a:graphic>
          <a:graphicData uri="http://schemas.openxmlformats.org/drawingml/2006/table">
            <a:tbl>
              <a:tblPr firstRow="1" firstCol="0" lastRow="0" lastCol="0" bandRow="1" bandCol="0">
                <a:tableStyleId>{5C22544A-7EE6-4342-B048-85BDC9FD1C3A}</a:tableStyleId>
              </a:tblPr>
              <a:tblGrid>
                <a:gridCol w="506945"/>
                <a:gridCol w="506945"/>
                <a:gridCol w="506945"/>
                <a:gridCol w="597677"/>
              </a:tblGrid>
              <a:tr h="359019">
                <a:tc>
                  <a:txBody>
                    <a:bodyPr/>
                    <a:p>
                      <a:pPr>
                        <a:defRPr/>
                      </a:pPr>
                      <a:endParaRPr lang="en-US"/>
                    </a:p>
                  </a:txBody>
                  <a:tcPr/>
                </a:tc>
                <a:tc>
                  <a:txBody>
                    <a:bodyPr/>
                    <a:p>
                      <a:pPr>
                        <a:defRPr/>
                      </a:pPr>
                      <a:r>
                        <a:rPr lang="en-US"/>
                        <a:t>1</a:t>
                      </a:r>
                      <a:endParaRPr/>
                    </a:p>
                  </a:txBody>
                  <a:tcPr/>
                </a:tc>
                <a:tc>
                  <a:txBody>
                    <a:bodyPr/>
                    <a:p>
                      <a:pPr>
                        <a:defRPr/>
                      </a:pPr>
                      <a:r>
                        <a:rPr lang="en-US"/>
                        <a:t>0</a:t>
                      </a:r>
                      <a:endParaRPr/>
                    </a:p>
                  </a:txBody>
                  <a:tcPr/>
                </a:tc>
                <a:tc>
                  <a:txBody>
                    <a:bodyPr/>
                    <a:p>
                      <a:pPr>
                        <a:defRPr/>
                      </a:pPr>
                      <a:r>
                        <a:rPr lang="en-US"/>
                        <a:t>∑</a:t>
                      </a:r>
                      <a:r>
                        <a:rPr lang="en-US" baseline="-25000"/>
                        <a:t>row</a:t>
                      </a:r>
                      <a:endParaRPr/>
                    </a:p>
                  </a:txBody>
                  <a:tcPr/>
                </a:tc>
              </a:tr>
              <a:tr h="370840">
                <a:tc>
                  <a:txBody>
                    <a:bodyPr/>
                    <a:p>
                      <a:pPr>
                        <a:defRPr/>
                      </a:pPr>
                      <a:r>
                        <a:rPr lang="en-US"/>
                        <a:t>1</a:t>
                      </a:r>
                      <a:endParaRPr/>
                    </a:p>
                  </a:txBody>
                  <a:tcPr/>
                </a:tc>
                <a:tc>
                  <a:txBody>
                    <a:bodyPr/>
                    <a:p>
                      <a:pPr>
                        <a:defRPr/>
                      </a:pPr>
                      <a:r>
                        <a:rPr lang="en-US"/>
                        <a:t>1</a:t>
                      </a:r>
                      <a:endParaRPr/>
                    </a:p>
                  </a:txBody>
                  <a:tcPr/>
                </a:tc>
                <a:tc>
                  <a:txBody>
                    <a:bodyPr/>
                    <a:p>
                      <a:pPr>
                        <a:defRPr/>
                      </a:pPr>
                      <a:r>
                        <a:rPr lang="en-US"/>
                        <a:t>1</a:t>
                      </a:r>
                      <a:endParaRPr/>
                    </a:p>
                  </a:txBody>
                  <a:tcPr/>
                </a:tc>
                <a:tc>
                  <a:txBody>
                    <a:bodyPr/>
                    <a:p>
                      <a:pPr>
                        <a:defRPr/>
                      </a:pPr>
                      <a:r>
                        <a:rPr lang="en-US"/>
                        <a:t>2</a:t>
                      </a:r>
                      <a:endParaRPr/>
                    </a:p>
                  </a:txBody>
                  <a:tcPr/>
                </a:tc>
              </a:tr>
              <a:tr h="370840">
                <a:tc>
                  <a:txBody>
                    <a:bodyPr/>
                    <a:p>
                      <a:pPr>
                        <a:defRPr/>
                      </a:pPr>
                      <a:r>
                        <a:rPr lang="en-US"/>
                        <a:t>0</a:t>
                      </a:r>
                      <a:endParaRPr/>
                    </a:p>
                  </a:txBody>
                  <a:tcPr/>
                </a:tc>
                <a:tc>
                  <a:txBody>
                    <a:bodyPr/>
                    <a:p>
                      <a:pPr>
                        <a:defRPr/>
                      </a:pPr>
                      <a:r>
                        <a:rPr lang="en-US"/>
                        <a:t>1</a:t>
                      </a:r>
                      <a:endParaRPr/>
                    </a:p>
                  </a:txBody>
                  <a:tcPr/>
                </a:tc>
                <a:tc>
                  <a:txBody>
                    <a:bodyPr/>
                    <a:p>
                      <a:pPr>
                        <a:defRPr/>
                      </a:pPr>
                      <a:r>
                        <a:rPr lang="en-US"/>
                        <a:t>3</a:t>
                      </a:r>
                      <a:endParaRPr/>
                    </a:p>
                  </a:txBody>
                  <a:tcPr/>
                </a:tc>
                <a:tc>
                  <a:txBody>
                    <a:bodyPr/>
                    <a:p>
                      <a:pPr>
                        <a:defRPr/>
                      </a:pPr>
                      <a:r>
                        <a:rPr lang="en-US"/>
                        <a:t>4</a:t>
                      </a:r>
                      <a:endParaRPr/>
                    </a:p>
                  </a:txBody>
                  <a:tcPr/>
                </a:tc>
              </a:tr>
              <a:tr h="370840">
                <a:tc>
                  <a:txBody>
                    <a:bodyPr/>
                    <a:p>
                      <a:pPr>
                        <a:defRPr/>
                      </a:pPr>
                      <a:r>
                        <a:rPr lang="en-US"/>
                        <a:t>∑</a:t>
                      </a:r>
                      <a:r>
                        <a:rPr lang="en-US" baseline="-25000"/>
                        <a:t>col</a:t>
                      </a:r>
                      <a:endParaRPr/>
                    </a:p>
                  </a:txBody>
                  <a:tcPr/>
                </a:tc>
                <a:tc>
                  <a:txBody>
                    <a:bodyPr/>
                    <a:p>
                      <a:pPr>
                        <a:defRPr/>
                      </a:pPr>
                      <a:r>
                        <a:rPr lang="en-US"/>
                        <a:t>2</a:t>
                      </a:r>
                      <a:endParaRPr/>
                    </a:p>
                  </a:txBody>
                  <a:tcPr/>
                </a:tc>
                <a:tc>
                  <a:txBody>
                    <a:bodyPr/>
                    <a:p>
                      <a:pPr>
                        <a:defRPr/>
                      </a:pPr>
                      <a:r>
                        <a:rPr lang="en-US"/>
                        <a:t>4</a:t>
                      </a:r>
                      <a:endParaRPr/>
                    </a:p>
                  </a:txBody>
                  <a:tcPr/>
                </a:tc>
                <a:tc>
                  <a:txBody>
                    <a:bodyPr/>
                    <a:p>
                      <a:pPr>
                        <a:defRPr/>
                      </a:pPr>
                      <a:r>
                        <a:rPr lang="en-US"/>
                        <a:t>6</a:t>
                      </a:r>
                      <a:endParaRPr/>
                    </a:p>
                  </a:txBody>
                  <a:tcPr/>
                </a:tc>
              </a:tr>
            </a:tbl>
          </a:graphicData>
        </a:graphic>
      </p:graphicFrame>
      <p:sp>
        <p:nvSpPr>
          <p:cNvPr id="1868393359" name="TextBox 9"/>
          <p:cNvSpPr txBox="1"/>
          <p:nvPr/>
        </p:nvSpPr>
        <p:spPr bwMode="auto">
          <a:xfrm>
            <a:off x="8600226" y="2934303"/>
            <a:ext cx="783048" cy="384721"/>
          </a:xfrm>
          <a:prstGeom prst="rect">
            <a:avLst/>
          </a:prstGeom>
          <a:solidFill>
            <a:srgbClr val="FFC000"/>
          </a:solidFill>
        </p:spPr>
        <p:txBody>
          <a:bodyPr wrap="square" rtlCol="0">
            <a:spAutoFit/>
          </a:bodyPr>
          <a:lstStyle/>
          <a:p>
            <a:pPr algn="ctr">
              <a:defRPr/>
            </a:pPr>
            <a:r>
              <a:rPr lang="en-US"/>
              <a:t>Jim</a:t>
            </a:r>
            <a:endParaRPr/>
          </a:p>
        </p:txBody>
      </p:sp>
      <p:graphicFrame>
        <p:nvGraphicFramePr>
          <p:cNvPr id="391516251" name="Table 10"/>
          <p:cNvGraphicFramePr>
            <a:graphicFrameLocks xmlns:a="http://schemas.openxmlformats.org/drawingml/2006/main" noGrp="1"/>
          </p:cNvGraphicFramePr>
          <p:nvPr/>
        </p:nvGraphicFramePr>
        <p:xfrm rot="0">
          <a:off x="6718857" y="5117239"/>
          <a:ext cx="2118512" cy="1524000"/>
        </p:xfrm>
        <a:graphic>
          <a:graphicData uri="http://schemas.openxmlformats.org/drawingml/2006/table">
            <a:tbl>
              <a:tblPr firstRow="1" firstCol="0" lastRow="0" lastCol="0" bandRow="1" bandCol="0">
                <a:tableStyleId>{5C22544A-7EE6-4342-B048-85BDC9FD1C3A}</a:tableStyleId>
              </a:tblPr>
              <a:tblGrid>
                <a:gridCol w="506945"/>
                <a:gridCol w="506945"/>
                <a:gridCol w="506945"/>
                <a:gridCol w="597677"/>
              </a:tblGrid>
              <a:tr h="162309">
                <a:tc>
                  <a:txBody>
                    <a:bodyPr/>
                    <a:p>
                      <a:pPr>
                        <a:defRPr/>
                      </a:pPr>
                      <a:endParaRPr lang="en-US"/>
                    </a:p>
                  </a:txBody>
                  <a:tcPr/>
                </a:tc>
                <a:tc>
                  <a:txBody>
                    <a:bodyPr/>
                    <a:p>
                      <a:pPr>
                        <a:defRPr/>
                      </a:pPr>
                      <a:r>
                        <a:rPr lang="en-US"/>
                        <a:t>1</a:t>
                      </a:r>
                      <a:endParaRPr/>
                    </a:p>
                  </a:txBody>
                  <a:tcPr/>
                </a:tc>
                <a:tc>
                  <a:txBody>
                    <a:bodyPr/>
                    <a:p>
                      <a:pPr>
                        <a:defRPr/>
                      </a:pPr>
                      <a:r>
                        <a:rPr lang="en-US"/>
                        <a:t>0</a:t>
                      </a:r>
                      <a:endParaRPr/>
                    </a:p>
                  </a:txBody>
                  <a:tcPr/>
                </a:tc>
                <a:tc>
                  <a:txBody>
                    <a:bodyPr/>
                    <a:p>
                      <a:pPr>
                        <a:defRPr/>
                      </a:pPr>
                      <a:r>
                        <a:rPr lang="en-US"/>
                        <a:t>∑</a:t>
                      </a:r>
                      <a:r>
                        <a:rPr lang="en-US" baseline="-25000"/>
                        <a:t>row</a:t>
                      </a:r>
                      <a:endParaRPr/>
                    </a:p>
                  </a:txBody>
                  <a:tcPr/>
                </a:tc>
              </a:tr>
              <a:tr h="370840">
                <a:tc>
                  <a:txBody>
                    <a:bodyPr/>
                    <a:p>
                      <a:pPr>
                        <a:defRPr/>
                      </a:pPr>
                      <a:r>
                        <a:rPr lang="en-US"/>
                        <a:t>1</a:t>
                      </a:r>
                      <a:endParaRPr/>
                    </a:p>
                  </a:txBody>
                  <a:tcPr/>
                </a:tc>
                <a:tc>
                  <a:txBody>
                    <a:bodyPr/>
                    <a:p>
                      <a:pPr>
                        <a:defRPr/>
                      </a:pPr>
                      <a:r>
                        <a:rPr lang="en-US"/>
                        <a:t>1</a:t>
                      </a:r>
                      <a:endParaRPr/>
                    </a:p>
                  </a:txBody>
                  <a:tcPr/>
                </a:tc>
                <a:tc>
                  <a:txBody>
                    <a:bodyPr/>
                    <a:p>
                      <a:pPr>
                        <a:defRPr/>
                      </a:pPr>
                      <a:r>
                        <a:rPr lang="en-US"/>
                        <a:t>1</a:t>
                      </a:r>
                      <a:endParaRPr/>
                    </a:p>
                  </a:txBody>
                  <a:tcPr/>
                </a:tc>
                <a:tc>
                  <a:txBody>
                    <a:bodyPr/>
                    <a:p>
                      <a:pPr>
                        <a:defRPr/>
                      </a:pPr>
                      <a:r>
                        <a:rPr lang="en-US"/>
                        <a:t>2</a:t>
                      </a:r>
                      <a:endParaRPr/>
                    </a:p>
                  </a:txBody>
                  <a:tcPr/>
                </a:tc>
              </a:tr>
              <a:tr h="370840">
                <a:tc>
                  <a:txBody>
                    <a:bodyPr/>
                    <a:p>
                      <a:pPr>
                        <a:defRPr/>
                      </a:pPr>
                      <a:r>
                        <a:rPr lang="en-US"/>
                        <a:t>0</a:t>
                      </a:r>
                      <a:endParaRPr/>
                    </a:p>
                  </a:txBody>
                  <a:tcPr/>
                </a:tc>
                <a:tc>
                  <a:txBody>
                    <a:bodyPr/>
                    <a:p>
                      <a:pPr>
                        <a:defRPr/>
                      </a:pPr>
                      <a:r>
                        <a:rPr lang="en-US"/>
                        <a:t>2</a:t>
                      </a:r>
                      <a:endParaRPr/>
                    </a:p>
                  </a:txBody>
                  <a:tcPr/>
                </a:tc>
                <a:tc>
                  <a:txBody>
                    <a:bodyPr/>
                    <a:p>
                      <a:pPr>
                        <a:defRPr/>
                      </a:pPr>
                      <a:r>
                        <a:rPr lang="en-US"/>
                        <a:t>2</a:t>
                      </a:r>
                      <a:endParaRPr/>
                    </a:p>
                  </a:txBody>
                  <a:tcPr/>
                </a:tc>
                <a:tc>
                  <a:txBody>
                    <a:bodyPr/>
                    <a:p>
                      <a:pPr>
                        <a:defRPr/>
                      </a:pPr>
                      <a:r>
                        <a:rPr lang="en-US"/>
                        <a:t>4</a:t>
                      </a:r>
                      <a:endParaRPr/>
                    </a:p>
                  </a:txBody>
                  <a:tcPr/>
                </a:tc>
              </a:tr>
              <a:tr h="370840">
                <a:tc>
                  <a:txBody>
                    <a:bodyPr/>
                    <a:p>
                      <a:pPr>
                        <a:defRPr/>
                      </a:pPr>
                      <a:r>
                        <a:rPr lang="en-US"/>
                        <a:t>∑</a:t>
                      </a:r>
                      <a:r>
                        <a:rPr lang="en-US" baseline="-25000"/>
                        <a:t>col</a:t>
                      </a:r>
                      <a:endParaRPr/>
                    </a:p>
                  </a:txBody>
                  <a:tcPr/>
                </a:tc>
                <a:tc>
                  <a:txBody>
                    <a:bodyPr/>
                    <a:p>
                      <a:pPr>
                        <a:defRPr/>
                      </a:pPr>
                      <a:r>
                        <a:rPr lang="en-US"/>
                        <a:t>3</a:t>
                      </a:r>
                      <a:endParaRPr/>
                    </a:p>
                  </a:txBody>
                  <a:tcPr/>
                </a:tc>
                <a:tc>
                  <a:txBody>
                    <a:bodyPr/>
                    <a:p>
                      <a:pPr>
                        <a:defRPr/>
                      </a:pPr>
                      <a:r>
                        <a:rPr lang="en-US"/>
                        <a:t>3</a:t>
                      </a:r>
                      <a:endParaRPr/>
                    </a:p>
                  </a:txBody>
                  <a:tcPr/>
                </a:tc>
                <a:tc>
                  <a:txBody>
                    <a:bodyPr/>
                    <a:p>
                      <a:pPr>
                        <a:defRPr/>
                      </a:pPr>
                      <a:r>
                        <a:rPr lang="en-US"/>
                        <a:t>6</a:t>
                      </a:r>
                      <a:endParaRPr/>
                    </a:p>
                  </a:txBody>
                  <a:tcPr/>
                </a:tc>
              </a:tr>
            </a:tbl>
          </a:graphicData>
        </a:graphic>
      </p:graphicFrame>
      <p:sp>
        <p:nvSpPr>
          <p:cNvPr id="2146568841" name="TextBox 11"/>
          <p:cNvSpPr txBox="1"/>
          <p:nvPr/>
        </p:nvSpPr>
        <p:spPr bwMode="auto">
          <a:xfrm>
            <a:off x="6103221" y="5833374"/>
            <a:ext cx="615636" cy="384721"/>
          </a:xfrm>
          <a:prstGeom prst="rect">
            <a:avLst/>
          </a:prstGeom>
          <a:solidFill>
            <a:srgbClr val="00B0F0"/>
          </a:solidFill>
        </p:spPr>
        <p:txBody>
          <a:bodyPr wrap="square" rtlCol="0">
            <a:spAutoFit/>
          </a:bodyPr>
          <a:lstStyle/>
          <a:p>
            <a:pPr algn="ctr">
              <a:defRPr/>
            </a:pPr>
            <a:r>
              <a:rPr lang="en-US"/>
              <a:t>Jim</a:t>
            </a:r>
            <a:endParaRPr/>
          </a:p>
        </p:txBody>
      </p:sp>
      <p:sp>
        <p:nvSpPr>
          <p:cNvPr id="180540742" name="TextBox 12"/>
          <p:cNvSpPr txBox="1"/>
          <p:nvPr/>
        </p:nvSpPr>
        <p:spPr bwMode="auto">
          <a:xfrm>
            <a:off x="7390462" y="4780228"/>
            <a:ext cx="783048" cy="384721"/>
          </a:xfrm>
          <a:prstGeom prst="rect">
            <a:avLst/>
          </a:prstGeom>
          <a:solidFill>
            <a:srgbClr val="FFC000"/>
          </a:solidFill>
        </p:spPr>
        <p:txBody>
          <a:bodyPr wrap="square" rtlCol="0">
            <a:spAutoFit/>
          </a:bodyPr>
          <a:lstStyle/>
          <a:p>
            <a:pPr algn="ctr">
              <a:defRPr/>
            </a:pPr>
            <a:r>
              <a:rPr lang="en-US"/>
              <a:t>Mary</a:t>
            </a:r>
            <a:endParaRPr/>
          </a:p>
        </p:txBody>
      </p:sp>
      <p:pic>
        <p:nvPicPr>
          <p:cNvPr id="32562236" name="Picture 31" descr="eqbinaryasym"/>
          <p:cNvPicPr>
            <a:picLocks noChangeAspect="1" noChangeArrowheads="1"/>
          </p:cNvPicPr>
          <p:nvPr/>
        </p:nvPicPr>
        <p:blipFill rotWithShape="1">
          <a:blip r:embed="rId7"/>
          <a:stretch/>
        </p:blipFill>
        <p:spPr bwMode="auto">
          <a:xfrm>
            <a:off x="2368103" y="4093911"/>
            <a:ext cx="2971800" cy="600075"/>
          </a:xfrm>
          <a:prstGeom prst="rect">
            <a:avLst/>
          </a:prstGeom>
          <a:noFill/>
          <a:ln>
            <a:noFill/>
          </a:ln>
        </p:spPr>
      </p:pic>
      <p:sp>
        <p:nvSpPr>
          <p:cNvPr id="1465992608" name="TextBox 14"/>
          <p:cNvSpPr txBox="1"/>
          <p:nvPr/>
        </p:nvSpPr>
        <p:spPr bwMode="auto">
          <a:xfrm>
            <a:off x="7474168" y="3901551"/>
            <a:ext cx="615636" cy="384721"/>
          </a:xfrm>
          <a:prstGeom prst="rect">
            <a:avLst/>
          </a:prstGeom>
          <a:solidFill>
            <a:srgbClr val="00B0F0"/>
          </a:solidFill>
        </p:spPr>
        <p:txBody>
          <a:bodyPr wrap="square" rtlCol="0">
            <a:spAutoFit/>
          </a:bodyPr>
          <a:lstStyle/>
          <a:p>
            <a:pPr algn="ctr">
              <a:defRPr/>
            </a:pPr>
            <a:r>
              <a:rPr lang="en-US"/>
              <a:t>Jack</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18658950" name="Rectangle 2"/>
          <p:cNvSpPr>
            <a:spLocks noChangeArrowheads="1" noGrp="1"/>
          </p:cNvSpPr>
          <p:nvPr>
            <p:ph type="title"/>
          </p:nvPr>
        </p:nvSpPr>
        <p:spPr bwMode="auto">
          <a:xfrm>
            <a:off x="711200" y="228600"/>
            <a:ext cx="10668000" cy="762000"/>
          </a:xfrm>
        </p:spPr>
        <p:txBody>
          <a:bodyPr anchor="t">
            <a:normAutofit/>
          </a:bodyPr>
          <a:lstStyle/>
          <a:p>
            <a:pPr>
              <a:defRPr/>
            </a:pPr>
            <a:r>
              <a:rPr lang="en-US" sz="4000"/>
              <a:t>Độ đo gần cho thuộc tính danh mục</a:t>
            </a:r>
            <a:endParaRPr/>
          </a:p>
        </p:txBody>
      </p:sp>
      <p:sp>
        <p:nvSpPr>
          <p:cNvPr id="2011383618" name="Rectangle 3"/>
          <p:cNvSpPr>
            <a:spLocks noChangeArrowheads="1" noGrp="1"/>
          </p:cNvSpPr>
          <p:nvPr>
            <p:ph type="body" idx="1"/>
          </p:nvPr>
        </p:nvSpPr>
        <p:spPr bwMode="auto">
          <a:xfrm>
            <a:off x="624690" y="1233409"/>
            <a:ext cx="9415237" cy="5450312"/>
          </a:xfrm>
        </p:spPr>
        <p:txBody>
          <a:bodyPr/>
          <a:lstStyle/>
          <a:p>
            <a:pPr>
              <a:lnSpc>
                <a:spcPct val="150000"/>
              </a:lnSpc>
              <a:defRPr/>
            </a:pPr>
            <a:r>
              <a:rPr lang="en-US" sz="2000"/>
              <a:t>Dữ liệu danh mục, còn gọi là thuộc tính định danh</a:t>
            </a:r>
            <a:endParaRPr/>
          </a:p>
          <a:p>
            <a:pPr lvl="1">
              <a:lnSpc>
                <a:spcPct val="150000"/>
              </a:lnSpc>
              <a:defRPr/>
            </a:pPr>
            <a:r>
              <a:rPr lang="en-US" sz="2000"/>
              <a:t> Ví dụ: Màu sắc (đỏ, vàng, xanh dương, xanh lá), nghề nghiệp, v.v.  </a:t>
            </a:r>
            <a:endParaRPr/>
          </a:p>
          <a:p>
            <a:pPr>
              <a:lnSpc>
                <a:spcPct val="150000"/>
              </a:lnSpc>
              <a:defRPr/>
            </a:pPr>
            <a:r>
              <a:rPr lang="en-US" sz="2000" u="sng"/>
              <a:t>Phương pháp 1</a:t>
            </a:r>
            <a:r>
              <a:rPr lang="en-US" sz="2000"/>
              <a:t>: So khớp đơn giản</a:t>
            </a:r>
            <a:endParaRPr lang="en-US" sz="2400" i="1"/>
          </a:p>
          <a:p>
            <a:pPr lvl="1">
              <a:lnSpc>
                <a:spcPct val="150000"/>
              </a:lnSpc>
              <a:defRPr/>
            </a:pPr>
            <a:r>
              <a:rPr lang="en-US" sz="2000" i="1"/>
              <a:t>m</a:t>
            </a:r>
            <a:r>
              <a:rPr lang="en-US" sz="2000"/>
              <a:t>: số lượng khớp,</a:t>
            </a:r>
            <a:r>
              <a:rPr lang="en-US" sz="2000" i="1"/>
              <a:t> p</a:t>
            </a:r>
            <a:r>
              <a:rPr lang="en-US" sz="2000"/>
              <a:t>: tổng số biến</a:t>
            </a:r>
            <a:endParaRPr/>
          </a:p>
          <a:p>
            <a:pPr>
              <a:lnSpc>
                <a:spcPct val="150000"/>
              </a:lnSpc>
              <a:defRPr/>
            </a:pPr>
            <a:endParaRPr lang="en-US" sz="2400"/>
          </a:p>
          <a:p>
            <a:pPr>
              <a:lnSpc>
                <a:spcPct val="150000"/>
              </a:lnSpc>
              <a:defRPr/>
            </a:pPr>
            <a:endParaRPr lang="en-US" sz="2400" u="sng"/>
          </a:p>
          <a:p>
            <a:pPr>
              <a:lnSpc>
                <a:spcPct val="150000"/>
              </a:lnSpc>
              <a:defRPr/>
            </a:pPr>
            <a:r>
              <a:rPr lang="en-US" sz="2000" u="sng"/>
              <a:t>Phương pháp 2</a:t>
            </a:r>
            <a:r>
              <a:rPr lang="en-US" sz="2000"/>
              <a:t>: Dùng một số lượng lớn thuộc tính nhị phân</a:t>
            </a:r>
            <a:endParaRPr/>
          </a:p>
          <a:p>
            <a:pPr lvl="1">
              <a:lnSpc>
                <a:spcPct val="150000"/>
              </a:lnSpc>
              <a:defRPr/>
            </a:pPr>
            <a:r>
              <a:rPr lang="en-US" sz="2000"/>
              <a:t>Tạo một thuộc tính nhị phân mới cho mỗi trong số </a:t>
            </a:r>
            <a:r>
              <a:rPr lang="en-US" sz="2000" i="1"/>
              <a:t>M</a:t>
            </a:r>
            <a:r>
              <a:rPr lang="en-US" sz="2000"/>
              <a:t> trạng thái định danh</a:t>
            </a:r>
            <a:endParaRPr/>
          </a:p>
        </p:txBody>
      </p:sp>
      <p:graphicFrame>
        <p:nvGraphicFramePr>
          <p:cNvPr id="1814929528" name="Object 4"/>
          <p:cNvGraphicFramePr>
            <a:graphicFrameLocks xmlns:a="http://schemas.openxmlformats.org/drawingml/2006/main" noChangeAspect="1"/>
          </p:cNvGraphicFramePr>
          <p:nvPr/>
        </p:nvGraphicFramePr>
        <p:xfrm>
          <a:off x="2665308" y="4042373"/>
          <a:ext cx="2667000" cy="666750"/>
        </p:xfrm>
        <a:graphic>
          <a:graphicData uri="http://schemas.openxmlformats.org/presentationml/2006/ole">
            <p:oleObj name="oleObj" r:id="rId4" imgW="1384300" imgH="469900" progId="Equation.3">
              <p:embed/>
              <p:pic>
                <p:nvPicPr>
                  <p:cNvPr id="1814929528" name="Object 4"/>
                  <p:cNvPicPr/>
                  <p:nvPr/>
                </p:nvPicPr>
                <p:blipFill rotWithShape="1">
                  <a:blip r:embed="rId3"/>
                  <a:stretch/>
                </p:blipFill>
                <p:spPr bwMode="auto">
                  <a:xfrm>
                    <a:off x="2665308" y="4042373"/>
                    <a:ext cx="2667000" cy="666750"/>
                  </a:xfrm>
                  <a:prstGeom prst="rect">
                    <a:avLst/>
                  </a:prstGeom>
                  <a:noFill/>
                  <a:ln>
                    <a:noFill/>
                  </a:ln>
                  <a:effectLst/>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721950" name="Rectangle 2"/>
          <p:cNvSpPr>
            <a:spLocks noChangeArrowheads="1" noGrp="1"/>
          </p:cNvSpPr>
          <p:nvPr>
            <p:ph type="title"/>
          </p:nvPr>
        </p:nvSpPr>
        <p:spPr bwMode="auto">
          <a:xfrm>
            <a:off x="711200" y="228600"/>
            <a:ext cx="10668000" cy="762000"/>
          </a:xfrm>
        </p:spPr>
        <p:txBody>
          <a:bodyPr anchor="t">
            <a:normAutofit/>
          </a:bodyPr>
          <a:lstStyle/>
          <a:p>
            <a:pPr>
              <a:defRPr/>
            </a:pPr>
            <a:r>
              <a:rPr lang="en-US" sz="4000"/>
              <a:t>Biến thứ bậc</a:t>
            </a:r>
            <a:endParaRPr/>
          </a:p>
        </p:txBody>
      </p:sp>
      <p:sp>
        <p:nvSpPr>
          <p:cNvPr id="2037092020" name="Rectangle 3"/>
          <p:cNvSpPr>
            <a:spLocks noChangeArrowheads="1" noGrp="1"/>
          </p:cNvSpPr>
          <p:nvPr>
            <p:ph type="body" idx="1"/>
          </p:nvPr>
        </p:nvSpPr>
        <p:spPr bwMode="auto">
          <a:xfrm>
            <a:off x="624690" y="1233409"/>
            <a:ext cx="9719460" cy="5450312"/>
          </a:xfrm>
        </p:spPr>
        <p:txBody>
          <a:bodyPr/>
          <a:lstStyle/>
          <a:p>
            <a:pPr>
              <a:spcAft>
                <a:spcPts val="600"/>
              </a:spcAft>
              <a:defRPr/>
            </a:pPr>
            <a:r>
              <a:rPr lang="en-US" sz="2000"/>
              <a:t>Một biến thứ bậc có thể là rời rạc hoặc liên tục</a:t>
            </a:r>
            <a:endParaRPr/>
          </a:p>
          <a:p>
            <a:pPr>
              <a:spcAft>
                <a:spcPts val="600"/>
              </a:spcAft>
              <a:defRPr/>
            </a:pPr>
            <a:r>
              <a:rPr lang="en-US" sz="2000"/>
              <a:t>Thứ tự rất quan trọng, ví dụ: xếp hạng (năm nhất, năm hai, năm ba, năm tư)</a:t>
            </a:r>
            <a:endParaRPr/>
          </a:p>
          <a:p>
            <a:pPr>
              <a:spcAft>
                <a:spcPts val="600"/>
              </a:spcAft>
              <a:defRPr/>
            </a:pPr>
            <a:r>
              <a:rPr lang="en-US" sz="2000"/>
              <a:t>Có thể xử lý như thang khoảng </a:t>
            </a:r>
            <a:endParaRPr/>
          </a:p>
          <a:p>
            <a:pPr lvl="1">
              <a:spcAft>
                <a:spcPts val="600"/>
              </a:spcAft>
              <a:defRPr/>
            </a:pPr>
            <a:r>
              <a:rPr lang="en-US" sz="2000"/>
              <a:t>Thay thế </a:t>
            </a:r>
            <a:r>
              <a:rPr lang="en-US" sz="2000" i="1"/>
              <a:t>giá trị của biến thứ bậc</a:t>
            </a:r>
            <a:r>
              <a:rPr lang="en-US" sz="2000"/>
              <a:t> bằng thứ hạng của nó:</a:t>
            </a:r>
            <a:endParaRPr/>
          </a:p>
          <a:p>
            <a:pPr lvl="1">
              <a:spcAft>
                <a:spcPts val="600"/>
              </a:spcAft>
              <a:defRPr/>
            </a:pPr>
            <a:r>
              <a:rPr lang="en-US" sz="2000"/>
              <a:t>Ánh xạ miền giá trị của mỗi biến vào [0, 1] bằng cách thay thế</a:t>
            </a:r>
            <a:r>
              <a:rPr lang="en-US" sz="2000" i="1"/>
              <a:t> </a:t>
            </a:r>
            <a:r>
              <a:rPr lang="en-US" sz="2000" i="1"/>
              <a:t>i</a:t>
            </a:r>
            <a:r>
              <a:rPr lang="en-US" sz="2000"/>
              <a:t>-th</a:t>
            </a:r>
            <a:r>
              <a:rPr lang="en-US" sz="2000"/>
              <a:t> đối tượng thứ </a:t>
            </a:r>
            <a:r>
              <a:rPr lang="en-US" sz="2000" i="1"/>
              <a:t>f</a:t>
            </a:r>
            <a:r>
              <a:rPr lang="en-US" sz="2000"/>
              <a:t>-</a:t>
            </a:r>
            <a:r>
              <a:rPr lang="en-US" sz="2000"/>
              <a:t>th</a:t>
            </a:r>
            <a:r>
              <a:rPr lang="en-US" sz="2000"/>
              <a:t> của biến thứ </a:t>
            </a:r>
            <a:endParaRPr/>
          </a:p>
          <a:p>
            <a:pPr lvl="1">
              <a:spcAft>
                <a:spcPts val="600"/>
              </a:spcAft>
              <a:defRPr/>
            </a:pPr>
            <a:endParaRPr lang="en-US" sz="2400"/>
          </a:p>
          <a:p>
            <a:pPr lvl="2">
              <a:spcAft>
                <a:spcPts val="600"/>
              </a:spcAft>
              <a:defRPr/>
            </a:pPr>
            <a:r>
              <a:rPr lang="en-US" sz="2000"/>
              <a:t>Ví dụ: năm nhất: 0; năm hai: 1/3; năm ba: 2/3; năm tư: 1</a:t>
            </a:r>
            <a:endParaRPr/>
          </a:p>
          <a:p>
            <a:pPr lvl="3">
              <a:spcAft>
                <a:spcPts val="600"/>
              </a:spcAft>
              <a:defRPr/>
            </a:pPr>
            <a:r>
              <a:rPr lang="en-US" sz="2000"/>
              <a:t>Khi đó khoảng cách: d(năm nhất, năm tư) = 1, d(năm ba, năm tư) = 1/3</a:t>
            </a:r>
            <a:endParaRPr/>
          </a:p>
          <a:p>
            <a:pPr lvl="1">
              <a:spcAft>
                <a:spcPts val="600"/>
              </a:spcAft>
              <a:defRPr/>
            </a:pPr>
            <a:r>
              <a:rPr lang="en-US" sz="2000"/>
              <a:t>Tính độ phi tương tự bằng các phương pháp dành cho biến thang khoảng</a:t>
            </a:r>
            <a:endParaRPr/>
          </a:p>
        </p:txBody>
      </p:sp>
      <p:graphicFrame>
        <p:nvGraphicFramePr>
          <p:cNvPr id="287379578" name="Object 6"/>
          <p:cNvGraphicFramePr>
            <a:graphicFrameLocks xmlns:a="http://schemas.openxmlformats.org/drawingml/2006/main" noChangeAspect="1"/>
          </p:cNvGraphicFramePr>
          <p:nvPr/>
        </p:nvGraphicFramePr>
        <p:xfrm>
          <a:off x="4217843" y="3655147"/>
          <a:ext cx="1612900" cy="960437"/>
        </p:xfrm>
        <a:graphic>
          <a:graphicData uri="http://schemas.openxmlformats.org/presentationml/2006/ole">
            <p:oleObj name="oleObj" r:id="rId4" imgW="786765" imgH="469265" progId="Equation.DSMT4">
              <p:embed/>
              <p:pic>
                <p:nvPicPr>
                  <p:cNvPr id="287379578" name="Object 6"/>
                  <p:cNvPicPr/>
                  <p:nvPr/>
                </p:nvPicPr>
                <p:blipFill rotWithShape="1">
                  <a:blip r:embed="rId3"/>
                  <a:stretch/>
                </p:blipFill>
                <p:spPr bwMode="auto">
                  <a:xfrm>
                    <a:off x="4217843" y="3655147"/>
                    <a:ext cx="1612900" cy="960437"/>
                  </a:xfrm>
                  <a:prstGeom prst="rect">
                    <a:avLst/>
                  </a:prstGeom>
                </p:spPr>
              </p:pic>
            </p:oleObj>
          </a:graphicData>
        </a:graphic>
      </p:graphicFrame>
      <p:graphicFrame>
        <p:nvGraphicFramePr>
          <p:cNvPr id="850420891" name="Object 7"/>
          <p:cNvGraphicFramePr>
            <a:graphicFrameLocks xmlns:a="http://schemas.openxmlformats.org/drawingml/2006/main" noChangeAspect="1"/>
          </p:cNvGraphicFramePr>
          <p:nvPr/>
        </p:nvGraphicFramePr>
        <p:xfrm>
          <a:off x="7252853" y="2772930"/>
          <a:ext cx="1841946" cy="551295"/>
        </p:xfrm>
        <a:graphic>
          <a:graphicData uri="http://schemas.openxmlformats.org/presentationml/2006/ole">
            <p:oleObj name="oleObj" r:id="rId6" imgW="914400" imgH="240665" progId="Equation.DSMT4">
              <p:embed/>
              <p:pic>
                <p:nvPicPr>
                  <p:cNvPr id="850420891" name="Object 7"/>
                  <p:cNvPicPr/>
                  <p:nvPr/>
                </p:nvPicPr>
                <p:blipFill rotWithShape="1">
                  <a:blip r:embed="rId5"/>
                  <a:stretch/>
                </p:blipFill>
                <p:spPr bwMode="auto">
                  <a:xfrm>
                    <a:off x="7252853" y="2772930"/>
                    <a:ext cx="1841946" cy="551295"/>
                  </a:xfrm>
                  <a:prstGeom prst="rect">
                    <a:avLst/>
                  </a:prstGeom>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18295631" name="Rectangle 2"/>
          <p:cNvSpPr>
            <a:spLocks noChangeArrowheads="1" noGrp="1"/>
          </p:cNvSpPr>
          <p:nvPr>
            <p:ph type="title"/>
          </p:nvPr>
        </p:nvSpPr>
        <p:spPr bwMode="auto">
          <a:xfrm>
            <a:off x="711200" y="228600"/>
            <a:ext cx="10668000" cy="762000"/>
          </a:xfrm>
        </p:spPr>
        <p:txBody>
          <a:bodyPr anchor="t"/>
          <a:lstStyle/>
          <a:p>
            <a:pPr>
              <a:defRPr/>
            </a:pPr>
            <a:r>
              <a:rPr lang="en-US"/>
              <a:t>Thuộc tính kiểu hỗn hợp</a:t>
            </a:r>
            <a:endParaRPr/>
          </a:p>
        </p:txBody>
      </p:sp>
      <p:sp>
        <p:nvSpPr>
          <p:cNvPr id="443562554" name="Rectangle 3"/>
          <p:cNvSpPr>
            <a:spLocks noChangeArrowheads="1" noGrp="1"/>
          </p:cNvSpPr>
          <p:nvPr>
            <p:ph type="body" idx="1"/>
          </p:nvPr>
        </p:nvSpPr>
        <p:spPr bwMode="auto">
          <a:xfrm>
            <a:off x="552262" y="1151931"/>
            <a:ext cx="9904490" cy="5583847"/>
          </a:xfrm>
        </p:spPr>
        <p:txBody>
          <a:bodyPr/>
          <a:lstStyle/>
          <a:p>
            <a:pPr>
              <a:spcAft>
                <a:spcPts val="600"/>
              </a:spcAft>
              <a:defRPr/>
            </a:pPr>
            <a:r>
              <a:rPr lang="en-US" sz="2000">
                <a:latin typeface="Calibri"/>
              </a:rPr>
              <a:t>Một tập dữ liệu có thể chứa tất cả các loại thuộc tính</a:t>
            </a:r>
            <a:endParaRPr/>
          </a:p>
          <a:p>
            <a:pPr lvl="1">
              <a:spcAft>
                <a:spcPts val="600"/>
              </a:spcAft>
              <a:defRPr/>
            </a:pPr>
            <a:r>
              <a:rPr lang="en-US" sz="2000">
                <a:latin typeface="Calibri"/>
              </a:rPr>
              <a:t>Định danh, nhị phân đối xứng, nhị phân bất đối xứng, số, và thứ bậc</a:t>
            </a:r>
            <a:endParaRPr/>
          </a:p>
          <a:p>
            <a:pPr>
              <a:spcAft>
                <a:spcPts val="600"/>
              </a:spcAft>
              <a:defRPr/>
            </a:pPr>
            <a:r>
              <a:rPr lang="en-US" sz="2000">
                <a:latin typeface="Calibri"/>
              </a:rPr>
              <a:t>Có thể dùng công thức có trọng số để kết hợp tác động của chúng:</a:t>
            </a:r>
            <a:endParaRPr/>
          </a:p>
          <a:p>
            <a:pPr>
              <a:spcAft>
                <a:spcPts val="600"/>
              </a:spcAft>
              <a:defRPr/>
            </a:pPr>
            <a:endParaRPr lang="en-US" sz="2400">
              <a:latin typeface="Calibri"/>
            </a:endParaRPr>
          </a:p>
          <a:p>
            <a:pPr marL="200020" lvl="1" indent="0">
              <a:spcAft>
                <a:spcPts val="600"/>
              </a:spcAft>
              <a:buNone/>
              <a:defRPr/>
            </a:pPr>
            <a:endParaRPr lang="en-US" sz="2400" i="1">
              <a:latin typeface="Calibri"/>
            </a:endParaRPr>
          </a:p>
          <a:p>
            <a:pPr lvl="1">
              <a:spcAft>
                <a:spcPts val="600"/>
              </a:spcAft>
              <a:defRPr/>
            </a:pPr>
            <a:endParaRPr lang="en-US" sz="2400">
              <a:latin typeface="Calibri"/>
            </a:endParaRPr>
          </a:p>
          <a:p>
            <a:pPr lvl="1">
              <a:spcAft>
                <a:spcPts val="600"/>
              </a:spcAft>
              <a:defRPr/>
            </a:pPr>
            <a:r>
              <a:rPr lang="en-US" sz="2000">
                <a:latin typeface="Calibri"/>
              </a:rPr>
              <a:t>Nếu</a:t>
            </a:r>
            <a:r>
              <a:rPr lang="en-US" sz="2000" i="1">
                <a:latin typeface="Calibri"/>
              </a:rPr>
              <a:t> f</a:t>
            </a:r>
            <a:r>
              <a:rPr lang="en-US" sz="2000">
                <a:latin typeface="Calibri"/>
              </a:rPr>
              <a:t>  là số: dùng khoảng cách đã chuẩn hóa</a:t>
            </a:r>
            <a:endParaRPr/>
          </a:p>
          <a:p>
            <a:pPr lvl="1">
              <a:spcAft>
                <a:spcPts val="600"/>
              </a:spcAft>
              <a:defRPr/>
            </a:pPr>
            <a:r>
              <a:rPr lang="en-US" sz="2000">
                <a:latin typeface="Calibri"/>
              </a:rPr>
              <a:t>Nếu</a:t>
            </a:r>
            <a:r>
              <a:rPr lang="en-US" sz="2000" i="1">
                <a:latin typeface="Calibri"/>
              </a:rPr>
              <a:t> f</a:t>
            </a:r>
            <a:r>
              <a:rPr lang="en-US" sz="2000">
                <a:latin typeface="Calibri"/>
              </a:rPr>
              <a:t>  là nhị phân hoặc định danh:   </a:t>
            </a:r>
            <a:r>
              <a:rPr lang="en-US" sz="2000">
                <a:latin typeface="Calibri"/>
                <a:cs typeface="Tahoma"/>
              </a:rPr>
              <a:t>d</a:t>
            </a:r>
            <a:r>
              <a:rPr lang="en-US" sz="2000" baseline="-25000">
                <a:latin typeface="Calibri"/>
              </a:rPr>
              <a:t>ij</a:t>
            </a:r>
            <a:r>
              <a:rPr lang="en-US" sz="2000" baseline="30000">
                <a:latin typeface="Calibri"/>
              </a:rPr>
              <a:t>(f)</a:t>
            </a:r>
            <a:r>
              <a:rPr lang="en-US" sz="2000">
                <a:latin typeface="Calibri"/>
              </a:rPr>
              <a:t> = 0  nếu </a:t>
            </a:r>
            <a:r>
              <a:rPr lang="en-US" sz="2000">
                <a:latin typeface="Calibri"/>
              </a:rPr>
              <a:t>x</a:t>
            </a:r>
            <a:r>
              <a:rPr lang="en-US" sz="2000" baseline="-25000">
                <a:latin typeface="Calibri"/>
              </a:rPr>
              <a:t>if</a:t>
            </a:r>
            <a:r>
              <a:rPr lang="en-US" sz="2000" baseline="-25000">
                <a:latin typeface="Calibri"/>
              </a:rPr>
              <a:t> </a:t>
            </a:r>
            <a:r>
              <a:rPr lang="en-US" sz="2000">
                <a:latin typeface="Calibri"/>
              </a:rPr>
              <a:t>= </a:t>
            </a:r>
            <a:r>
              <a:rPr lang="en-US" sz="2000">
                <a:latin typeface="Calibri"/>
              </a:rPr>
              <a:t>x</a:t>
            </a:r>
            <a:r>
              <a:rPr lang="en-US" sz="2000" baseline="-25000">
                <a:latin typeface="Calibri"/>
              </a:rPr>
              <a:t>jf</a:t>
            </a:r>
            <a:r>
              <a:rPr lang="en-US" sz="2000">
                <a:latin typeface="Calibri"/>
              </a:rPr>
              <a:t>; hoặc </a:t>
            </a:r>
            <a:r>
              <a:rPr lang="en-US" sz="2000">
                <a:latin typeface="Calibri"/>
                <a:cs typeface="Tahoma"/>
              </a:rPr>
              <a:t>d</a:t>
            </a:r>
            <a:r>
              <a:rPr lang="en-US" sz="2000" baseline="-25000">
                <a:latin typeface="Calibri"/>
              </a:rPr>
              <a:t>ij</a:t>
            </a:r>
            <a:r>
              <a:rPr lang="en-US" sz="2000" baseline="30000">
                <a:latin typeface="Calibri"/>
              </a:rPr>
              <a:t>(f)</a:t>
            </a:r>
            <a:r>
              <a:rPr lang="en-US" sz="2000">
                <a:latin typeface="Calibri"/>
              </a:rPr>
              <a:t> = 1 trong trường hợp khác</a:t>
            </a:r>
            <a:endParaRPr/>
          </a:p>
          <a:p>
            <a:pPr lvl="1">
              <a:spcAft>
                <a:spcPts val="600"/>
              </a:spcAft>
              <a:defRPr/>
            </a:pPr>
            <a:r>
              <a:rPr lang="en-US" sz="2000">
                <a:latin typeface="Calibri"/>
              </a:rPr>
              <a:t>Nếu</a:t>
            </a:r>
            <a:r>
              <a:rPr lang="en-US" sz="2000" i="1">
                <a:latin typeface="Calibri"/>
              </a:rPr>
              <a:t> f</a:t>
            </a:r>
            <a:r>
              <a:rPr lang="en-US" sz="2000">
                <a:latin typeface="Calibri"/>
              </a:rPr>
              <a:t>  là thứ bậc</a:t>
            </a:r>
            <a:endParaRPr/>
          </a:p>
          <a:p>
            <a:pPr lvl="2">
              <a:spcAft>
                <a:spcPts val="600"/>
              </a:spcAft>
              <a:defRPr/>
            </a:pPr>
            <a:r>
              <a:rPr lang="en-US" sz="2000">
                <a:latin typeface="Calibri"/>
              </a:rPr>
              <a:t>Tính thứ hạng </a:t>
            </a:r>
            <a:r>
              <a:rPr lang="en-US" sz="2000">
                <a:latin typeface="Calibri"/>
              </a:rPr>
              <a:t>z</a:t>
            </a:r>
            <a:r>
              <a:rPr lang="en-US" sz="2000" baseline="-25000">
                <a:latin typeface="Calibri"/>
              </a:rPr>
              <a:t>if</a:t>
            </a:r>
            <a:r>
              <a:rPr lang="en-US" sz="2000" baseline="-25000">
                <a:latin typeface="Calibri"/>
              </a:rPr>
              <a:t> </a:t>
            </a:r>
            <a:r>
              <a:rPr lang="en-US" sz="2000">
                <a:latin typeface="Calibri"/>
              </a:rPr>
              <a:t> (trong đó                       )</a:t>
            </a:r>
            <a:endParaRPr/>
          </a:p>
          <a:p>
            <a:pPr lvl="2">
              <a:spcAft>
                <a:spcPts val="600"/>
              </a:spcAft>
              <a:defRPr/>
            </a:pPr>
            <a:r>
              <a:rPr lang="en-US" sz="2000">
                <a:latin typeface="Calibri"/>
              </a:rPr>
              <a:t>Xử lý </a:t>
            </a:r>
            <a:r>
              <a:rPr lang="en-US" sz="2000">
                <a:latin typeface="Calibri"/>
              </a:rPr>
              <a:t>z</a:t>
            </a:r>
            <a:r>
              <a:rPr lang="en-US" sz="2000" baseline="-25000">
                <a:latin typeface="Calibri"/>
              </a:rPr>
              <a:t>if</a:t>
            </a:r>
            <a:r>
              <a:rPr lang="en-US" sz="2000">
                <a:latin typeface="Calibri"/>
              </a:rPr>
              <a:t> như thang khoảng</a:t>
            </a:r>
            <a:endParaRPr/>
          </a:p>
        </p:txBody>
      </p:sp>
      <p:graphicFrame>
        <p:nvGraphicFramePr>
          <p:cNvPr id="1667852709" name="Object 5"/>
          <p:cNvGraphicFramePr>
            <a:graphicFrameLocks xmlns:a="http://schemas.openxmlformats.org/drawingml/2006/main" noChangeAspect="1"/>
          </p:cNvGraphicFramePr>
          <p:nvPr/>
        </p:nvGraphicFramePr>
        <p:xfrm>
          <a:off x="4553894" y="5582819"/>
          <a:ext cx="1612900" cy="960437"/>
        </p:xfrm>
        <a:graphic>
          <a:graphicData uri="http://schemas.openxmlformats.org/presentationml/2006/ole">
            <p:oleObj name="oleObj" r:id="rId4" imgW="786765" imgH="469265" progId="Equation.DSMT4">
              <p:embed/>
              <p:pic>
                <p:nvPicPr>
                  <p:cNvPr id="1667852709" name="Object 5"/>
                  <p:cNvPicPr/>
                  <p:nvPr/>
                </p:nvPicPr>
                <p:blipFill rotWithShape="1">
                  <a:blip r:embed="rId3"/>
                  <a:stretch/>
                </p:blipFill>
                <p:spPr bwMode="auto">
                  <a:xfrm>
                    <a:off x="4553894" y="5582819"/>
                    <a:ext cx="1612900" cy="960437"/>
                  </a:xfrm>
                  <a:prstGeom prst="rect">
                    <a:avLst/>
                  </a:prstGeom>
                </p:spPr>
              </p:pic>
            </p:oleObj>
          </a:graphicData>
        </a:graphic>
      </p:graphicFrame>
      <p:graphicFrame>
        <p:nvGraphicFramePr>
          <p:cNvPr id="11360712" name="Object 6"/>
          <p:cNvGraphicFramePr>
            <a:graphicFrameLocks xmlns:a="http://schemas.openxmlformats.org/drawingml/2006/main" noChangeAspect="1"/>
          </p:cNvGraphicFramePr>
          <p:nvPr/>
        </p:nvGraphicFramePr>
        <p:xfrm>
          <a:off x="4114997" y="2273137"/>
          <a:ext cx="2490693" cy="1741053"/>
        </p:xfrm>
        <a:graphic>
          <a:graphicData uri="http://schemas.openxmlformats.org/presentationml/2006/ole">
            <p:oleObj name="oleObj" r:id="rId6" imgW="1268730" imgH="888365" progId="Equation.DSMT4">
              <p:embed/>
              <p:pic>
                <p:nvPicPr>
                  <p:cNvPr id="11360712" name="Object 6"/>
                  <p:cNvPicPr/>
                  <p:nvPr/>
                </p:nvPicPr>
                <p:blipFill rotWithShape="1">
                  <a:blip r:embed="rId5"/>
                  <a:stretch/>
                </p:blipFill>
                <p:spPr bwMode="auto">
                  <a:xfrm>
                    <a:off x="4114997" y="2273137"/>
                    <a:ext cx="2490693" cy="1741053"/>
                  </a:xfrm>
                  <a:prstGeom prst="rect">
                    <a:avLst/>
                  </a:prstGeom>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1535472" name="Rectangle 2"/>
          <p:cNvSpPr>
            <a:spLocks noChangeArrowheads="1" noGrp="1"/>
          </p:cNvSpPr>
          <p:nvPr>
            <p:ph type="title"/>
          </p:nvPr>
        </p:nvSpPr>
        <p:spPr bwMode="auto">
          <a:xfrm>
            <a:off x="711200" y="228600"/>
            <a:ext cx="10668000" cy="762000"/>
          </a:xfrm>
        </p:spPr>
        <p:txBody>
          <a:bodyPr anchor="t">
            <a:normAutofit/>
          </a:bodyPr>
          <a:lstStyle/>
          <a:p>
            <a:pPr>
              <a:defRPr/>
            </a:pPr>
            <a:r>
              <a:rPr lang="en-US" sz="4000"/>
              <a:t>Độ tương tự Cosine của hai vectơ</a:t>
            </a:r>
            <a:endParaRPr/>
          </a:p>
        </p:txBody>
      </p:sp>
      <p:sp>
        <p:nvSpPr>
          <p:cNvPr id="1664714897" name="Rectangle 3"/>
          <p:cNvSpPr>
            <a:spLocks noChangeArrowheads="1" noGrp="1"/>
          </p:cNvSpPr>
          <p:nvPr>
            <p:ph type="body" idx="1"/>
          </p:nvPr>
        </p:nvSpPr>
        <p:spPr bwMode="auto">
          <a:xfrm>
            <a:off x="558801" y="1149328"/>
            <a:ext cx="11283575" cy="5450312"/>
          </a:xfrm>
        </p:spPr>
        <p:txBody>
          <a:bodyPr/>
          <a:lstStyle/>
          <a:p>
            <a:pPr>
              <a:defRPr/>
            </a:pPr>
            <a:r>
              <a:rPr lang="en-US" sz="2000"/>
              <a:t>Một </a:t>
            </a:r>
            <a:r>
              <a:rPr lang="en-US" sz="2000" b="1"/>
              <a:t>văn bản</a:t>
            </a:r>
            <a:r>
              <a:rPr lang="en-US" sz="2000"/>
              <a:t> có thể được biểu diễn bằng một túi từ hoặc một vectơ dài, với mỗi thuộc tính ghi lại </a:t>
            </a:r>
            <a:r>
              <a:rPr lang="en-US" sz="2000" i="1"/>
              <a:t>tần suất</a:t>
            </a:r>
            <a:r>
              <a:rPr lang="en-US" sz="2000"/>
              <a:t> của một từ cụ thể (như từ, từ khóa, hoặc cụm từ) trong văn bản</a:t>
            </a:r>
            <a:endParaRPr/>
          </a:p>
          <a:p>
            <a:pPr>
              <a:defRPr/>
            </a:pPr>
            <a:endParaRPr lang="en-US" sz="2400"/>
          </a:p>
          <a:p>
            <a:pPr>
              <a:defRPr/>
            </a:pPr>
            <a:endParaRPr lang="en-US" sz="2400"/>
          </a:p>
          <a:p>
            <a:pPr marL="0" indent="0">
              <a:buNone/>
              <a:defRPr/>
            </a:pPr>
            <a:endParaRPr lang="en-US" sz="2400"/>
          </a:p>
          <a:p>
            <a:pPr>
              <a:defRPr/>
            </a:pPr>
            <a:endParaRPr/>
          </a:p>
          <a:p>
            <a:pPr>
              <a:defRPr/>
            </a:pPr>
            <a:r>
              <a:rPr lang="en-US" sz="2000"/>
              <a:t>Các đối tượng vectơ khác: đặc trưng gen trong vi mạch (micro-array) </a:t>
            </a:r>
            <a:endParaRPr lang="en-US" sz="2000"/>
          </a:p>
          <a:p>
            <a:pPr>
              <a:defRPr/>
            </a:pPr>
            <a:r>
              <a:rPr lang="en-US" sz="2000"/>
              <a:t>Ứng dụng: truy hồi thông tin, phân loại sinh học, ánh xạ đặc trưng gen, v.v.</a:t>
            </a:r>
            <a:endParaRPr/>
          </a:p>
          <a:p>
            <a:pPr>
              <a:defRPr/>
            </a:pPr>
            <a:r>
              <a:rPr lang="en-US" sz="2000"/>
              <a:t>Độ đo cosine: </a:t>
            </a:r>
            <a:r>
              <a:rPr lang="en-US" sz="2000">
                <a:cs typeface="Times New Roman"/>
              </a:rPr>
              <a:t>Nếu </a:t>
            </a:r>
            <a:r>
              <a:rPr lang="en-US" sz="2000" i="1">
                <a:cs typeface="Times New Roman"/>
              </a:rPr>
              <a:t>d</a:t>
            </a:r>
            <a:r>
              <a:rPr lang="en-US" sz="2000" i="1" baseline="-25000">
                <a:cs typeface="Times New Roman"/>
              </a:rPr>
              <a:t>1</a:t>
            </a:r>
            <a:r>
              <a:rPr lang="en-US" sz="2000">
                <a:cs typeface="Times New Roman"/>
              </a:rPr>
              <a:t> and </a:t>
            </a:r>
            <a:r>
              <a:rPr lang="en-US" sz="2000" i="1">
                <a:cs typeface="Times New Roman"/>
              </a:rPr>
              <a:t>d</a:t>
            </a:r>
            <a:r>
              <a:rPr lang="en-US" sz="2000" i="1" baseline="-25000">
                <a:cs typeface="Times New Roman"/>
              </a:rPr>
              <a:t>2</a:t>
            </a:r>
            <a:r>
              <a:rPr lang="en-US" sz="2000">
                <a:cs typeface="Times New Roman"/>
              </a:rPr>
              <a:t> là hai vectơ (ví dụ: vectơ tần suất từ), thì</a:t>
            </a:r>
            <a:endParaRPr/>
          </a:p>
          <a:p>
            <a:pPr algn="just">
              <a:buNone/>
              <a:defRPr/>
            </a:pPr>
            <a:endParaRPr lang="en-US" sz="2400">
              <a:cs typeface="Times New Roman"/>
            </a:endParaRPr>
          </a:p>
          <a:p>
            <a:pPr lvl="2" algn="just">
              <a:buNone/>
              <a:defRPr/>
            </a:pPr>
            <a:endParaRPr lang="en-US" sz="2400">
              <a:cs typeface="Times New Roman"/>
            </a:endParaRPr>
          </a:p>
          <a:p>
            <a:pPr lvl="2" algn="just">
              <a:buNone/>
              <a:defRPr/>
            </a:pPr>
            <a:r>
              <a:rPr lang="en-US" sz="2000">
                <a:cs typeface="Times New Roman"/>
              </a:rPr>
              <a:t>trong đó </a:t>
            </a:r>
            <a:r>
              <a:rPr lang="en-US" sz="2000">
                <a:cs typeface="Times New Roman"/>
              </a:rPr>
              <a:t></a:t>
            </a:r>
            <a:r>
              <a:rPr lang="en-US" sz="2000">
                <a:cs typeface="Times New Roman"/>
              </a:rPr>
              <a:t> biểu thị tích vô hướng của vectơ, ||</a:t>
            </a:r>
            <a:r>
              <a:rPr lang="en-US" sz="2000" i="1">
                <a:cs typeface="Times New Roman"/>
              </a:rPr>
              <a:t>d</a:t>
            </a:r>
            <a:r>
              <a:rPr lang="en-US" sz="2000">
                <a:cs typeface="Times New Roman"/>
              </a:rPr>
              <a:t>||: độ dài của vectơ </a:t>
            </a:r>
            <a:r>
              <a:rPr lang="en-US" sz="2000" i="1">
                <a:cs typeface="Times New Roman"/>
              </a:rPr>
              <a:t>d</a:t>
            </a:r>
            <a:endParaRPr/>
          </a:p>
        </p:txBody>
      </p:sp>
      <p:pic>
        <p:nvPicPr>
          <p:cNvPr id="1468711692" name="Picture 4" descr="eqtable"/>
          <p:cNvPicPr>
            <a:picLocks noChangeAspect="1" noChangeArrowheads="1"/>
          </p:cNvPicPr>
          <p:nvPr/>
        </p:nvPicPr>
        <p:blipFill rotWithShape="1">
          <a:blip r:embed="rId3"/>
          <a:stretch/>
        </p:blipFill>
        <p:spPr bwMode="auto">
          <a:xfrm>
            <a:off x="1320799" y="2261608"/>
            <a:ext cx="8229600" cy="1447800"/>
          </a:xfrm>
          <a:prstGeom prst="rect">
            <a:avLst/>
          </a:prstGeom>
          <a:noFill/>
          <a:ln>
            <a:noFill/>
          </a:ln>
        </p:spPr>
      </p:pic>
      <p:graphicFrame>
        <p:nvGraphicFramePr>
          <p:cNvPr id="19872097" name="Object 4"/>
          <p:cNvGraphicFramePr>
            <a:graphicFrameLocks xmlns:a="http://schemas.openxmlformats.org/drawingml/2006/main" noChangeAspect="1"/>
          </p:cNvGraphicFramePr>
          <p:nvPr/>
        </p:nvGraphicFramePr>
        <p:xfrm>
          <a:off x="3285377" y="4986106"/>
          <a:ext cx="3140075" cy="849312"/>
        </p:xfrm>
        <a:graphic>
          <a:graphicData uri="http://schemas.openxmlformats.org/presentationml/2006/ole">
            <p:oleObj name="oleObj" r:id="rId5" imgW="1600200" imgH="431165" progId="Equation.DSMT4">
              <p:embed/>
              <p:pic>
                <p:nvPicPr>
                  <p:cNvPr id="19872097" name="Object 4"/>
                  <p:cNvPicPr/>
                  <p:nvPr/>
                </p:nvPicPr>
                <p:blipFill rotWithShape="1">
                  <a:blip r:embed="rId4"/>
                  <a:stretch/>
                </p:blipFill>
                <p:spPr bwMode="auto">
                  <a:xfrm>
                    <a:off x="3285377" y="4986106"/>
                    <a:ext cx="3140075" cy="849312"/>
                  </a:xfrm>
                  <a:prstGeom prst="rect">
                    <a:avLst/>
                  </a:prstGeom>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54201274" name="Rectangle 2"/>
          <p:cNvSpPr>
            <a:spLocks noChangeArrowheads="1" noGrp="1"/>
          </p:cNvSpPr>
          <p:nvPr>
            <p:ph type="title"/>
          </p:nvPr>
        </p:nvSpPr>
        <p:spPr bwMode="auto">
          <a:xfrm>
            <a:off x="711200" y="228600"/>
            <a:ext cx="10668000" cy="762000"/>
          </a:xfrm>
        </p:spPr>
        <p:txBody>
          <a:bodyPr anchor="t">
            <a:normAutofit/>
          </a:bodyPr>
          <a:lstStyle/>
          <a:p>
            <a:pPr>
              <a:defRPr/>
            </a:pPr>
            <a:r>
              <a:rPr lang="en-US" sz="4000"/>
              <a:t>Ví dụ: Tính độ tương tự Cosine</a:t>
            </a:r>
            <a:endParaRPr/>
          </a:p>
        </p:txBody>
      </p:sp>
      <p:sp>
        <p:nvSpPr>
          <p:cNvPr id="1610860180" name="Rectangle 3"/>
          <p:cNvSpPr>
            <a:spLocks noChangeArrowheads="1" noGrp="1"/>
          </p:cNvSpPr>
          <p:nvPr>
            <p:ph type="body" idx="1"/>
          </p:nvPr>
        </p:nvSpPr>
        <p:spPr bwMode="auto">
          <a:xfrm>
            <a:off x="552261" y="1170038"/>
            <a:ext cx="11397691" cy="5450312"/>
          </a:xfrm>
        </p:spPr>
        <p:txBody>
          <a:bodyPr/>
          <a:lstStyle/>
          <a:p>
            <a:pPr>
              <a:spcBef>
                <a:spcPts val="1200"/>
              </a:spcBef>
              <a:defRPr/>
            </a:pPr>
            <a:r>
              <a:rPr lang="en-US" sz="2000"/>
              <a:t>Tính độ tương tự Cosine:</a:t>
            </a:r>
            <a:endParaRPr/>
          </a:p>
          <a:p>
            <a:pPr lvl="1">
              <a:spcBef>
                <a:spcPts val="1200"/>
              </a:spcBef>
              <a:defRPr/>
            </a:pPr>
            <a:endParaRPr lang="en-US" sz="2400">
              <a:cs typeface="Times New Roman"/>
            </a:endParaRPr>
          </a:p>
          <a:p>
            <a:pPr marL="384165" lvl="2" indent="0" algn="just">
              <a:buNone/>
              <a:defRPr/>
            </a:pPr>
            <a:r>
              <a:rPr lang="en-US" sz="2000">
                <a:cs typeface="Times New Roman"/>
              </a:rPr>
              <a:t>   trong đó </a:t>
            </a:r>
            <a:r>
              <a:rPr lang="en-US" sz="2000">
                <a:cs typeface="Times New Roman"/>
              </a:rPr>
              <a:t></a:t>
            </a:r>
            <a:r>
              <a:rPr lang="en-US" sz="2000">
                <a:cs typeface="Times New Roman"/>
              </a:rPr>
              <a:t> biểu thị tích vô hướng của vectơ, ||</a:t>
            </a:r>
            <a:r>
              <a:rPr lang="en-US" sz="2000" i="1">
                <a:cs typeface="Times New Roman"/>
              </a:rPr>
              <a:t>d</a:t>
            </a:r>
            <a:r>
              <a:rPr lang="en-US" sz="2000">
                <a:cs typeface="Times New Roman"/>
              </a:rPr>
              <a:t>||: độ dài của vectơ </a:t>
            </a:r>
            <a:r>
              <a:rPr lang="en-US" sz="2000" i="1">
                <a:cs typeface="Times New Roman"/>
              </a:rPr>
              <a:t>d</a:t>
            </a:r>
            <a:endParaRPr/>
          </a:p>
          <a:p>
            <a:pPr algn="just">
              <a:defRPr/>
            </a:pPr>
            <a:r>
              <a:rPr lang="en-US" sz="2000">
                <a:cs typeface="Times New Roman"/>
              </a:rPr>
              <a:t>Ví dụ: Tìm </a:t>
            </a:r>
            <a:r>
              <a:rPr lang="en-US" sz="2000" b="1">
                <a:cs typeface="Times New Roman"/>
              </a:rPr>
              <a:t>độ tương tự</a:t>
            </a:r>
            <a:r>
              <a:rPr lang="en-US" sz="2000">
                <a:cs typeface="Times New Roman"/>
              </a:rPr>
              <a:t> giữa văn bản 1 và văn bản 2.</a:t>
            </a:r>
            <a:endParaRPr/>
          </a:p>
          <a:p>
            <a:pPr lvl="4" algn="just">
              <a:buNone/>
              <a:defRPr/>
            </a:pPr>
            <a:r>
              <a:rPr lang="en-US" sz="2000" i="1">
                <a:cs typeface="Times New Roman"/>
              </a:rPr>
              <a:t>d</a:t>
            </a:r>
            <a:r>
              <a:rPr lang="en-US" sz="2000" i="1" baseline="-25000">
                <a:cs typeface="Times New Roman"/>
              </a:rPr>
              <a:t>1</a:t>
            </a:r>
            <a:r>
              <a:rPr lang="en-US" sz="2000" i="1">
                <a:cs typeface="Times New Roman"/>
              </a:rPr>
              <a:t> </a:t>
            </a:r>
            <a:r>
              <a:rPr lang="en-US" sz="2000" b="1">
                <a:cs typeface="Times New Roman"/>
              </a:rPr>
              <a:t>=  </a:t>
            </a:r>
            <a:r>
              <a:rPr lang="en-US" sz="2000">
                <a:cs typeface="Times New Roman"/>
              </a:rPr>
              <a:t>(5, 0, 3, 0, 2, 0, 0, 2, 0, 0)          </a:t>
            </a:r>
            <a:r>
              <a:rPr lang="en-US" sz="2000" i="1">
                <a:cs typeface="Times New Roman"/>
              </a:rPr>
              <a:t>d</a:t>
            </a:r>
            <a:r>
              <a:rPr lang="en-US" sz="2000" i="1" baseline="-25000">
                <a:cs typeface="Times New Roman"/>
              </a:rPr>
              <a:t>2</a:t>
            </a:r>
            <a:r>
              <a:rPr lang="en-US" sz="2000" b="1">
                <a:cs typeface="Times New Roman"/>
              </a:rPr>
              <a:t> =  </a:t>
            </a:r>
            <a:r>
              <a:rPr lang="en-US" sz="2000">
                <a:cs typeface="Times New Roman"/>
              </a:rPr>
              <a:t>(3, 0, 2, 0, 1, 1, 0, 1, 0, 1)</a:t>
            </a:r>
            <a:endParaRPr/>
          </a:p>
          <a:p>
            <a:pPr lvl="1" algn="just">
              <a:defRPr/>
            </a:pPr>
            <a:r>
              <a:rPr lang="en-US" sz="2000">
                <a:cs typeface="Times New Roman"/>
              </a:rPr>
              <a:t>Đầu tiên, tính tích vô hướng của vectơ</a:t>
            </a:r>
            <a:endParaRPr/>
          </a:p>
          <a:p>
            <a:pPr lvl="4" algn="just">
              <a:buNone/>
              <a:defRPr/>
            </a:pPr>
            <a:r>
              <a:rPr lang="en-US" sz="2000" i="1">
                <a:cs typeface="Times New Roman"/>
              </a:rPr>
              <a:t>d</a:t>
            </a:r>
            <a:r>
              <a:rPr lang="en-US" sz="2000" i="1" baseline="-25000">
                <a:cs typeface="Times New Roman"/>
              </a:rPr>
              <a:t>1</a:t>
            </a:r>
            <a:r>
              <a:rPr lang="en-US" sz="2000">
                <a:cs typeface="Times New Roman"/>
              </a:rPr>
              <a:t></a:t>
            </a:r>
            <a:r>
              <a:rPr lang="en-US" sz="2000" i="1">
                <a:cs typeface="Times New Roman"/>
              </a:rPr>
              <a:t>d</a:t>
            </a:r>
            <a:r>
              <a:rPr lang="en-US" sz="2000" i="1" baseline="-25000">
                <a:cs typeface="Times New Roman"/>
              </a:rPr>
              <a:t>2 </a:t>
            </a:r>
            <a:r>
              <a:rPr lang="en-US" sz="2000">
                <a:cs typeface="Times New Roman"/>
              </a:rPr>
              <a:t>= 5 X 3 + 0 X 0 + 3 X 2 + 0 X 0 + 2 X 1 + 0 X 1 + 0 X 1 + 2 X 1 + 0 X 0 + 0 X 1 = 25</a:t>
            </a:r>
            <a:endParaRPr/>
          </a:p>
          <a:p>
            <a:pPr lvl="1" algn="just">
              <a:defRPr/>
            </a:pPr>
            <a:r>
              <a:rPr lang="en-US" sz="2000">
                <a:cs typeface="Times New Roman"/>
              </a:rPr>
              <a:t>Sau đó, tính ||</a:t>
            </a:r>
            <a:r>
              <a:rPr lang="en-US" sz="2000" i="1">
                <a:cs typeface="Times New Roman"/>
              </a:rPr>
              <a:t>d</a:t>
            </a:r>
            <a:r>
              <a:rPr lang="en-US" sz="2000" i="1" baseline="-25000">
                <a:cs typeface="Times New Roman"/>
              </a:rPr>
              <a:t>1</a:t>
            </a:r>
            <a:r>
              <a:rPr lang="en-US" sz="2000">
                <a:cs typeface="Times New Roman"/>
              </a:rPr>
              <a:t>|| và ||</a:t>
            </a:r>
            <a:r>
              <a:rPr lang="en-US" sz="2000" i="1">
                <a:cs typeface="Times New Roman"/>
              </a:rPr>
              <a:t>d</a:t>
            </a:r>
            <a:r>
              <a:rPr lang="en-US" sz="2000" i="1" baseline="-25000">
                <a:cs typeface="Times New Roman"/>
              </a:rPr>
              <a:t>2</a:t>
            </a:r>
            <a:r>
              <a:rPr lang="en-US" sz="2000">
                <a:cs typeface="Times New Roman"/>
              </a:rPr>
              <a:t>|| </a:t>
            </a:r>
            <a:endParaRPr/>
          </a:p>
          <a:p>
            <a:pPr lvl="3" algn="just">
              <a:buNone/>
              <a:defRPr/>
            </a:pPr>
            <a:endParaRPr lang="en-US" sz="2400">
              <a:cs typeface="Times New Roman"/>
            </a:endParaRPr>
          </a:p>
          <a:p>
            <a:pPr lvl="1" algn="just">
              <a:defRPr/>
            </a:pPr>
            <a:endParaRPr lang="en-US" sz="2400">
              <a:cs typeface="Times New Roman"/>
            </a:endParaRPr>
          </a:p>
          <a:p>
            <a:pPr lvl="1" algn="just">
              <a:defRPr/>
            </a:pPr>
            <a:endParaRPr lang="en-US" sz="2400">
              <a:cs typeface="Times New Roman"/>
            </a:endParaRPr>
          </a:p>
          <a:p>
            <a:pPr lvl="1" algn="just">
              <a:defRPr/>
            </a:pPr>
            <a:endParaRPr/>
          </a:p>
          <a:p>
            <a:pPr lvl="1" algn="just">
              <a:defRPr/>
            </a:pPr>
            <a:r>
              <a:rPr lang="en-US" sz="2000">
                <a:cs typeface="Times New Roman"/>
              </a:rPr>
              <a:t>Tính độ tương tự cosine:  cos(</a:t>
            </a:r>
            <a:r>
              <a:rPr lang="en-US" sz="2000" i="1">
                <a:cs typeface="Times New Roman"/>
              </a:rPr>
              <a:t>d</a:t>
            </a:r>
            <a:r>
              <a:rPr lang="en-US" sz="2000" i="1" baseline="-25000">
                <a:cs typeface="Times New Roman"/>
              </a:rPr>
              <a:t>1</a:t>
            </a:r>
            <a:r>
              <a:rPr lang="en-US" sz="2000" i="1">
                <a:cs typeface="Times New Roman"/>
              </a:rPr>
              <a:t>, d</a:t>
            </a:r>
            <a:r>
              <a:rPr lang="en-US" sz="2000" i="1" baseline="-25000">
                <a:cs typeface="Times New Roman"/>
              </a:rPr>
              <a:t>2</a:t>
            </a:r>
            <a:r>
              <a:rPr lang="en-US" sz="2000">
                <a:cs typeface="Times New Roman"/>
              </a:rPr>
              <a:t> ) = 25/ (6.481 X 4.12) = 0.94</a:t>
            </a:r>
            <a:endParaRPr lang="en-US" sz="2000">
              <a:cs typeface="Times New Roman"/>
            </a:endParaRPr>
          </a:p>
        </p:txBody>
      </p:sp>
      <p:graphicFrame>
        <p:nvGraphicFramePr>
          <p:cNvPr id="1156916873" name="Object 3"/>
          <p:cNvGraphicFramePr>
            <a:graphicFrameLocks xmlns:a="http://schemas.openxmlformats.org/drawingml/2006/main" noChangeAspect="1"/>
          </p:cNvGraphicFramePr>
          <p:nvPr/>
        </p:nvGraphicFramePr>
        <p:xfrm>
          <a:off x="1288585" y="4976645"/>
          <a:ext cx="9663113" cy="498475"/>
        </p:xfrm>
        <a:graphic>
          <a:graphicData uri="http://schemas.openxmlformats.org/presentationml/2006/ole">
            <p:oleObj name="oleObj" r:id="rId4" imgW="4926965" imgH="252730" progId="Equation.DSMT4">
              <p:embed/>
              <p:pic>
                <p:nvPicPr>
                  <p:cNvPr id="1156916873" name="Object 3"/>
                  <p:cNvPicPr/>
                  <p:nvPr/>
                </p:nvPicPr>
                <p:blipFill rotWithShape="1">
                  <a:blip r:embed="rId3"/>
                  <a:stretch/>
                </p:blipFill>
                <p:spPr bwMode="auto">
                  <a:xfrm>
                    <a:off x="1288585" y="4976645"/>
                    <a:ext cx="9663113" cy="498475"/>
                  </a:xfrm>
                  <a:prstGeom prst="rect">
                    <a:avLst/>
                  </a:prstGeom>
                </p:spPr>
              </p:pic>
            </p:oleObj>
          </a:graphicData>
        </a:graphic>
      </p:graphicFrame>
      <p:graphicFrame>
        <p:nvGraphicFramePr>
          <p:cNvPr id="1037561332" name="Object 4"/>
          <p:cNvGraphicFramePr>
            <a:graphicFrameLocks xmlns:a="http://schemas.openxmlformats.org/drawingml/2006/main" noChangeAspect="1"/>
          </p:cNvGraphicFramePr>
          <p:nvPr/>
        </p:nvGraphicFramePr>
        <p:xfrm>
          <a:off x="1288585" y="5532331"/>
          <a:ext cx="9506909" cy="498475"/>
        </p:xfrm>
        <a:graphic>
          <a:graphicData uri="http://schemas.openxmlformats.org/presentationml/2006/ole">
            <p:oleObj name="oleObj" r:id="rId6" imgW="4672330" imgH="252730" progId="Equation.DSMT4">
              <p:embed/>
              <p:pic>
                <p:nvPicPr>
                  <p:cNvPr id="1037561332" name="Object 4"/>
                  <p:cNvPicPr/>
                  <p:nvPr/>
                </p:nvPicPr>
                <p:blipFill rotWithShape="1">
                  <a:blip r:embed="rId5"/>
                  <a:stretch/>
                </p:blipFill>
                <p:spPr bwMode="auto">
                  <a:xfrm>
                    <a:off x="1288585" y="5532331"/>
                    <a:ext cx="9506909" cy="498475"/>
                  </a:xfrm>
                  <a:prstGeom prst="rect">
                    <a:avLst/>
                  </a:prstGeom>
                </p:spPr>
              </p:pic>
            </p:oleObj>
          </a:graphicData>
        </a:graphic>
      </p:graphicFrame>
      <p:graphicFrame>
        <p:nvGraphicFramePr>
          <p:cNvPr id="1678778552" name="Object 6"/>
          <p:cNvGraphicFramePr>
            <a:graphicFrameLocks xmlns:a="http://schemas.openxmlformats.org/drawingml/2006/main" noChangeAspect="1"/>
          </p:cNvGraphicFramePr>
          <p:nvPr/>
        </p:nvGraphicFramePr>
        <p:xfrm>
          <a:off x="2980066" y="1305378"/>
          <a:ext cx="3140075" cy="849312"/>
        </p:xfrm>
        <a:graphic>
          <a:graphicData uri="http://schemas.openxmlformats.org/presentationml/2006/ole">
            <p:oleObj name="oleObj" r:id="rId8" imgW="1600200" imgH="431165" progId="Equation.DSMT4">
              <p:embed/>
              <p:pic>
                <p:nvPicPr>
                  <p:cNvPr id="1678778552" name="Object 6"/>
                  <p:cNvPicPr/>
                  <p:nvPr/>
                </p:nvPicPr>
                <p:blipFill rotWithShape="1">
                  <a:blip r:embed="rId7"/>
                  <a:stretch/>
                </p:blipFill>
                <p:spPr bwMode="auto">
                  <a:xfrm>
                    <a:off x="2980066" y="1305378"/>
                    <a:ext cx="3140075" cy="849312"/>
                  </a:xfrm>
                  <a:prstGeom prst="rect">
                    <a:avLst/>
                  </a:prstGeom>
                </p:spPr>
              </p:pic>
            </p:oleObj>
          </a:graphicData>
        </a:graphic>
      </p:graphicFrame>
      <p:pic>
        <p:nvPicPr>
          <p:cNvPr id="84422686" name="Picture 2" descr="http://cs.carleton.edu/cs_comps/0910/netflixprize/final_results/knn/img/knn/cos.png"/>
          <p:cNvPicPr>
            <a:picLocks noChangeAspect="1" noChangeArrowheads="1"/>
          </p:cNvPicPr>
          <p:nvPr/>
        </p:nvPicPr>
        <p:blipFill rotWithShape="1">
          <a:blip r:embed="rId9"/>
          <a:stretch/>
        </p:blipFill>
        <p:spPr bwMode="auto">
          <a:xfrm>
            <a:off x="7028330" y="838993"/>
            <a:ext cx="5056094" cy="1315698"/>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36188877" name="Picture 4" descr="Image result for K-L divergence"/>
          <p:cNvPicPr>
            <a:picLocks noChangeAspect="1" noChangeArrowheads="1"/>
          </p:cNvPicPr>
          <p:nvPr/>
        </p:nvPicPr>
        <p:blipFill rotWithShape="1">
          <a:blip r:embed="rId3"/>
          <a:stretch/>
        </p:blipFill>
        <p:spPr bwMode="auto">
          <a:xfrm>
            <a:off x="5981214" y="1172839"/>
            <a:ext cx="5970063" cy="4340978"/>
          </a:xfrm>
          <a:prstGeom prst="rect">
            <a:avLst/>
          </a:prstGeom>
          <a:noFill/>
        </p:spPr>
      </p:pic>
      <p:sp>
        <p:nvSpPr>
          <p:cNvPr id="1085818925" name="Rectangle 2"/>
          <p:cNvSpPr>
            <a:spLocks noChangeArrowheads="1" noGrp="1"/>
          </p:cNvSpPr>
          <p:nvPr>
            <p:ph type="title"/>
          </p:nvPr>
        </p:nvSpPr>
        <p:spPr bwMode="auto">
          <a:xfrm>
            <a:off x="0" y="0"/>
            <a:ext cx="12192000" cy="1143000"/>
          </a:xfrm>
        </p:spPr>
        <p:txBody>
          <a:bodyPr vert="horz" lIns="92075" tIns="46038" rIns="92075" bIns="46038" rtlCol="0" anchor="t">
            <a:normAutofit fontScale="90000"/>
          </a:bodyPr>
          <a:lstStyle/>
          <a:p>
            <a:pPr>
              <a:defRPr/>
            </a:pPr>
            <a:r>
              <a:rPr lang="en-US">
                <a:solidFill>
                  <a:srgbClr val="170981"/>
                </a:solidFill>
              </a:rPr>
              <a:t> </a:t>
            </a:r>
            <a:r>
              <a:rPr lang="en-US" sz="4200"/>
              <a:t>Độ phân kỳ KL: So sánh hai phân bố xác suất </a:t>
            </a:r>
            <a:endParaRPr/>
          </a:p>
        </p:txBody>
      </p:sp>
      <p:sp>
        <p:nvSpPr>
          <p:cNvPr id="1552562040" name="Rectangle 3"/>
          <p:cNvSpPr>
            <a:spLocks noChangeArrowheads="1" noGrp="1"/>
          </p:cNvSpPr>
          <p:nvPr>
            <p:ph type="body" idx="1"/>
          </p:nvPr>
        </p:nvSpPr>
        <p:spPr bwMode="auto">
          <a:xfrm>
            <a:off x="436468" y="1107140"/>
            <a:ext cx="5735732" cy="5410200"/>
          </a:xfrm>
        </p:spPr>
        <p:txBody>
          <a:bodyPr vert="horz" lIns="92075" tIns="46038" rIns="92075" bIns="46038" rtlCol="0">
            <a:noAutofit/>
          </a:bodyPr>
          <a:lstStyle/>
          <a:p>
            <a:pPr>
              <a:spcBef>
                <a:spcPts val="200"/>
              </a:spcBef>
              <a:defRPr/>
            </a:pPr>
            <a:r>
              <a:rPr lang="en-US" sz="2000" i="1"/>
              <a:t>Độ phân kỳ </a:t>
            </a:r>
            <a:r>
              <a:rPr lang="en-US" sz="2000" i="1"/>
              <a:t>Kullback-Leibler</a:t>
            </a:r>
            <a:r>
              <a:rPr lang="en-US" sz="2000" i="1"/>
              <a:t> (KL): </a:t>
            </a:r>
            <a:r>
              <a:rPr lang="en-US" sz="2000"/>
              <a:t> Đo sự khác biệt giữa hai phân bố xác suất trên cùng một biến </a:t>
            </a:r>
            <a:r>
              <a:rPr lang="en-US" sz="2000" i="1"/>
              <a:t>x</a:t>
            </a:r>
            <a:endParaRPr lang="en-US" sz="2400"/>
          </a:p>
          <a:p>
            <a:pPr lvl="1" indent="-342900">
              <a:spcBef>
                <a:spcPts val="200"/>
              </a:spcBef>
              <a:defRPr/>
            </a:pPr>
            <a:r>
              <a:rPr lang="en-US" sz="2000"/>
              <a:t>Từ lý thuyết thông tin, có liên hệ chặt chẽ với </a:t>
            </a:r>
            <a:r>
              <a:rPr lang="en-US" sz="2000" i="1"/>
              <a:t>entropy tương đối</a:t>
            </a:r>
            <a:r>
              <a:rPr lang="en-US" sz="2000"/>
              <a:t>, </a:t>
            </a:r>
            <a:r>
              <a:rPr lang="en-US" sz="2000" i="1"/>
              <a:t>độ phân kỳ thông tin</a:t>
            </a:r>
            <a:r>
              <a:rPr lang="en-US" sz="2000"/>
              <a:t>, và </a:t>
            </a:r>
            <a:r>
              <a:rPr lang="en-US" sz="2000" i="1"/>
              <a:t>thông tin phân biệt</a:t>
            </a:r>
            <a:endParaRPr/>
          </a:p>
          <a:p>
            <a:pPr>
              <a:spcBef>
                <a:spcPts val="200"/>
              </a:spcBef>
              <a:defRPr/>
            </a:pPr>
            <a:r>
              <a:rPr lang="en-US" sz="2000" i="1"/>
              <a:t>D</a:t>
            </a:r>
            <a:r>
              <a:rPr lang="en-US" sz="2000" i="1" baseline="-25000"/>
              <a:t>KL</a:t>
            </a:r>
            <a:r>
              <a:rPr lang="en-US" sz="2000"/>
              <a:t>(</a:t>
            </a:r>
            <a:r>
              <a:rPr lang="en-US" sz="2000" i="1"/>
              <a:t>p</a:t>
            </a:r>
            <a:r>
              <a:rPr lang="en-US" sz="2000"/>
              <a:t>(</a:t>
            </a:r>
            <a:r>
              <a:rPr lang="en-US" sz="2000" i="1"/>
              <a:t>x</a:t>
            </a:r>
            <a:r>
              <a:rPr lang="en-US" sz="2000"/>
              <a:t>)</a:t>
            </a:r>
            <a:r>
              <a:rPr lang="en-US" sz="2000" i="1"/>
              <a:t> </a:t>
            </a:r>
            <a:r>
              <a:rPr lang="en-US" sz="2000"/>
              <a:t>||</a:t>
            </a:r>
            <a:r>
              <a:rPr lang="en-US" sz="2000" i="1"/>
              <a:t> q</a:t>
            </a:r>
            <a:r>
              <a:rPr lang="en-US" sz="2000"/>
              <a:t>(</a:t>
            </a:r>
            <a:r>
              <a:rPr lang="en-US" sz="2000" i="1"/>
              <a:t>x</a:t>
            </a:r>
            <a:r>
              <a:rPr lang="en-US" sz="2000"/>
              <a:t>):  độ phân kỳ của </a:t>
            </a:r>
            <a:r>
              <a:rPr lang="en-US" sz="2000" i="1"/>
              <a:t>q</a:t>
            </a:r>
            <a:r>
              <a:rPr lang="en-US" sz="2000"/>
              <a:t> so với </a:t>
            </a:r>
            <a:r>
              <a:rPr lang="en-US" sz="2000" i="1"/>
              <a:t>x</a:t>
            </a:r>
            <a:r>
              <a:rPr lang="en-US" sz="2000"/>
              <a:t>) from </a:t>
            </a:r>
            <a:r>
              <a:rPr lang="en-US" sz="2000" i="1"/>
              <a:t>p</a:t>
            </a:r>
            <a:r>
              <a:rPr lang="en-US" sz="2000"/>
              <a:t>, đo lượng thông tin bị mất khi dùng </a:t>
            </a:r>
            <a:r>
              <a:rPr lang="en-US" sz="2000" i="1"/>
              <a:t>x</a:t>
            </a:r>
            <a:r>
              <a:rPr lang="en-US" sz="2000"/>
              <a:t>), measuring the information lost when </a:t>
            </a:r>
            <a:r>
              <a:rPr lang="en-US" sz="2000" i="1"/>
              <a:t>q</a:t>
            </a:r>
            <a:r>
              <a:rPr lang="en-US" sz="2000"/>
              <a:t> để xấp xỉ </a:t>
            </a:r>
            <a:r>
              <a:rPr lang="en-US" sz="2000" i="1"/>
              <a:t>x</a:t>
            </a:r>
            <a:r>
              <a:rPr lang="en-US" sz="2000"/>
              <a:t>) is used to approximate </a:t>
            </a:r>
            <a:r>
              <a:rPr lang="en-US" sz="2000" i="1"/>
              <a:t>p</a:t>
            </a:r>
            <a:r>
              <a:rPr lang="en-US" sz="2000"/>
              <a:t>(</a:t>
            </a:r>
            <a:r>
              <a:rPr lang="en-US" sz="2000" i="1"/>
              <a:t>x</a:t>
            </a:r>
            <a:r>
              <a:rPr lang="en-US" sz="2000"/>
              <a:t>)</a:t>
            </a:r>
            <a:endParaRPr/>
          </a:p>
        </p:txBody>
      </p:sp>
      <p:pic>
        <p:nvPicPr>
          <p:cNvPr id="1576960483" name="Picture 7"/>
          <p:cNvPicPr>
            <a:picLocks noChangeAspect="1" noChangeArrowheads="1"/>
          </p:cNvPicPr>
          <p:nvPr/>
        </p:nvPicPr>
        <p:blipFill rotWithShape="1">
          <a:blip r:embed="rId4"/>
          <a:stretch/>
        </p:blipFill>
        <p:spPr bwMode="auto">
          <a:xfrm>
            <a:off x="1323134" y="5226565"/>
            <a:ext cx="3962400" cy="703262"/>
          </a:xfrm>
          <a:prstGeom prst="rect">
            <a:avLst/>
          </a:prstGeom>
          <a:noFill/>
          <a:ln>
            <a:noFill/>
          </a:ln>
        </p:spPr>
      </p:pic>
      <p:pic>
        <p:nvPicPr>
          <p:cNvPr id="42781940" name="Picture 8"/>
          <p:cNvPicPr>
            <a:picLocks noChangeAspect="1" noChangeArrowheads="1"/>
          </p:cNvPicPr>
          <p:nvPr/>
        </p:nvPicPr>
        <p:blipFill rotWithShape="1">
          <a:blip r:embed="rId5"/>
          <a:stretch/>
        </p:blipFill>
        <p:spPr bwMode="auto">
          <a:xfrm>
            <a:off x="933219" y="6107399"/>
            <a:ext cx="4840857" cy="701777"/>
          </a:xfrm>
          <a:prstGeom prst="rect">
            <a:avLst/>
          </a:prstGeom>
          <a:noFill/>
          <a:ln>
            <a:noFill/>
          </a:ln>
        </p:spPr>
      </p:pic>
      <p:sp>
        <p:nvSpPr>
          <p:cNvPr id="112680473" name="TextBox 1"/>
          <p:cNvSpPr txBox="1"/>
          <p:nvPr/>
        </p:nvSpPr>
        <p:spPr bwMode="auto">
          <a:xfrm>
            <a:off x="5883306" y="5503951"/>
            <a:ext cx="6067971" cy="400110"/>
          </a:xfrm>
          <a:prstGeom prst="rect">
            <a:avLst/>
          </a:prstGeom>
          <a:solidFill>
            <a:srgbClr val="FFFF00"/>
          </a:solidFill>
        </p:spPr>
        <p:txBody>
          <a:bodyPr wrap="square" rtlCol="0">
            <a:spAutoFit/>
          </a:bodyPr>
          <a:lstStyle/>
          <a:p>
            <a:pPr>
              <a:defRPr/>
            </a:pPr>
            <a:r>
              <a:rPr lang="en-US"/>
              <a:t>Nguồn: mục Wikipedia về </a:t>
            </a:r>
            <a:r>
              <a:rPr lang="en-US" sz="1700" i="1"/>
              <a:t>Kullback-Leibler</a:t>
            </a:r>
            <a:r>
              <a:rPr lang="en-US" sz="1700" i="1"/>
              <a:t> (KL) </a:t>
            </a:r>
            <a:endParaRPr lang="en-US"/>
          </a:p>
        </p:txBody>
      </p:sp>
      <p:sp>
        <p:nvSpPr>
          <p:cNvPr id="1692882818" name="TextBox 2"/>
          <p:cNvSpPr txBox="1"/>
          <p:nvPr/>
        </p:nvSpPr>
        <p:spPr bwMode="auto">
          <a:xfrm>
            <a:off x="304917" y="5733293"/>
            <a:ext cx="1606076" cy="400110"/>
          </a:xfrm>
          <a:prstGeom prst="rect">
            <a:avLst/>
          </a:prstGeom>
          <a:solidFill>
            <a:srgbClr val="92D050"/>
          </a:solidFill>
        </p:spPr>
        <p:txBody>
          <a:bodyPr wrap="square" rtlCol="0">
            <a:spAutoFit/>
          </a:bodyPr>
          <a:lstStyle/>
          <a:p>
            <a:pPr>
              <a:spcBef>
                <a:spcPts val="200"/>
              </a:spcBef>
              <a:defRPr/>
            </a:pPr>
            <a:r>
              <a:rPr lang="en-US" sz="1700"/>
              <a:t>Dạng rời rạc</a:t>
            </a:r>
            <a:endParaRPr/>
          </a:p>
        </p:txBody>
      </p:sp>
      <p:sp>
        <p:nvSpPr>
          <p:cNvPr id="333700921" name="TextBox 9"/>
          <p:cNvSpPr txBox="1"/>
          <p:nvPr/>
        </p:nvSpPr>
        <p:spPr bwMode="auto">
          <a:xfrm>
            <a:off x="6244490" y="6255412"/>
            <a:ext cx="1931122" cy="400110"/>
          </a:xfrm>
          <a:prstGeom prst="rect">
            <a:avLst/>
          </a:prstGeom>
          <a:solidFill>
            <a:srgbClr val="92D050"/>
          </a:solidFill>
        </p:spPr>
        <p:txBody>
          <a:bodyPr wrap="square" rtlCol="0">
            <a:spAutoFit/>
          </a:bodyPr>
          <a:lstStyle/>
          <a:p>
            <a:pPr>
              <a:spcBef>
                <a:spcPts val="200"/>
              </a:spcBef>
              <a:defRPr/>
            </a:pPr>
            <a:r>
              <a:rPr lang="en-US" sz="1700"/>
              <a:t>Dạng liên tục</a:t>
            </a:r>
            <a:endParaRPr/>
          </a:p>
        </p:txBody>
      </p:sp>
      <p:sp>
        <p:nvSpPr>
          <p:cNvPr id="431735263" name="Down Arrow 3"/>
          <p:cNvSpPr/>
          <p:nvPr/>
        </p:nvSpPr>
        <p:spPr bwMode="auto">
          <a:xfrm rot="14375523">
            <a:off x="1852472" y="5717242"/>
            <a:ext cx="380144" cy="317414"/>
          </a:xfrm>
          <a:prstGeom prst="downArrow">
            <a:avLst>
              <a:gd name="adj1" fmla="val 50000"/>
              <a:gd name="adj2" fmla="val 50000"/>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57670240" name="Down Arrow 11"/>
          <p:cNvSpPr/>
          <p:nvPr/>
        </p:nvSpPr>
        <p:spPr bwMode="auto">
          <a:xfrm rot="5400000">
            <a:off x="5905928" y="6316616"/>
            <a:ext cx="380144" cy="317414"/>
          </a:xfrm>
          <a:prstGeom prst="downArrow">
            <a:avLst>
              <a:gd name="adj1" fmla="val 50000"/>
              <a:gd name="adj2" fmla="val 50000"/>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27394822" name="Rectangle 2"/>
          <p:cNvSpPr>
            <a:spLocks noChangeArrowheads="1" noGrp="1"/>
          </p:cNvSpPr>
          <p:nvPr>
            <p:ph type="title"/>
          </p:nvPr>
        </p:nvSpPr>
        <p:spPr bwMode="auto">
          <a:xfrm>
            <a:off x="0" y="0"/>
            <a:ext cx="8178229" cy="1143000"/>
          </a:xfrm>
        </p:spPr>
        <p:txBody>
          <a:bodyPr vert="horz" lIns="92075" tIns="46038" rIns="92075" bIns="46038" rtlCol="0" anchor="t">
            <a:normAutofit/>
          </a:bodyPr>
          <a:lstStyle/>
          <a:p>
            <a:pPr>
              <a:defRPr/>
            </a:pPr>
            <a:r>
              <a:rPr lang="en-US">
                <a:solidFill>
                  <a:srgbClr val="170981"/>
                </a:solidFill>
              </a:rPr>
              <a:t> </a:t>
            </a:r>
            <a:r>
              <a:rPr lang="en-US"/>
              <a:t>Thêm về </a:t>
            </a:r>
            <a:r>
              <a:rPr lang="en-US" sz="4200"/>
              <a:t>độ phân kỳ KL</a:t>
            </a:r>
            <a:endParaRPr/>
          </a:p>
        </p:txBody>
      </p:sp>
      <p:sp>
        <p:nvSpPr>
          <p:cNvPr id="1036255729" name="Rectangle 3"/>
          <p:cNvSpPr>
            <a:spLocks noChangeArrowheads="1" noGrp="1"/>
          </p:cNvSpPr>
          <p:nvPr>
            <p:ph type="body" idx="1"/>
          </p:nvPr>
        </p:nvSpPr>
        <p:spPr bwMode="auto">
          <a:xfrm>
            <a:off x="573742" y="1143000"/>
            <a:ext cx="10994959" cy="5410200"/>
          </a:xfrm>
        </p:spPr>
        <p:txBody>
          <a:bodyPr vert="horz" lIns="92075" tIns="46038" rIns="92075" bIns="46038" rtlCol="0">
            <a:noAutofit/>
          </a:bodyPr>
          <a:lstStyle/>
          <a:p>
            <a:pPr>
              <a:spcBef>
                <a:spcPts val="200"/>
              </a:spcBef>
              <a:defRPr/>
            </a:pPr>
            <a:r>
              <a:rPr lang="en-US" sz="2000"/>
              <a:t>Độ phân kỳ KL đo số bit thừa kỳ vọng cần thiết để mã hóa các mẫu từ </a:t>
            </a:r>
            <a:r>
              <a:rPr lang="en-US" sz="2000" i="1"/>
              <a:t>p</a:t>
            </a:r>
            <a:r>
              <a:rPr lang="en-US" sz="2000"/>
              <a:t>(</a:t>
            </a:r>
            <a:r>
              <a:rPr lang="en-US" sz="2000" i="1"/>
              <a:t>x</a:t>
            </a:r>
            <a:r>
              <a:rPr lang="en-US" sz="2000"/>
              <a:t> (phân bố “thật”) khi dùng mã dựa trên </a:t>
            </a:r>
            <a:r>
              <a:rPr lang="en-US" sz="2000" i="1"/>
              <a:t>q</a:t>
            </a:r>
            <a:r>
              <a:rPr lang="en-US" sz="2000"/>
              <a:t>(</a:t>
            </a:r>
            <a:r>
              <a:rPr lang="en-US" sz="2000" i="1"/>
              <a:t>x</a:t>
            </a:r>
            <a:r>
              <a:rPr lang="en-US" sz="2000"/>
              <a:t>, đại diện cho một lý thuyết, mô hình, mô tả, hoặc xấp xỉ của </a:t>
            </a:r>
            <a:r>
              <a:rPr lang="en-US" sz="2000" i="1"/>
              <a:t>p</a:t>
            </a:r>
            <a:r>
              <a:rPr lang="en-US" sz="2000"/>
              <a:t>(</a:t>
            </a:r>
            <a:r>
              <a:rPr lang="en-US" sz="2000" i="1"/>
              <a:t>x</a:t>
            </a:r>
            <a:r>
              <a:rPr lang="en-US" sz="2000"/>
              <a:t>)</a:t>
            </a:r>
            <a:endParaRPr/>
          </a:p>
          <a:p>
            <a:pPr>
              <a:spcBef>
                <a:spcPts val="200"/>
              </a:spcBef>
              <a:defRPr/>
            </a:pPr>
            <a:r>
              <a:rPr lang="en-US" sz="2000"/>
              <a:t>Độ phân kỳ KL không phải là một độ đo khoảng cách, không phải metric: bất đối xứng, không thỏa bất đẳng thức tam giác (</a:t>
            </a:r>
            <a:r>
              <a:rPr lang="en-US" sz="2000" i="1"/>
              <a:t>D</a:t>
            </a:r>
            <a:r>
              <a:rPr lang="en-US" sz="2000" baseline="-25000"/>
              <a:t>KL</a:t>
            </a:r>
            <a:r>
              <a:rPr lang="en-US" sz="2000"/>
              <a:t>(</a:t>
            </a:r>
            <a:r>
              <a:rPr lang="en-US" sz="2000" i="1"/>
              <a:t>P</a:t>
            </a:r>
            <a:r>
              <a:rPr lang="en-US" sz="2000"/>
              <a:t>‖</a:t>
            </a:r>
            <a:r>
              <a:rPr lang="en-US" sz="2000" i="1"/>
              <a:t>Q</a:t>
            </a:r>
            <a:r>
              <a:rPr lang="en-US" sz="2000"/>
              <a:t> không bằng </a:t>
            </a:r>
            <a:r>
              <a:rPr lang="en-US" sz="2000" i="1"/>
              <a:t>D</a:t>
            </a:r>
            <a:r>
              <a:rPr lang="en-US" sz="2000" baseline="-25000"/>
              <a:t>KL</a:t>
            </a:r>
            <a:r>
              <a:rPr lang="en-US" sz="2000"/>
              <a:t>(</a:t>
            </a:r>
            <a:r>
              <a:rPr lang="en-US" sz="2000" i="1"/>
              <a:t>Q</a:t>
            </a:r>
            <a:r>
              <a:rPr lang="en-US" sz="2000"/>
              <a:t>‖</a:t>
            </a:r>
            <a:r>
              <a:rPr lang="en-US" sz="2000" i="1"/>
              <a:t>P</a:t>
            </a:r>
            <a:r>
              <a:rPr lang="en-US" sz="2000"/>
              <a:t>)</a:t>
            </a:r>
            <a:endParaRPr/>
          </a:p>
          <a:p>
            <a:pPr>
              <a:defRPr/>
            </a:pPr>
            <a:r>
              <a:rPr lang="en-US" sz="2000"/>
              <a:t>Trong ứng dụng, </a:t>
            </a:r>
            <a:r>
              <a:rPr lang="en-US" sz="2000" i="1"/>
              <a:t>P</a:t>
            </a:r>
            <a:r>
              <a:rPr lang="en-US" sz="2000"/>
              <a:t> thường đại diện cho phân bố “thật” của dữ liệu, quan sát, hoặc phân bố lý thuyết được tính chính xác, trong khi </a:t>
            </a:r>
            <a:r>
              <a:rPr lang="en-US" sz="2000" i="1"/>
              <a:t>Q</a:t>
            </a:r>
            <a:r>
              <a:rPr lang="en-US" sz="2000"/>
              <a:t> thường đại diện cho một lý thuyết, mô hình, mô tả, hoặc xấp xỉ của </a:t>
            </a:r>
            <a:r>
              <a:rPr lang="en-US" sz="2000" i="1"/>
              <a:t>P</a:t>
            </a:r>
            <a:r>
              <a:rPr lang="en-US" sz="2000"/>
              <a:t>.</a:t>
            </a:r>
            <a:endParaRPr/>
          </a:p>
          <a:p>
            <a:pPr>
              <a:defRPr/>
            </a:pPr>
            <a:r>
              <a:rPr lang="en-US" sz="2000"/>
              <a:t>Độ phân kỳ </a:t>
            </a:r>
            <a:r>
              <a:rPr lang="en-US" sz="2000"/>
              <a:t>Kullback</a:t>
            </a:r>
            <a:r>
              <a:rPr lang="en-US" sz="2000"/>
              <a:t>–</a:t>
            </a:r>
            <a:r>
              <a:rPr lang="en-US" sz="2000"/>
              <a:t>Leibler</a:t>
            </a:r>
            <a:r>
              <a:rPr lang="en-US" sz="2000"/>
              <a:t> từ </a:t>
            </a:r>
            <a:r>
              <a:rPr lang="en-US" sz="2000" i="1"/>
              <a:t>Q</a:t>
            </a:r>
            <a:r>
              <a:rPr lang="en-US" sz="2000"/>
              <a:t> đến </a:t>
            </a:r>
            <a:r>
              <a:rPr lang="en-US" sz="2000" i="1"/>
              <a:t>P</a:t>
            </a:r>
            <a:r>
              <a:rPr lang="en-US" sz="2000"/>
              <a:t>, ký hiệu </a:t>
            </a:r>
            <a:r>
              <a:rPr lang="en-US" sz="2000" i="1"/>
              <a:t>D</a:t>
            </a:r>
            <a:r>
              <a:rPr lang="en-US" sz="2000" baseline="-25000"/>
              <a:t>KL</a:t>
            </a:r>
            <a:r>
              <a:rPr lang="en-US" sz="2000"/>
              <a:t>(</a:t>
            </a:r>
            <a:r>
              <a:rPr lang="en-US" sz="2000" i="1"/>
              <a:t>P</a:t>
            </a:r>
            <a:r>
              <a:rPr lang="en-US" sz="2000"/>
              <a:t>‖</a:t>
            </a:r>
            <a:r>
              <a:rPr lang="en-US" sz="2000" i="1"/>
              <a:t>Q</a:t>
            </a:r>
            <a:r>
              <a:rPr lang="en-US" sz="2000"/>
              <a:t>, là độ đo lượng thông tin thu được khi ta cập nhật niềm tin từ phân bố xác suất tiên nghiệm </a:t>
            </a:r>
            <a:r>
              <a:rPr lang="en-US" sz="2000" i="1"/>
              <a:t>Q</a:t>
            </a:r>
            <a:r>
              <a:rPr lang="en-US" sz="2000"/>
              <a:t> sang phân bố xác suất hậu nghiệm </a:t>
            </a:r>
            <a:r>
              <a:rPr lang="en-US" sz="2000" i="1"/>
              <a:t>P</a:t>
            </a:r>
            <a:r>
              <a:rPr lang="en-US" sz="2000"/>
              <a:t>. Nói cách khác, đó là lượng thông tin bị mất khi dùng </a:t>
            </a:r>
            <a:r>
              <a:rPr lang="en-US" sz="2000" i="1"/>
              <a:t>Q</a:t>
            </a:r>
            <a:r>
              <a:rPr lang="en-US" sz="2000"/>
              <a:t> để xấp xỉ </a:t>
            </a:r>
            <a:r>
              <a:rPr lang="en-US" sz="2000" i="1"/>
              <a:t>P</a:t>
            </a:r>
            <a:r>
              <a:rPr lang="en-US" sz="2000"/>
              <a:t>.</a:t>
            </a:r>
            <a:endParaRPr/>
          </a:p>
          <a:p>
            <a:pPr>
              <a:defRPr/>
            </a:pPr>
            <a:r>
              <a:rPr lang="en-US" sz="2000"/>
              <a:t>Độ phân kỳ KL đôi khi còn gọi là độ tăng thông tin đạt được nếu dùng </a:t>
            </a:r>
            <a:r>
              <a:rPr lang="en-US" sz="2000" i="1"/>
              <a:t>P</a:t>
            </a:r>
            <a:r>
              <a:rPr lang="en-US" sz="2000"/>
              <a:t> thay vì </a:t>
            </a:r>
            <a:r>
              <a:rPr lang="en-US" sz="2000" i="1"/>
              <a:t>Q</a:t>
            </a:r>
            <a:r>
              <a:rPr lang="en-US" sz="2000"/>
              <a:t>. Nó cũng được gọi là entropy tương đối của </a:t>
            </a:r>
            <a:r>
              <a:rPr lang="en-US" sz="2000" i="1"/>
              <a:t>P</a:t>
            </a:r>
            <a:r>
              <a:rPr lang="en-US" sz="2000"/>
              <a:t> so với </a:t>
            </a:r>
            <a:r>
              <a:rPr lang="en-US" sz="2000" i="1"/>
              <a:t>Q</a:t>
            </a:r>
            <a:r>
              <a:rPr lang="en-US" sz="2000"/>
              <a:t>.</a:t>
            </a:r>
            <a:endParaRPr/>
          </a:p>
          <a:p>
            <a:pPr>
              <a:spcBef>
                <a:spcPts val="200"/>
              </a:spcBef>
              <a:defRPr/>
            </a:pPr>
            <a:endParaRPr lang="en-US" sz="2400"/>
          </a:p>
        </p:txBody>
      </p:sp>
      <p:pic>
        <p:nvPicPr>
          <p:cNvPr id="1355702485" name="Picture 7"/>
          <p:cNvPicPr>
            <a:picLocks noChangeAspect="1" noChangeArrowheads="1"/>
          </p:cNvPicPr>
          <p:nvPr/>
        </p:nvPicPr>
        <p:blipFill rotWithShape="1">
          <a:blip r:embed="rId3"/>
          <a:stretch/>
        </p:blipFill>
        <p:spPr bwMode="auto">
          <a:xfrm>
            <a:off x="7456806" y="304680"/>
            <a:ext cx="3962400" cy="703262"/>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37889102" name="Rectangle 2"/>
          <p:cNvSpPr>
            <a:spLocks noChangeArrowheads="1" noGrp="1"/>
          </p:cNvSpPr>
          <p:nvPr>
            <p:ph type="title"/>
          </p:nvPr>
        </p:nvSpPr>
        <p:spPr bwMode="auto">
          <a:xfrm>
            <a:off x="251012" y="0"/>
            <a:ext cx="11279866" cy="1143000"/>
          </a:xfrm>
        </p:spPr>
        <p:txBody>
          <a:bodyPr vert="horz" lIns="92075" tIns="46038" rIns="92075" bIns="46038" rtlCol="0" anchor="t">
            <a:normAutofit/>
          </a:bodyPr>
          <a:lstStyle/>
          <a:p>
            <a:pPr>
              <a:defRPr/>
            </a:pPr>
            <a:r>
              <a:rPr lang="en-US"/>
              <a:t>Sự tinh tế khi tính độ phân kỳ KL</a:t>
            </a:r>
            <a:endParaRPr/>
          </a:p>
        </p:txBody>
      </p:sp>
      <p:sp>
        <p:nvSpPr>
          <p:cNvPr id="169129594" name="Rectangle 3"/>
          <p:cNvSpPr>
            <a:spLocks noChangeArrowheads="1" noGrp="1"/>
          </p:cNvSpPr>
          <p:nvPr>
            <p:ph type="body" idx="1"/>
          </p:nvPr>
        </p:nvSpPr>
        <p:spPr bwMode="auto">
          <a:xfrm>
            <a:off x="528918" y="1065088"/>
            <a:ext cx="11080880" cy="5792912"/>
          </a:xfrm>
          <a:prstGeom prst="rect">
            <a:avLst/>
          </a:prstGeom>
          <a:noFill/>
        </p:spPr>
        <p:txBody>
          <a:bodyPr vert="horz" lIns="92075" tIns="46038" rIns="92075" bIns="46038" rtlCol="0">
            <a:noAutofit/>
          </a:bodyPr>
          <a:lstStyle/>
          <a:p>
            <a:pPr>
              <a:spcBef>
                <a:spcPts val="200"/>
              </a:spcBef>
              <a:defRPr/>
            </a:pPr>
            <a:r>
              <a:rPr lang="en-US" sz="2000" i="1"/>
              <a:t>Dựa theo công thức, D</a:t>
            </a:r>
            <a:r>
              <a:rPr lang="en-US" sz="2000" i="1" baseline="-25000"/>
              <a:t>KL</a:t>
            </a:r>
            <a:r>
              <a:rPr lang="en-US" sz="2000"/>
              <a:t>(</a:t>
            </a:r>
            <a:r>
              <a:rPr lang="en-US" sz="2000" i="1"/>
              <a:t>P,Q</a:t>
            </a:r>
            <a:r>
              <a:rPr lang="en-US" sz="2000"/>
              <a:t>) </a:t>
            </a:r>
            <a:r>
              <a:rPr lang="en-US" sz="2000" i="1"/>
              <a:t>≥ </a:t>
            </a:r>
            <a:r>
              <a:rPr lang="en-US" sz="2000"/>
              <a:t>0 và D</a:t>
            </a:r>
            <a:r>
              <a:rPr lang="en-US" sz="2000" i="1"/>
              <a:t>D</a:t>
            </a:r>
            <a:r>
              <a:rPr lang="en-US" sz="2000" i="1" baseline="-25000"/>
              <a:t>KL</a:t>
            </a:r>
            <a:r>
              <a:rPr lang="en-US" sz="2000"/>
              <a:t>(</a:t>
            </a:r>
            <a:r>
              <a:rPr lang="en-US" sz="2000" i="1"/>
              <a:t>P </a:t>
            </a:r>
            <a:r>
              <a:rPr lang="en-US" sz="2000"/>
              <a:t>||</a:t>
            </a:r>
            <a:r>
              <a:rPr lang="en-US" sz="2000" i="1"/>
              <a:t> Q</a:t>
            </a:r>
            <a:r>
              <a:rPr lang="en-US" sz="2000"/>
              <a:t> if và chỉ khi </a:t>
            </a:r>
            <a:r>
              <a:rPr lang="en-US" sz="2000" i="1"/>
              <a:t>P </a:t>
            </a:r>
            <a:r>
              <a:rPr lang="en-US" sz="2000"/>
              <a:t>= </a:t>
            </a:r>
            <a:r>
              <a:rPr lang="en-US" sz="2000" i="1"/>
              <a:t>Q</a:t>
            </a:r>
            <a:endParaRPr lang="en-US" sz="2400"/>
          </a:p>
          <a:p>
            <a:pPr>
              <a:spcBef>
                <a:spcPts val="200"/>
              </a:spcBef>
              <a:defRPr/>
            </a:pPr>
            <a:r>
              <a:rPr lang="en-US" sz="2000"/>
              <a:t>Vậy khi p = 0 hoặc q = 0 thì sao?</a:t>
            </a:r>
            <a:endParaRPr/>
          </a:p>
          <a:p>
            <a:pPr lvl="1">
              <a:spcBef>
                <a:spcPts val="200"/>
              </a:spcBef>
              <a:defRPr/>
            </a:pPr>
            <a:r>
              <a:rPr lang="en-US" sz="2000" i="1"/>
              <a:t>lim</a:t>
            </a:r>
            <a:r>
              <a:rPr lang="en-US" sz="2000" i="1" baseline="-25000"/>
              <a:t>p→</a:t>
            </a:r>
            <a:r>
              <a:rPr lang="en-US" sz="2000" baseline="-25000"/>
              <a:t>0</a:t>
            </a:r>
            <a:r>
              <a:rPr lang="en-US" sz="2000"/>
              <a:t> </a:t>
            </a:r>
            <a:r>
              <a:rPr lang="en-US" sz="2000" i="1"/>
              <a:t>p </a:t>
            </a:r>
            <a:r>
              <a:rPr lang="en-US" sz="2000"/>
              <a:t>log </a:t>
            </a:r>
            <a:r>
              <a:rPr lang="en-US" sz="2000" i="1"/>
              <a:t>p </a:t>
            </a:r>
            <a:r>
              <a:rPr lang="en-US" sz="2000"/>
              <a:t>= 0</a:t>
            </a:r>
            <a:endParaRPr/>
          </a:p>
          <a:p>
            <a:pPr lvl="1">
              <a:spcBef>
                <a:spcPts val="200"/>
              </a:spcBef>
              <a:defRPr/>
            </a:pPr>
            <a:r>
              <a:rPr lang="en-US" sz="2000"/>
              <a:t>khi </a:t>
            </a:r>
            <a:r>
              <a:rPr lang="en-US" sz="2000" i="1"/>
              <a:t>p !</a:t>
            </a:r>
            <a:r>
              <a:rPr lang="en-US" sz="2000"/>
              <a:t>= 0 nhưng </a:t>
            </a:r>
            <a:r>
              <a:rPr lang="en-US" sz="2000" i="1"/>
              <a:t>q = </a:t>
            </a:r>
            <a:r>
              <a:rPr lang="en-US" sz="2000"/>
              <a:t>0, </a:t>
            </a:r>
            <a:r>
              <a:rPr lang="en-US" sz="2000" i="1"/>
              <a:t>D</a:t>
            </a:r>
            <a:r>
              <a:rPr lang="en-US" sz="2000" i="1" baseline="-25000"/>
              <a:t>KL</a:t>
            </a:r>
            <a:r>
              <a:rPr lang="en-US" sz="2000"/>
              <a:t>(</a:t>
            </a:r>
            <a:r>
              <a:rPr lang="en-US" sz="2000" i="1"/>
              <a:t>p </a:t>
            </a:r>
            <a:r>
              <a:rPr lang="en-US" sz="2000"/>
              <a:t>||</a:t>
            </a:r>
            <a:r>
              <a:rPr lang="en-US" sz="2000" i="1"/>
              <a:t> q</a:t>
            </a:r>
            <a:r>
              <a:rPr lang="en-US" sz="2000"/>
              <a:t>) is defined as </a:t>
            </a:r>
            <a:r>
              <a:rPr lang="en-US" sz="2000" i="1"/>
              <a:t>∞</a:t>
            </a:r>
            <a:r>
              <a:rPr lang="en-US" sz="2000"/>
              <a:t>, i.e., if one event </a:t>
            </a:r>
            <a:r>
              <a:rPr lang="en-US" sz="2000" i="1"/>
              <a:t>e </a:t>
            </a:r>
            <a:r>
              <a:rPr lang="en-US" sz="2000"/>
              <a:t>is possible (</a:t>
            </a:r>
            <a:r>
              <a:rPr lang="en-US" sz="2000" i="1"/>
              <a:t>i.e.</a:t>
            </a:r>
            <a:r>
              <a:rPr lang="en-US" sz="2000"/>
              <a:t>, </a:t>
            </a:r>
            <a:r>
              <a:rPr lang="en-US" sz="2000" i="1"/>
              <a:t>p</a:t>
            </a:r>
            <a:r>
              <a:rPr lang="en-US" sz="2000"/>
              <a:t>(</a:t>
            </a:r>
            <a:r>
              <a:rPr lang="en-US" sz="2000" i="1"/>
              <a:t>e</a:t>
            </a:r>
            <a:r>
              <a:rPr lang="en-US" sz="2000"/>
              <a:t>) </a:t>
            </a:r>
            <a:r>
              <a:rPr lang="en-US" sz="2000" i="1"/>
              <a:t>&gt; </a:t>
            </a:r>
            <a:r>
              <a:rPr lang="en-US" sz="2000"/>
              <a:t>0), and the other predicts it is absolutely impossible (</a:t>
            </a:r>
            <a:r>
              <a:rPr lang="en-US" sz="2000" i="1"/>
              <a:t>i.e.</a:t>
            </a:r>
            <a:r>
              <a:rPr lang="en-US" sz="2000"/>
              <a:t>, </a:t>
            </a:r>
            <a:r>
              <a:rPr lang="en-US" sz="2000" i="1"/>
              <a:t>q</a:t>
            </a:r>
            <a:r>
              <a:rPr lang="en-US" sz="2000"/>
              <a:t>(</a:t>
            </a:r>
            <a:r>
              <a:rPr lang="en-US" sz="2000" i="1"/>
              <a:t>e</a:t>
            </a:r>
            <a:r>
              <a:rPr lang="en-US" sz="2000"/>
              <a:t>, thì hai phân bố hoàn toàn khác nhau</a:t>
            </a:r>
            <a:endParaRPr/>
          </a:p>
          <a:p>
            <a:pPr>
              <a:spcBef>
                <a:spcPts val="200"/>
              </a:spcBef>
              <a:defRPr/>
            </a:pPr>
            <a:r>
              <a:rPr lang="en-US" sz="2000"/>
              <a:t>Tuy nhiên, trong thực tế, </a:t>
            </a:r>
            <a:r>
              <a:rPr lang="en-US" sz="2000" i="1"/>
              <a:t>P </a:t>
            </a:r>
            <a:r>
              <a:rPr lang="en-US" sz="2000"/>
              <a:t>và </a:t>
            </a:r>
            <a:r>
              <a:rPr lang="en-US" sz="2000" i="1"/>
              <a:t>Q </a:t>
            </a:r>
            <a:r>
              <a:rPr lang="en-US" sz="2000"/>
              <a:t>được suy ra từ phân bố tần suất, không tính đến khả năng của các sự kiện chưa quan sát được. Do đó cần </a:t>
            </a:r>
            <a:r>
              <a:rPr lang="en-US" sz="2000" i="1"/>
              <a:t>làm mượt (smoothing)</a:t>
            </a:r>
            <a:endParaRPr/>
          </a:p>
          <a:p>
            <a:pPr>
              <a:spcBef>
                <a:spcPts val="200"/>
              </a:spcBef>
              <a:defRPr/>
            </a:pPr>
            <a:r>
              <a:rPr lang="en-US" sz="2000"/>
              <a:t>Example: </a:t>
            </a:r>
            <a:r>
              <a:rPr lang="en-US" sz="2000" i="1"/>
              <a:t>P </a:t>
            </a:r>
            <a:r>
              <a:rPr lang="en-US" sz="2000"/>
              <a:t>: (</a:t>
            </a:r>
            <a:r>
              <a:rPr lang="en-US" sz="2000" i="1"/>
              <a:t>a </a:t>
            </a:r>
            <a:r>
              <a:rPr lang="en-US" sz="2000"/>
              <a:t>: 3</a:t>
            </a:r>
            <a:r>
              <a:rPr lang="en-US" sz="2000" i="1"/>
              <a:t>/</a:t>
            </a:r>
            <a:r>
              <a:rPr lang="en-US" sz="2000"/>
              <a:t>5</a:t>
            </a:r>
            <a:r>
              <a:rPr lang="en-US" sz="2000" i="1"/>
              <a:t>, b </a:t>
            </a:r>
            <a:r>
              <a:rPr lang="en-US" sz="2000"/>
              <a:t>: 1</a:t>
            </a:r>
            <a:r>
              <a:rPr lang="en-US" sz="2000" i="1"/>
              <a:t>/</a:t>
            </a:r>
            <a:r>
              <a:rPr lang="en-US" sz="2000"/>
              <a:t>5</a:t>
            </a:r>
            <a:r>
              <a:rPr lang="en-US" sz="2000" i="1"/>
              <a:t>, c </a:t>
            </a:r>
            <a:r>
              <a:rPr lang="en-US" sz="2000"/>
              <a:t>: 1</a:t>
            </a:r>
            <a:r>
              <a:rPr lang="en-US" sz="2000" i="1"/>
              <a:t>/</a:t>
            </a:r>
            <a:r>
              <a:rPr lang="en-US" sz="2000"/>
              <a:t>5).  </a:t>
            </a:r>
            <a:r>
              <a:rPr lang="en-US" sz="2000" i="1"/>
              <a:t>Q </a:t>
            </a:r>
            <a:r>
              <a:rPr lang="en-US" sz="2000"/>
              <a:t>: (</a:t>
            </a:r>
            <a:r>
              <a:rPr lang="en-US" sz="2000" i="1"/>
              <a:t>a </a:t>
            </a:r>
            <a:r>
              <a:rPr lang="en-US" sz="2000"/>
              <a:t>: 5</a:t>
            </a:r>
            <a:r>
              <a:rPr lang="en-US" sz="2000" i="1"/>
              <a:t>/</a:t>
            </a:r>
            <a:r>
              <a:rPr lang="en-US" sz="2000"/>
              <a:t>9</a:t>
            </a:r>
            <a:r>
              <a:rPr lang="en-US" sz="2000" i="1"/>
              <a:t>, b </a:t>
            </a:r>
            <a:r>
              <a:rPr lang="en-US" sz="2000"/>
              <a:t>: 3</a:t>
            </a:r>
            <a:r>
              <a:rPr lang="en-US" sz="2000" i="1"/>
              <a:t>/</a:t>
            </a:r>
            <a:r>
              <a:rPr lang="en-US" sz="2000"/>
              <a:t>9</a:t>
            </a:r>
            <a:r>
              <a:rPr lang="en-US" sz="2000" i="1"/>
              <a:t>, d </a:t>
            </a:r>
            <a:r>
              <a:rPr lang="en-US" sz="2000"/>
              <a:t>: 1</a:t>
            </a:r>
            <a:r>
              <a:rPr lang="en-US" sz="2000" i="1"/>
              <a:t>/</a:t>
            </a:r>
            <a:r>
              <a:rPr lang="en-US" sz="2000"/>
              <a:t>9)</a:t>
            </a:r>
            <a:endParaRPr/>
          </a:p>
          <a:p>
            <a:pPr lvl="1">
              <a:spcBef>
                <a:spcPts val="200"/>
              </a:spcBef>
              <a:defRPr/>
            </a:pPr>
            <a:r>
              <a:rPr lang="en-US" sz="2000"/>
              <a:t>cần đưa vào một hằng số nhỏ </a:t>
            </a:r>
            <a:r>
              <a:rPr lang="en-US" sz="2000" i="1"/>
              <a:t>ϵ</a:t>
            </a:r>
            <a:r>
              <a:rPr lang="en-US" sz="2000"/>
              <a:t>, e.g., </a:t>
            </a:r>
            <a:r>
              <a:rPr lang="en-US" sz="2000" i="1"/>
              <a:t>, ví dụ, </a:t>
            </a:r>
            <a:r>
              <a:rPr lang="en-US" sz="2000"/>
              <a:t>= 10</a:t>
            </a:r>
            <a:r>
              <a:rPr lang="en-US" sz="2000" i="1" baseline="30000"/>
              <a:t>−</a:t>
            </a:r>
            <a:r>
              <a:rPr lang="en-US" sz="2000" baseline="30000"/>
              <a:t>3</a:t>
            </a:r>
            <a:endParaRPr/>
          </a:p>
          <a:p>
            <a:pPr lvl="1">
              <a:spcBef>
                <a:spcPts val="200"/>
              </a:spcBef>
              <a:defRPr/>
            </a:pPr>
            <a:r>
              <a:rPr lang="en-US" sz="2000"/>
              <a:t>Tập mẫu quan sát được trong </a:t>
            </a:r>
            <a:r>
              <a:rPr lang="en-US" sz="2000" i="1"/>
              <a:t>P</a:t>
            </a:r>
            <a:r>
              <a:rPr lang="en-US" sz="2000"/>
              <a:t>, </a:t>
            </a:r>
            <a:r>
              <a:rPr lang="en-US" sz="2000" i="1"/>
              <a:t>SP </a:t>
            </a:r>
            <a:r>
              <a:rPr lang="en-US" sz="2000"/>
              <a:t>= </a:t>
            </a:r>
            <a:r>
              <a:rPr lang="en-US" sz="2000" i="1"/>
              <a:t>{a, b, c}</a:t>
            </a:r>
            <a:r>
              <a:rPr lang="en-US" sz="2000"/>
              <a:t>,  </a:t>
            </a:r>
            <a:r>
              <a:rPr lang="en-US" sz="2000" i="1"/>
              <a:t>SQ </a:t>
            </a:r>
            <a:r>
              <a:rPr lang="en-US" sz="2000"/>
              <a:t>= </a:t>
            </a:r>
            <a:r>
              <a:rPr lang="en-US" sz="2000" i="1"/>
              <a:t>{a, b, d}</a:t>
            </a:r>
            <a:r>
              <a:rPr lang="en-US" sz="2000"/>
              <a:t>,  </a:t>
            </a:r>
            <a:r>
              <a:rPr lang="en-US" sz="2000" i="1"/>
              <a:t>SU </a:t>
            </a:r>
            <a:r>
              <a:rPr lang="en-US" sz="2000"/>
              <a:t>= </a:t>
            </a:r>
            <a:r>
              <a:rPr lang="en-US" sz="2000" i="1"/>
              <a:t>{a, b, c, d}</a:t>
            </a:r>
            <a:endParaRPr lang="en-US" sz="2400"/>
          </a:p>
          <a:p>
            <a:pPr lvl="1">
              <a:spcBef>
                <a:spcPts val="200"/>
              </a:spcBef>
              <a:defRPr/>
            </a:pPr>
            <a:r>
              <a:rPr lang="en-US" sz="2000"/>
              <a:t>Làm mượt, thêm các ký hiệu còn thiếu vào mỗi phân bố, với xác suất </a:t>
            </a:r>
            <a:r>
              <a:rPr lang="en-US" sz="2000" i="1"/>
              <a:t>ϵ</a:t>
            </a:r>
            <a:r>
              <a:rPr lang="en-US" sz="2000"/>
              <a:t> </a:t>
            </a:r>
            <a:endParaRPr/>
          </a:p>
          <a:p>
            <a:pPr lvl="1">
              <a:spcBef>
                <a:spcPts val="200"/>
              </a:spcBef>
              <a:defRPr/>
            </a:pPr>
            <a:r>
              <a:rPr lang="en-US" sz="2000" i="1"/>
              <a:t>P′ </a:t>
            </a:r>
            <a:r>
              <a:rPr lang="en-US" sz="2000"/>
              <a:t>: (</a:t>
            </a:r>
            <a:r>
              <a:rPr lang="en-US" sz="2000" i="1"/>
              <a:t>a </a:t>
            </a:r>
            <a:r>
              <a:rPr lang="en-US" sz="2000"/>
              <a:t>: 3</a:t>
            </a:r>
            <a:r>
              <a:rPr lang="en-US" sz="2000" i="1"/>
              <a:t>/</a:t>
            </a:r>
            <a:r>
              <a:rPr lang="en-US" sz="2000"/>
              <a:t>5 </a:t>
            </a:r>
            <a:r>
              <a:rPr lang="en-US" sz="2000" i="1"/>
              <a:t>− </a:t>
            </a:r>
            <a:r>
              <a:rPr lang="el-GR" sz="2000" i="1"/>
              <a:t>ϵ/</a:t>
            </a:r>
            <a:r>
              <a:rPr lang="el-GR" sz="2000"/>
              <a:t>3</a:t>
            </a:r>
            <a:r>
              <a:rPr lang="el-GR" sz="2000" i="1"/>
              <a:t>, </a:t>
            </a:r>
            <a:r>
              <a:rPr lang="en-US" sz="2000" i="1"/>
              <a:t>b </a:t>
            </a:r>
            <a:r>
              <a:rPr lang="en-US" sz="2000"/>
              <a:t>: 1</a:t>
            </a:r>
            <a:r>
              <a:rPr lang="en-US" sz="2000" i="1"/>
              <a:t>/</a:t>
            </a:r>
            <a:r>
              <a:rPr lang="en-US" sz="2000"/>
              <a:t>5 </a:t>
            </a:r>
            <a:r>
              <a:rPr lang="en-US" sz="2000" i="1"/>
              <a:t>− </a:t>
            </a:r>
            <a:r>
              <a:rPr lang="el-GR" sz="2000" i="1"/>
              <a:t>ϵ/</a:t>
            </a:r>
            <a:r>
              <a:rPr lang="el-GR" sz="2000"/>
              <a:t>3</a:t>
            </a:r>
            <a:r>
              <a:rPr lang="el-GR" sz="2000" i="1"/>
              <a:t>, </a:t>
            </a:r>
            <a:r>
              <a:rPr lang="en-US" sz="2000" i="1"/>
              <a:t>c </a:t>
            </a:r>
            <a:r>
              <a:rPr lang="en-US" sz="2000"/>
              <a:t>: 1</a:t>
            </a:r>
            <a:r>
              <a:rPr lang="en-US" sz="2000" i="1"/>
              <a:t>/</a:t>
            </a:r>
            <a:r>
              <a:rPr lang="en-US" sz="2000"/>
              <a:t>5 </a:t>
            </a:r>
            <a:r>
              <a:rPr lang="en-US" sz="2000" i="1"/>
              <a:t>− </a:t>
            </a:r>
            <a:r>
              <a:rPr lang="el-GR" sz="2000" i="1"/>
              <a:t>ϵ/</a:t>
            </a:r>
            <a:r>
              <a:rPr lang="el-GR" sz="2000"/>
              <a:t>3</a:t>
            </a:r>
            <a:r>
              <a:rPr lang="el-GR" sz="2000" i="1"/>
              <a:t>, </a:t>
            </a:r>
            <a:r>
              <a:rPr lang="en-US" sz="2000" i="1"/>
              <a:t>d </a:t>
            </a:r>
            <a:r>
              <a:rPr lang="en-US" sz="2000"/>
              <a:t>: </a:t>
            </a:r>
            <a:r>
              <a:rPr lang="el-GR" sz="2000" i="1"/>
              <a:t>ϵ</a:t>
            </a:r>
            <a:r>
              <a:rPr lang="el-GR" sz="2000"/>
              <a:t>) </a:t>
            </a:r>
            <a:endParaRPr lang="en-US" sz="2400"/>
          </a:p>
          <a:p>
            <a:pPr lvl="1">
              <a:spcBef>
                <a:spcPts val="200"/>
              </a:spcBef>
              <a:defRPr/>
            </a:pPr>
            <a:r>
              <a:rPr lang="en-US" sz="2000" i="1"/>
              <a:t>Q′ </a:t>
            </a:r>
            <a:r>
              <a:rPr lang="en-US" sz="2000"/>
              <a:t>: (</a:t>
            </a:r>
            <a:r>
              <a:rPr lang="en-US" sz="2000" i="1"/>
              <a:t>a </a:t>
            </a:r>
            <a:r>
              <a:rPr lang="en-US" sz="2000"/>
              <a:t>: 5</a:t>
            </a:r>
            <a:r>
              <a:rPr lang="en-US" sz="2000" i="1"/>
              <a:t>/</a:t>
            </a:r>
            <a:r>
              <a:rPr lang="en-US" sz="2000"/>
              <a:t>9 </a:t>
            </a:r>
            <a:r>
              <a:rPr lang="en-US" sz="2000" i="1"/>
              <a:t>− </a:t>
            </a:r>
            <a:r>
              <a:rPr lang="el-GR" sz="2000" i="1"/>
              <a:t>ϵ/</a:t>
            </a:r>
            <a:r>
              <a:rPr lang="el-GR" sz="2000"/>
              <a:t>3</a:t>
            </a:r>
            <a:r>
              <a:rPr lang="el-GR" sz="2000" i="1"/>
              <a:t>, </a:t>
            </a:r>
            <a:r>
              <a:rPr lang="en-US" sz="2000" i="1"/>
              <a:t>b </a:t>
            </a:r>
            <a:r>
              <a:rPr lang="en-US" sz="2000"/>
              <a:t>: 3</a:t>
            </a:r>
            <a:r>
              <a:rPr lang="en-US" sz="2000" i="1"/>
              <a:t>/</a:t>
            </a:r>
            <a:r>
              <a:rPr lang="en-US" sz="2000"/>
              <a:t>9 </a:t>
            </a:r>
            <a:r>
              <a:rPr lang="en-US" sz="2000" i="1"/>
              <a:t>− ϵ/</a:t>
            </a:r>
            <a:r>
              <a:rPr lang="en-US" sz="2000"/>
              <a:t>3</a:t>
            </a:r>
            <a:r>
              <a:rPr lang="en-US" sz="2000" i="1"/>
              <a:t>, c </a:t>
            </a:r>
            <a:r>
              <a:rPr lang="en-US" sz="2000"/>
              <a:t>: </a:t>
            </a:r>
            <a:r>
              <a:rPr lang="en-US" sz="2000" i="1"/>
              <a:t>ϵ, d </a:t>
            </a:r>
            <a:r>
              <a:rPr lang="en-US" sz="2000"/>
              <a:t>: 1</a:t>
            </a:r>
            <a:r>
              <a:rPr lang="en-US" sz="2000" i="1"/>
              <a:t>/</a:t>
            </a:r>
            <a:r>
              <a:rPr lang="en-US" sz="2000"/>
              <a:t>9 </a:t>
            </a:r>
            <a:r>
              <a:rPr lang="en-US" sz="2000" i="1"/>
              <a:t>− ϵ/</a:t>
            </a:r>
            <a:r>
              <a:rPr lang="en-US" sz="2000"/>
              <a:t>3)</a:t>
            </a:r>
            <a:endParaRPr/>
          </a:p>
          <a:p>
            <a:pPr lvl="1">
              <a:spcBef>
                <a:spcPts val="200"/>
              </a:spcBef>
              <a:defRPr/>
            </a:pPr>
            <a:r>
              <a:rPr lang="en-US" sz="2000" i="1"/>
              <a:t>D</a:t>
            </a:r>
            <a:r>
              <a:rPr lang="en-US" sz="2000" i="1" baseline="-25000"/>
              <a:t>KL</a:t>
            </a:r>
            <a:r>
              <a:rPr lang="en-US" sz="2000"/>
              <a:t>(</a:t>
            </a:r>
            <a:r>
              <a:rPr lang="en-US" sz="2000" i="1"/>
              <a:t>P’ </a:t>
            </a:r>
            <a:r>
              <a:rPr lang="en-US" sz="2000"/>
              <a:t>||</a:t>
            </a:r>
            <a:r>
              <a:rPr lang="en-US" sz="2000" i="1"/>
              <a:t> Q’</a:t>
            </a:r>
            <a:r>
              <a:rPr lang="en-US" sz="2000"/>
              <a:t> sau đó có thể được tính dễ dàng</a:t>
            </a:r>
            <a:endParaRPr lang="en-US" sz="2400" i="1"/>
          </a:p>
        </p:txBody>
      </p:sp>
      <p:pic>
        <p:nvPicPr>
          <p:cNvPr id="1909897940" name="Picture 7"/>
          <p:cNvPicPr>
            <a:picLocks noChangeAspect="1" noChangeArrowheads="1"/>
          </p:cNvPicPr>
          <p:nvPr/>
        </p:nvPicPr>
        <p:blipFill rotWithShape="1">
          <a:blip r:embed="rId3"/>
          <a:stretch/>
        </p:blipFill>
        <p:spPr bwMode="auto">
          <a:xfrm>
            <a:off x="6961597" y="1376354"/>
            <a:ext cx="4648200" cy="823912"/>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8449469" name="Rectangle 2"/>
          <p:cNvSpPr>
            <a:spLocks noChangeArrowheads="1" noGrp="1"/>
          </p:cNvSpPr>
          <p:nvPr>
            <p:ph type="title"/>
          </p:nvPr>
        </p:nvSpPr>
        <p:spPr bwMode="auto">
          <a:xfrm>
            <a:off x="542924" y="63373"/>
            <a:ext cx="11106150" cy="1066800"/>
          </a:xfrm>
        </p:spPr>
        <p:txBody>
          <a:bodyPr anchor="t">
            <a:normAutofit fontScale="90000"/>
          </a:bodyPr>
          <a:lstStyle/>
          <a:p>
            <a:pPr>
              <a:spcAft>
                <a:spcPts val="600"/>
              </a:spcAft>
              <a:defRPr/>
            </a:pPr>
            <a:r>
              <a:rPr lang="en-US"/>
              <a:t>Nắm bắt ngữ nghĩa ẩn trong các độ đo tương tự</a:t>
            </a:r>
            <a:endParaRPr/>
          </a:p>
        </p:txBody>
      </p:sp>
      <p:sp>
        <p:nvSpPr>
          <p:cNvPr id="1971664813" name="Rectangle 3"/>
          <p:cNvSpPr>
            <a:spLocks noChangeArrowheads="1" noGrp="1"/>
          </p:cNvSpPr>
          <p:nvPr>
            <p:ph type="body" idx="1"/>
          </p:nvPr>
        </p:nvSpPr>
        <p:spPr bwMode="auto">
          <a:xfrm>
            <a:off x="663388" y="1209235"/>
            <a:ext cx="10865223" cy="5257800"/>
          </a:xfrm>
        </p:spPr>
        <p:txBody>
          <a:bodyPr/>
          <a:lstStyle/>
          <a:p>
            <a:pPr>
              <a:spcAft>
                <a:spcPts val="600"/>
              </a:spcAft>
              <a:defRPr/>
            </a:pPr>
            <a:r>
              <a:rPr lang="en-US"/>
              <a:t>Các độ đo tương tự trên không thể nắm bắt được ngữ nghĩa ẩn </a:t>
            </a:r>
            <a:endParaRPr/>
          </a:p>
          <a:p>
            <a:pPr lvl="1">
              <a:spcAft>
                <a:spcPts val="600"/>
              </a:spcAft>
              <a:defRPr/>
            </a:pPr>
            <a:r>
              <a:rPr lang="en-US"/>
              <a:t>Cặp nào tương tự nhau hơn: Hình học, đại số, âm nhạc, chính trị?</a:t>
            </a:r>
            <a:endParaRPr/>
          </a:p>
          <a:p>
            <a:pPr>
              <a:spcAft>
                <a:spcPts val="600"/>
              </a:spcAft>
              <a:defRPr/>
            </a:pPr>
            <a:r>
              <a:rPr lang="en-US"/>
              <a:t>Cùng một túi từ có thể diễn đạt những ý nghĩa khá khác nhau </a:t>
            </a:r>
            <a:endParaRPr/>
          </a:p>
          <a:p>
            <a:pPr lvl="1">
              <a:spcAft>
                <a:spcPts val="600"/>
              </a:spcAft>
              <a:defRPr/>
            </a:pPr>
            <a:r>
              <a:rPr lang="en-US"/>
              <a:t>“Con mèo cắn con chuột” so với “Con chuột cắn con mèo”</a:t>
            </a:r>
            <a:endParaRPr/>
          </a:p>
          <a:p>
            <a:pPr lvl="1">
              <a:spcAft>
                <a:spcPts val="600"/>
              </a:spcAft>
              <a:defRPr/>
            </a:pPr>
            <a:r>
              <a:rPr lang="en-US"/>
              <a:t>Điều này vượt quá khả năng xử lý của mô hình không gian vectơ</a:t>
            </a:r>
            <a:endParaRPr/>
          </a:p>
          <a:p>
            <a:pPr>
              <a:spcAft>
                <a:spcPts val="600"/>
              </a:spcAft>
              <a:defRPr/>
            </a:pPr>
            <a:r>
              <a:rPr lang="en-US"/>
              <a:t>Hơn nữa, đối tượng có thể được cấu thành từ các cấu trúc và mối liên kết khá phức tạp (ví dụ: đồ thị và mạng)  </a:t>
            </a:r>
            <a:endParaRPr/>
          </a:p>
          <a:p>
            <a:pPr>
              <a:spcAft>
                <a:spcPts val="600"/>
              </a:spcAft>
              <a:defRPr/>
            </a:pPr>
            <a:r>
              <a:rPr lang="en-US"/>
              <a:t>Cần có các độ đo tương tự mới để xử lý ngữ nghĩa phức tạp</a:t>
            </a:r>
            <a:endParaRPr/>
          </a:p>
          <a:p>
            <a:pPr lvl="1">
              <a:spcAft>
                <a:spcPts val="600"/>
              </a:spcAft>
              <a:defRPr/>
            </a:pPr>
            <a:r>
              <a:rPr lang="en-US"/>
              <a:t>Ví dụ: biểu diễn phân tán và học biểu diễn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85915158" name="Rectangle 2"/>
          <p:cNvSpPr>
            <a:spLocks noChangeArrowheads="1" noGrp="1"/>
          </p:cNvSpPr>
          <p:nvPr>
            <p:ph type="title"/>
          </p:nvPr>
        </p:nvSpPr>
        <p:spPr bwMode="auto">
          <a:xfrm>
            <a:off x="571500" y="0"/>
            <a:ext cx="11106150" cy="1066800"/>
          </a:xfrm>
        </p:spPr>
        <p:txBody>
          <a:bodyPr anchor="t">
            <a:normAutofit fontScale="90000"/>
          </a:bodyPr>
          <a:lstStyle/>
          <a:p>
            <a:pPr>
              <a:defRPr/>
            </a:pPr>
            <a:r>
              <a:rPr lang="en-US" sz="3000"/>
              <a:t>Chất lượng dữ liệu, làm sạch dữ liệu và tích hợp dữ liệu</a:t>
            </a:r>
            <a:endParaRPr/>
          </a:p>
        </p:txBody>
      </p:sp>
      <p:sp>
        <p:nvSpPr>
          <p:cNvPr id="1704537848" name="Rectangle 3"/>
          <p:cNvSpPr>
            <a:spLocks noChangeArrowheads="1" noGrp="1"/>
          </p:cNvSpPr>
          <p:nvPr>
            <p:ph type="body" idx="1"/>
          </p:nvPr>
        </p:nvSpPr>
        <p:spPr bwMode="auto">
          <a:xfrm>
            <a:off x="663388" y="1209235"/>
            <a:ext cx="10865223" cy="5257800"/>
          </a:xfrm>
        </p:spPr>
        <p:txBody>
          <a:bodyPr/>
          <a:lstStyle/>
          <a:p>
            <a:pPr>
              <a:spcAft>
                <a:spcPts val="600"/>
              </a:spcAft>
              <a:defRPr/>
            </a:pPr>
            <a:r>
              <a:rPr lang="en-US"/>
              <a:t>Các độ đo chất lượng dữ liệu </a:t>
            </a:r>
            <a:endParaRPr/>
          </a:p>
          <a:p>
            <a:pPr>
              <a:spcAft>
                <a:spcPts val="600"/>
              </a:spcAft>
              <a:defRPr/>
            </a:pPr>
            <a:r>
              <a:rPr lang="en-US"/>
              <a:t>Làm sạch dữ liệu </a:t>
            </a:r>
            <a:endParaRPr/>
          </a:p>
          <a:p>
            <a:pPr>
              <a:spcAft>
                <a:spcPts val="600"/>
              </a:spcAft>
              <a:defRPr/>
            </a:pPr>
            <a:r>
              <a:rPr lang="en-US"/>
              <a:t>Tích hợp dữ liệu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37260069" name="Rectangle 2"/>
          <p:cNvSpPr>
            <a:spLocks noChangeArrowheads="1" noGrp="1"/>
          </p:cNvSpPr>
          <p:nvPr>
            <p:ph type="title"/>
          </p:nvPr>
        </p:nvSpPr>
        <p:spPr bwMode="auto">
          <a:xfrm>
            <a:off x="600891" y="304800"/>
            <a:ext cx="10972800" cy="685800"/>
          </a:xfrm>
        </p:spPr>
        <p:txBody>
          <a:bodyPr anchor="t">
            <a:normAutofit fontScale="90000"/>
          </a:bodyPr>
          <a:lstStyle/>
          <a:p>
            <a:pPr>
              <a:defRPr/>
            </a:pPr>
            <a:br>
              <a:rPr lang="en-US"/>
            </a:br>
            <a:r>
              <a:rPr lang="en-US" sz="4900"/>
              <a:t>Tiền xử lý dữ liệu là gì? — Các tác vụ chính </a:t>
            </a:r>
            <a:endParaRPr lang="en-US"/>
          </a:p>
        </p:txBody>
      </p:sp>
      <p:sp>
        <p:nvSpPr>
          <p:cNvPr id="208174119" name="Rectangle 3"/>
          <p:cNvSpPr>
            <a:spLocks noChangeArrowheads="1" noGrp="1"/>
          </p:cNvSpPr>
          <p:nvPr>
            <p:ph type="body" idx="1"/>
          </p:nvPr>
        </p:nvSpPr>
        <p:spPr bwMode="auto">
          <a:xfrm>
            <a:off x="600891" y="1243149"/>
            <a:ext cx="10824755" cy="5253446"/>
          </a:xfrm>
        </p:spPr>
        <p:txBody>
          <a:bodyPr/>
          <a:lstStyle/>
          <a:p>
            <a:pPr>
              <a:defRPr/>
            </a:pPr>
            <a:r>
              <a:rPr lang="en-US" sz="2000" b="1"/>
              <a:t>Làm sạch dữ liệu</a:t>
            </a:r>
            <a:endParaRPr/>
          </a:p>
          <a:p>
            <a:pPr lvl="1">
              <a:defRPr/>
            </a:pPr>
            <a:r>
              <a:rPr lang="en-US" sz="2000"/>
              <a:t>Xử lý dữ liệu thiếu, làm mượt dữ liệu nhiễu, xác định hoặc loại bỏ ngoại lệ, và giải quyết sự không nhất quán</a:t>
            </a:r>
            <a:endParaRPr/>
          </a:p>
          <a:p>
            <a:pPr>
              <a:defRPr/>
            </a:pPr>
            <a:r>
              <a:rPr lang="en-US" sz="2000" b="1"/>
              <a:t>Tích hợp dữ liệu</a:t>
            </a:r>
            <a:endParaRPr/>
          </a:p>
          <a:p>
            <a:pPr lvl="1">
              <a:defRPr/>
            </a:pPr>
            <a:r>
              <a:rPr lang="en-US" sz="2000"/>
              <a:t>Tích hợp nhiều cơ sở dữ liệu, khối dữ liệu, hoặc tệp</a:t>
            </a:r>
            <a:endParaRPr/>
          </a:p>
          <a:p>
            <a:pPr>
              <a:defRPr/>
            </a:pPr>
            <a:r>
              <a:rPr lang="en-US" sz="2000" b="1"/>
              <a:t>Giảm dữ liệu</a:t>
            </a:r>
            <a:endParaRPr/>
          </a:p>
          <a:p>
            <a:pPr lvl="1">
              <a:defRPr/>
            </a:pPr>
            <a:r>
              <a:rPr lang="en-US" sz="2000"/>
              <a:t>Giảm số chiều</a:t>
            </a:r>
            <a:endParaRPr/>
          </a:p>
          <a:p>
            <a:pPr lvl="1">
              <a:defRPr/>
            </a:pPr>
            <a:r>
              <a:rPr lang="en-US" sz="2000"/>
              <a:t>Giảm số lượng</a:t>
            </a:r>
            <a:r>
              <a:rPr lang="en-US" sz="2000"/>
              <a:t> bản ghi</a:t>
            </a:r>
            <a:endParaRPr/>
          </a:p>
          <a:p>
            <a:pPr lvl="1">
              <a:defRPr/>
            </a:pPr>
            <a:r>
              <a:rPr lang="en-US" sz="2000"/>
              <a:t>Nén dữ liệu</a:t>
            </a:r>
            <a:endParaRPr/>
          </a:p>
          <a:p>
            <a:pPr>
              <a:defRPr/>
            </a:pPr>
            <a:r>
              <a:rPr lang="en-US" sz="2000" b="1"/>
              <a:t>Biến đổi dữ liệu và rời rạc hóa dữ liệu</a:t>
            </a:r>
            <a:endParaRPr/>
          </a:p>
          <a:p>
            <a:pPr lvl="1">
              <a:defRPr/>
            </a:pPr>
            <a:r>
              <a:rPr lang="en-US" sz="2000"/>
              <a:t>Chuẩn hóa </a:t>
            </a:r>
            <a:endParaRPr/>
          </a:p>
          <a:p>
            <a:pPr lvl="1">
              <a:defRPr/>
            </a:pPr>
            <a:r>
              <a:rPr lang="en-US" sz="2000"/>
              <a:t>Sinh hệ thống phân cấp khái niệm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78049057" name="Rectangle 2"/>
          <p:cNvSpPr>
            <a:spLocks noChangeArrowheads="1" noGrp="1"/>
          </p:cNvSpPr>
          <p:nvPr>
            <p:ph type="title"/>
          </p:nvPr>
        </p:nvSpPr>
        <p:spPr bwMode="auto">
          <a:xfrm>
            <a:off x="0" y="304800"/>
            <a:ext cx="12192000" cy="685800"/>
          </a:xfrm>
        </p:spPr>
        <p:txBody>
          <a:bodyPr anchor="t">
            <a:noAutofit/>
          </a:bodyPr>
          <a:lstStyle/>
          <a:p>
            <a:pPr>
              <a:defRPr/>
            </a:pPr>
            <a:r>
              <a:rPr lang="en-US" sz="3000"/>
              <a:t>Vì sao cần tiền xử lý dữ liệu? — Các vấn đề chất lượng dữ liệu </a:t>
            </a:r>
            <a:endParaRPr/>
          </a:p>
        </p:txBody>
      </p:sp>
      <p:sp>
        <p:nvSpPr>
          <p:cNvPr id="1479101420" name="Rectangle 3"/>
          <p:cNvSpPr>
            <a:spLocks noChangeArrowheads="1" noGrp="1"/>
          </p:cNvSpPr>
          <p:nvPr>
            <p:ph type="body" idx="1"/>
          </p:nvPr>
        </p:nvSpPr>
        <p:spPr bwMode="auto">
          <a:xfrm>
            <a:off x="644434" y="1295399"/>
            <a:ext cx="10850880" cy="5218611"/>
          </a:xfrm>
        </p:spPr>
        <p:txBody>
          <a:bodyPr/>
          <a:lstStyle/>
          <a:p>
            <a:pPr>
              <a:lnSpc>
                <a:spcPct val="140000"/>
              </a:lnSpc>
              <a:defRPr/>
            </a:pPr>
            <a:r>
              <a:rPr lang="en-US" sz="2200"/>
              <a:t>Các độ đo chất lượng dữ liệu: góc nhìn đa chiều</a:t>
            </a:r>
            <a:endParaRPr/>
          </a:p>
          <a:p>
            <a:pPr lvl="1">
              <a:lnSpc>
                <a:spcPct val="140000"/>
              </a:lnSpc>
              <a:defRPr/>
            </a:pPr>
            <a:r>
              <a:rPr lang="en-US" sz="2200"/>
              <a:t>Độ chính xác: đúng hay sai, chính xác hay không</a:t>
            </a:r>
            <a:endParaRPr/>
          </a:p>
          <a:p>
            <a:pPr lvl="1">
              <a:lnSpc>
                <a:spcPct val="140000"/>
              </a:lnSpc>
              <a:defRPr/>
            </a:pPr>
            <a:r>
              <a:rPr lang="en-US" sz="2200"/>
              <a:t>Tính đầy đủ: không được ghi lại, không có sẵn, …</a:t>
            </a:r>
            <a:endParaRPr/>
          </a:p>
          <a:p>
            <a:pPr lvl="1">
              <a:lnSpc>
                <a:spcPct val="140000"/>
              </a:lnSpc>
              <a:defRPr/>
            </a:pPr>
            <a:r>
              <a:rPr lang="en-US" sz="2200"/>
              <a:t>Tính nhất quán: một số đã sửa nhưng số khác thì không, dữ liệu treo, …</a:t>
            </a:r>
            <a:endParaRPr/>
          </a:p>
          <a:p>
            <a:pPr lvl="1">
              <a:lnSpc>
                <a:spcPct val="140000"/>
              </a:lnSpc>
              <a:defRPr/>
            </a:pPr>
            <a:r>
              <a:rPr lang="en-US" sz="2200"/>
              <a:t>Tính kịp thời: có được cập nhật đúng lúc không? </a:t>
            </a:r>
            <a:endParaRPr/>
          </a:p>
          <a:p>
            <a:pPr lvl="1">
              <a:lnSpc>
                <a:spcPct val="140000"/>
              </a:lnSpc>
              <a:defRPr/>
            </a:pPr>
            <a:r>
              <a:rPr lang="en-US" sz="2200"/>
              <a:t>Độ tin cậy: dữ liệu đáng tin đến mức nào?</a:t>
            </a:r>
            <a:endParaRPr/>
          </a:p>
          <a:p>
            <a:pPr lvl="1">
              <a:lnSpc>
                <a:spcPct val="140000"/>
              </a:lnSpc>
              <a:defRPr/>
            </a:pPr>
            <a:r>
              <a:rPr lang="en-US" sz="2200"/>
              <a:t>Khả năng diễn giải: dữ liệu dễ hiểu đến mức nào?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2247299" name="Rectangle 2"/>
          <p:cNvSpPr>
            <a:spLocks noChangeArrowheads="1" noGrp="1"/>
          </p:cNvSpPr>
          <p:nvPr>
            <p:ph type="title"/>
          </p:nvPr>
        </p:nvSpPr>
        <p:spPr bwMode="auto"/>
        <p:txBody>
          <a:bodyPr anchor="t"/>
          <a:lstStyle/>
          <a:p>
            <a:pPr>
              <a:defRPr/>
            </a:pPr>
            <a:r>
              <a:rPr lang="en-US"/>
              <a:t>Làm sạch dữ liệu</a:t>
            </a:r>
            <a:endParaRPr/>
          </a:p>
        </p:txBody>
      </p:sp>
      <p:sp>
        <p:nvSpPr>
          <p:cNvPr id="1718471345" name="Rectangle 3"/>
          <p:cNvSpPr>
            <a:spLocks noChangeArrowheads="1" noGrp="1"/>
          </p:cNvSpPr>
          <p:nvPr>
            <p:ph type="body" idx="1"/>
          </p:nvPr>
        </p:nvSpPr>
        <p:spPr bwMode="auto">
          <a:xfrm>
            <a:off x="618308" y="1219200"/>
            <a:ext cx="10850880" cy="5384800"/>
          </a:xfrm>
        </p:spPr>
        <p:txBody>
          <a:bodyPr/>
          <a:lstStyle/>
          <a:p>
            <a:pPr>
              <a:defRPr/>
            </a:pPr>
            <a:r>
              <a:rPr lang="en-US" sz="1900"/>
              <a:t>Dữ liệu trong thế giới thực thường "bẩn": Có nhiều dữ liệu có khả năng sai, ví dụ: thiết bị lỗi, lỗi con người hoặc máy tính, lỗi truyền tải</a:t>
            </a:r>
            <a:endParaRPr/>
          </a:p>
          <a:p>
            <a:pPr lvl="1">
              <a:defRPr/>
            </a:pPr>
            <a:r>
              <a:rPr lang="en-US" sz="1900" u="sng"/>
              <a:t>Không đầy đủ</a:t>
            </a:r>
            <a:r>
              <a:rPr lang="en-US" sz="1900"/>
              <a:t>: thiếu giá trị thuộc tính, thiếu một số thuộc tính quan tâm, hoặc chỉ chứa dữ liệu tổng hợp</a:t>
            </a:r>
            <a:endParaRPr/>
          </a:p>
          <a:p>
            <a:pPr lvl="2">
              <a:defRPr/>
            </a:pPr>
            <a:r>
              <a:rPr lang="en-US" sz="1900"/>
              <a:t>ví dụ: </a:t>
            </a:r>
            <a:r>
              <a:rPr lang="en-US" sz="1900" i="1"/>
              <a:t>Nghề nghiệp </a:t>
            </a:r>
            <a:r>
              <a:rPr lang="en-US" sz="1900"/>
              <a:t>= “ ” (dữ liệu thiếu)</a:t>
            </a:r>
            <a:endParaRPr/>
          </a:p>
          <a:p>
            <a:pPr lvl="1">
              <a:defRPr/>
            </a:pPr>
            <a:r>
              <a:rPr lang="en-US" sz="1900" u="sng"/>
              <a:t>Nhiễu</a:t>
            </a:r>
            <a:r>
              <a:rPr lang="en-US" sz="1900"/>
              <a:t>: chứa nhiễu, lỗi, hoặc ngoại lệ</a:t>
            </a:r>
            <a:endParaRPr/>
          </a:p>
          <a:p>
            <a:pPr lvl="2">
              <a:defRPr/>
            </a:pPr>
            <a:r>
              <a:rPr lang="en-US" sz="1900"/>
              <a:t>ví dụ: </a:t>
            </a:r>
            <a:r>
              <a:rPr lang="en-US" sz="1900" i="1"/>
              <a:t>Lương </a:t>
            </a:r>
            <a:r>
              <a:rPr lang="en-US" sz="1900"/>
              <a:t>= “</a:t>
            </a:r>
            <a:r>
              <a:rPr lang="en-US" sz="1900">
                <a:cs typeface="Tahoma"/>
              </a:rPr>
              <a:t>−</a:t>
            </a:r>
            <a:r>
              <a:rPr lang="en-US" sz="1900"/>
              <a:t>10” (một lỗi)</a:t>
            </a:r>
            <a:endParaRPr/>
          </a:p>
          <a:p>
            <a:pPr lvl="1">
              <a:defRPr/>
            </a:pPr>
            <a:r>
              <a:rPr lang="en-US" sz="1900" u="sng"/>
              <a:t>Không nhất quán</a:t>
            </a:r>
            <a:r>
              <a:rPr lang="en-US" sz="1900"/>
              <a:t>: chứa sự khác biệt về mã hoặc tên, ví dụ,</a:t>
            </a:r>
            <a:endParaRPr/>
          </a:p>
          <a:p>
            <a:pPr lvl="2">
              <a:defRPr/>
            </a:pPr>
            <a:r>
              <a:rPr lang="en-US" sz="1900" i="1"/>
              <a:t>Tuổi </a:t>
            </a:r>
            <a:r>
              <a:rPr lang="en-US" sz="1900"/>
              <a:t>= “42”, </a:t>
            </a:r>
            <a:r>
              <a:rPr lang="en-US" sz="1900" i="1"/>
              <a:t>Sinh nhật </a:t>
            </a:r>
            <a:r>
              <a:rPr lang="en-US" sz="1900"/>
              <a:t>= “03/07/2010”</a:t>
            </a:r>
            <a:endParaRPr/>
          </a:p>
          <a:p>
            <a:pPr lvl="2">
              <a:defRPr/>
            </a:pPr>
            <a:r>
              <a:rPr lang="en-US" sz="1900"/>
              <a:t>Trước đây đánh giá “1, 2, 3”, giờ đánh giá “A, B, C”</a:t>
            </a:r>
            <a:endParaRPr/>
          </a:p>
          <a:p>
            <a:pPr lvl="2">
              <a:defRPr/>
            </a:pPr>
            <a:r>
              <a:rPr lang="en-US" sz="1900"/>
              <a:t>Sự khác biệt giữa các bản ghi trùng lặp</a:t>
            </a:r>
            <a:endParaRPr/>
          </a:p>
          <a:p>
            <a:pPr lvl="1">
              <a:defRPr/>
            </a:pPr>
            <a:r>
              <a:rPr lang="en-US" sz="1900" u="sng"/>
              <a:t>Cố ý</a:t>
            </a:r>
            <a:r>
              <a:rPr lang="en-US" sz="1900" b="1" u="sng"/>
              <a:t> </a:t>
            </a:r>
            <a:r>
              <a:rPr lang="en-US" sz="1900"/>
              <a:t>(ví dụ: </a:t>
            </a:r>
            <a:r>
              <a:rPr lang="en-US" sz="1900" i="1"/>
              <a:t>dữ liệu thiếu được che giấu</a:t>
            </a:r>
            <a:endParaRPr/>
          </a:p>
          <a:p>
            <a:pPr lvl="2">
              <a:defRPr/>
            </a:pPr>
            <a:r>
              <a:rPr lang="en-US" sz="1900"/>
              <a:t>Lấy ngày 1 tháng 1 làm sinh nhật của tất cả mọi người?</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516143" name="Rectangle 2"/>
          <p:cNvSpPr>
            <a:spLocks noChangeArrowheads="1" noGrp="1"/>
          </p:cNvSpPr>
          <p:nvPr>
            <p:ph type="title"/>
          </p:nvPr>
        </p:nvSpPr>
        <p:spPr bwMode="auto">
          <a:xfrm>
            <a:off x="2393950" y="304800"/>
            <a:ext cx="7169150" cy="609600"/>
          </a:xfrm>
        </p:spPr>
        <p:txBody>
          <a:bodyPr anchor="t">
            <a:noAutofit/>
          </a:bodyPr>
          <a:lstStyle/>
          <a:p>
            <a:pPr>
              <a:defRPr/>
            </a:pPr>
            <a:r>
              <a:rPr lang="en-US"/>
              <a:t>Dữ liệu không đầy đủ (bị thiếu)</a:t>
            </a:r>
            <a:endParaRPr/>
          </a:p>
        </p:txBody>
      </p:sp>
      <p:sp>
        <p:nvSpPr>
          <p:cNvPr id="1059648680" name="Rectangle 3"/>
          <p:cNvSpPr>
            <a:spLocks noChangeArrowheads="1" noGrp="1"/>
          </p:cNvSpPr>
          <p:nvPr>
            <p:ph type="body" idx="1"/>
          </p:nvPr>
        </p:nvSpPr>
        <p:spPr bwMode="auto">
          <a:xfrm>
            <a:off x="574766" y="1371600"/>
            <a:ext cx="10824754" cy="5105400"/>
          </a:xfrm>
        </p:spPr>
        <p:txBody>
          <a:bodyPr/>
          <a:lstStyle/>
          <a:p>
            <a:pPr>
              <a:lnSpc>
                <a:spcPct val="110000"/>
              </a:lnSpc>
              <a:defRPr/>
            </a:pPr>
            <a:r>
              <a:rPr lang="en-US" sz="2000"/>
              <a:t>Dữ liệu không phải lúc nào cũng có sẵn</a:t>
            </a:r>
            <a:endParaRPr/>
          </a:p>
          <a:p>
            <a:pPr lvl="1">
              <a:lnSpc>
                <a:spcPct val="110000"/>
              </a:lnSpc>
              <a:defRPr/>
            </a:pPr>
            <a:r>
              <a:rPr lang="en-US" sz="2000"/>
              <a:t>Ví dụ: nhiều bộ dữ liệu không có giá trị được ghi lại cho một số thuộc tính, chẳng hạn thu nhập khách hàng trong dữ liệu bán hàng</a:t>
            </a:r>
            <a:endParaRPr/>
          </a:p>
          <a:p>
            <a:pPr>
              <a:lnSpc>
                <a:spcPct val="110000"/>
              </a:lnSpc>
              <a:defRPr/>
            </a:pPr>
            <a:r>
              <a:rPr lang="en-US" sz="2000"/>
              <a:t>Dữ liệu thiếu có thể do </a:t>
            </a:r>
            <a:endParaRPr/>
          </a:p>
          <a:p>
            <a:pPr lvl="1">
              <a:lnSpc>
                <a:spcPct val="110000"/>
              </a:lnSpc>
              <a:defRPr/>
            </a:pPr>
            <a:r>
              <a:rPr lang="en-US" sz="2000"/>
              <a:t>Thiết bị bị lỗi</a:t>
            </a:r>
            <a:endParaRPr/>
          </a:p>
          <a:p>
            <a:pPr lvl="1">
              <a:lnSpc>
                <a:spcPct val="110000"/>
              </a:lnSpc>
              <a:defRPr/>
            </a:pPr>
            <a:r>
              <a:rPr lang="en-US" sz="2000"/>
              <a:t>Không nhất quán với dữ liệu đã ghi khác nên bị xóa</a:t>
            </a:r>
            <a:endParaRPr/>
          </a:p>
          <a:p>
            <a:pPr lvl="1">
              <a:lnSpc>
                <a:spcPct val="110000"/>
              </a:lnSpc>
              <a:defRPr/>
            </a:pPr>
            <a:r>
              <a:rPr lang="en-US" sz="2000"/>
              <a:t>Dữ liệu không được nhập do hiểu lầm</a:t>
            </a:r>
            <a:endParaRPr/>
          </a:p>
          <a:p>
            <a:pPr lvl="1">
              <a:lnSpc>
                <a:spcPct val="110000"/>
              </a:lnSpc>
              <a:defRPr/>
            </a:pPr>
            <a:r>
              <a:rPr lang="en-US" sz="2000"/>
              <a:t>Một số dữ liệu có thể không được coi là quan trọng tại thời điểm nhập</a:t>
            </a:r>
            <a:endParaRPr/>
          </a:p>
          <a:p>
            <a:pPr lvl="1">
              <a:lnSpc>
                <a:spcPct val="110000"/>
              </a:lnSpc>
              <a:defRPr/>
            </a:pPr>
            <a:r>
              <a:rPr lang="en-US" sz="2000"/>
              <a:t>Không ghi lại lịch sử hoặc thay đổi của dữ liệu</a:t>
            </a:r>
            <a:endParaRPr/>
          </a:p>
          <a:p>
            <a:pPr>
              <a:lnSpc>
                <a:spcPct val="110000"/>
              </a:lnSpc>
              <a:defRPr/>
            </a:pPr>
            <a:r>
              <a:rPr lang="en-US" sz="2000"/>
              <a:t>Dữ liệu thiếu có thể cần được suy luận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97157955" name="Rectangle 2"/>
          <p:cNvSpPr>
            <a:spLocks noChangeArrowheads="1" noGrp="1"/>
          </p:cNvSpPr>
          <p:nvPr>
            <p:ph type="title"/>
          </p:nvPr>
        </p:nvSpPr>
        <p:spPr bwMode="auto">
          <a:xfrm>
            <a:off x="2286000" y="228600"/>
            <a:ext cx="7543800" cy="762000"/>
          </a:xfrm>
        </p:spPr>
        <p:txBody>
          <a:bodyPr anchor="t"/>
          <a:lstStyle/>
          <a:p>
            <a:pPr>
              <a:defRPr/>
            </a:pPr>
            <a:r>
              <a:rPr lang="en-US"/>
              <a:t>Làm thế nào để xử lý dữ liệu thiếu?</a:t>
            </a:r>
            <a:endParaRPr/>
          </a:p>
        </p:txBody>
      </p:sp>
      <p:sp>
        <p:nvSpPr>
          <p:cNvPr id="21575236" name="Rectangle 3"/>
          <p:cNvSpPr>
            <a:spLocks noChangeArrowheads="1" noGrp="1"/>
          </p:cNvSpPr>
          <p:nvPr>
            <p:ph type="body" idx="1"/>
          </p:nvPr>
        </p:nvSpPr>
        <p:spPr bwMode="auto">
          <a:xfrm>
            <a:off x="583473" y="1295400"/>
            <a:ext cx="10929257" cy="5257800"/>
          </a:xfrm>
        </p:spPr>
        <p:txBody>
          <a:bodyPr/>
          <a:lstStyle/>
          <a:p>
            <a:pPr>
              <a:lnSpc>
                <a:spcPct val="120000"/>
              </a:lnSpc>
              <a:defRPr/>
            </a:pPr>
            <a:r>
              <a:rPr lang="en-US" sz="2000"/>
              <a:t>Bỏ qua bộ dữ liệu: thường thực hiện khi nhãn lớp bị thiếu (khi phân lớp)—không hiệu quả khi tỷ lệ % giá trị thiếu ở mỗi thuộc tính chênh lệch đáng kể</a:t>
            </a:r>
            <a:endParaRPr/>
          </a:p>
          <a:p>
            <a:pPr>
              <a:lnSpc>
                <a:spcPct val="120000"/>
              </a:lnSpc>
              <a:defRPr/>
            </a:pPr>
            <a:r>
              <a:rPr lang="en-US" sz="2000"/>
              <a:t>Điền giá trị thiếu thủ công: tốn công + không khả thi?</a:t>
            </a:r>
            <a:endParaRPr/>
          </a:p>
          <a:p>
            <a:pPr>
              <a:lnSpc>
                <a:spcPct val="120000"/>
              </a:lnSpc>
              <a:defRPr/>
            </a:pPr>
            <a:r>
              <a:rPr lang="en-US" sz="2000"/>
              <a:t>Điền tự động bằng</a:t>
            </a:r>
            <a:endParaRPr/>
          </a:p>
          <a:p>
            <a:pPr lvl="1">
              <a:lnSpc>
                <a:spcPct val="120000"/>
              </a:lnSpc>
              <a:defRPr/>
            </a:pPr>
            <a:r>
              <a:rPr lang="en-US" sz="2000"/>
              <a:t>một hằng số toàn cục: ví dụ, “không xác định”, một lớp mới?! </a:t>
            </a:r>
            <a:endParaRPr/>
          </a:p>
          <a:p>
            <a:pPr lvl="1">
              <a:lnSpc>
                <a:spcPct val="120000"/>
              </a:lnSpc>
              <a:defRPr/>
            </a:pPr>
            <a:r>
              <a:rPr lang="en-US" sz="2000"/>
              <a:t>trung bình của thuộc tính</a:t>
            </a:r>
            <a:endParaRPr/>
          </a:p>
          <a:p>
            <a:pPr lvl="1">
              <a:lnSpc>
                <a:spcPct val="120000"/>
              </a:lnSpc>
              <a:defRPr/>
            </a:pPr>
            <a:r>
              <a:rPr lang="en-US" sz="2000"/>
              <a:t>trung bình của thuộc tính cho tất cả các mẫu thuộc cùng lớp: thông minh hơn</a:t>
            </a:r>
            <a:endParaRPr/>
          </a:p>
          <a:p>
            <a:pPr lvl="1">
              <a:lnSpc>
                <a:spcPct val="120000"/>
              </a:lnSpc>
              <a:defRPr/>
            </a:pPr>
            <a:r>
              <a:rPr lang="en-US" sz="2000" b="1"/>
              <a:t>giá trị có khả năng cao nhất: dựa trên suy luận như công thức Bayes hoặc cây quyết định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25352014" name="Rectangle 2"/>
          <p:cNvSpPr>
            <a:spLocks noChangeArrowheads="1" noGrp="1"/>
          </p:cNvSpPr>
          <p:nvPr>
            <p:ph type="title" idx="4294967295"/>
          </p:nvPr>
        </p:nvSpPr>
        <p:spPr bwMode="auto">
          <a:xfrm>
            <a:off x="3200400" y="228600"/>
            <a:ext cx="5638800" cy="762000"/>
          </a:xfrm>
        </p:spPr>
        <p:txBody>
          <a:bodyPr anchor="t"/>
          <a:lstStyle/>
          <a:p>
            <a:pPr>
              <a:defRPr/>
            </a:pPr>
            <a:r>
              <a:rPr lang="en-US"/>
              <a:t>Dữ liệu nhiễu</a:t>
            </a:r>
            <a:endParaRPr/>
          </a:p>
        </p:txBody>
      </p:sp>
      <p:sp>
        <p:nvSpPr>
          <p:cNvPr id="1369230852" name="Rectangle 3"/>
          <p:cNvSpPr>
            <a:spLocks noChangeArrowheads="1" noGrp="1"/>
          </p:cNvSpPr>
          <p:nvPr>
            <p:ph type="body" idx="4294967295"/>
          </p:nvPr>
        </p:nvSpPr>
        <p:spPr bwMode="auto">
          <a:xfrm>
            <a:off x="609599" y="1371600"/>
            <a:ext cx="10842171" cy="4953000"/>
          </a:xfrm>
        </p:spPr>
        <p:txBody>
          <a:bodyPr/>
          <a:lstStyle/>
          <a:p>
            <a:pPr>
              <a:defRPr/>
            </a:pPr>
            <a:r>
              <a:rPr lang="en-US" b="1">
                <a:latin typeface="Calibri"/>
              </a:rPr>
              <a:t>Nhiễu:</a:t>
            </a:r>
            <a:r>
              <a:rPr lang="en-US">
                <a:solidFill>
                  <a:srgbClr val="FF0000"/>
                </a:solidFill>
                <a:latin typeface="Calibri"/>
              </a:rPr>
              <a:t> </a:t>
            </a:r>
            <a:r>
              <a:rPr lang="en-US">
                <a:latin typeface="Calibri"/>
              </a:rPr>
              <a:t> lỗi ngẫu nhiên hoặc phương sai trong một biến được đo lường</a:t>
            </a:r>
            <a:endParaRPr/>
          </a:p>
          <a:p>
            <a:pPr>
              <a:defRPr/>
            </a:pPr>
            <a:r>
              <a:rPr lang="en-US" b="1">
                <a:latin typeface="Calibri"/>
              </a:rPr>
              <a:t>Các giá trị thuộc tính không chính xác</a:t>
            </a:r>
            <a:r>
              <a:rPr lang="en-US">
                <a:solidFill>
                  <a:srgbClr val="FF0000"/>
                </a:solidFill>
                <a:latin typeface="Calibri"/>
              </a:rPr>
              <a:t> </a:t>
            </a:r>
            <a:r>
              <a:rPr lang="en-US">
                <a:latin typeface="Calibri"/>
              </a:rPr>
              <a:t> có thể do</a:t>
            </a:r>
            <a:endParaRPr/>
          </a:p>
          <a:p>
            <a:pPr lvl="1">
              <a:defRPr/>
            </a:pPr>
            <a:r>
              <a:rPr lang="en-US">
                <a:latin typeface="Calibri"/>
              </a:rPr>
              <a:t>Thiết bị thu thập dữ liệu bị lỗi</a:t>
            </a:r>
            <a:endParaRPr/>
          </a:p>
          <a:p>
            <a:pPr lvl="1">
              <a:defRPr/>
            </a:pPr>
            <a:r>
              <a:rPr lang="en-US">
                <a:latin typeface="Calibri"/>
              </a:rPr>
              <a:t>Vấn đề nhập liệu</a:t>
            </a:r>
            <a:endParaRPr/>
          </a:p>
          <a:p>
            <a:pPr lvl="1">
              <a:defRPr/>
            </a:pPr>
            <a:r>
              <a:rPr lang="en-US">
                <a:latin typeface="Calibri"/>
              </a:rPr>
              <a:t>Vấn đề truyền dữ liệu</a:t>
            </a:r>
            <a:endParaRPr/>
          </a:p>
          <a:p>
            <a:pPr lvl="1">
              <a:defRPr/>
            </a:pPr>
            <a:r>
              <a:rPr lang="en-US">
                <a:latin typeface="Calibri"/>
              </a:rPr>
              <a:t>Hạn chế công nghệ</a:t>
            </a:r>
            <a:endParaRPr/>
          </a:p>
          <a:p>
            <a:pPr lvl="1">
              <a:defRPr/>
            </a:pPr>
            <a:r>
              <a:rPr lang="en-US">
                <a:latin typeface="Calibri"/>
              </a:rPr>
              <a:t>Không nhất quán trong quy ước đặt tên </a:t>
            </a:r>
            <a:endParaRPr/>
          </a:p>
          <a:p>
            <a:pPr>
              <a:defRPr/>
            </a:pPr>
            <a:r>
              <a:rPr lang="en-US" b="1">
                <a:latin typeface="Calibri"/>
              </a:rPr>
              <a:t>Các vấn đề dữ liệu khác</a:t>
            </a:r>
            <a:endParaRPr/>
          </a:p>
          <a:p>
            <a:pPr lvl="1">
              <a:defRPr/>
            </a:pPr>
            <a:r>
              <a:rPr lang="en-US">
                <a:latin typeface="Calibri"/>
              </a:rPr>
              <a:t>Bản ghi trùng lặp</a:t>
            </a:r>
            <a:endParaRPr/>
          </a:p>
          <a:p>
            <a:pPr lvl="1">
              <a:defRPr/>
            </a:pPr>
            <a:r>
              <a:rPr lang="en-US">
                <a:latin typeface="Calibri"/>
              </a:rPr>
              <a:t>Dữ liệu không đầy đủ</a:t>
            </a:r>
            <a:endParaRPr/>
          </a:p>
          <a:p>
            <a:pPr lvl="1">
              <a:defRPr/>
            </a:pPr>
            <a:r>
              <a:rPr lang="en-US">
                <a:latin typeface="Calibri"/>
              </a:rPr>
              <a:t>Dữ liệu không nhất quán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8812687" name="Rectangle 2"/>
          <p:cNvSpPr>
            <a:spLocks noChangeArrowheads="1" noGrp="1"/>
          </p:cNvSpPr>
          <p:nvPr>
            <p:ph type="title"/>
          </p:nvPr>
        </p:nvSpPr>
        <p:spPr bwMode="auto">
          <a:xfrm>
            <a:off x="1847850" y="304800"/>
            <a:ext cx="8591550" cy="609600"/>
          </a:xfrm>
        </p:spPr>
        <p:txBody>
          <a:bodyPr anchor="t">
            <a:noAutofit/>
          </a:bodyPr>
          <a:lstStyle/>
          <a:p>
            <a:pPr>
              <a:defRPr/>
            </a:pPr>
            <a:r>
              <a:rPr lang="en-US"/>
              <a:t>Làm thế nào để xử lý dữ liệu nhiễu?</a:t>
            </a:r>
            <a:endParaRPr/>
          </a:p>
        </p:txBody>
      </p:sp>
      <p:sp>
        <p:nvSpPr>
          <p:cNvPr id="1857194938" name="Rectangle 3"/>
          <p:cNvSpPr>
            <a:spLocks noChangeArrowheads="1" noGrp="1"/>
          </p:cNvSpPr>
          <p:nvPr>
            <p:ph type="body" idx="1"/>
          </p:nvPr>
        </p:nvSpPr>
        <p:spPr bwMode="auto">
          <a:xfrm>
            <a:off x="618308" y="1371600"/>
            <a:ext cx="10737668" cy="5029200"/>
          </a:xfrm>
        </p:spPr>
        <p:txBody>
          <a:bodyPr/>
          <a:lstStyle/>
          <a:p>
            <a:pPr>
              <a:defRPr/>
            </a:pPr>
            <a:r>
              <a:rPr lang="en-US" sz="2000"/>
              <a:t>Gom nhóm (Binning)</a:t>
            </a:r>
            <a:endParaRPr/>
          </a:p>
          <a:p>
            <a:pPr lvl="1">
              <a:defRPr/>
            </a:pPr>
            <a:r>
              <a:rPr lang="en-US" sz="2000"/>
              <a:t>Đầu tiên sắp xếp dữ liệu và chia thành các nhóm (tần suất bằng nhau)</a:t>
            </a:r>
            <a:endParaRPr/>
          </a:p>
          <a:p>
            <a:pPr lvl="1">
              <a:defRPr/>
            </a:pPr>
            <a:r>
              <a:rPr lang="en-US" sz="2000"/>
              <a:t>Sau đó có thể </a:t>
            </a:r>
            <a:r>
              <a:rPr lang="en-US" sz="2000" b="1"/>
              <a:t>làm mượt theo trung bình nhóm, làm mượt theo trung vị nhóm, làm mượt theo biên nhóm</a:t>
            </a:r>
            <a:r>
              <a:rPr lang="en-US" sz="2000"/>
              <a:t>, v.v.</a:t>
            </a:r>
            <a:endParaRPr/>
          </a:p>
          <a:p>
            <a:pPr>
              <a:defRPr/>
            </a:pPr>
            <a:r>
              <a:rPr lang="en-US" sz="2000"/>
              <a:t>Hồi quy</a:t>
            </a:r>
            <a:endParaRPr/>
          </a:p>
          <a:p>
            <a:pPr lvl="1">
              <a:defRPr/>
            </a:pPr>
            <a:r>
              <a:rPr lang="en-US" sz="2000"/>
              <a:t>Làm mượt bằng cách khớp dữ liệu vào hàm hồi quy</a:t>
            </a:r>
            <a:endParaRPr/>
          </a:p>
          <a:p>
            <a:pPr>
              <a:defRPr/>
            </a:pPr>
            <a:r>
              <a:rPr lang="en-US" sz="2000"/>
              <a:t>Phân cụm</a:t>
            </a:r>
            <a:endParaRPr/>
          </a:p>
          <a:p>
            <a:pPr lvl="1">
              <a:defRPr/>
            </a:pPr>
            <a:r>
              <a:rPr lang="en-US" sz="2000"/>
              <a:t>Phát hiện và loại bỏ ngoại lệ</a:t>
            </a:r>
            <a:endParaRPr/>
          </a:p>
          <a:p>
            <a:pPr>
              <a:defRPr/>
            </a:pPr>
            <a:r>
              <a:rPr lang="en-US" sz="2000"/>
              <a:t>Bán giám sát: Kết hợp kiểm tra bằng máy tính và con người</a:t>
            </a:r>
            <a:endParaRPr/>
          </a:p>
          <a:p>
            <a:pPr lvl="1">
              <a:defRPr/>
            </a:pPr>
            <a:r>
              <a:rPr lang="en-US" sz="2000"/>
              <a:t>Phát hiện các giá trị đáng ngờ và kiểm tra bởi con người (ví dụ: xử lý các ngoại lệ có thể có)</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08856071" name="Rectangle 2"/>
          <p:cNvSpPr>
            <a:spLocks noChangeArrowheads="1" noGrp="1"/>
          </p:cNvSpPr>
          <p:nvPr>
            <p:ph type="title"/>
          </p:nvPr>
        </p:nvSpPr>
        <p:spPr bwMode="auto">
          <a:xfrm>
            <a:off x="1847850" y="304800"/>
            <a:ext cx="8591550" cy="609600"/>
          </a:xfrm>
        </p:spPr>
        <p:txBody>
          <a:bodyPr anchor="t">
            <a:noAutofit/>
          </a:bodyPr>
          <a:lstStyle/>
          <a:p>
            <a:pPr>
              <a:defRPr/>
            </a:pPr>
            <a:r>
              <a:rPr lang="en-US"/>
              <a:t>Làm sạch dữ liệu như một quy trình</a:t>
            </a:r>
            <a:endParaRPr/>
          </a:p>
        </p:txBody>
      </p:sp>
      <p:sp>
        <p:nvSpPr>
          <p:cNvPr id="1356832277" name="Rectangle 3"/>
          <p:cNvSpPr>
            <a:spLocks noChangeArrowheads="1" noGrp="1"/>
          </p:cNvSpPr>
          <p:nvPr>
            <p:ph type="body" idx="1"/>
          </p:nvPr>
        </p:nvSpPr>
        <p:spPr bwMode="auto">
          <a:xfrm>
            <a:off x="653143" y="1132114"/>
            <a:ext cx="10842171" cy="5573486"/>
          </a:xfrm>
        </p:spPr>
        <p:txBody>
          <a:bodyPr/>
          <a:lstStyle/>
          <a:p>
            <a:pPr>
              <a:spcBef>
                <a:spcPts val="300"/>
              </a:spcBef>
              <a:defRPr/>
            </a:pPr>
            <a:r>
              <a:rPr lang="en-US" sz="1900" b="1"/>
              <a:t>Phát hiện sự khác biệt trong dữ liệu</a:t>
            </a:r>
            <a:endParaRPr/>
          </a:p>
          <a:p>
            <a:pPr lvl="1">
              <a:spcBef>
                <a:spcPts val="300"/>
              </a:spcBef>
              <a:defRPr/>
            </a:pPr>
            <a:r>
              <a:rPr lang="en-US" sz="1900"/>
              <a:t>Sử dụng metadata (ví dụ: miền giá trị, khoảng, phụ thuộc, phân bố)</a:t>
            </a:r>
            <a:endParaRPr/>
          </a:p>
          <a:p>
            <a:pPr lvl="1">
              <a:spcBef>
                <a:spcPts val="300"/>
              </a:spcBef>
              <a:defRPr/>
            </a:pPr>
            <a:r>
              <a:rPr lang="en-US" sz="1900"/>
              <a:t>Kiểm tra trường bị quá tải thông tin </a:t>
            </a:r>
            <a:endParaRPr/>
          </a:p>
          <a:p>
            <a:pPr lvl="1">
              <a:spcBef>
                <a:spcPts val="300"/>
              </a:spcBef>
              <a:defRPr/>
            </a:pPr>
            <a:r>
              <a:rPr lang="en-US" sz="1900"/>
              <a:t>Kiểm tra quy tắc duy nhất, quy tắc liên tiếp và quy tắc null</a:t>
            </a:r>
            <a:endParaRPr/>
          </a:p>
          <a:p>
            <a:pPr lvl="1">
              <a:spcBef>
                <a:spcPts val="300"/>
              </a:spcBef>
              <a:defRPr/>
            </a:pPr>
            <a:r>
              <a:rPr lang="en-US" sz="1900"/>
              <a:t>Sử dụng công cụ thương mại</a:t>
            </a:r>
            <a:endParaRPr/>
          </a:p>
          <a:p>
            <a:pPr lvl="2">
              <a:spcBef>
                <a:spcPts val="300"/>
              </a:spcBef>
              <a:defRPr/>
            </a:pPr>
            <a:r>
              <a:rPr lang="en-US" sz="1900"/>
              <a:t>Chà sạch dữ liệu (Data scrubbing): dùng kiến thức miền đơn giản (ví dụ: mã bưu điện, kiểm tra chính tả) để phát hiện lỗi và sửa chữa</a:t>
            </a:r>
            <a:endParaRPr/>
          </a:p>
          <a:p>
            <a:pPr lvl="2">
              <a:spcBef>
                <a:spcPts val="300"/>
              </a:spcBef>
              <a:defRPr/>
            </a:pPr>
            <a:r>
              <a:rPr lang="en-US" sz="1900"/>
              <a:t>Kiểm toán dữ liệu (Data auditing): phân tích dữ liệu để phát hiện quy luật và mối quan hệ nhằm tìm ra vi phạm (ví dụ: tương quan và phân cụm để tìm ngoại lệ)</a:t>
            </a:r>
            <a:endParaRPr/>
          </a:p>
          <a:p>
            <a:pPr>
              <a:spcBef>
                <a:spcPts val="300"/>
              </a:spcBef>
              <a:defRPr/>
            </a:pPr>
            <a:r>
              <a:rPr lang="en-US" sz="1900" b="1"/>
              <a:t>Di trú và tích hợp </a:t>
            </a:r>
            <a:r>
              <a:rPr lang="en-US" sz="1900" b="1"/>
              <a:t>dữ liệu</a:t>
            </a:r>
            <a:endParaRPr/>
          </a:p>
          <a:p>
            <a:pPr lvl="1">
              <a:spcBef>
                <a:spcPts val="300"/>
              </a:spcBef>
              <a:defRPr/>
            </a:pPr>
            <a:r>
              <a:rPr lang="en-US" sz="1900"/>
              <a:t>Công cụ di trú dữ liệu: cho phép chỉ định các phép biến đổi</a:t>
            </a:r>
            <a:endParaRPr/>
          </a:p>
          <a:p>
            <a:pPr lvl="1">
              <a:spcBef>
                <a:spcPts val="300"/>
              </a:spcBef>
              <a:defRPr/>
            </a:pPr>
            <a:r>
              <a:rPr lang="en-US" sz="1900"/>
              <a:t>Công cụ ETL (Trích xuất/Biến đổi/Nạp): cho phép người dùng chỉ định phép biến đổi qua giao diện đồ họa</a:t>
            </a:r>
            <a:endParaRPr/>
          </a:p>
          <a:p>
            <a:pPr>
              <a:spcBef>
                <a:spcPts val="300"/>
              </a:spcBef>
              <a:defRPr/>
            </a:pPr>
            <a:r>
              <a:rPr lang="en-US" sz="1900"/>
              <a:t>Tích hợp hai quy trình</a:t>
            </a:r>
            <a:endParaRPr/>
          </a:p>
          <a:p>
            <a:pPr lvl="1">
              <a:spcBef>
                <a:spcPts val="300"/>
              </a:spcBef>
              <a:defRPr/>
            </a:pPr>
            <a:r>
              <a:rPr lang="en-US" sz="1900"/>
              <a:t>Lặp đi lặp lại và tương tác (ví dụ: Potter's Wheel)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23665224" name="Rectangle 2"/>
          <p:cNvSpPr>
            <a:spLocks noChangeArrowheads="1" noGrp="1"/>
          </p:cNvSpPr>
          <p:nvPr>
            <p:ph type="title"/>
          </p:nvPr>
        </p:nvSpPr>
        <p:spPr bwMode="auto">
          <a:xfrm>
            <a:off x="2619376" y="304800"/>
            <a:ext cx="6683375" cy="609600"/>
          </a:xfrm>
        </p:spPr>
        <p:txBody>
          <a:bodyPr anchor="t">
            <a:noAutofit/>
          </a:bodyPr>
          <a:lstStyle/>
          <a:p>
            <a:pPr>
              <a:defRPr/>
            </a:pPr>
            <a:r>
              <a:rPr lang="en-US"/>
              <a:t>Tích hợp dữ liệu</a:t>
            </a:r>
            <a:endParaRPr/>
          </a:p>
        </p:txBody>
      </p:sp>
      <p:sp>
        <p:nvSpPr>
          <p:cNvPr id="1431522499" name="Rectangle 3"/>
          <p:cNvSpPr>
            <a:spLocks noChangeArrowheads="1" noGrp="1"/>
          </p:cNvSpPr>
          <p:nvPr>
            <p:ph type="body" idx="1"/>
          </p:nvPr>
        </p:nvSpPr>
        <p:spPr bwMode="auto">
          <a:xfrm>
            <a:off x="574766" y="1129937"/>
            <a:ext cx="10824754" cy="5181600"/>
          </a:xfrm>
        </p:spPr>
        <p:txBody>
          <a:bodyPr/>
          <a:lstStyle/>
          <a:p>
            <a:pPr>
              <a:defRPr/>
            </a:pPr>
            <a:r>
              <a:rPr lang="en-US" sz="2000"/>
              <a:t>Tích hợp dữ liệu</a:t>
            </a:r>
            <a:endParaRPr/>
          </a:p>
          <a:p>
            <a:pPr lvl="1">
              <a:defRPr/>
            </a:pPr>
            <a:r>
              <a:rPr lang="en-US" sz="2000"/>
              <a:t>Kết hợp dữ liệu từ nhiều nguồn thành một kho lưu trữ nhất quán</a:t>
            </a:r>
            <a:endParaRPr/>
          </a:p>
          <a:p>
            <a:pPr>
              <a:defRPr/>
            </a:pPr>
            <a:r>
              <a:rPr lang="en-US" sz="2000"/>
              <a:t>Tại sao cần tích hợp dữ liệu?</a:t>
            </a:r>
            <a:endParaRPr/>
          </a:p>
          <a:p>
            <a:pPr lvl="1">
              <a:defRPr/>
            </a:pPr>
            <a:r>
              <a:rPr lang="en-US" sz="2000"/>
              <a:t>Giúp giảm/tránh nhiễu</a:t>
            </a:r>
            <a:endParaRPr/>
          </a:p>
          <a:p>
            <a:pPr lvl="1">
              <a:defRPr/>
            </a:pPr>
            <a:r>
              <a:rPr lang="en-US" sz="2000"/>
              <a:t>Có được bức tranh đầy đủ hơn</a:t>
            </a:r>
            <a:endParaRPr/>
          </a:p>
          <a:p>
            <a:pPr lvl="1">
              <a:defRPr/>
            </a:pPr>
            <a:r>
              <a:rPr lang="en-US" sz="2000"/>
              <a:t>Cải thiện tốc độ và chất lượng khai phá</a:t>
            </a:r>
            <a:endParaRPr/>
          </a:p>
          <a:p>
            <a:pPr>
              <a:defRPr/>
            </a:pPr>
            <a:r>
              <a:rPr lang="en-US" sz="2000" b="1"/>
              <a:t>Tích hợp lược đồ (schema)</a:t>
            </a:r>
            <a:r>
              <a:rPr lang="en-US" sz="2000"/>
              <a:t>: </a:t>
            </a:r>
            <a:endParaRPr/>
          </a:p>
          <a:p>
            <a:pPr lvl="1">
              <a:defRPr/>
            </a:pPr>
            <a:r>
              <a:rPr lang="en-US" sz="2000"/>
              <a:t>ví dụ, </a:t>
            </a:r>
            <a:r>
              <a:rPr lang="en-US" sz="2000"/>
              <a:t>A.cust</a:t>
            </a:r>
            <a:r>
              <a:rPr lang="en-US" sz="2000"/>
              <a:t>-id </a:t>
            </a:r>
            <a:r>
              <a:rPr lang="en-US" sz="2000"/>
              <a:t> </a:t>
            </a:r>
            <a:r>
              <a:rPr lang="en-US" sz="2000"/>
              <a:t>B.</a:t>
            </a:r>
            <a:r>
              <a:rPr lang="en-US" sz="2000"/>
              <a:t>cust</a:t>
            </a:r>
            <a:r>
              <a:rPr lang="en-US" sz="2000"/>
              <a:t>-#</a:t>
            </a:r>
            <a:endParaRPr/>
          </a:p>
          <a:p>
            <a:pPr lvl="1">
              <a:defRPr/>
            </a:pPr>
            <a:r>
              <a:rPr lang="en-US" sz="2000"/>
              <a:t>Tích hợp metadata từ các nguồn khác nhau</a:t>
            </a:r>
            <a:endParaRPr/>
          </a:p>
          <a:p>
            <a:pPr>
              <a:defRPr/>
            </a:pPr>
            <a:r>
              <a:rPr lang="en-US" sz="2000" b="1"/>
              <a:t>Nhận dạng thực thể: </a:t>
            </a:r>
            <a:endParaRPr/>
          </a:p>
          <a:p>
            <a:pPr lvl="1">
              <a:defRPr/>
            </a:pPr>
            <a:r>
              <a:rPr lang="en-US" sz="2000"/>
              <a:t>Xác định các thực thể trong thế giới thực từ nhiều nguồn dữ liệu, ví dụ: Bill Clinton = William Clinton</a:t>
            </a:r>
            <a:endParaRPr/>
          </a:p>
          <a:p>
            <a:pPr lvl="1">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92326908" name="Rectangle 2"/>
          <p:cNvSpPr>
            <a:spLocks noChangeArrowheads="1" noGrp="1"/>
          </p:cNvSpPr>
          <p:nvPr>
            <p:ph type="title"/>
          </p:nvPr>
        </p:nvSpPr>
        <p:spPr bwMode="auto">
          <a:xfrm>
            <a:off x="505097" y="228600"/>
            <a:ext cx="10981509" cy="685800"/>
          </a:xfrm>
        </p:spPr>
        <p:txBody>
          <a:bodyPr anchor="t">
            <a:normAutofit/>
          </a:bodyPr>
          <a:lstStyle/>
          <a:p>
            <a:pPr>
              <a:defRPr/>
            </a:pPr>
            <a:r>
              <a:rPr lang="en-US"/>
              <a:t>Xử lý nhiễu trong tích hợp dữ liệu</a:t>
            </a:r>
            <a:endParaRPr/>
          </a:p>
        </p:txBody>
      </p:sp>
      <p:sp>
        <p:nvSpPr>
          <p:cNvPr id="47524705" name="Rectangle 3"/>
          <p:cNvSpPr>
            <a:spLocks noChangeArrowheads="1" noGrp="1"/>
          </p:cNvSpPr>
          <p:nvPr>
            <p:ph type="body" idx="1"/>
          </p:nvPr>
        </p:nvSpPr>
        <p:spPr bwMode="auto">
          <a:xfrm>
            <a:off x="635726" y="1295400"/>
            <a:ext cx="10850880" cy="5181600"/>
          </a:xfrm>
        </p:spPr>
        <p:txBody>
          <a:bodyPr/>
          <a:lstStyle/>
          <a:p>
            <a:pPr>
              <a:defRPr/>
            </a:pPr>
            <a:r>
              <a:rPr lang="en-US" sz="2000"/>
              <a:t>Phát hiện xung đột giá trị dữ liệu</a:t>
            </a:r>
            <a:endParaRPr/>
          </a:p>
          <a:p>
            <a:pPr lvl="1">
              <a:defRPr/>
            </a:pPr>
            <a:r>
              <a:rPr lang="en-US" sz="2000"/>
              <a:t>Với cùng một thực thể trong thế giới thực, giá trị thuộc tính từ các nguồn khác nhau có thể khác nhau</a:t>
            </a:r>
            <a:endParaRPr/>
          </a:p>
          <a:p>
            <a:pPr lvl="1">
              <a:defRPr/>
            </a:pPr>
            <a:r>
              <a:rPr lang="en-US" sz="2000"/>
              <a:t>Các lý do có thể: không có lý do, biểu diễn khác nhau, thang đo khác nhau, ví dụ: đơn vị mét so với đơn vị Anh</a:t>
            </a:r>
            <a:endParaRPr/>
          </a:p>
          <a:p>
            <a:pPr>
              <a:lnSpc>
                <a:spcPct val="120000"/>
              </a:lnSpc>
              <a:defRPr/>
            </a:pPr>
            <a:r>
              <a:rPr lang="en-US" sz="2000"/>
              <a:t>Giải quyết xung đột thông tin</a:t>
            </a:r>
            <a:endParaRPr/>
          </a:p>
          <a:p>
            <a:pPr lvl="1">
              <a:lnSpc>
                <a:spcPct val="120000"/>
              </a:lnSpc>
              <a:defRPr/>
            </a:pPr>
            <a:r>
              <a:rPr lang="en-US" sz="2000"/>
              <a:t>Lấy trung bình/trung vị/mốt/lớn nhất/nhỏ nhất</a:t>
            </a:r>
            <a:endParaRPr/>
          </a:p>
          <a:p>
            <a:pPr lvl="1">
              <a:lnSpc>
                <a:spcPct val="120000"/>
              </a:lnSpc>
              <a:defRPr/>
            </a:pPr>
            <a:r>
              <a:rPr lang="en-US" sz="2000"/>
              <a:t>Lấy giá trị gần nhất</a:t>
            </a:r>
            <a:endParaRPr/>
          </a:p>
          <a:p>
            <a:pPr lvl="1">
              <a:lnSpc>
                <a:spcPct val="120000"/>
              </a:lnSpc>
              <a:defRPr/>
            </a:pPr>
            <a:r>
              <a:rPr lang="en-US" sz="2000"/>
              <a:t>Tìm sự thật (truth finding): xem xét chất lượng nguồn</a:t>
            </a:r>
            <a:endParaRPr/>
          </a:p>
          <a:p>
            <a:pPr>
              <a:lnSpc>
                <a:spcPct val="120000"/>
              </a:lnSpc>
              <a:defRPr/>
            </a:pPr>
            <a:r>
              <a:rPr lang="en-US" sz="2000"/>
              <a:t>Làm sạch dữ liệu + tích hợp dữ liệu</a:t>
            </a:r>
            <a:endParaRPr/>
          </a:p>
          <a:p>
            <a:pPr>
              <a:lnSpc>
                <a:spcPct val="120000"/>
              </a:lnSpc>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2117637" name="Rectangle 2"/>
          <p:cNvSpPr>
            <a:spLocks noChangeArrowheads="1" noGrp="1"/>
          </p:cNvSpPr>
          <p:nvPr>
            <p:ph type="title"/>
          </p:nvPr>
        </p:nvSpPr>
        <p:spPr bwMode="auto">
          <a:xfrm>
            <a:off x="505097" y="228600"/>
            <a:ext cx="10981509" cy="685800"/>
          </a:xfrm>
        </p:spPr>
        <p:txBody>
          <a:bodyPr anchor="t">
            <a:normAutofit/>
          </a:bodyPr>
          <a:lstStyle/>
          <a:p>
            <a:pPr>
              <a:defRPr/>
            </a:pPr>
            <a:r>
              <a:rPr lang="en-US"/>
              <a:t>Xử lý dư thừa trong tích hợp dữ liệu</a:t>
            </a:r>
            <a:endParaRPr/>
          </a:p>
        </p:txBody>
      </p:sp>
      <p:sp>
        <p:nvSpPr>
          <p:cNvPr id="1010739611" name="Rectangle 3"/>
          <p:cNvSpPr>
            <a:spLocks noChangeArrowheads="1" noGrp="1"/>
          </p:cNvSpPr>
          <p:nvPr>
            <p:ph type="body" idx="1"/>
          </p:nvPr>
        </p:nvSpPr>
        <p:spPr bwMode="auto">
          <a:xfrm>
            <a:off x="635726" y="1295400"/>
            <a:ext cx="10850880" cy="5181600"/>
          </a:xfrm>
        </p:spPr>
        <p:txBody>
          <a:bodyPr/>
          <a:lstStyle/>
          <a:p>
            <a:pPr>
              <a:lnSpc>
                <a:spcPct val="120000"/>
              </a:lnSpc>
              <a:defRPr/>
            </a:pPr>
            <a:r>
              <a:rPr lang="en-US" sz="2400"/>
              <a:t>Redundant data occur often when integration of multiple databases</a:t>
            </a:r>
            <a:endParaRPr/>
          </a:p>
          <a:p>
            <a:pPr lvl="1">
              <a:lnSpc>
                <a:spcPct val="120000"/>
              </a:lnSpc>
              <a:defRPr/>
            </a:pPr>
            <a:r>
              <a:rPr lang="en-US" sz="2400" i="1"/>
              <a:t>Object identification</a:t>
            </a:r>
            <a:r>
              <a:rPr lang="en-US" sz="2400"/>
              <a:t>:  The same attribute or object may have different names in different databases</a:t>
            </a:r>
            <a:endParaRPr/>
          </a:p>
          <a:p>
            <a:pPr lvl="1">
              <a:lnSpc>
                <a:spcPct val="120000"/>
              </a:lnSpc>
              <a:defRPr/>
            </a:pPr>
            <a:r>
              <a:rPr lang="en-US" sz="2400" i="1"/>
              <a:t>Derivable data:</a:t>
            </a:r>
            <a:r>
              <a:rPr lang="en-US" sz="2400"/>
              <a:t> One attribute may be a “derived” attribute in another table, e.g., annual revenue</a:t>
            </a:r>
            <a:endParaRPr/>
          </a:p>
          <a:p>
            <a:pPr>
              <a:lnSpc>
                <a:spcPct val="120000"/>
              </a:lnSpc>
              <a:defRPr/>
            </a:pPr>
            <a:r>
              <a:rPr lang="en-US" sz="2400"/>
              <a:t>What’s the problem?</a:t>
            </a:r>
            <a:endParaRPr/>
          </a:p>
          <a:p>
            <a:pPr lvl="1">
              <a:lnSpc>
                <a:spcPct val="120000"/>
              </a:lnSpc>
              <a:defRPr/>
            </a:pPr>
            <mc:AlternateContent xmlns:mc="http://schemas.openxmlformats.org/markup-compatibility/2006" xmlns:m="http://schemas.openxmlformats.org/officeDocument/2006/math">
              <mc:Choice xmlns:a14="http://schemas.microsoft.com/office/drawing/2010/main" Requires="a14">
                <a14:m>
                  <m:oMathPara>
                    <m:oMathParaPr/>
                    <m:oMath>
                      <m:r>
                        <m:rPr/>
                        <a:rPr lang="en-US" sz="2400" b="0" i="1">
                          <a:latin typeface="Cambria Math"/>
                        </a:rPr>
                        <m:t>𝑌</m:t>
                      </m:r>
                      <m:r>
                        <m:rPr/>
                        <a:rPr lang="en-US" sz="2400" b="0" i="1">
                          <a:latin typeface="Cambria Math"/>
                        </a:rPr>
                        <m:t>=2</m:t>
                      </m:r>
                      <m:r>
                        <m:rPr/>
                        <a:rPr lang="en-US" sz="2400" b="0" i="1">
                          <a:latin typeface="Cambria Math"/>
                        </a:rPr>
                        <m:t>𝑋</m:t>
                      </m:r>
                      <m:r>
                        <m:rPr/>
                        <a:rPr lang="en-US" sz="2400" b="0" i="1">
                          <a:latin typeface="Cambria Math"/>
                        </a:rPr>
                        <m:t> →</m:t>
                      </m:r>
                      <m:r>
                        <m:rPr/>
                        <a:rPr lang="en-US" sz="2400" b="0" i="1">
                          <a:latin typeface="Cambria Math"/>
                          <a:ea typeface="Cambria Math"/>
                        </a:rPr>
                        <m:t>𝑌</m:t>
                      </m:r>
                      <m:r>
                        <m:rPr/>
                        <a:rPr lang="en-US" sz="2400" b="0" i="1">
                          <a:latin typeface="Cambria Math"/>
                          <a:ea typeface="Cambria Math"/>
                        </a:rPr>
                        <m:t>=</m:t>
                      </m:r>
                      <m:sSub>
                        <m:sSubPr>
                          <m:ctrlPr>
                            <a:rPr lang="en-US" sz="2400" b="0" i="1">
                              <a:latin typeface="Cambria Math"/>
                              <a:ea typeface="Cambria Math"/>
                              <a:cs typeface="Cambria Math"/>
                            </a:rPr>
                          </m:ctrlPr>
                        </m:sSubPr>
                        <m:e>
                          <m:r>
                            <m:rPr/>
                            <a:rPr lang="en-US" sz="2400" b="0" i="1">
                              <a:latin typeface="Cambria Math"/>
                              <a:ea typeface="Cambria Math"/>
                            </a:rPr>
                            <m:t>𝑋</m:t>
                          </m:r>
                        </m:e>
                        <m:sub>
                          <m:r>
                            <m:rPr/>
                            <a:rPr lang="en-US" sz="2400" b="0" i="1">
                              <a:latin typeface="Cambria Math"/>
                              <a:ea typeface="Cambria Math"/>
                            </a:rPr>
                            <m:t>1</m:t>
                          </m:r>
                        </m:sub>
                      </m:sSub>
                      <m:r>
                        <m:rPr/>
                        <a:rPr lang="en-US" sz="2400" b="0" i="1">
                          <a:latin typeface="Cambria Math"/>
                          <a:ea typeface="Cambria Math"/>
                        </a:rPr>
                        <m:t>+</m:t>
                      </m:r>
                      <m:sSub>
                        <m:sSubPr>
                          <m:ctrlPr>
                            <a:rPr lang="en-US" sz="2400" b="0" i="1">
                              <a:latin typeface="Cambria Math"/>
                              <a:ea typeface="Cambria Math"/>
                              <a:cs typeface="Cambria Math"/>
                            </a:rPr>
                          </m:ctrlPr>
                        </m:sSubPr>
                        <m:e>
                          <m:r>
                            <m:rPr/>
                            <a:rPr lang="en-US" sz="2400" b="0" i="1">
                              <a:latin typeface="Cambria Math"/>
                              <a:ea typeface="Cambria Math"/>
                            </a:rPr>
                            <m:t>𝑋</m:t>
                          </m:r>
                        </m:e>
                        <m:sub>
                          <m:r>
                            <m:rPr/>
                            <a:rPr lang="en-US" sz="2400" b="0" i="1">
                              <a:latin typeface="Cambria Math"/>
                              <a:ea typeface="Cambria Math"/>
                            </a:rPr>
                            <m:t>2</m:t>
                          </m:r>
                        </m:sub>
                      </m:sSub>
                      <m:r>
                        <m:rPr/>
                        <a:rPr lang="en-US" sz="2400" b="0" i="1">
                          <a:latin typeface="Cambria Math"/>
                          <a:ea typeface="Cambria Math"/>
                        </a:rPr>
                        <m:t>     </m:t>
                      </m:r>
                      <m:r>
                        <m:rPr/>
                        <a:rPr lang="en-US" sz="2400" b="0" i="1">
                          <a:latin typeface="Cambria Math"/>
                          <a:ea typeface="Cambria Math"/>
                        </a:rPr>
                        <m:t>𝑌</m:t>
                      </m:r>
                      <m:r>
                        <m:rPr/>
                        <a:rPr lang="en-US" sz="2400" b="0" i="1">
                          <a:latin typeface="Cambria Math"/>
                          <a:ea typeface="Cambria Math"/>
                        </a:rPr>
                        <m:t>=3</m:t>
                      </m:r>
                      <m:sSub>
                        <m:sSubPr>
                          <m:ctrlPr>
                            <a:rPr lang="en-US" sz="2400" b="0" i="1">
                              <a:latin typeface="Cambria Math"/>
                              <a:ea typeface="Cambria Math"/>
                              <a:cs typeface="Cambria Math"/>
                            </a:rPr>
                          </m:ctrlPr>
                        </m:sSubPr>
                        <m:e>
                          <m:r>
                            <m:rPr/>
                            <a:rPr lang="en-US" sz="2400" b="0" i="1">
                              <a:latin typeface="Cambria Math"/>
                              <a:ea typeface="Cambria Math"/>
                            </a:rPr>
                            <m:t>𝑋</m:t>
                          </m:r>
                        </m:e>
                        <m:sub>
                          <m:r>
                            <m:rPr/>
                            <a:rPr lang="en-US" sz="2400" b="0" i="1">
                              <a:latin typeface="Cambria Math"/>
                              <a:ea typeface="Cambria Math"/>
                            </a:rPr>
                            <m:t>1</m:t>
                          </m:r>
                        </m:sub>
                      </m:sSub>
                      <m:r>
                        <m:rPr/>
                        <a:rPr lang="en-US" sz="2400" b="0" i="1">
                          <a:latin typeface="Cambria Math"/>
                          <a:ea typeface="Cambria Math"/>
                        </a:rPr>
                        <m:t>−</m:t>
                      </m:r>
                      <m:sSub>
                        <m:sSubPr>
                          <m:ctrlPr>
                            <a:rPr lang="en-US" sz="2400" b="0" i="1">
                              <a:latin typeface="Cambria Math"/>
                              <a:ea typeface="Cambria Math"/>
                              <a:cs typeface="Cambria Math"/>
                            </a:rPr>
                          </m:ctrlPr>
                        </m:sSubPr>
                        <m:e>
                          <m:r>
                            <m:rPr/>
                            <a:rPr lang="en-US" sz="2400" b="0" i="1">
                              <a:latin typeface="Cambria Math"/>
                              <a:ea typeface="Cambria Math"/>
                            </a:rPr>
                            <m:t>𝑋</m:t>
                          </m:r>
                        </m:e>
                        <m:sub>
                          <m:r>
                            <m:rPr/>
                            <a:rPr lang="en-US" sz="2400" b="0" i="1">
                              <a:latin typeface="Cambria Math"/>
                              <a:ea typeface="Cambria Math"/>
                            </a:rPr>
                            <m:t>2</m:t>
                          </m:r>
                        </m:sub>
                      </m:sSub>
                      <m:r>
                        <m:rPr/>
                        <a:rPr lang="en-US" sz="2400" b="0" i="1">
                          <a:latin typeface="Cambria Math"/>
                          <a:ea typeface="Cambria Math"/>
                        </a:rPr>
                        <m:t>     </m:t>
                      </m:r>
                      <m:r>
                        <m:rPr/>
                        <a:rPr lang="en-US" sz="2400" b="0" i="1">
                          <a:latin typeface="Cambria Math"/>
                          <a:ea typeface="Cambria Math"/>
                        </a:rPr>
                        <m:t>𝑌</m:t>
                      </m:r>
                      <m:r>
                        <m:rPr/>
                        <a:rPr lang="en-US" sz="2400" b="0" i="1">
                          <a:latin typeface="Cambria Math"/>
                          <a:ea typeface="Cambria Math"/>
                        </a:rPr>
                        <m:t>=−1291</m:t>
                      </m:r>
                      <m:sSub>
                        <m:sSubPr>
                          <m:ctrlPr>
                            <a:rPr lang="en-US" sz="2400" b="0" i="1">
                              <a:latin typeface="Cambria Math"/>
                              <a:ea typeface="Cambria Math"/>
                              <a:cs typeface="Cambria Math"/>
                            </a:rPr>
                          </m:ctrlPr>
                        </m:sSubPr>
                        <m:e>
                          <m:r>
                            <m:rPr/>
                            <a:rPr lang="en-US" sz="2400" b="0" i="1">
                              <a:latin typeface="Cambria Math"/>
                              <a:ea typeface="Cambria Math"/>
                            </a:rPr>
                            <m:t>𝑋</m:t>
                          </m:r>
                        </m:e>
                        <m:sub>
                          <m:r>
                            <m:rPr/>
                            <a:rPr lang="en-US" sz="2400" b="0" i="1">
                              <a:latin typeface="Cambria Math"/>
                              <a:ea typeface="Cambria Math"/>
                            </a:rPr>
                            <m:t>1</m:t>
                          </m:r>
                        </m:sub>
                      </m:sSub>
                      <m:r>
                        <m:rPr/>
                        <a:rPr lang="en-US" sz="2400" b="0" i="1">
                          <a:latin typeface="Cambria Math"/>
                          <a:ea typeface="Cambria Math"/>
                        </a:rPr>
                        <m:t>+1293</m:t>
                      </m:r>
                      <m:sSub>
                        <m:sSubPr>
                          <m:ctrlPr>
                            <a:rPr lang="en-US" sz="2400" b="0" i="1">
                              <a:latin typeface="Cambria Math"/>
                              <a:ea typeface="Cambria Math"/>
                              <a:cs typeface="Cambria Math"/>
                            </a:rPr>
                          </m:ctrlPr>
                        </m:sSubPr>
                        <m:e>
                          <m:r>
                            <m:rPr/>
                            <a:rPr lang="en-US" sz="2400" b="0" i="1">
                              <a:latin typeface="Cambria Math"/>
                              <a:ea typeface="Cambria Math"/>
                            </a:rPr>
                            <m:t>𝑋</m:t>
                          </m:r>
                        </m:e>
                        <m:sub>
                          <m:r>
                            <m:rPr/>
                            <a:rPr lang="en-US" sz="2400" b="0" i="1">
                              <a:latin typeface="Cambria Math"/>
                              <a:ea typeface="Cambria Math"/>
                            </a:rPr>
                            <m:t>2</m:t>
                          </m:r>
                        </m:sub>
                      </m:sSub>
                    </m:oMath>
                  </m:oMathPara>
                </a14:m>
              </mc:Choice>
              <mc:Fallback/>
            </mc:AlternateContent>
            <a:endParaRPr lang="en-US" sz="2400"/>
          </a:p>
          <a:p>
            <a:pPr>
              <a:lnSpc>
                <a:spcPct val="120000"/>
              </a:lnSpc>
              <a:defRPr/>
            </a:pPr>
            <a:r>
              <a:rPr lang="en-US" sz="2400"/>
              <a:t>Redundant </a:t>
            </a:r>
            <a:r>
              <a:rPr lang="en-US" sz="2400"/>
              <a:t>attributes may </a:t>
            </a:r>
            <a:r>
              <a:rPr lang="en-US" sz="2400"/>
              <a:t>be detected by correlation analysis and covariance analysis</a:t>
            </a:r>
            <a:endParaRPr/>
          </a:p>
          <a:p>
            <a:pPr>
              <a:lnSpc>
                <a:spcPct val="120000"/>
              </a:lnSpc>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77105448" name="Rectangle 2"/>
          <p:cNvSpPr>
            <a:spLocks noChangeArrowheads="1" noGrp="1"/>
          </p:cNvSpPr>
          <p:nvPr>
            <p:ph type="title"/>
          </p:nvPr>
        </p:nvSpPr>
        <p:spPr bwMode="auto">
          <a:xfrm>
            <a:off x="542925" y="81481"/>
            <a:ext cx="11106150" cy="887240"/>
          </a:xfrm>
        </p:spPr>
        <p:txBody>
          <a:bodyPr anchor="t">
            <a:normAutofit/>
          </a:bodyPr>
          <a:lstStyle/>
          <a:p>
            <a:pPr>
              <a:defRPr/>
            </a:pPr>
            <a:r>
              <a:rPr lang="en-US"/>
              <a:t>Biến đổi dữ liệu</a:t>
            </a:r>
            <a:endParaRPr/>
          </a:p>
        </p:txBody>
      </p:sp>
      <p:sp>
        <p:nvSpPr>
          <p:cNvPr id="669078610" name="Rectangle 3"/>
          <p:cNvSpPr>
            <a:spLocks noChangeArrowheads="1" noGrp="1"/>
          </p:cNvSpPr>
          <p:nvPr>
            <p:ph type="body" idx="1"/>
          </p:nvPr>
        </p:nvSpPr>
        <p:spPr bwMode="auto">
          <a:xfrm>
            <a:off x="663388" y="1209235"/>
            <a:ext cx="10865223" cy="5257800"/>
          </a:xfrm>
        </p:spPr>
        <p:txBody>
          <a:bodyPr/>
          <a:lstStyle/>
          <a:p>
            <a:pPr>
              <a:spcAft>
                <a:spcPts val="600"/>
              </a:spcAft>
              <a:defRPr/>
            </a:pPr>
            <a:r>
              <a:rPr lang="en-US"/>
              <a:t>Chuẩn hóa</a:t>
            </a:r>
            <a:endParaRPr/>
          </a:p>
          <a:p>
            <a:pPr>
              <a:spcAft>
                <a:spcPts val="600"/>
              </a:spcAft>
              <a:defRPr/>
            </a:pPr>
            <a:r>
              <a:rPr lang="en-US"/>
              <a:t>Rời rạc hóa </a:t>
            </a:r>
            <a:endParaRPr/>
          </a:p>
          <a:p>
            <a:pPr>
              <a:spcAft>
                <a:spcPts val="600"/>
              </a:spcAft>
              <a:defRPr/>
            </a:pPr>
            <a:r>
              <a:rPr lang="en-US"/>
              <a:t>Nén dữ liệu</a:t>
            </a:r>
            <a:endParaRPr/>
          </a:p>
          <a:p>
            <a:pPr>
              <a:spcAft>
                <a:spcPts val="600"/>
              </a:spcAft>
              <a:defRPr/>
            </a:pPr>
            <a:r>
              <a:rPr lang="en-US"/>
              <a:t>Lấy mẫu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91460070" name="Rectangle 2"/>
          <p:cNvSpPr>
            <a:spLocks noChangeArrowheads="1" noGrp="1"/>
          </p:cNvSpPr>
          <p:nvPr>
            <p:ph type="title" idx="4294967295"/>
          </p:nvPr>
        </p:nvSpPr>
        <p:spPr bwMode="auto">
          <a:xfrm>
            <a:off x="2019301" y="304800"/>
            <a:ext cx="8054975" cy="609600"/>
          </a:xfrm>
        </p:spPr>
        <p:txBody>
          <a:bodyPr anchor="t">
            <a:noAutofit/>
          </a:bodyPr>
          <a:lstStyle/>
          <a:p>
            <a:pPr>
              <a:defRPr/>
            </a:pPr>
            <a:r>
              <a:rPr lang="en-US"/>
              <a:t>Biến đổi dữ liệu</a:t>
            </a:r>
            <a:endParaRPr/>
          </a:p>
        </p:txBody>
      </p:sp>
      <p:sp>
        <p:nvSpPr>
          <p:cNvPr id="304996975" name="Rectangle 3"/>
          <p:cNvSpPr>
            <a:spLocks noChangeArrowheads="1" noGrp="1"/>
          </p:cNvSpPr>
          <p:nvPr>
            <p:ph type="body" idx="4294967295"/>
          </p:nvPr>
        </p:nvSpPr>
        <p:spPr bwMode="auto">
          <a:xfrm>
            <a:off x="634410" y="1132114"/>
            <a:ext cx="10824755" cy="5660572"/>
          </a:xfrm>
        </p:spPr>
        <p:txBody>
          <a:bodyPr/>
          <a:lstStyle/>
          <a:p>
            <a:pPr>
              <a:spcAft>
                <a:spcPts val="300"/>
              </a:spcAft>
              <a:defRPr/>
            </a:pPr>
            <a:r>
              <a:rPr lang="en-US">
                <a:latin typeface="Calibri"/>
              </a:rPr>
              <a:t>Một hàm ánh xạ toàn bộ tập giá trị của một thuộc tính cho trước sang một tập giá trị thay thế mới, sao cho </a:t>
            </a:r>
            <a:r>
              <a:rPr lang="en-US">
                <a:latin typeface="Calibri"/>
              </a:rPr>
              <a:t>mỗi</a:t>
            </a:r>
            <a:r>
              <a:rPr lang="en-US">
                <a:latin typeface="Calibri"/>
              </a:rPr>
              <a:t> giá trị cũ có thể tương ứng với một trong các giá trị mới</a:t>
            </a:r>
            <a:endParaRPr/>
          </a:p>
          <a:p>
            <a:pPr>
              <a:spcAft>
                <a:spcPts val="300"/>
              </a:spcAft>
              <a:defRPr/>
            </a:pPr>
            <a:r>
              <a:rPr lang="en-US">
                <a:latin typeface="Calibri"/>
              </a:rPr>
              <a:t>Các phương pháp</a:t>
            </a:r>
            <a:endParaRPr/>
          </a:p>
          <a:p>
            <a:pPr lvl="1">
              <a:spcAft>
                <a:spcPts val="300"/>
              </a:spcAft>
              <a:defRPr/>
            </a:pPr>
            <a:r>
              <a:rPr lang="en-US">
                <a:latin typeface="Calibri"/>
              </a:rPr>
              <a:t>Làm mượt: loại bỏ nhiễu khỏi dữ liệu</a:t>
            </a:r>
            <a:endParaRPr/>
          </a:p>
          <a:p>
            <a:pPr lvl="1">
              <a:spcAft>
                <a:spcPts val="300"/>
              </a:spcAft>
              <a:defRPr/>
            </a:pPr>
            <a:r>
              <a:rPr lang="en-US">
                <a:latin typeface="Calibri"/>
              </a:rPr>
              <a:t>Xây dựng thuộc tính/đặc trưng</a:t>
            </a:r>
            <a:endParaRPr/>
          </a:p>
          <a:p>
            <a:pPr lvl="2">
              <a:spcAft>
                <a:spcPts val="300"/>
              </a:spcAft>
              <a:defRPr/>
            </a:pPr>
            <a:r>
              <a:rPr lang="en-US">
                <a:latin typeface="Calibri"/>
              </a:rPr>
              <a:t>Xây dựng thuộc tính mới từ các thuộc tính đã có</a:t>
            </a:r>
            <a:endParaRPr/>
          </a:p>
          <a:p>
            <a:pPr lvl="1">
              <a:spcAft>
                <a:spcPts val="300"/>
              </a:spcAft>
              <a:defRPr/>
            </a:pPr>
            <a:r>
              <a:rPr lang="en-US">
                <a:latin typeface="Calibri"/>
              </a:rPr>
              <a:t>Tổng hợp: tóm tắt, xây dựng khối dữ liệu</a:t>
            </a:r>
            <a:endParaRPr/>
          </a:p>
          <a:p>
            <a:pPr lvl="1">
              <a:spcAft>
                <a:spcPts val="300"/>
              </a:spcAft>
              <a:defRPr/>
            </a:pPr>
            <a:r>
              <a:rPr lang="en-US">
                <a:latin typeface="Calibri"/>
              </a:rPr>
              <a:t>Chuẩn hóa: co giãn để nằm trong một khoảng nhỏ hơn, cụ thể</a:t>
            </a:r>
            <a:endParaRPr/>
          </a:p>
          <a:p>
            <a:pPr lvl="2">
              <a:spcAft>
                <a:spcPts val="300"/>
              </a:spcAft>
              <a:defRPr/>
            </a:pPr>
            <a:r>
              <a:rPr lang="en-US">
                <a:latin typeface="Calibri"/>
              </a:rPr>
              <a:t>chuẩn hóa min-max</a:t>
            </a:r>
            <a:endParaRPr/>
          </a:p>
          <a:p>
            <a:pPr lvl="2">
              <a:spcAft>
                <a:spcPts val="300"/>
              </a:spcAft>
              <a:defRPr/>
            </a:pPr>
            <a:r>
              <a:rPr lang="en-US">
                <a:latin typeface="Calibri"/>
              </a:rPr>
              <a:t>chuẩn hóa z-score</a:t>
            </a:r>
            <a:endParaRPr/>
          </a:p>
          <a:p>
            <a:pPr lvl="2">
              <a:spcAft>
                <a:spcPts val="300"/>
              </a:spcAft>
              <a:defRPr/>
            </a:pPr>
            <a:r>
              <a:rPr lang="en-US">
                <a:latin typeface="Calibri"/>
              </a:rPr>
              <a:t>chuẩn hóa theo tỷ lệ thập phân</a:t>
            </a:r>
            <a:endParaRPr/>
          </a:p>
          <a:p>
            <a:pPr lvl="1">
              <a:spcAft>
                <a:spcPts val="300"/>
              </a:spcAft>
              <a:defRPr/>
            </a:pPr>
            <a:r>
              <a:rPr lang="en-US">
                <a:latin typeface="Calibri"/>
              </a:rPr>
              <a:t>Rời rạc hóa: leo hệ thống phân cấp khái niệm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4252607" name="Rectangle 2"/>
          <p:cNvSpPr>
            <a:spLocks noChangeArrowheads="1" noGrp="1"/>
          </p:cNvSpPr>
          <p:nvPr>
            <p:ph type="title"/>
          </p:nvPr>
        </p:nvSpPr>
        <p:spPr bwMode="auto">
          <a:xfrm>
            <a:off x="1524000" y="381000"/>
            <a:ext cx="9144000" cy="609600"/>
          </a:xfrm>
        </p:spPr>
        <p:txBody>
          <a:bodyPr anchor="t">
            <a:noAutofit/>
          </a:bodyPr>
          <a:lstStyle/>
          <a:p>
            <a:pPr>
              <a:defRPr/>
            </a:pPr>
            <a:r>
              <a:rPr lang="en-US"/>
              <a:t>Chuẩn hóa</a:t>
            </a:r>
            <a:endParaRPr/>
          </a:p>
        </p:txBody>
      </p:sp>
      <p:sp>
        <p:nvSpPr>
          <p:cNvPr id="1083293631" name="Rectangle 3"/>
          <p:cNvSpPr>
            <a:spLocks noChangeArrowheads="1" noGrp="1"/>
          </p:cNvSpPr>
          <p:nvPr>
            <p:ph type="body" sz="half" idx="1"/>
          </p:nvPr>
        </p:nvSpPr>
        <p:spPr bwMode="auto">
          <a:xfrm>
            <a:off x="707027" y="1138237"/>
            <a:ext cx="8817973" cy="5029200"/>
          </a:xfrm>
        </p:spPr>
        <p:txBody>
          <a:bodyPr/>
          <a:lstStyle/>
          <a:p>
            <a:pPr>
              <a:spcAft>
                <a:spcPts val="300"/>
              </a:spcAft>
              <a:defRPr/>
            </a:pPr>
            <a:r>
              <a:rPr lang="en-US" b="1">
                <a:latin typeface="Calibri"/>
              </a:rPr>
              <a:t>Chuẩn hóa min-max</a:t>
            </a:r>
            <a:r>
              <a:rPr lang="en-US">
                <a:latin typeface="Calibri"/>
              </a:rPr>
              <a:t>: về [</a:t>
            </a:r>
            <a:r>
              <a:rPr lang="en-US">
                <a:latin typeface="Calibri"/>
              </a:rPr>
              <a:t>new_min</a:t>
            </a:r>
            <a:r>
              <a:rPr lang="en-US" baseline="-25000">
                <a:latin typeface="Calibri"/>
              </a:rPr>
              <a:t>A</a:t>
            </a:r>
            <a:r>
              <a:rPr lang="en-US">
                <a:latin typeface="Calibri"/>
              </a:rPr>
              <a:t>, </a:t>
            </a:r>
            <a:r>
              <a:rPr lang="en-US">
                <a:latin typeface="Calibri"/>
              </a:rPr>
              <a:t>new_max</a:t>
            </a:r>
            <a:r>
              <a:rPr lang="en-US" baseline="-25000">
                <a:latin typeface="Calibri"/>
              </a:rPr>
              <a:t>A</a:t>
            </a:r>
            <a:r>
              <a:rPr lang="en-US">
                <a:latin typeface="Calibri"/>
              </a:rPr>
              <a:t>]</a:t>
            </a:r>
            <a:endParaRPr/>
          </a:p>
          <a:p>
            <a:pPr lvl="1">
              <a:spcAft>
                <a:spcPts val="300"/>
              </a:spcAft>
              <a:defRPr/>
            </a:pPr>
            <a:endParaRPr lang="en-US">
              <a:latin typeface="Calibri"/>
            </a:endParaRPr>
          </a:p>
          <a:p>
            <a:pPr lvl="1">
              <a:spcAft>
                <a:spcPts val="300"/>
              </a:spcAft>
              <a:defRPr/>
            </a:pPr>
            <a:endParaRPr lang="en-US">
              <a:latin typeface="Calibri"/>
            </a:endParaRPr>
          </a:p>
          <a:p>
            <a:pPr lvl="1">
              <a:spcAft>
                <a:spcPts val="300"/>
              </a:spcAft>
              <a:defRPr/>
            </a:pPr>
            <a:r>
              <a:rPr lang="en-US">
                <a:latin typeface="Calibri"/>
              </a:rPr>
              <a:t>Ví dụ. Cho thu nhập trong khoảng $12,000 đến $98,000 được chuẩn hóa về [0.0, 1.0]</a:t>
            </a:r>
            <a:endParaRPr/>
          </a:p>
          <a:p>
            <a:pPr lvl="3">
              <a:spcAft>
                <a:spcPts val="300"/>
              </a:spcAft>
              <a:defRPr/>
            </a:pPr>
            <a:r>
              <a:rPr lang="en-US">
                <a:latin typeface="Calibri"/>
              </a:rPr>
              <a:t>Khi đó $73,000 được ánh xạ thành  </a:t>
            </a:r>
            <a:endParaRPr/>
          </a:p>
          <a:p>
            <a:pPr>
              <a:spcAft>
                <a:spcPts val="300"/>
              </a:spcAft>
              <a:defRPr/>
            </a:pPr>
            <a:r>
              <a:rPr lang="en-US" b="1">
                <a:latin typeface="Calibri"/>
              </a:rPr>
              <a:t>Chuẩn hóa z-score</a:t>
            </a:r>
            <a:r>
              <a:rPr lang="en-US">
                <a:latin typeface="Calibri"/>
              </a:rPr>
              <a:t> (</a:t>
            </a:r>
            <a:r>
              <a:rPr lang="el-GR">
                <a:latin typeface="Calibri"/>
              </a:rPr>
              <a:t>μ</a:t>
            </a:r>
            <a:r>
              <a:rPr lang="en-US">
                <a:latin typeface="Calibri"/>
              </a:rPr>
              <a:t>: trung bình, </a:t>
            </a:r>
            <a:r>
              <a:rPr lang="el-GR">
                <a:latin typeface="Calibri"/>
              </a:rPr>
              <a:t>σ</a:t>
            </a:r>
            <a:r>
              <a:rPr lang="en-US">
                <a:latin typeface="Calibri"/>
              </a:rPr>
              <a:t>: độ lệch chuẩn):</a:t>
            </a:r>
            <a:endParaRPr/>
          </a:p>
          <a:p>
            <a:pPr>
              <a:spcAft>
                <a:spcPts val="300"/>
              </a:spcAft>
              <a:defRPr/>
            </a:pPr>
            <a:endParaRPr lang="en-US">
              <a:latin typeface="Calibri"/>
            </a:endParaRPr>
          </a:p>
          <a:p>
            <a:pPr lvl="1">
              <a:spcAft>
                <a:spcPts val="300"/>
              </a:spcAft>
              <a:defRPr/>
            </a:pPr>
            <a:endParaRPr lang="en-US">
              <a:latin typeface="Calibri"/>
            </a:endParaRPr>
          </a:p>
          <a:p>
            <a:pPr lvl="1">
              <a:spcAft>
                <a:spcPts val="300"/>
              </a:spcAft>
              <a:defRPr/>
            </a:pPr>
            <a:r>
              <a:rPr lang="en-US">
                <a:latin typeface="Calibri"/>
              </a:rPr>
              <a:t>Ví dụ. Cho </a:t>
            </a:r>
            <a:r>
              <a:rPr lang="el-GR">
                <a:latin typeface="Calibri"/>
              </a:rPr>
              <a:t>μ</a:t>
            </a:r>
            <a:r>
              <a:rPr lang="en-US">
                <a:latin typeface="Calibri"/>
              </a:rPr>
              <a:t> = 54,000, </a:t>
            </a:r>
            <a:r>
              <a:rPr lang="el-GR">
                <a:latin typeface="Calibri"/>
              </a:rPr>
              <a:t>σ</a:t>
            </a:r>
            <a:r>
              <a:rPr lang="en-US">
                <a:latin typeface="Calibri"/>
              </a:rPr>
              <a:t> = 16,000.  Khi đó</a:t>
            </a:r>
            <a:endParaRPr lang="el-GR">
              <a:latin typeface="Calibri"/>
            </a:endParaRPr>
          </a:p>
          <a:p>
            <a:pPr>
              <a:spcAft>
                <a:spcPts val="300"/>
              </a:spcAft>
              <a:defRPr/>
            </a:pPr>
            <a:r>
              <a:rPr lang="en-US" b="1">
                <a:latin typeface="Calibri"/>
              </a:rPr>
              <a:t>Chuẩn hóa theo tỷ lệ thập phân</a:t>
            </a:r>
            <a:endParaRPr/>
          </a:p>
        </p:txBody>
      </p:sp>
      <p:graphicFrame>
        <p:nvGraphicFramePr>
          <p:cNvPr id="1062760076" name="Object 4"/>
          <p:cNvGraphicFramePr>
            <a:graphicFrameLocks xmlns:a="http://schemas.openxmlformats.org/drawingml/2006/main" noChangeAspect="1"/>
          </p:cNvGraphicFramePr>
          <p:nvPr/>
        </p:nvGraphicFramePr>
        <p:xfrm>
          <a:off x="4433888" y="2879254"/>
          <a:ext cx="2514600" cy="488950"/>
        </p:xfrm>
        <a:graphic>
          <a:graphicData uri="http://schemas.openxmlformats.org/presentationml/2006/ole">
            <p:oleObj name="oleObj" r:id="rId4" imgW="2222500" imgH="419100" progId="Equation.3">
              <p:embed/>
              <p:pic>
                <p:nvPicPr>
                  <p:cNvPr id="1062760076" name="Object 4"/>
                  <p:cNvPicPr/>
                  <p:nvPr/>
                </p:nvPicPr>
                <p:blipFill rotWithShape="1">
                  <a:blip r:embed="rId3"/>
                  <a:stretch/>
                </p:blipFill>
                <p:spPr bwMode="auto">
                  <a:xfrm>
                    <a:off x="4433888" y="2879254"/>
                    <a:ext cx="2514600" cy="488950"/>
                  </a:xfrm>
                  <a:prstGeom prst="rect">
                    <a:avLst/>
                  </a:prstGeom>
                  <a:noFill/>
                  <a:ln>
                    <a:noFill/>
                  </a:ln>
                  <a:effectLst/>
                </p:spPr>
              </p:pic>
            </p:oleObj>
          </a:graphicData>
        </a:graphic>
      </p:graphicFrame>
      <p:graphicFrame>
        <p:nvGraphicFramePr>
          <p:cNvPr id="637648527" name="Object 5"/>
          <p:cNvGraphicFramePr>
            <a:graphicFrameLocks xmlns:a="http://schemas.openxmlformats.org/drawingml/2006/main" noChangeAspect="1"/>
          </p:cNvGraphicFramePr>
          <p:nvPr/>
        </p:nvGraphicFramePr>
        <p:xfrm>
          <a:off x="3437709" y="1772443"/>
          <a:ext cx="5943600" cy="709613"/>
        </p:xfrm>
        <a:graphic>
          <a:graphicData uri="http://schemas.openxmlformats.org/presentationml/2006/ole">
            <p:oleObj name="oleObj" r:id="rId6" imgW="3340100" imgH="393700" progId="Equation.3">
              <p:embed/>
              <p:pic>
                <p:nvPicPr>
                  <p:cNvPr id="637648527" name="Object 5"/>
                  <p:cNvPicPr/>
                  <p:nvPr/>
                </p:nvPicPr>
                <p:blipFill rotWithShape="1">
                  <a:blip r:embed="rId5"/>
                  <a:stretch/>
                </p:blipFill>
                <p:spPr bwMode="auto">
                  <a:xfrm>
                    <a:off x="3437709" y="1772443"/>
                    <a:ext cx="5943600" cy="709613"/>
                  </a:xfrm>
                  <a:prstGeom prst="rect">
                    <a:avLst/>
                  </a:prstGeom>
                  <a:noFill/>
                  <a:ln>
                    <a:noFill/>
                  </a:ln>
                  <a:effectLst/>
                </p:spPr>
              </p:pic>
            </p:oleObj>
          </a:graphicData>
        </a:graphic>
      </p:graphicFrame>
      <p:graphicFrame>
        <p:nvGraphicFramePr>
          <p:cNvPr id="375703962" name="Object 6"/>
          <p:cNvGraphicFramePr>
            <a:graphicFrameLocks xmlns:a="http://schemas.openxmlformats.org/drawingml/2006/main" noChangeAspect="1"/>
          </p:cNvGraphicFramePr>
          <p:nvPr/>
        </p:nvGraphicFramePr>
        <p:xfrm>
          <a:off x="3600994" y="4060122"/>
          <a:ext cx="1447800" cy="679450"/>
        </p:xfrm>
        <a:graphic>
          <a:graphicData uri="http://schemas.openxmlformats.org/presentationml/2006/ole">
            <p:oleObj name="oleObj" r:id="rId8" imgW="633730" imgH="393065" progId="Equation.3">
              <p:embed/>
              <p:pic>
                <p:nvPicPr>
                  <p:cNvPr id="375703962" name="Object 6"/>
                  <p:cNvPicPr/>
                  <p:nvPr/>
                </p:nvPicPr>
                <p:blipFill rotWithShape="1">
                  <a:blip r:embed="rId7"/>
                  <a:stretch/>
                </p:blipFill>
                <p:spPr bwMode="auto">
                  <a:xfrm>
                    <a:off x="3600994" y="4060122"/>
                    <a:ext cx="1447800" cy="679450"/>
                  </a:xfrm>
                  <a:prstGeom prst="rect">
                    <a:avLst/>
                  </a:prstGeom>
                  <a:noFill/>
                  <a:ln>
                    <a:noFill/>
                  </a:ln>
                  <a:effectLst/>
                </p:spPr>
              </p:pic>
            </p:oleObj>
          </a:graphicData>
        </a:graphic>
      </p:graphicFrame>
      <p:graphicFrame>
        <p:nvGraphicFramePr>
          <p:cNvPr id="2081254712" name="Object 7"/>
          <p:cNvGraphicFramePr>
            <a:graphicFrameLocks xmlns:a="http://schemas.openxmlformats.org/drawingml/2006/main" noChangeAspect="1"/>
          </p:cNvGraphicFramePr>
          <p:nvPr/>
        </p:nvGraphicFramePr>
        <p:xfrm>
          <a:off x="2904309" y="5743575"/>
          <a:ext cx="1066800" cy="847725"/>
        </p:xfrm>
        <a:graphic>
          <a:graphicData uri="http://schemas.openxmlformats.org/presentationml/2006/ole">
            <p:oleObj name="oleObj" r:id="rId10" imgW="494665" imgH="393065" progId="Equation.3">
              <p:embed/>
              <p:pic>
                <p:nvPicPr>
                  <p:cNvPr id="2081254712" name="Object 7"/>
                  <p:cNvPicPr/>
                  <p:nvPr/>
                </p:nvPicPr>
                <p:blipFill rotWithShape="1">
                  <a:blip r:embed="rId9"/>
                  <a:stretch/>
                </p:blipFill>
                <p:spPr bwMode="auto">
                  <a:xfrm>
                    <a:off x="2904309" y="5743575"/>
                    <a:ext cx="1066800" cy="847725"/>
                  </a:xfrm>
                  <a:prstGeom prst="rect">
                    <a:avLst/>
                  </a:prstGeom>
                  <a:noFill/>
                  <a:ln>
                    <a:noFill/>
                  </a:ln>
                  <a:effectLst/>
                </p:spPr>
              </p:pic>
            </p:oleObj>
          </a:graphicData>
        </a:graphic>
      </p:graphicFrame>
      <p:graphicFrame>
        <p:nvGraphicFramePr>
          <p:cNvPr id="1328767497" name="Object 8"/>
          <p:cNvGraphicFramePr>
            <a:graphicFrameLocks xmlns:a="http://schemas.openxmlformats.org/drawingml/2006/main" noChangeAspect="1"/>
          </p:cNvGraphicFramePr>
          <p:nvPr/>
        </p:nvGraphicFramePr>
        <p:xfrm>
          <a:off x="6038851" y="3321051"/>
          <a:ext cx="112713" cy="214313"/>
        </p:xfrm>
        <a:graphic>
          <a:graphicData uri="http://schemas.openxmlformats.org/presentationml/2006/ole">
            <p:oleObj name="oleObj" r:id="rId12" imgW="113665" imgH="215265" progId="Equation.3">
              <p:embed/>
              <p:pic>
                <p:nvPicPr>
                  <p:cNvPr id="1328767497" name="Object 8"/>
                  <p:cNvPicPr/>
                  <p:nvPr/>
                </p:nvPicPr>
                <p:blipFill rotWithShape="1">
                  <a:blip r:embed="rId11"/>
                  <a:stretch/>
                </p:blipFill>
                <p:spPr bwMode="auto">
                  <a:xfrm>
                    <a:off x="6038851" y="3321051"/>
                    <a:ext cx="112713" cy="214313"/>
                  </a:xfrm>
                  <a:prstGeom prst="rect">
                    <a:avLst/>
                  </a:prstGeom>
                  <a:noFill/>
                  <a:ln>
                    <a:noFill/>
                  </a:ln>
                  <a:effectLst/>
                </p:spPr>
              </p:pic>
            </p:oleObj>
          </a:graphicData>
        </a:graphic>
      </p:graphicFrame>
      <p:sp>
        <p:nvSpPr>
          <p:cNvPr id="1892634887" name="Text Box 9"/>
          <p:cNvSpPr txBox="1">
            <a:spLocks noChangeArrowheads="1"/>
          </p:cNvSpPr>
          <p:nvPr/>
        </p:nvSpPr>
        <p:spPr bwMode="auto">
          <a:xfrm>
            <a:off x="4161105" y="5938836"/>
            <a:ext cx="6126163" cy="457200"/>
          </a:xfrm>
          <a:prstGeom prst="rect">
            <a:avLst/>
          </a:prstGeom>
          <a:noFill/>
          <a:ln>
            <a:noFill/>
          </a:ln>
        </p:spPr>
        <p:txBody>
          <a:bodyPr>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r>
              <a:rPr lang="en-US" sz="1700">
                <a:latin typeface="Times New Roman"/>
              </a:rPr>
              <a:t>Trong đó </a:t>
            </a:r>
            <a:r>
              <a:rPr lang="en-US" i="1">
                <a:latin typeface="Times New Roman"/>
              </a:rPr>
              <a:t>j</a:t>
            </a:r>
            <a:r>
              <a:rPr lang="en-US" sz="1700">
                <a:latin typeface="Times New Roman"/>
              </a:rPr>
              <a:t> là số nguyên nhỏ nhất sao cho Max(|</a:t>
            </a:r>
            <a:r>
              <a:rPr lang="el-GR" sz="1700">
                <a:latin typeface="Times New Roman"/>
                <a:cs typeface="Times New Roman"/>
              </a:rPr>
              <a:t>ν</a:t>
            </a:r>
            <a:r>
              <a:rPr lang="en-US" sz="1700">
                <a:latin typeface="Times New Roman"/>
                <a:cs typeface="Times New Roman"/>
              </a:rPr>
              <a:t>’</a:t>
            </a:r>
            <a:r>
              <a:rPr lang="en-US" sz="1700">
                <a:latin typeface="Times New Roman"/>
              </a:rPr>
              <a:t>|) &lt; 1</a:t>
            </a:r>
            <a:endParaRPr lang="en-US">
              <a:latin typeface="Times New Roman"/>
            </a:endParaRPr>
          </a:p>
        </p:txBody>
      </p:sp>
      <p:graphicFrame>
        <p:nvGraphicFramePr>
          <p:cNvPr id="1260247302" name="Object 10"/>
          <p:cNvGraphicFramePr>
            <a:graphicFrameLocks xmlns:a="http://schemas.openxmlformats.org/drawingml/2006/main" noChangeAspect="1"/>
          </p:cNvGraphicFramePr>
          <p:nvPr/>
        </p:nvGraphicFramePr>
        <p:xfrm>
          <a:off x="6948488" y="5000790"/>
          <a:ext cx="1952625" cy="563562"/>
        </p:xfrm>
        <a:graphic>
          <a:graphicData uri="http://schemas.openxmlformats.org/presentationml/2006/ole">
            <p:oleObj name="oleObj" r:id="rId14" imgW="1498600" imgH="419100" progId="Equation.3">
              <p:embed/>
              <p:pic>
                <p:nvPicPr>
                  <p:cNvPr id="1260247302" name="Object 10"/>
                  <p:cNvPicPr/>
                  <p:nvPr/>
                </p:nvPicPr>
                <p:blipFill rotWithShape="1">
                  <a:blip r:embed="rId13"/>
                  <a:stretch/>
                </p:blipFill>
                <p:spPr bwMode="auto">
                  <a:xfrm>
                    <a:off x="6948488" y="5000790"/>
                    <a:ext cx="1952625" cy="563562"/>
                  </a:xfrm>
                  <a:prstGeom prst="rect">
                    <a:avLst/>
                  </a:prstGeom>
                  <a:noFill/>
                  <a:ln>
                    <a:noFill/>
                  </a:ln>
                  <a:effectLst/>
                </p:spPr>
              </p:pic>
            </p:oleObj>
          </a:graphicData>
        </a:graphic>
      </p:graphicFrame>
      <p:sp>
        <p:nvSpPr>
          <p:cNvPr id="333697596" name="TextBox 2"/>
          <p:cNvSpPr txBox="1"/>
          <p:nvPr/>
        </p:nvSpPr>
        <p:spPr bwMode="auto">
          <a:xfrm>
            <a:off x="5845708" y="4163860"/>
            <a:ext cx="5934076" cy="769441"/>
          </a:xfrm>
          <a:prstGeom prst="rect">
            <a:avLst/>
          </a:prstGeom>
          <a:solidFill>
            <a:srgbClr val="FFFF00"/>
          </a:solidFill>
        </p:spPr>
        <p:txBody>
          <a:bodyPr wrap="square" rtlCol="0">
            <a:spAutoFit/>
          </a:bodyPr>
          <a:lstStyle/>
          <a:p>
            <a:pPr>
              <a:lnSpc>
                <a:spcPct val="110000"/>
              </a:lnSpc>
              <a:defRPr/>
            </a:pPr>
            <a:r>
              <a:rPr lang="en-US" sz="1700">
                <a:latin typeface="Calibri"/>
              </a:rPr>
              <a:t>Z-score: khoảng cách giữa điểm thô và trung bình tổng thể, tính theo đơn vị độ lệch chuẩn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3949537" name="Rectangle 2"/>
          <p:cNvSpPr>
            <a:spLocks noChangeArrowheads="1" noGrp="1"/>
          </p:cNvSpPr>
          <p:nvPr>
            <p:ph type="title"/>
          </p:nvPr>
        </p:nvSpPr>
        <p:spPr bwMode="auto"/>
        <p:txBody>
          <a:bodyPr anchor="t"/>
          <a:lstStyle/>
          <a:p>
            <a:pPr>
              <a:defRPr/>
            </a:pPr>
            <a:r>
              <a:rPr lang="en-US"/>
              <a:t>Rời rạc hóa </a:t>
            </a:r>
            <a:endParaRPr/>
          </a:p>
        </p:txBody>
      </p:sp>
      <p:sp>
        <p:nvSpPr>
          <p:cNvPr id="1075803945" name="Rectangle 3"/>
          <p:cNvSpPr>
            <a:spLocks noChangeArrowheads="1" noGrp="1"/>
          </p:cNvSpPr>
          <p:nvPr>
            <p:ph type="body" idx="1"/>
          </p:nvPr>
        </p:nvSpPr>
        <p:spPr bwMode="auto">
          <a:xfrm>
            <a:off x="609599" y="1219200"/>
            <a:ext cx="10685417" cy="5334000"/>
          </a:xfrm>
        </p:spPr>
        <p:txBody>
          <a:bodyPr/>
          <a:lstStyle/>
          <a:p>
            <a:pPr>
              <a:defRPr/>
            </a:pPr>
            <a:r>
              <a:rPr lang="en-US" sz="2000"/>
              <a:t>Ba loại thuộc tính</a:t>
            </a:r>
            <a:endParaRPr/>
          </a:p>
          <a:p>
            <a:pPr lvl="1">
              <a:defRPr/>
            </a:pPr>
            <a:r>
              <a:rPr lang="en-US" sz="2000"/>
              <a:t>Định danh — giá trị từ một tập không có thứ tự, ví dụ: màu sắc, nghề nghiệp</a:t>
            </a:r>
            <a:endParaRPr/>
          </a:p>
          <a:p>
            <a:pPr lvl="1">
              <a:defRPr/>
            </a:pPr>
            <a:r>
              <a:rPr lang="en-US" sz="2000"/>
              <a:t>Thứ bậc — giá trị từ một tập có thứ tự, ví dụ: cấp bậc quân đội hoặc học thuật </a:t>
            </a:r>
            <a:endParaRPr/>
          </a:p>
          <a:p>
            <a:pPr lvl="1">
              <a:defRPr/>
            </a:pPr>
            <a:r>
              <a:rPr lang="en-US" sz="2000"/>
              <a:t>Số — số thực, ví dụ: số nguyên hoặc số thực</a:t>
            </a:r>
            <a:endParaRPr/>
          </a:p>
          <a:p>
            <a:pPr>
              <a:defRPr/>
            </a:pPr>
            <a:r>
              <a:rPr lang="en-US" sz="2000"/>
              <a:t>Rời rạc hóa: chia miền giá trị của một thuộc tính liên tục thành các khoảng</a:t>
            </a:r>
            <a:endParaRPr/>
          </a:p>
          <a:p>
            <a:pPr lvl="1">
              <a:defRPr/>
            </a:pPr>
            <a:r>
              <a:rPr lang="en-US" sz="2000"/>
              <a:t>Nhãn khoảng sau đó có thể được dùng để thay thế giá trị dữ liệu thực tế </a:t>
            </a:r>
            <a:endParaRPr/>
          </a:p>
          <a:p>
            <a:pPr lvl="1">
              <a:defRPr/>
            </a:pPr>
            <a:r>
              <a:rPr lang="en-US" sz="2000"/>
              <a:t>Giảm kích thước dữ liệu bằng rời rạc hóa</a:t>
            </a:r>
            <a:endParaRPr/>
          </a:p>
          <a:p>
            <a:pPr lvl="1">
              <a:defRPr/>
            </a:pPr>
            <a:r>
              <a:rPr lang="en-US" sz="2000"/>
              <a:t>Có giám sát so với không giám sát</a:t>
            </a:r>
            <a:endParaRPr/>
          </a:p>
          <a:p>
            <a:pPr lvl="1">
              <a:defRPr/>
            </a:pPr>
            <a:r>
              <a:rPr lang="en-US" sz="2000"/>
              <a:t>Tách (từ trên xuống) so với gộp (từ dưới lên)</a:t>
            </a:r>
            <a:endParaRPr/>
          </a:p>
          <a:p>
            <a:pPr lvl="1">
              <a:defRPr/>
            </a:pPr>
            <a:r>
              <a:rPr lang="en-US" sz="2000"/>
              <a:t>Rời rạc hóa có thể được thực hiện đệ quy trên một thuộc tính</a:t>
            </a:r>
            <a:endParaRPr/>
          </a:p>
          <a:p>
            <a:pPr lvl="1">
              <a:defRPr/>
            </a:pPr>
            <a:r>
              <a:rPr lang="en-US" sz="2000"/>
              <a:t>Chuẩn bị cho phân tích sâu hơn, ví dụ: phân lớp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5614229" name="Rectangle 2"/>
          <p:cNvSpPr>
            <a:spLocks noChangeArrowheads="1" noGrp="1"/>
          </p:cNvSpPr>
          <p:nvPr>
            <p:ph type="title" idx="4294967295"/>
          </p:nvPr>
        </p:nvSpPr>
        <p:spPr bwMode="auto">
          <a:xfrm>
            <a:off x="1524000" y="228600"/>
            <a:ext cx="8991600" cy="762000"/>
          </a:xfrm>
        </p:spPr>
        <p:txBody>
          <a:bodyPr anchor="t"/>
          <a:lstStyle/>
          <a:p>
            <a:pPr>
              <a:defRPr/>
            </a:pPr>
            <a:r>
              <a:rPr lang="en-US"/>
              <a:t>Các phương pháp rời rạc hóa dữ liệu</a:t>
            </a:r>
            <a:endParaRPr/>
          </a:p>
        </p:txBody>
      </p:sp>
      <p:sp>
        <p:nvSpPr>
          <p:cNvPr id="1242078842" name="Rectangle 3"/>
          <p:cNvSpPr>
            <a:spLocks noChangeArrowheads="1" noGrp="1"/>
          </p:cNvSpPr>
          <p:nvPr>
            <p:ph type="body" idx="4294967295"/>
          </p:nvPr>
        </p:nvSpPr>
        <p:spPr bwMode="auto">
          <a:xfrm>
            <a:off x="592727" y="1123950"/>
            <a:ext cx="10551523" cy="5734050"/>
          </a:xfrm>
        </p:spPr>
        <p:txBody>
          <a:bodyPr/>
          <a:lstStyle/>
          <a:p>
            <a:pPr>
              <a:spcAft>
                <a:spcPts val="600"/>
              </a:spcAft>
              <a:defRPr/>
            </a:pPr>
            <a:r>
              <a:rPr lang="en-US">
                <a:latin typeface="Calibri"/>
              </a:rPr>
              <a:t>Gom nhóm </a:t>
            </a:r>
            <a:endParaRPr/>
          </a:p>
          <a:p>
            <a:pPr lvl="1">
              <a:spcAft>
                <a:spcPts val="600"/>
              </a:spcAft>
              <a:defRPr/>
            </a:pPr>
            <a:r>
              <a:rPr lang="en-US">
                <a:latin typeface="Calibri"/>
              </a:rPr>
              <a:t>Tách từ trên xuống, không giám sát</a:t>
            </a:r>
            <a:endParaRPr/>
          </a:p>
          <a:p>
            <a:pPr>
              <a:spcAft>
                <a:spcPts val="600"/>
              </a:spcAft>
              <a:defRPr/>
            </a:pPr>
            <a:r>
              <a:rPr lang="en-US">
                <a:latin typeface="Calibri"/>
              </a:rPr>
              <a:t>Phân tích biểu đồ tần suất</a:t>
            </a:r>
            <a:endParaRPr/>
          </a:p>
          <a:p>
            <a:pPr lvl="1">
              <a:spcAft>
                <a:spcPts val="600"/>
              </a:spcAft>
              <a:defRPr/>
            </a:pPr>
            <a:r>
              <a:rPr lang="en-US">
                <a:latin typeface="Calibri"/>
              </a:rPr>
              <a:t>Tách từ trên xuống, không giám sát</a:t>
            </a:r>
            <a:endParaRPr/>
          </a:p>
          <a:p>
            <a:pPr>
              <a:spcAft>
                <a:spcPts val="600"/>
              </a:spcAft>
              <a:defRPr/>
            </a:pPr>
            <a:r>
              <a:rPr lang="en-US">
                <a:latin typeface="Calibri"/>
              </a:rPr>
              <a:t>Phân tích phân cụm </a:t>
            </a:r>
            <a:endParaRPr/>
          </a:p>
          <a:p>
            <a:pPr lvl="1">
              <a:spcAft>
                <a:spcPts val="600"/>
              </a:spcAft>
              <a:defRPr/>
            </a:pPr>
            <a:r>
              <a:rPr lang="en-US">
                <a:latin typeface="Calibri"/>
              </a:rPr>
              <a:t>Không giám sát, tách từ trên xuống hoặc gộp từ dưới lên</a:t>
            </a:r>
            <a:endParaRPr/>
          </a:p>
          <a:p>
            <a:pPr>
              <a:spcAft>
                <a:spcPts val="600"/>
              </a:spcAft>
              <a:defRPr/>
            </a:pPr>
            <a:r>
              <a:rPr lang="en-US">
                <a:latin typeface="Calibri"/>
              </a:rPr>
              <a:t>Phân tích cây quyết định</a:t>
            </a:r>
            <a:endParaRPr/>
          </a:p>
          <a:p>
            <a:pPr lvl="1">
              <a:spcAft>
                <a:spcPts val="600"/>
              </a:spcAft>
              <a:defRPr/>
            </a:pPr>
            <a:r>
              <a:rPr lang="en-US">
                <a:latin typeface="Calibri"/>
              </a:rPr>
              <a:t>Có giám sát, tách từ trên xuống</a:t>
            </a:r>
            <a:endParaRPr/>
          </a:p>
          <a:p>
            <a:pPr>
              <a:spcAft>
                <a:spcPts val="600"/>
              </a:spcAft>
              <a:defRPr/>
            </a:pPr>
            <a:r>
              <a:rPr lang="en-US">
                <a:latin typeface="Calibri"/>
              </a:rPr>
              <a:t>Phân tích tương quan (ví dụ: χ</a:t>
            </a:r>
            <a:r>
              <a:rPr lang="en-US" baseline="30000">
                <a:latin typeface="Calibri"/>
              </a:rPr>
              <a:t>2</a:t>
            </a:r>
            <a:r>
              <a:rPr lang="en-US">
                <a:latin typeface="Calibri"/>
              </a:rPr>
              <a:t>) </a:t>
            </a:r>
            <a:endParaRPr/>
          </a:p>
          <a:p>
            <a:pPr lvl="1">
              <a:spcAft>
                <a:spcPts val="600"/>
              </a:spcAft>
              <a:defRPr/>
            </a:pPr>
            <a:r>
              <a:rPr lang="en-US">
                <a:latin typeface="Calibri"/>
              </a:rPr>
              <a:t>Không giám sát, gộp từ dưới lên</a:t>
            </a:r>
            <a:endParaRPr/>
          </a:p>
          <a:p>
            <a:pPr>
              <a:spcAft>
                <a:spcPts val="600"/>
              </a:spcAft>
              <a:defRPr/>
            </a:pPr>
            <a:r>
              <a:rPr lang="en-US">
                <a:latin typeface="Calibri"/>
              </a:rPr>
              <a:t>Lưu ý: Tất cả các phương pháp có thể áp dụng đệ quy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01862367" name="Rectangle 2"/>
          <p:cNvSpPr>
            <a:spLocks noChangeArrowheads="1" noGrp="1"/>
          </p:cNvSpPr>
          <p:nvPr>
            <p:ph type="title"/>
          </p:nvPr>
        </p:nvSpPr>
        <p:spPr bwMode="auto">
          <a:xfrm>
            <a:off x="1371600" y="304800"/>
            <a:ext cx="9372600" cy="609600"/>
          </a:xfrm>
        </p:spPr>
        <p:txBody>
          <a:bodyPr anchor="t">
            <a:noAutofit/>
          </a:bodyPr>
          <a:lstStyle/>
          <a:p>
            <a:pPr>
              <a:defRPr/>
            </a:pPr>
            <a:r>
              <a:rPr lang="en-US"/>
              <a:t>Rời rạc hóa đơn giản: Gom nhóm</a:t>
            </a:r>
            <a:endParaRPr/>
          </a:p>
        </p:txBody>
      </p:sp>
      <p:sp>
        <p:nvSpPr>
          <p:cNvPr id="1693481980" name="Rectangle 3"/>
          <p:cNvSpPr>
            <a:spLocks noChangeArrowheads="1" noGrp="1"/>
          </p:cNvSpPr>
          <p:nvPr>
            <p:ph type="body" idx="1"/>
          </p:nvPr>
        </p:nvSpPr>
        <p:spPr bwMode="auto">
          <a:xfrm>
            <a:off x="627017" y="1295400"/>
            <a:ext cx="10929257" cy="5181600"/>
          </a:xfrm>
        </p:spPr>
        <p:txBody>
          <a:bodyPr/>
          <a:lstStyle/>
          <a:p>
            <a:pPr>
              <a:spcAft>
                <a:spcPts val="600"/>
              </a:spcAft>
              <a:defRPr/>
            </a:pPr>
            <a:r>
              <a:rPr lang="en-US" sz="2000">
                <a:solidFill>
                  <a:srgbClr val="FF0000"/>
                </a:solidFill>
              </a:rPr>
              <a:t>Phân chia </a:t>
            </a:r>
            <a:r>
              <a:rPr lang="en-US" sz="2000"/>
              <a:t>đẳng khoảng (equal-width)</a:t>
            </a:r>
            <a:endParaRPr/>
          </a:p>
          <a:p>
            <a:pPr lvl="1">
              <a:spcAft>
                <a:spcPts val="600"/>
              </a:spcAft>
              <a:defRPr/>
            </a:pPr>
            <a:r>
              <a:rPr lang="en-US" sz="2000"/>
              <a:t>Chia miền giá trị thành </a:t>
            </a:r>
            <a:r>
              <a:rPr lang="en-US" sz="2000" i="1"/>
              <a:t>N</a:t>
            </a:r>
            <a:r>
              <a:rPr lang="en-US" sz="2000"/>
              <a:t> khoảng bằng nhau: </a:t>
            </a:r>
            <a:r>
              <a:rPr lang="en-US" sz="2000">
                <a:solidFill>
                  <a:srgbClr val="39513E"/>
                </a:solidFill>
              </a:rPr>
              <a:t>lưới đều</a:t>
            </a:r>
            <a:endParaRPr lang="en-US" sz="2400">
              <a:solidFill>
                <a:schemeClr val="hlink"/>
              </a:solidFill>
            </a:endParaRPr>
          </a:p>
          <a:p>
            <a:pPr lvl="1">
              <a:spcAft>
                <a:spcPts val="600"/>
              </a:spcAft>
              <a:defRPr/>
            </a:pPr>
            <a:r>
              <a:rPr lang="en-US" sz="2000"/>
              <a:t>nếu </a:t>
            </a:r>
            <a:r>
              <a:rPr lang="en-US" sz="2000" i="1"/>
              <a:t>A</a:t>
            </a:r>
            <a:r>
              <a:rPr lang="en-US" sz="2000"/>
              <a:t> và </a:t>
            </a:r>
            <a:r>
              <a:rPr lang="en-US" sz="2000" i="1"/>
              <a:t>B</a:t>
            </a:r>
            <a:r>
              <a:rPr lang="en-US" sz="2000"/>
              <a:t> là giá trị nhỏ nhất và lớn nhất của thuộc tính, độ rộng khoảng sẽ là: </a:t>
            </a:r>
            <a:r>
              <a:rPr lang="en-US" sz="2000" i="1"/>
              <a:t>W </a:t>
            </a:r>
            <a:r>
              <a:rPr lang="en-US" sz="2000"/>
              <a:t>= (</a:t>
            </a:r>
            <a:r>
              <a:rPr lang="en-US" sz="2000" i="1"/>
              <a:t>B </a:t>
            </a:r>
            <a:r>
              <a:rPr lang="en-US" sz="2000"/>
              <a:t>–</a:t>
            </a:r>
            <a:r>
              <a:rPr lang="en-US" sz="2000" i="1"/>
              <a:t>A</a:t>
            </a:r>
            <a:r>
              <a:rPr lang="en-US" sz="2000"/>
              <a:t>)/</a:t>
            </a:r>
            <a:r>
              <a:rPr lang="en-US" sz="2000" i="1"/>
              <a:t>N.</a:t>
            </a:r>
            <a:endParaRPr lang="en-US" sz="2400"/>
          </a:p>
          <a:p>
            <a:pPr lvl="1">
              <a:spcAft>
                <a:spcPts val="600"/>
              </a:spcAft>
              <a:defRPr/>
            </a:pPr>
            <a:r>
              <a:rPr lang="en-US" sz="2000"/>
              <a:t>Đơn giản nhất, nhưng ngoại lệ có thể chi phối kết quả biểu diễn</a:t>
            </a:r>
            <a:endParaRPr/>
          </a:p>
          <a:p>
            <a:pPr lvl="1">
              <a:spcAft>
                <a:spcPts val="600"/>
              </a:spcAft>
              <a:defRPr/>
            </a:pPr>
            <a:r>
              <a:rPr lang="en-US" sz="2000"/>
              <a:t>Dữ liệu lệch (skewed) không được xử lý tốt</a:t>
            </a:r>
            <a:endParaRPr lang="en-US" sz="2400" i="1"/>
          </a:p>
          <a:p>
            <a:pPr>
              <a:spcAft>
                <a:spcPts val="600"/>
              </a:spcAft>
              <a:defRPr/>
            </a:pPr>
            <a:r>
              <a:rPr lang="en-US" sz="2000">
                <a:solidFill>
                  <a:srgbClr val="FF0000"/>
                </a:solidFill>
              </a:rPr>
              <a:t>Phân chia </a:t>
            </a:r>
            <a:r>
              <a:rPr lang="en-US" sz="2000"/>
              <a:t>đẳng tần (equal-depth)</a:t>
            </a:r>
            <a:endParaRPr/>
          </a:p>
          <a:p>
            <a:pPr lvl="1">
              <a:spcAft>
                <a:spcPts val="600"/>
              </a:spcAft>
              <a:defRPr/>
            </a:pPr>
            <a:r>
              <a:rPr lang="en-US" sz="2000"/>
              <a:t>Chia miền giá trị thành </a:t>
            </a:r>
            <a:r>
              <a:rPr lang="en-US" sz="2000" i="1"/>
              <a:t>N</a:t>
            </a:r>
            <a:r>
              <a:rPr lang="en-US" sz="2000"/>
              <a:t> khoảng, mỗi khoảng chứa xấp xỉ cùng số lượng mẫu</a:t>
            </a:r>
            <a:endParaRPr/>
          </a:p>
          <a:p>
            <a:pPr lvl="1">
              <a:spcAft>
                <a:spcPts val="600"/>
              </a:spcAft>
              <a:defRPr/>
            </a:pPr>
            <a:r>
              <a:rPr lang="en-US" sz="2000"/>
              <a:t>Co giãn dữ liệu tốt</a:t>
            </a:r>
            <a:endParaRPr/>
          </a:p>
          <a:p>
            <a:pPr lvl="1">
              <a:spcAft>
                <a:spcPts val="600"/>
              </a:spcAft>
              <a:defRPr/>
            </a:pPr>
            <a:r>
              <a:rPr lang="en-US" sz="2000"/>
              <a:t>Việc quản lý thuộc tính danh mục có thể khó khăn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7225293" name="Rectangle 2"/>
          <p:cNvSpPr>
            <a:spLocks noChangeArrowheads="1" noGrp="1"/>
          </p:cNvSpPr>
          <p:nvPr>
            <p:ph type="title"/>
          </p:nvPr>
        </p:nvSpPr>
        <p:spPr bwMode="auto">
          <a:xfrm>
            <a:off x="0" y="304800"/>
            <a:ext cx="12061371" cy="609600"/>
          </a:xfrm>
        </p:spPr>
        <p:txBody>
          <a:bodyPr anchor="t">
            <a:noAutofit/>
          </a:bodyPr>
          <a:lstStyle/>
          <a:p>
            <a:pPr>
              <a:defRPr/>
            </a:pPr>
            <a:r>
              <a:rPr lang="en-US" sz="3000"/>
              <a:t>Ví dụ: Phương pháp gom nhóm để làm mượt dữ liệu</a:t>
            </a:r>
            <a:endParaRPr/>
          </a:p>
        </p:txBody>
      </p:sp>
      <p:sp>
        <p:nvSpPr>
          <p:cNvPr id="1495841785" name="Rectangle 3"/>
          <p:cNvSpPr>
            <a:spLocks noChangeArrowheads="1" noGrp="1"/>
          </p:cNvSpPr>
          <p:nvPr>
            <p:ph type="body" idx="1"/>
          </p:nvPr>
        </p:nvSpPr>
        <p:spPr bwMode="auto">
          <a:xfrm>
            <a:off x="592183" y="1223553"/>
            <a:ext cx="10720250" cy="5342709"/>
          </a:xfrm>
        </p:spPr>
        <p:txBody>
          <a:bodyPr/>
          <a:lstStyle/>
          <a:p>
            <a:pPr>
              <a:spcBef>
                <a:spcPts val="300"/>
              </a:spcBef>
              <a:buFont typeface="Wingdings"/>
              <a:buChar char="q"/>
              <a:defRPr/>
            </a:pPr>
            <a:r>
              <a:rPr lang="en-US" sz="2000"/>
              <a:t>Dữ liệu giá (tính bằng đô la) đã sắp xếp: 4, 8, 9, 15, 21, 21, 24, 25, 26, 28, 29, 34</a:t>
            </a:r>
            <a:endParaRPr/>
          </a:p>
          <a:p>
            <a:pPr>
              <a:spcBef>
                <a:spcPts val="300"/>
              </a:spcBef>
              <a:buFontTx/>
              <a:buNone/>
              <a:defRPr/>
            </a:pPr>
            <a:r>
              <a:rPr lang="en-US" sz="2000"/>
              <a:t>*  Chia thành các nhóm đẳng tần (</a:t>
            </a:r>
            <a:r>
              <a:rPr lang="en-US" sz="2000" b="1"/>
              <a:t>equal-depth</a:t>
            </a:r>
            <a:r>
              <a:rPr lang="en-US" sz="2000"/>
              <a:t>):</a:t>
            </a:r>
            <a:endParaRPr/>
          </a:p>
          <a:p>
            <a:pPr>
              <a:spcBef>
                <a:spcPts val="300"/>
              </a:spcBef>
              <a:buFontTx/>
              <a:buNone/>
              <a:defRPr/>
            </a:pPr>
            <a:r>
              <a:rPr lang="en-US" sz="2000"/>
              <a:t>      - Nhóm 1: 4, 8, 9, 15</a:t>
            </a:r>
            <a:endParaRPr/>
          </a:p>
          <a:p>
            <a:pPr>
              <a:spcBef>
                <a:spcPts val="300"/>
              </a:spcBef>
              <a:buFontTx/>
              <a:buNone/>
              <a:defRPr/>
            </a:pPr>
            <a:r>
              <a:rPr lang="en-US" sz="2000"/>
              <a:t>      - Nhóm 2: 21, 21, 24, 25</a:t>
            </a:r>
            <a:endParaRPr/>
          </a:p>
          <a:p>
            <a:pPr>
              <a:spcBef>
                <a:spcPts val="300"/>
              </a:spcBef>
              <a:buFontTx/>
              <a:buNone/>
              <a:defRPr/>
            </a:pPr>
            <a:r>
              <a:rPr lang="en-US" sz="2000"/>
              <a:t>      - Nhóm 3: 26, 28, 29, 34</a:t>
            </a:r>
            <a:endParaRPr/>
          </a:p>
          <a:p>
            <a:pPr>
              <a:spcBef>
                <a:spcPts val="300"/>
              </a:spcBef>
              <a:buFontTx/>
              <a:buNone/>
              <a:defRPr/>
            </a:pPr>
            <a:r>
              <a:rPr lang="en-US" sz="2000"/>
              <a:t>*  Làm mượt theo </a:t>
            </a:r>
            <a:r>
              <a:rPr lang="en-US" sz="2000" b="1"/>
              <a:t>trung bình nhóm</a:t>
            </a:r>
            <a:r>
              <a:rPr lang="en-US" sz="2000"/>
              <a:t>:</a:t>
            </a:r>
            <a:endParaRPr/>
          </a:p>
          <a:p>
            <a:pPr>
              <a:spcBef>
                <a:spcPts val="300"/>
              </a:spcBef>
              <a:buFontTx/>
              <a:buNone/>
              <a:defRPr/>
            </a:pPr>
            <a:r>
              <a:rPr lang="en-US" sz="2000"/>
              <a:t>      - Nhóm 1: 9, 9, 9, 9</a:t>
            </a:r>
            <a:endParaRPr/>
          </a:p>
          <a:p>
            <a:pPr>
              <a:spcBef>
                <a:spcPts val="300"/>
              </a:spcBef>
              <a:buFontTx/>
              <a:buNone/>
              <a:defRPr/>
            </a:pPr>
            <a:r>
              <a:rPr lang="en-US" sz="2000"/>
              <a:t>      - Nhóm 2: 23, 23, 23, 23</a:t>
            </a:r>
            <a:endParaRPr/>
          </a:p>
          <a:p>
            <a:pPr>
              <a:spcBef>
                <a:spcPts val="300"/>
              </a:spcBef>
              <a:buFontTx/>
              <a:buNone/>
              <a:defRPr/>
            </a:pPr>
            <a:r>
              <a:rPr lang="en-US" sz="2000"/>
              <a:t>      - Nhóm 3: 29, 29, 29, 29</a:t>
            </a:r>
            <a:endParaRPr/>
          </a:p>
          <a:p>
            <a:pPr>
              <a:spcBef>
                <a:spcPts val="300"/>
              </a:spcBef>
              <a:buFontTx/>
              <a:buNone/>
              <a:defRPr/>
            </a:pPr>
            <a:r>
              <a:rPr lang="en-US" sz="2000"/>
              <a:t>*  Làm mượt theo </a:t>
            </a:r>
            <a:r>
              <a:rPr lang="en-US" sz="2000" b="1"/>
              <a:t>biên nhóm</a:t>
            </a:r>
            <a:r>
              <a:rPr lang="en-US" sz="2000"/>
              <a:t>:</a:t>
            </a:r>
            <a:endParaRPr/>
          </a:p>
          <a:p>
            <a:pPr>
              <a:spcBef>
                <a:spcPts val="300"/>
              </a:spcBef>
              <a:buFontTx/>
              <a:buNone/>
              <a:defRPr/>
            </a:pPr>
            <a:r>
              <a:rPr lang="en-US" sz="2000"/>
              <a:t>      - Nhóm 1: 4, 4, 4, 15</a:t>
            </a:r>
            <a:endParaRPr/>
          </a:p>
          <a:p>
            <a:pPr>
              <a:spcBef>
                <a:spcPts val="300"/>
              </a:spcBef>
              <a:buFontTx/>
              <a:buNone/>
              <a:defRPr/>
            </a:pPr>
            <a:r>
              <a:rPr lang="en-US" sz="2000"/>
              <a:t>      - Nhóm 2: 21, 21, 25, 25</a:t>
            </a:r>
            <a:endParaRPr/>
          </a:p>
          <a:p>
            <a:pPr>
              <a:spcBef>
                <a:spcPts val="300"/>
              </a:spcBef>
              <a:buFontTx/>
              <a:buNone/>
              <a:defRPr/>
            </a:pPr>
            <a:r>
              <a:rPr lang="en-US" sz="2000"/>
              <a:t>      - Nhóm 3: 26, 26, 26, 34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54297106" name="Rectangle 2"/>
          <p:cNvSpPr>
            <a:spLocks noChangeArrowheads="1" noGrp="1"/>
          </p:cNvSpPr>
          <p:nvPr>
            <p:ph type="title" idx="4294967295"/>
          </p:nvPr>
        </p:nvSpPr>
        <p:spPr bwMode="auto">
          <a:xfrm>
            <a:off x="0" y="161924"/>
            <a:ext cx="12192000" cy="742539"/>
          </a:xfrm>
        </p:spPr>
        <p:txBody>
          <a:bodyPr anchor="t">
            <a:normAutofit/>
          </a:bodyPr>
          <a:lstStyle/>
          <a:p>
            <a:pPr>
              <a:defRPr/>
            </a:pPr>
            <a:r>
              <a:rPr lang="en-US" sz="3000"/>
              <a:t>Rời rạc hóa không giám sát: Gom nhóm và Phân cụm</a:t>
            </a:r>
            <a:endParaRPr/>
          </a:p>
        </p:txBody>
      </p:sp>
      <p:pic>
        <p:nvPicPr>
          <p:cNvPr id="1338056926" name="Picture 3"/>
          <p:cNvPicPr>
            <a:picLocks noChangeAspect="1" noChangeArrowheads="1"/>
          </p:cNvPicPr>
          <p:nvPr/>
        </p:nvPicPr>
        <p:blipFill rotWithShape="1">
          <a:blip r:embed="rId3"/>
          <a:stretch/>
        </p:blipFill>
        <p:spPr bwMode="auto">
          <a:xfrm>
            <a:off x="790303" y="1199674"/>
            <a:ext cx="4114800" cy="2058988"/>
          </a:xfrm>
          <a:prstGeom prst="rect">
            <a:avLst/>
          </a:prstGeom>
          <a:noFill/>
          <a:ln>
            <a:noFill/>
          </a:ln>
        </p:spPr>
      </p:pic>
      <p:pic>
        <p:nvPicPr>
          <p:cNvPr id="570055961" name="Picture 4"/>
          <p:cNvPicPr>
            <a:picLocks noChangeAspect="1" noChangeArrowheads="1"/>
          </p:cNvPicPr>
          <p:nvPr/>
        </p:nvPicPr>
        <p:blipFill rotWithShape="1">
          <a:blip r:embed="rId4"/>
          <a:stretch/>
        </p:blipFill>
        <p:spPr bwMode="auto">
          <a:xfrm>
            <a:off x="5943600" y="1148874"/>
            <a:ext cx="4495800" cy="2160588"/>
          </a:xfrm>
          <a:prstGeom prst="rect">
            <a:avLst/>
          </a:prstGeom>
          <a:noFill/>
          <a:ln>
            <a:noFill/>
          </a:ln>
        </p:spPr>
      </p:pic>
      <p:pic>
        <p:nvPicPr>
          <p:cNvPr id="1138573694" name="Picture 5"/>
          <p:cNvPicPr>
            <a:picLocks noChangeAspect="1" noChangeArrowheads="1"/>
          </p:cNvPicPr>
          <p:nvPr/>
        </p:nvPicPr>
        <p:blipFill rotWithShape="1">
          <a:blip r:embed="rId5"/>
          <a:stretch/>
        </p:blipFill>
        <p:spPr bwMode="auto">
          <a:xfrm>
            <a:off x="857250" y="3987841"/>
            <a:ext cx="4191000" cy="2187575"/>
          </a:xfrm>
          <a:prstGeom prst="rect">
            <a:avLst/>
          </a:prstGeom>
          <a:noFill/>
          <a:ln>
            <a:noFill/>
          </a:ln>
        </p:spPr>
      </p:pic>
      <p:sp>
        <p:nvSpPr>
          <p:cNvPr id="1951511668" name="Text Box 6"/>
          <p:cNvSpPr txBox="1">
            <a:spLocks noChangeArrowheads="1"/>
          </p:cNvSpPr>
          <p:nvPr/>
        </p:nvSpPr>
        <p:spPr bwMode="auto">
          <a:xfrm>
            <a:off x="3200400" y="3657600"/>
            <a:ext cx="1600200" cy="304800"/>
          </a:xfrm>
          <a:prstGeom prst="rect">
            <a:avLst/>
          </a:prstGeom>
          <a:noFill/>
          <a:ln>
            <a:noFill/>
          </a:ln>
        </p:spPr>
        <p:txBody>
          <a:bodyPr>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spcBef>
                <a:spcPts val="0"/>
              </a:spcBef>
              <a:defRPr/>
            </a:pPr>
            <a:endParaRPr lang="en-US" sz="1400" b="1">
              <a:latin typeface="Arial"/>
            </a:endParaRPr>
          </a:p>
        </p:txBody>
      </p:sp>
      <p:sp>
        <p:nvSpPr>
          <p:cNvPr id="639303890" name="Text Box 7"/>
          <p:cNvSpPr txBox="1">
            <a:spLocks noChangeArrowheads="1"/>
          </p:cNvSpPr>
          <p:nvPr/>
        </p:nvSpPr>
        <p:spPr bwMode="auto">
          <a:xfrm>
            <a:off x="2466973" y="3159165"/>
            <a:ext cx="714375" cy="369332"/>
          </a:xfrm>
          <a:prstGeom prst="rect">
            <a:avLst/>
          </a:prstGeom>
          <a:solidFill>
            <a:srgbClr val="FFFF00"/>
          </a:solidFill>
          <a:ln>
            <a:noFill/>
          </a:ln>
        </p:spPr>
        <p:txBody>
          <a:bodyPr wrap="squar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spcBef>
                <a:spcPts val="0"/>
              </a:spcBef>
              <a:defRPr/>
            </a:pPr>
            <a:r>
              <a:rPr lang="en-US" sz="1500" b="1">
                <a:latin typeface="+mn-lt"/>
              </a:rPr>
              <a:t>Dữ liệu</a:t>
            </a:r>
            <a:endParaRPr/>
          </a:p>
        </p:txBody>
      </p:sp>
      <p:sp>
        <p:nvSpPr>
          <p:cNvPr id="818053156" name="Text Box 9"/>
          <p:cNvSpPr txBox="1">
            <a:spLocks noChangeArrowheads="1"/>
          </p:cNvSpPr>
          <p:nvPr/>
        </p:nvSpPr>
        <p:spPr bwMode="auto">
          <a:xfrm>
            <a:off x="1247775" y="6196015"/>
            <a:ext cx="3552825" cy="369332"/>
          </a:xfrm>
          <a:prstGeom prst="rect">
            <a:avLst/>
          </a:prstGeom>
          <a:solidFill>
            <a:srgbClr val="FFFF00"/>
          </a:solidFill>
          <a:ln>
            <a:noFill/>
          </a:ln>
        </p:spPr>
        <p:txBody>
          <a:bodyPr wrap="squar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spcBef>
                <a:spcPts val="0"/>
              </a:spcBef>
              <a:defRPr/>
            </a:pPr>
            <a:r>
              <a:rPr lang="en-US" sz="1500" b="1">
                <a:latin typeface="+mn-lt"/>
              </a:rPr>
              <a:t>Gom nhóm đẳng tần (equal depth)</a:t>
            </a:r>
            <a:endParaRPr/>
          </a:p>
        </p:txBody>
      </p:sp>
      <p:sp>
        <p:nvSpPr>
          <p:cNvPr id="1280377490" name="Text Box 10"/>
          <p:cNvSpPr txBox="1">
            <a:spLocks noChangeArrowheads="1"/>
          </p:cNvSpPr>
          <p:nvPr/>
        </p:nvSpPr>
        <p:spPr bwMode="auto">
          <a:xfrm>
            <a:off x="6134100" y="6224517"/>
            <a:ext cx="4267200" cy="369332"/>
          </a:xfrm>
          <a:prstGeom prst="rect">
            <a:avLst/>
          </a:prstGeom>
          <a:solidFill>
            <a:srgbClr val="FFFF00"/>
          </a:solidFill>
          <a:ln>
            <a:noFill/>
          </a:ln>
        </p:spPr>
        <p:txBody>
          <a:bodyPr wrap="squar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spcBef>
                <a:spcPts val="0"/>
              </a:spcBef>
              <a:defRPr/>
            </a:pPr>
            <a:r>
              <a:rPr lang="en-US" sz="1500" b="1">
                <a:latin typeface="+mn-lt"/>
              </a:rPr>
              <a:t>Phân cụm K-means cho kết quả tốt hơn</a:t>
            </a:r>
            <a:endParaRPr/>
          </a:p>
        </p:txBody>
      </p:sp>
      <p:pic>
        <p:nvPicPr>
          <p:cNvPr id="1061596583" name="Picture 11"/>
          <p:cNvPicPr>
            <a:picLocks noChangeAspect="1" noChangeArrowheads="1"/>
          </p:cNvPicPr>
          <p:nvPr/>
        </p:nvPicPr>
        <p:blipFill rotWithShape="1">
          <a:blip r:embed="rId6"/>
          <a:stretch/>
        </p:blipFill>
        <p:spPr bwMode="auto">
          <a:xfrm>
            <a:off x="5753100" y="3962400"/>
            <a:ext cx="4876800" cy="2252663"/>
          </a:xfrm>
          <a:prstGeom prst="rect">
            <a:avLst/>
          </a:prstGeom>
          <a:noFill/>
          <a:ln>
            <a:noFill/>
          </a:ln>
        </p:spPr>
      </p:pic>
      <p:sp>
        <p:nvSpPr>
          <p:cNvPr id="813448384" name="Text Box 9"/>
          <p:cNvSpPr txBox="1">
            <a:spLocks noChangeArrowheads="1"/>
          </p:cNvSpPr>
          <p:nvPr/>
        </p:nvSpPr>
        <p:spPr bwMode="auto">
          <a:xfrm>
            <a:off x="6758259" y="3227599"/>
            <a:ext cx="3200400" cy="369332"/>
          </a:xfrm>
          <a:prstGeom prst="rect">
            <a:avLst/>
          </a:prstGeom>
          <a:solidFill>
            <a:srgbClr val="FFFF00"/>
          </a:solidFill>
          <a:ln>
            <a:noFill/>
          </a:ln>
        </p:spPr>
        <p:txBody>
          <a:bodyPr wrap="squar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spcBef>
                <a:spcPts val="0"/>
              </a:spcBef>
              <a:defRPr/>
            </a:pPr>
            <a:r>
              <a:rPr lang="en-US" sz="1500" b="1">
                <a:latin typeface="+mn-lt"/>
              </a:rPr>
              <a:t>Gom nhóm đẳng khoảng (equal width)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50956916" name="Rectangle 2"/>
          <p:cNvSpPr>
            <a:spLocks noChangeArrowheads="1" noGrp="1"/>
          </p:cNvSpPr>
          <p:nvPr>
            <p:ph type="title" idx="4294967295"/>
          </p:nvPr>
        </p:nvSpPr>
        <p:spPr bwMode="auto">
          <a:xfrm>
            <a:off x="1" y="17417"/>
            <a:ext cx="12192000" cy="914400"/>
          </a:xfrm>
        </p:spPr>
        <p:txBody>
          <a:bodyPr anchor="t"/>
          <a:lstStyle/>
          <a:p>
            <a:pPr>
              <a:defRPr/>
            </a:pPr>
            <a:r>
              <a:rPr lang="en-US" sz="3000">
                <a:cs typeface="Times New Roman"/>
              </a:rPr>
              <a:t>Rời rạc hóa bằng </a:t>
            </a:r>
            <a:r>
              <a:rPr lang="en-US" sz="3000"/>
              <a:t>phân lớp và phân tích tương quan</a:t>
            </a:r>
            <a:endParaRPr/>
          </a:p>
        </p:txBody>
      </p:sp>
      <p:sp>
        <p:nvSpPr>
          <p:cNvPr id="1987799037" name="Rectangle 3"/>
          <p:cNvSpPr>
            <a:spLocks noChangeArrowheads="1" noGrp="1"/>
          </p:cNvSpPr>
          <p:nvPr>
            <p:ph type="body" idx="4294967295"/>
          </p:nvPr>
        </p:nvSpPr>
        <p:spPr bwMode="auto">
          <a:xfrm>
            <a:off x="644433" y="1295400"/>
            <a:ext cx="10737669" cy="5181600"/>
          </a:xfrm>
          <a:prstGeom prst="rect">
            <a:avLst/>
          </a:prstGeom>
          <a:noFill/>
        </p:spPr>
        <p:txBody>
          <a:bodyPr vert="horz" lIns="90488" tIns="44450" rIns="90488" bIns="44450" rtlCol="0">
            <a:noAutofit/>
          </a:bodyPr>
          <a:lstStyle/>
          <a:p>
            <a:pPr marL="285750" indent="-285750" algn="just">
              <a:spcAft>
                <a:spcPts val="600"/>
              </a:spcAft>
              <a:tabLst>
                <a:tab pos="1198563" algn="l"/>
              </a:tabLst>
              <a:defRPr/>
            </a:pPr>
            <a:r>
              <a:rPr lang="en-US">
                <a:cs typeface="Times New Roman"/>
              </a:rPr>
              <a:t>Phân lớp (ví dụ: phân tích cây quyết định)</a:t>
            </a:r>
            <a:endParaRPr/>
          </a:p>
          <a:p>
            <a:pPr lvl="1" algn="just">
              <a:spcAft>
                <a:spcPts val="600"/>
              </a:spcAft>
              <a:tabLst>
                <a:tab pos="1198563" algn="l"/>
              </a:tabLst>
              <a:defRPr/>
            </a:pPr>
            <a:r>
              <a:rPr lang="en-US"/>
              <a:t>Có giám sát: cho trước nhãn lớp, ví dụ: ung thư và lành tính</a:t>
            </a:r>
            <a:endParaRPr/>
          </a:p>
          <a:p>
            <a:pPr lvl="1" algn="just">
              <a:spcAft>
                <a:spcPts val="600"/>
              </a:spcAft>
              <a:tabLst>
                <a:tab pos="1198563" algn="l"/>
              </a:tabLst>
              <a:defRPr/>
            </a:pPr>
            <a:r>
              <a:rPr lang="en-US">
                <a:cs typeface="Times New Roman"/>
              </a:rPr>
              <a:t>Dùng </a:t>
            </a:r>
            <a:r>
              <a:rPr lang="en-US" i="1">
                <a:cs typeface="Times New Roman"/>
              </a:rPr>
              <a:t>entropy</a:t>
            </a:r>
            <a:r>
              <a:rPr lang="en-US">
                <a:cs typeface="Times New Roman"/>
              </a:rPr>
              <a:t> để xác định điểm tách (điểm rời rạc hóa)</a:t>
            </a:r>
            <a:endParaRPr lang="en-US"/>
          </a:p>
          <a:p>
            <a:pPr lvl="1" algn="just">
              <a:spcAft>
                <a:spcPts val="600"/>
              </a:spcAft>
              <a:tabLst>
                <a:tab pos="1198563" algn="l"/>
              </a:tabLst>
              <a:defRPr/>
            </a:pPr>
            <a:r>
              <a:rPr lang="en-US"/>
              <a:t>Từ trên xuống, tách đệ quy</a:t>
            </a:r>
            <a:endParaRPr/>
          </a:p>
          <a:p>
            <a:pPr lvl="1" algn="just">
              <a:spcAft>
                <a:spcPts val="600"/>
              </a:spcAft>
              <a:tabLst>
                <a:tab pos="1198563" algn="l"/>
              </a:tabLst>
              <a:defRPr/>
            </a:pPr>
            <a:r>
              <a:rPr lang="en-US"/>
              <a:t>Chi tiết sẽ được trình bày ở chương “Phân lớp”</a:t>
            </a:r>
            <a:endParaRPr lang="en-US">
              <a:cs typeface="Times New Roman"/>
            </a:endParaRPr>
          </a:p>
          <a:p>
            <a:pPr marL="285750" indent="-285750" algn="just">
              <a:spcAft>
                <a:spcPts val="600"/>
              </a:spcAft>
              <a:tabLst>
                <a:tab pos="1198563" algn="l"/>
              </a:tabLst>
              <a:defRPr/>
            </a:pPr>
            <a:r>
              <a:rPr lang="en-US">
                <a:cs typeface="Times New Roman"/>
              </a:rPr>
              <a:t>Phân tích tương quan (ví dụ: Chi-merge: rời rạc hóa dựa trên </a:t>
            </a:r>
            <a:r>
              <a:rPr lang="el-GR">
                <a:cs typeface="Tahoma"/>
              </a:rPr>
              <a:t>χ</a:t>
            </a:r>
            <a:r>
              <a:rPr lang="en-US" baseline="30000">
                <a:cs typeface="Tahoma"/>
              </a:rPr>
              <a:t>2</a:t>
            </a:r>
            <a:r>
              <a:rPr lang="en-US">
                <a:cs typeface="Tahoma"/>
              </a:rPr>
              <a:t>χ</a:t>
            </a:r>
            <a:r>
              <a:rPr lang="en-US">
                <a:cs typeface="Times New Roman"/>
              </a:rPr>
              <a:t>)</a:t>
            </a:r>
            <a:endParaRPr lang="en-US">
              <a:cs typeface="Tahoma"/>
            </a:endParaRPr>
          </a:p>
          <a:p>
            <a:pPr lvl="1" algn="just">
              <a:spcAft>
                <a:spcPts val="600"/>
              </a:spcAft>
              <a:tabLst>
                <a:tab pos="1198563" algn="l"/>
              </a:tabLst>
              <a:defRPr/>
            </a:pPr>
            <a:r>
              <a:rPr lang="en-US">
                <a:cs typeface="Tahoma"/>
              </a:rPr>
              <a:t>Có giám sát: sử dụng thông tin lớp</a:t>
            </a:r>
            <a:endParaRPr/>
          </a:p>
          <a:p>
            <a:pPr lvl="1" algn="just">
              <a:spcAft>
                <a:spcPts val="600"/>
              </a:spcAft>
              <a:tabLst>
                <a:tab pos="1198563" algn="l"/>
              </a:tabLst>
              <a:defRPr/>
            </a:pPr>
            <a:r>
              <a:rPr lang="en-US">
                <a:cs typeface="Tahoma"/>
              </a:rPr>
              <a:t>Gộp từ dưới lên: tìm các khoảng lân cận tốt nhất (có phân bố lớp tương tự, tức giá trị χ</a:t>
            </a:r>
            <a:r>
              <a:rPr lang="el-GR">
                <a:cs typeface="Tahoma"/>
              </a:rPr>
              <a:t>χ</a:t>
            </a:r>
            <a:r>
              <a:rPr lang="en-US" baseline="30000">
                <a:cs typeface="Tahoma"/>
              </a:rPr>
              <a:t>2</a:t>
            </a:r>
            <a:r>
              <a:rPr lang="en-US">
                <a:cs typeface="Tahoma"/>
              </a:rPr>
              <a:t> thấp) để gộp</a:t>
            </a:r>
            <a:endParaRPr/>
          </a:p>
          <a:p>
            <a:pPr lvl="1" algn="just">
              <a:spcAft>
                <a:spcPts val="600"/>
              </a:spcAft>
              <a:tabLst>
                <a:tab pos="1198563" algn="l"/>
              </a:tabLst>
              <a:defRPr/>
            </a:pPr>
            <a:r>
              <a:rPr lang="en-US">
                <a:cs typeface="Tahoma"/>
              </a:rPr>
              <a:t>Việc gộp được thực hiện đệ quy, cho đến khi đạt điều kiện dừng định trước</a:t>
            </a:r>
            <a:endParaRPr/>
          </a:p>
        </p:txBody>
      </p:sp>
      <p:sp>
        <p:nvSpPr>
          <p:cNvPr id="1538582107" name="Text Box 4"/>
          <p:cNvSpPr txBox="1">
            <a:spLocks noChangeArrowheads="1"/>
          </p:cNvSpPr>
          <p:nvPr/>
        </p:nvSpPr>
        <p:spPr bwMode="auto">
          <a:xfrm>
            <a:off x="3200400" y="3657600"/>
            <a:ext cx="1600200" cy="304800"/>
          </a:xfrm>
          <a:prstGeom prst="rect">
            <a:avLst/>
          </a:prstGeom>
          <a:noFill/>
          <a:ln>
            <a:noFill/>
          </a:ln>
        </p:spPr>
        <p:txBody>
          <a:bodyPr>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spcBef>
                <a:spcPts val="0"/>
              </a:spcBef>
              <a:defRPr/>
            </a:pPr>
            <a:endParaRPr lang="en-US" sz="1400" b="1">
              <a:latin typeface="Arial"/>
            </a:endParaRPr>
          </a:p>
        </p:txBody>
      </p:sp>
      <p:sp>
        <p:nvSpPr>
          <p:cNvPr id="250435121" name="Rectangle 7"/>
          <p:cNvSpPr>
            <a:spLocks noChangeArrowheads="1"/>
          </p:cNvSpPr>
          <p:nvPr/>
        </p:nvSpPr>
        <p:spPr bwMode="auto">
          <a:xfrm>
            <a:off x="3241675" y="5984875"/>
            <a:ext cx="184150" cy="304800"/>
          </a:xfrm>
          <a:prstGeom prst="rect">
            <a:avLst/>
          </a:prstGeom>
          <a:noFill/>
          <a:ln>
            <a:noFill/>
          </a:ln>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spcBef>
                <a:spcPts val="0"/>
              </a:spcBef>
              <a:defRPr/>
            </a:pPr>
            <a:endParaRPr lang="en-US" sz="1400" b="1">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39328180" name="Rectangle 2"/>
          <p:cNvSpPr>
            <a:spLocks noChangeArrowheads="1" noGrp="1"/>
          </p:cNvSpPr>
          <p:nvPr>
            <p:ph type="title"/>
          </p:nvPr>
        </p:nvSpPr>
        <p:spPr bwMode="auto"/>
        <p:txBody>
          <a:bodyPr anchor="t"/>
          <a:lstStyle/>
          <a:p>
            <a:pPr>
              <a:defRPr/>
            </a:pPr>
            <a:r>
              <a:rPr lang="en-US"/>
              <a:t>Sinh hệ thống phân cấp khái niệm</a:t>
            </a:r>
            <a:endParaRPr/>
          </a:p>
        </p:txBody>
      </p:sp>
      <p:sp>
        <p:nvSpPr>
          <p:cNvPr id="1130516188" name="Rectangle 3"/>
          <p:cNvSpPr>
            <a:spLocks noChangeArrowheads="1" noGrp="1"/>
          </p:cNvSpPr>
          <p:nvPr>
            <p:ph type="body" idx="1"/>
          </p:nvPr>
        </p:nvSpPr>
        <p:spPr bwMode="auto">
          <a:xfrm>
            <a:off x="618308" y="1214846"/>
            <a:ext cx="10746377" cy="5105400"/>
          </a:xfrm>
        </p:spPr>
        <p:txBody>
          <a:bodyPr/>
          <a:lstStyle/>
          <a:p>
            <a:pPr>
              <a:lnSpc>
                <a:spcPct val="120000"/>
              </a:lnSpc>
              <a:defRPr/>
            </a:pPr>
            <a:r>
              <a:rPr lang="en-US" sz="2000" b="1"/>
              <a:t>Hệ thống phân cấp khái niệm</a:t>
            </a:r>
            <a:r>
              <a:rPr lang="en-US" sz="2000"/>
              <a:t> sắp xếp các khái niệm (tức giá trị thuộc tính) theo cấp bậc và thường gắn với mỗi chiều trong kho dữ liệu</a:t>
            </a:r>
            <a:endParaRPr/>
          </a:p>
          <a:p>
            <a:pPr>
              <a:lnSpc>
                <a:spcPct val="120000"/>
              </a:lnSpc>
              <a:defRPr/>
            </a:pPr>
            <a:r>
              <a:rPr lang="en-US" sz="2000"/>
              <a:t>Hệ thống phân cấp khái niệm hỗ trợ </a:t>
            </a:r>
            <a:r>
              <a:rPr lang="en-US" sz="2000" u="sng"/>
              <a:t>đào sâu và cuộn lên</a:t>
            </a:r>
            <a:r>
              <a:rPr lang="en-US" sz="2000"/>
              <a:t> trong kho dữ liệu để xem dữ liệu ở nhiều mức độ chi tiết</a:t>
            </a:r>
            <a:endParaRPr/>
          </a:p>
          <a:p>
            <a:pPr>
              <a:lnSpc>
                <a:spcPct val="120000"/>
              </a:lnSpc>
              <a:defRPr/>
            </a:pPr>
            <a:r>
              <a:rPr lang="en-US" sz="2000"/>
              <a:t>Hình thành hệ thống phân cấp khái niệm: giảm dữ liệu đệ quy bằng cách gom và thay thế các khái niệm cấp thấp (như giá trị số của </a:t>
            </a:r>
            <a:r>
              <a:rPr lang="en-US" sz="2000" i="1"/>
              <a:t>tuổi</a:t>
            </a:r>
            <a:r>
              <a:rPr lang="en-US" sz="2000"/>
              <a:t>) bằng khái niệm cấp cao hơn (như </a:t>
            </a:r>
            <a:r>
              <a:rPr lang="en-US" sz="2000" i="1"/>
              <a:t>thanh niên, người trưởng thành</a:t>
            </a:r>
            <a:r>
              <a:rPr lang="en-US" sz="2000"/>
              <a:t>, hoặc </a:t>
            </a:r>
            <a:r>
              <a:rPr lang="en-US" sz="2000" i="1"/>
              <a:t>người cao tuổi</a:t>
            </a:r>
            <a:r>
              <a:rPr lang="en-US" sz="2000"/>
              <a:t>)</a:t>
            </a:r>
            <a:endParaRPr/>
          </a:p>
          <a:p>
            <a:pPr>
              <a:lnSpc>
                <a:spcPct val="120000"/>
              </a:lnSpc>
              <a:defRPr/>
            </a:pPr>
            <a:r>
              <a:rPr lang="en-US" sz="2000"/>
              <a:t>Hệ thống phân cấp khái niệm có thể được chuyên gia miền và/hoặc người thiết kế kho dữ liệu chỉ định rõ ràng</a:t>
            </a:r>
            <a:endParaRPr/>
          </a:p>
          <a:p>
            <a:pPr>
              <a:lnSpc>
                <a:spcPct val="120000"/>
              </a:lnSpc>
              <a:defRPr/>
            </a:pPr>
            <a:r>
              <a:rPr lang="en-US" sz="2000"/>
              <a:t>Hệ thống phân cấp khái niệm có thể được hình thành tự động cho cả dữ liệu số và định danh — với dữ liệu số, dùng các phương pháp rời rạc hóa đã trình bày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87151146" name="Rectangle 2"/>
          <p:cNvSpPr>
            <a:spLocks noChangeArrowheads="1" noGrp="1"/>
          </p:cNvSpPr>
          <p:nvPr>
            <p:ph type="title"/>
          </p:nvPr>
        </p:nvSpPr>
        <p:spPr bwMode="auto">
          <a:xfrm>
            <a:off x="-1" y="228600"/>
            <a:ext cx="12061371" cy="762000"/>
          </a:xfrm>
        </p:spPr>
        <p:txBody>
          <a:bodyPr anchor="t">
            <a:normAutofit/>
          </a:bodyPr>
          <a:lstStyle/>
          <a:p>
            <a:pPr>
              <a:defRPr/>
            </a:pPr>
            <a:r>
              <a:rPr lang="en-US" sz="3000"/>
              <a:t>Sinh hệ thống phân cấp khái niệm cho dữ liệu định danh</a:t>
            </a:r>
            <a:endParaRPr/>
          </a:p>
        </p:txBody>
      </p:sp>
      <p:sp>
        <p:nvSpPr>
          <p:cNvPr id="1536044965" name="Rectangle 3"/>
          <p:cNvSpPr>
            <a:spLocks noChangeArrowheads="1" noGrp="1"/>
          </p:cNvSpPr>
          <p:nvPr>
            <p:ph type="body" idx="1"/>
          </p:nvPr>
        </p:nvSpPr>
        <p:spPr bwMode="auto">
          <a:xfrm>
            <a:off x="705394" y="1371600"/>
            <a:ext cx="10694126" cy="5105400"/>
          </a:xfrm>
        </p:spPr>
        <p:txBody>
          <a:bodyPr/>
          <a:lstStyle/>
          <a:p>
            <a:pPr>
              <a:lnSpc>
                <a:spcPct val="110000"/>
              </a:lnSpc>
              <a:defRPr/>
            </a:pPr>
            <a:r>
              <a:rPr lang="en-US" sz="2000"/>
              <a:t>Chỉ định thứ tự bộ phận/toàn phần của các thuộc tính một cách tường minh ở mức lược đồ bởi người dùng hoặc chuyên gia</a:t>
            </a:r>
            <a:endParaRPr/>
          </a:p>
          <a:p>
            <a:pPr lvl="1">
              <a:lnSpc>
                <a:spcPct val="110000"/>
              </a:lnSpc>
              <a:defRPr/>
            </a:pPr>
            <a:r>
              <a:rPr lang="en-US" sz="2000" i="1"/>
              <a:t>đường</a:t>
            </a:r>
            <a:r>
              <a:rPr lang="en-US" sz="2000"/>
              <a:t> &lt; </a:t>
            </a:r>
            <a:r>
              <a:rPr lang="en-US" sz="2000" i="1"/>
              <a:t>thành phố</a:t>
            </a:r>
            <a:r>
              <a:rPr lang="en-US" sz="2000"/>
              <a:t> &lt; </a:t>
            </a:r>
            <a:r>
              <a:rPr lang="en-US" sz="2000" i="1"/>
              <a:t>tỉnh/bang</a:t>
            </a:r>
            <a:r>
              <a:rPr lang="en-US" sz="2000"/>
              <a:t> &lt; </a:t>
            </a:r>
            <a:r>
              <a:rPr lang="en-US" sz="2000" i="1"/>
              <a:t>quốc gia</a:t>
            </a:r>
            <a:endParaRPr/>
          </a:p>
          <a:p>
            <a:pPr>
              <a:lnSpc>
                <a:spcPct val="110000"/>
              </a:lnSpc>
              <a:defRPr/>
            </a:pPr>
            <a:r>
              <a:rPr lang="en-US" sz="2000"/>
              <a:t>Chỉ định một hệ thống phân cấp cho một tập giá trị bằng cách gom nhóm dữ liệu tường minh</a:t>
            </a:r>
            <a:endParaRPr/>
          </a:p>
          <a:p>
            <a:pPr lvl="1">
              <a:lnSpc>
                <a:spcPct val="110000"/>
              </a:lnSpc>
              <a:defRPr/>
            </a:pPr>
            <a:r>
              <a:rPr lang="en-US" sz="2000"/>
              <a:t>{Urbana, Champaign, Chicago} &lt; Illinois</a:t>
            </a:r>
            <a:endParaRPr/>
          </a:p>
          <a:p>
            <a:pPr>
              <a:lnSpc>
                <a:spcPct val="110000"/>
              </a:lnSpc>
              <a:defRPr/>
            </a:pPr>
            <a:r>
              <a:rPr lang="en-US" sz="2000"/>
              <a:t>Chỉ định chỉ một phần của tập thuộc tính</a:t>
            </a:r>
            <a:endParaRPr/>
          </a:p>
          <a:p>
            <a:pPr lvl="1">
              <a:lnSpc>
                <a:spcPct val="110000"/>
              </a:lnSpc>
              <a:defRPr/>
            </a:pPr>
            <a:r>
              <a:rPr lang="en-US" sz="2000"/>
              <a:t>Ví dụ: chỉ </a:t>
            </a:r>
            <a:r>
              <a:rPr lang="en-US" sz="2000" i="1"/>
              <a:t>đường</a:t>
            </a:r>
            <a:r>
              <a:rPr lang="en-US" sz="2000"/>
              <a:t> &lt; </a:t>
            </a:r>
            <a:r>
              <a:rPr lang="en-US" sz="2000" i="1"/>
              <a:t>thành phố</a:t>
            </a:r>
            <a:r>
              <a:rPr lang="en-US" sz="2000"/>
              <a:t>, không có các cấp khác</a:t>
            </a:r>
            <a:endParaRPr/>
          </a:p>
          <a:p>
            <a:pPr>
              <a:lnSpc>
                <a:spcPct val="110000"/>
              </a:lnSpc>
              <a:defRPr/>
            </a:pPr>
            <a:r>
              <a:rPr lang="en-US" sz="2000"/>
              <a:t>Tự động sinh hệ thống phân cấp (hoặc các mức thuộc tính) bằng cách phân tích số lượng giá trị phân biệt</a:t>
            </a:r>
            <a:endParaRPr/>
          </a:p>
          <a:p>
            <a:pPr lvl="1">
              <a:lnSpc>
                <a:spcPct val="110000"/>
              </a:lnSpc>
              <a:defRPr/>
            </a:pPr>
            <a:r>
              <a:rPr lang="en-US" sz="2000"/>
              <a:t>Ví dụ, với tập thuộc tính: {</a:t>
            </a:r>
            <a:r>
              <a:rPr lang="en-US" sz="2000" i="1"/>
              <a:t>đường, thành phố, tỉnh/bang, quốc gia</a:t>
            </a:r>
            <a:r>
              <a:rPr lang="en-US" sz="2000"/>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86140547" name="Rectangle 2"/>
          <p:cNvSpPr>
            <a:spLocks noChangeArrowheads="1" noGrp="1"/>
          </p:cNvSpPr>
          <p:nvPr>
            <p:ph type="title" idx="4294967295"/>
          </p:nvPr>
        </p:nvSpPr>
        <p:spPr bwMode="auto">
          <a:xfrm>
            <a:off x="1524000" y="152400"/>
            <a:ext cx="9144000" cy="838200"/>
          </a:xfrm>
        </p:spPr>
        <p:txBody>
          <a:bodyPr anchor="t"/>
          <a:lstStyle/>
          <a:p>
            <a:pPr>
              <a:defRPr/>
            </a:pPr>
            <a:r>
              <a:rPr lang="en-US"/>
              <a:t>Nén dữ liệu</a:t>
            </a:r>
            <a:endParaRPr/>
          </a:p>
        </p:txBody>
      </p:sp>
      <p:sp>
        <p:nvSpPr>
          <p:cNvPr id="36198573" name="Rectangle 3"/>
          <p:cNvSpPr>
            <a:spLocks noChangeArrowheads="1" noGrp="1"/>
          </p:cNvSpPr>
          <p:nvPr>
            <p:ph type="body" idx="4294967295"/>
          </p:nvPr>
        </p:nvSpPr>
        <p:spPr bwMode="auto">
          <a:xfrm>
            <a:off x="629195" y="1079862"/>
            <a:ext cx="6838406" cy="5778137"/>
          </a:xfrm>
        </p:spPr>
        <p:txBody>
          <a:bodyPr/>
          <a:lstStyle/>
          <a:p>
            <a:pPr>
              <a:defRPr/>
            </a:pPr>
            <a:r>
              <a:rPr lang="en-US">
                <a:latin typeface="Calibri"/>
              </a:rPr>
              <a:t>Nén chuỗi</a:t>
            </a:r>
            <a:endParaRPr/>
          </a:p>
          <a:p>
            <a:pPr lvl="1">
              <a:defRPr/>
            </a:pPr>
            <a:r>
              <a:rPr lang="en-US">
                <a:latin typeface="Calibri"/>
              </a:rPr>
              <a:t>Có nhiều lý thuyết và thuật toán được tinh chỉnh kỹ lưỡng</a:t>
            </a:r>
            <a:endParaRPr/>
          </a:p>
          <a:p>
            <a:pPr lvl="1">
              <a:defRPr/>
            </a:pPr>
            <a:r>
              <a:rPr lang="en-US">
                <a:latin typeface="Calibri"/>
              </a:rPr>
              <a:t>Thường không mất dữ liệu (lossless), nhưng chỉ thao tác giới hạn được mà không cần giải nén</a:t>
            </a:r>
            <a:endParaRPr lang="en-US">
              <a:latin typeface="Calibri"/>
            </a:endParaRPr>
          </a:p>
          <a:p>
            <a:pPr>
              <a:defRPr/>
            </a:pPr>
            <a:r>
              <a:rPr lang="en-US">
                <a:latin typeface="Calibri"/>
              </a:rPr>
              <a:t>Nén âm thanh/video</a:t>
            </a:r>
            <a:endParaRPr/>
          </a:p>
          <a:p>
            <a:pPr lvl="1">
              <a:defRPr/>
            </a:pPr>
            <a:r>
              <a:rPr lang="en-US">
                <a:latin typeface="Calibri"/>
              </a:rPr>
              <a:t>Thường là nén </a:t>
            </a:r>
            <a:r>
              <a:rPr lang="en-US">
                <a:latin typeface="Calibri"/>
              </a:rPr>
              <a:t>có mất dữ liệu</a:t>
            </a:r>
            <a:r>
              <a:rPr lang="en-US">
                <a:latin typeface="Calibri"/>
              </a:rPr>
              <a:t> (lossy), với tinh chỉnh dần dần</a:t>
            </a:r>
            <a:endParaRPr/>
          </a:p>
          <a:p>
            <a:pPr lvl="1">
              <a:defRPr/>
            </a:pPr>
            <a:r>
              <a:rPr lang="en-US">
                <a:latin typeface="Calibri"/>
              </a:rPr>
              <a:t>Đôi khi có thể tái tạo các đoạn tín hiệu nhỏ mà không cần tái tạo toàn bộ</a:t>
            </a:r>
            <a:endParaRPr/>
          </a:p>
          <a:p>
            <a:pPr>
              <a:defRPr/>
            </a:pPr>
            <a:r>
              <a:rPr lang="en-US">
                <a:latin typeface="Calibri"/>
              </a:rPr>
              <a:t>Chuỗi thời gian không phải là âm thanh</a:t>
            </a:r>
            <a:endParaRPr/>
          </a:p>
          <a:p>
            <a:pPr lvl="1">
              <a:defRPr/>
            </a:pPr>
            <a:r>
              <a:rPr lang="en-US">
                <a:latin typeface="Calibri"/>
              </a:rPr>
              <a:t>Thường ngắn và biến đổi chậm theo thời gian</a:t>
            </a:r>
            <a:endParaRPr/>
          </a:p>
          <a:p>
            <a:pPr>
              <a:defRPr/>
            </a:pPr>
            <a:r>
              <a:rPr lang="en-US">
                <a:latin typeface="Calibri"/>
              </a:rPr>
              <a:t>Giảm dữ liệu và giảm số chiều cũng có thể được coi là các hình thức nén dữ liệu</a:t>
            </a:r>
            <a:endParaRPr/>
          </a:p>
        </p:txBody>
      </p:sp>
      <p:grpSp>
        <p:nvGrpSpPr>
          <p:cNvPr id="1534603908" name="Group 3"/>
          <p:cNvGrpSpPr/>
          <p:nvPr/>
        </p:nvGrpSpPr>
        <p:grpSpPr bwMode="auto">
          <a:xfrm>
            <a:off x="7391400" y="1400176"/>
            <a:ext cx="4124325" cy="3200400"/>
            <a:chOff x="2362201" y="1625601"/>
            <a:chExt cx="7335788" cy="4926012"/>
          </a:xfrm>
        </p:grpSpPr>
        <p:sp>
          <p:nvSpPr>
            <p:cNvPr id="5" name="AutoShape 3"/>
            <p:cNvSpPr>
              <a:spLocks noChangeArrowheads="1"/>
            </p:cNvSpPr>
            <p:nvPr/>
          </p:nvSpPr>
          <p:spPr bwMode="auto">
            <a:xfrm>
              <a:off x="2362201" y="1625601"/>
              <a:ext cx="3446463" cy="2595562"/>
            </a:xfrm>
            <a:prstGeom prst="can">
              <a:avLst>
                <a:gd name="adj" fmla="val 25000"/>
              </a:avLst>
            </a:prstGeom>
            <a:solidFill>
              <a:schemeClr val="bg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en-US">
                  <a:latin typeface="+mn-lt"/>
                </a:rPr>
                <a:t>Original Data</a:t>
              </a:r>
              <a:endParaRPr/>
            </a:p>
          </p:txBody>
        </p:sp>
        <p:sp>
          <p:nvSpPr>
            <p:cNvPr id="6" name="AutoShape 4"/>
            <p:cNvSpPr>
              <a:spLocks noChangeArrowheads="1"/>
            </p:cNvSpPr>
            <p:nvPr/>
          </p:nvSpPr>
          <p:spPr bwMode="auto">
            <a:xfrm>
              <a:off x="7699376" y="2249489"/>
              <a:ext cx="1998613" cy="1608137"/>
            </a:xfrm>
            <a:prstGeom prst="cube">
              <a:avLst>
                <a:gd name="adj" fmla="val 25000"/>
              </a:avLst>
            </a:prstGeom>
            <a:solidFill>
              <a:srgbClr val="F6E6EA"/>
            </a:solidFill>
            <a:ln w="9525">
              <a:solidFill>
                <a:schemeClr val="tx1"/>
              </a:solidFill>
              <a:miter lim="800000"/>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en-US" sz="2000">
                  <a:latin typeface="+mn-lt"/>
                </a:rPr>
                <a:t>Compressed </a:t>
              </a:r>
              <a:endParaRPr/>
            </a:p>
            <a:p>
              <a:pPr algn="ctr">
                <a:defRPr/>
              </a:pPr>
              <a:r>
                <a:rPr lang="en-US" sz="2000">
                  <a:latin typeface="+mn-lt"/>
                </a:rPr>
                <a:t>Data</a:t>
              </a:r>
              <a:endParaRPr/>
            </a:p>
          </p:txBody>
        </p:sp>
        <p:sp>
          <p:nvSpPr>
            <p:cNvPr id="7" name="Line 5"/>
            <p:cNvSpPr>
              <a:spLocks noChangeShapeType="1"/>
            </p:cNvSpPr>
            <p:nvPr/>
          </p:nvSpPr>
          <p:spPr bwMode="auto">
            <a:xfrm>
              <a:off x="5843589" y="3005138"/>
              <a:ext cx="1838325" cy="0"/>
            </a:xfrm>
            <a:prstGeom prst="line">
              <a:avLst/>
            </a:prstGeom>
            <a:noFill/>
            <a:ln w="9525">
              <a:solidFill>
                <a:schemeClr val="tx1"/>
              </a:solidFill>
              <a:round/>
              <a:headEnd/>
              <a:tailEnd type="triangle" w="med" len="med"/>
            </a:ln>
          </p:spPr>
          <p:txBody>
            <a:bodyPr wrap="none" anchor="ctr"/>
            <a:lstStyle/>
            <a:p>
              <a:pPr>
                <a:defRPr/>
              </a:pPr>
              <a:endParaRPr lang="en-US"/>
            </a:p>
          </p:txBody>
        </p:sp>
        <p:sp>
          <p:nvSpPr>
            <p:cNvPr id="8" name="Line 6"/>
            <p:cNvSpPr>
              <a:spLocks noChangeShapeType="1"/>
            </p:cNvSpPr>
            <p:nvPr/>
          </p:nvSpPr>
          <p:spPr bwMode="auto">
            <a:xfrm flipH="1">
              <a:off x="5843589" y="3579813"/>
              <a:ext cx="1838325" cy="0"/>
            </a:xfrm>
            <a:prstGeom prst="line">
              <a:avLst/>
            </a:prstGeom>
            <a:noFill/>
            <a:ln w="9525">
              <a:solidFill>
                <a:schemeClr val="tx1"/>
              </a:solidFill>
              <a:round/>
              <a:headEnd/>
              <a:tailEnd type="triangle" w="med" len="med"/>
            </a:ln>
          </p:spPr>
          <p:txBody>
            <a:bodyPr wrap="none" anchor="ctr"/>
            <a:lstStyle/>
            <a:p>
              <a:pPr>
                <a:defRPr/>
              </a:pPr>
              <a:endParaRPr lang="en-US"/>
            </a:p>
          </p:txBody>
        </p:sp>
        <p:sp>
          <p:nvSpPr>
            <p:cNvPr id="9" name="Text Box 7"/>
            <p:cNvSpPr txBox="1">
              <a:spLocks noChangeArrowheads="1"/>
            </p:cNvSpPr>
            <p:nvPr/>
          </p:nvSpPr>
          <p:spPr bwMode="auto">
            <a:xfrm>
              <a:off x="6161087" y="3665538"/>
              <a:ext cx="1623274" cy="561022"/>
            </a:xfrm>
            <a:prstGeom prst="rect">
              <a:avLst/>
            </a:prstGeom>
            <a:noFill/>
            <a:ln>
              <a:noFill/>
            </a:ln>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r>
                <a:rPr lang="en-US" sz="2000">
                  <a:latin typeface="+mn-lt"/>
                </a:rPr>
                <a:t>lossless</a:t>
              </a:r>
              <a:endParaRPr/>
            </a:p>
          </p:txBody>
        </p:sp>
        <p:sp>
          <p:nvSpPr>
            <p:cNvPr id="10" name="AutoShape 8"/>
            <p:cNvSpPr>
              <a:spLocks noChangeArrowheads="1"/>
            </p:cNvSpPr>
            <p:nvPr/>
          </p:nvSpPr>
          <p:spPr bwMode="auto">
            <a:xfrm>
              <a:off x="2474914" y="4367213"/>
              <a:ext cx="3286125" cy="2184400"/>
            </a:xfrm>
            <a:prstGeom prst="can">
              <a:avLst>
                <a:gd name="adj" fmla="val 25000"/>
              </a:avLst>
            </a:prstGeom>
            <a:solidFill>
              <a:schemeClr val="bg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en-US">
                  <a:latin typeface="+mn-lt"/>
                </a:rPr>
                <a:t>Original Data</a:t>
              </a:r>
              <a:endParaRPr/>
            </a:p>
            <a:p>
              <a:pPr algn="ctr">
                <a:defRPr/>
              </a:pPr>
              <a:r>
                <a:rPr lang="en-US">
                  <a:latin typeface="+mn-lt"/>
                </a:rPr>
                <a:t>Approximated </a:t>
              </a:r>
              <a:endParaRPr/>
            </a:p>
          </p:txBody>
        </p:sp>
        <p:sp>
          <p:nvSpPr>
            <p:cNvPr id="11" name="Line 9"/>
            <p:cNvSpPr>
              <a:spLocks noChangeShapeType="1"/>
            </p:cNvSpPr>
            <p:nvPr/>
          </p:nvSpPr>
          <p:spPr bwMode="auto">
            <a:xfrm flipH="1">
              <a:off x="5776913" y="3875089"/>
              <a:ext cx="2743200" cy="1806575"/>
            </a:xfrm>
            <a:prstGeom prst="line">
              <a:avLst/>
            </a:prstGeom>
            <a:noFill/>
            <a:ln w="9525">
              <a:solidFill>
                <a:schemeClr val="tx1"/>
              </a:solidFill>
              <a:round/>
              <a:headEnd/>
              <a:tailEnd type="triangle" w="med" len="med"/>
            </a:ln>
          </p:spPr>
          <p:txBody>
            <a:bodyPr wrap="none" anchor="ctr"/>
            <a:lstStyle/>
            <a:p>
              <a:pPr>
                <a:defRPr/>
              </a:pPr>
              <a:endParaRPr lang="en-US"/>
            </a:p>
          </p:txBody>
        </p:sp>
        <p:sp>
          <p:nvSpPr>
            <p:cNvPr id="12" name="Text Box 10"/>
            <p:cNvSpPr txBox="1">
              <a:spLocks noChangeArrowheads="1"/>
            </p:cNvSpPr>
            <p:nvPr/>
          </p:nvSpPr>
          <p:spPr bwMode="auto">
            <a:xfrm rot="18915147">
              <a:off x="6575917" y="4731227"/>
              <a:ext cx="1162655" cy="561022"/>
            </a:xfrm>
            <a:prstGeom prst="rect">
              <a:avLst/>
            </a:prstGeom>
            <a:noFill/>
            <a:ln>
              <a:noFill/>
            </a:ln>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r>
                <a:rPr lang="en-US" sz="2000">
                  <a:latin typeface="+mn-lt"/>
                </a:rPr>
                <a:t>lossy</a:t>
              </a:r>
              <a:endParaRPr lang="en-US" sz="2000">
                <a:latin typeface="+mn-lt"/>
              </a:endParaRPr>
            </a:p>
          </p:txBody>
        </p:sp>
      </p:grpSp>
      <p:sp>
        <p:nvSpPr>
          <p:cNvPr id="277249374" name="TextBox 1"/>
          <p:cNvSpPr txBox="1"/>
          <p:nvPr/>
        </p:nvSpPr>
        <p:spPr bwMode="auto">
          <a:xfrm>
            <a:off x="7575106" y="4702422"/>
            <a:ext cx="3940619" cy="461665"/>
          </a:xfrm>
          <a:prstGeom prst="rect">
            <a:avLst/>
          </a:prstGeom>
          <a:solidFill>
            <a:srgbClr val="FFFF00"/>
          </a:solidFill>
        </p:spPr>
        <p:txBody>
          <a:bodyPr wrap="square" rtlCol="0">
            <a:spAutoFit/>
          </a:bodyPr>
          <a:lstStyle/>
          <a:p>
            <a:pPr>
              <a:defRPr/>
            </a:pPr>
            <a:r>
              <a:rPr lang="en-US" sz="2000"/>
              <a:t>Nén </a:t>
            </a:r>
            <a:r>
              <a:rPr lang="en-US" sz="2000"/>
              <a:t>có mất mát và không mất mát dữ liệu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6170720" name="Rectangle 2"/>
          <p:cNvSpPr>
            <a:spLocks noChangeArrowheads="1" noGrp="1"/>
          </p:cNvSpPr>
          <p:nvPr>
            <p:ph type="title" idx="4294967295"/>
          </p:nvPr>
        </p:nvSpPr>
        <p:spPr bwMode="auto">
          <a:xfrm>
            <a:off x="2362199" y="228600"/>
            <a:ext cx="7162800" cy="685800"/>
          </a:xfrm>
        </p:spPr>
        <p:txBody>
          <a:bodyPr anchor="t"/>
          <a:lstStyle/>
          <a:p>
            <a:pPr>
              <a:defRPr/>
            </a:pPr>
            <a:r>
              <a:rPr lang="en-US"/>
              <a:t>Tổng hợp khối dữ liệu (Data Cube Aggregation)</a:t>
            </a:r>
            <a:endParaRPr/>
          </a:p>
        </p:txBody>
      </p:sp>
      <p:sp>
        <p:nvSpPr>
          <p:cNvPr id="1013993635" name="Rectangle 3"/>
          <p:cNvSpPr>
            <a:spLocks noChangeArrowheads="1" noGrp="1"/>
          </p:cNvSpPr>
          <p:nvPr>
            <p:ph type="body" idx="4294967295"/>
          </p:nvPr>
        </p:nvSpPr>
        <p:spPr bwMode="auto">
          <a:xfrm>
            <a:off x="644434" y="1326777"/>
            <a:ext cx="7414838" cy="5217459"/>
          </a:xfrm>
        </p:spPr>
        <p:txBody>
          <a:bodyPr/>
          <a:lstStyle/>
          <a:p>
            <a:pPr>
              <a:lnSpc>
                <a:spcPct val="120000"/>
              </a:lnSpc>
              <a:defRPr/>
            </a:pPr>
            <a:r>
              <a:rPr lang="en-US">
                <a:latin typeface="Calibri"/>
              </a:rPr>
              <a:t>Mức thấp nhất của một khối dữ liệu (base cuboid)</a:t>
            </a:r>
            <a:endParaRPr/>
          </a:p>
          <a:p>
            <a:pPr lvl="1">
              <a:lnSpc>
                <a:spcPct val="120000"/>
              </a:lnSpc>
              <a:defRPr/>
            </a:pPr>
            <a:r>
              <a:rPr lang="en-US">
                <a:latin typeface="Calibri"/>
              </a:rPr>
              <a:t>Dữ liệu tổng hợp cho một </a:t>
            </a:r>
            <a:r>
              <a:rPr lang="en-US" b="1">
                <a:latin typeface="Calibri"/>
              </a:rPr>
              <a:t>thực thể riêng lẻ quan tâm</a:t>
            </a:r>
            <a:endParaRPr/>
          </a:p>
          <a:p>
            <a:pPr lvl="1">
              <a:lnSpc>
                <a:spcPct val="120000"/>
              </a:lnSpc>
              <a:defRPr/>
            </a:pPr>
            <a:r>
              <a:rPr lang="en-US">
                <a:latin typeface="Calibri"/>
              </a:rPr>
              <a:t>Ví dụ, một khách hàng trong kho dữ liệu cuộc gọi điện thoại</a:t>
            </a:r>
            <a:endParaRPr/>
          </a:p>
          <a:p>
            <a:pPr>
              <a:lnSpc>
                <a:spcPct val="120000"/>
              </a:lnSpc>
              <a:defRPr/>
            </a:pPr>
            <a:r>
              <a:rPr lang="en-US">
                <a:latin typeface="Calibri"/>
              </a:rPr>
              <a:t>Nhiều mức tổng hợp trong khối dữ liệu</a:t>
            </a:r>
            <a:endParaRPr/>
          </a:p>
          <a:p>
            <a:pPr lvl="1">
              <a:lnSpc>
                <a:spcPct val="120000"/>
              </a:lnSpc>
              <a:defRPr/>
            </a:pPr>
            <a:r>
              <a:rPr lang="en-US">
                <a:latin typeface="Calibri"/>
              </a:rPr>
              <a:t>Giảm thêm kích thước dữ liệu cần xử lý</a:t>
            </a:r>
            <a:endParaRPr/>
          </a:p>
          <a:p>
            <a:pPr>
              <a:lnSpc>
                <a:spcPct val="120000"/>
              </a:lnSpc>
              <a:defRPr/>
            </a:pPr>
            <a:r>
              <a:rPr lang="en-US">
                <a:latin typeface="Calibri"/>
              </a:rPr>
              <a:t>Tham chiếu đến mức phù hợp</a:t>
            </a:r>
            <a:endParaRPr/>
          </a:p>
          <a:p>
            <a:pPr lvl="1">
              <a:lnSpc>
                <a:spcPct val="120000"/>
              </a:lnSpc>
              <a:defRPr/>
            </a:pPr>
            <a:r>
              <a:rPr lang="en-US">
                <a:latin typeface="Calibri"/>
              </a:rPr>
              <a:t>Sử dụng biểu diễn nhỏ nhất đủ để giải quyết tác vụ</a:t>
            </a:r>
            <a:endParaRPr/>
          </a:p>
          <a:p>
            <a:pPr>
              <a:lnSpc>
                <a:spcPct val="120000"/>
              </a:lnSpc>
              <a:defRPr/>
            </a:pPr>
            <a:r>
              <a:rPr lang="en-US">
                <a:latin typeface="Calibri"/>
              </a:rPr>
              <a:t>Các truy vấn về thông tin tổng hợp nên được trả lời bằng khối dữ liệu khi có thể</a:t>
            </a:r>
            <a:endParaRPr/>
          </a:p>
        </p:txBody>
      </p:sp>
      <p:pic>
        <p:nvPicPr>
          <p:cNvPr id="1038121954" name="Picture 6" descr="http://www.aussurveys.com.au/wp-content/uploads/2013/09/img-cube-graphic.png"/>
          <p:cNvPicPr>
            <a:picLocks noChangeAspect="1" noChangeArrowheads="1"/>
          </p:cNvPicPr>
          <p:nvPr/>
        </p:nvPicPr>
        <p:blipFill rotWithShape="1">
          <a:blip r:embed="rId3"/>
          <a:stretch/>
        </p:blipFill>
        <p:spPr bwMode="auto">
          <a:xfrm>
            <a:off x="6753598" y="1171574"/>
            <a:ext cx="5238750" cy="2981326"/>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24089678" name="Rectangle 2"/>
          <p:cNvSpPr>
            <a:spLocks noChangeArrowheads="1" noGrp="1"/>
          </p:cNvSpPr>
          <p:nvPr>
            <p:ph type="title"/>
          </p:nvPr>
        </p:nvSpPr>
        <p:spPr bwMode="auto">
          <a:xfrm>
            <a:off x="487680" y="304800"/>
            <a:ext cx="11129554" cy="685800"/>
          </a:xfrm>
        </p:spPr>
        <p:txBody>
          <a:bodyPr anchor="t">
            <a:normAutofit/>
          </a:bodyPr>
          <a:lstStyle/>
          <a:p>
            <a:pPr>
              <a:defRPr/>
            </a:pPr>
            <a:r>
              <a:rPr lang="en-US"/>
              <a:t>Sinh tự động hệ thống phân cấp khái niệm</a:t>
            </a:r>
            <a:endParaRPr/>
          </a:p>
        </p:txBody>
      </p:sp>
      <p:sp>
        <p:nvSpPr>
          <p:cNvPr id="317524648" name="Rectangle 3"/>
          <p:cNvSpPr>
            <a:spLocks noChangeArrowheads="1" noGrp="1"/>
          </p:cNvSpPr>
          <p:nvPr>
            <p:ph type="body" idx="1"/>
          </p:nvPr>
        </p:nvSpPr>
        <p:spPr bwMode="auto">
          <a:xfrm>
            <a:off x="696686" y="1295400"/>
            <a:ext cx="10668000" cy="2286000"/>
          </a:xfrm>
        </p:spPr>
        <p:txBody>
          <a:bodyPr/>
          <a:lstStyle/>
          <a:p>
            <a:pPr>
              <a:lnSpc>
                <a:spcPct val="90000"/>
              </a:lnSpc>
              <a:defRPr/>
            </a:pPr>
            <a:r>
              <a:rPr lang="en-US" sz="2000">
                <a:ea typeface="Calibri"/>
                <a:cs typeface="Calibri"/>
              </a:rPr>
              <a:t>Một số hệ thống phân cấp có thể được sinh tự động dựa trên việc phân tích số lượng giá trị phân biệt của mỗi thuộc tính trong tập dữ liệu </a:t>
            </a:r>
            <a:endParaRPr/>
          </a:p>
          <a:p>
            <a:pPr lvl="1">
              <a:lnSpc>
                <a:spcPct val="90000"/>
              </a:lnSpc>
              <a:defRPr/>
            </a:pPr>
            <a:r>
              <a:rPr lang="en-US" sz="2000">
                <a:ea typeface="Calibri"/>
                <a:cs typeface="Calibri"/>
              </a:rPr>
              <a:t>Thuộc tính có nhiều giá trị phân biệt nhất được đặt ở mức thấp nhất của hệ thống phân cấp</a:t>
            </a:r>
            <a:endParaRPr/>
          </a:p>
          <a:p>
            <a:pPr lvl="1">
              <a:lnSpc>
                <a:spcPct val="90000"/>
              </a:lnSpc>
              <a:defRPr/>
            </a:pPr>
            <a:r>
              <a:rPr lang="en-US" sz="2000">
                <a:ea typeface="Calibri"/>
                <a:cs typeface="Calibri"/>
              </a:rPr>
              <a:t>Ngoại lệ, ví dụ: thứ trong tuần, tháng, quý, năm</a:t>
            </a:r>
            <a:endParaRPr/>
          </a:p>
        </p:txBody>
      </p:sp>
      <p:grpSp>
        <p:nvGrpSpPr>
          <p:cNvPr id="2071057858" name="Group 4"/>
          <p:cNvGrpSpPr/>
          <p:nvPr/>
        </p:nvGrpSpPr>
        <p:grpSpPr bwMode="auto">
          <a:xfrm>
            <a:off x="2438400" y="3542207"/>
            <a:ext cx="7175500" cy="2728913"/>
            <a:chOff x="672" y="2438"/>
            <a:chExt cx="4520" cy="1719"/>
          </a:xfrm>
        </p:grpSpPr>
        <p:sp>
          <p:nvSpPr>
            <p:cNvPr id="65542" name="Oval 5"/>
            <p:cNvSpPr>
              <a:spLocks noChangeArrowheads="1"/>
            </p:cNvSpPr>
            <p:nvPr/>
          </p:nvSpPr>
          <p:spPr bwMode="auto">
            <a:xfrm>
              <a:off x="672" y="2496"/>
              <a:ext cx="2256" cy="216"/>
            </a:xfrm>
            <a:prstGeom prst="ellipse">
              <a:avLst/>
            </a:prstGeom>
            <a:noFill/>
            <a:ln w="9525">
              <a:solidFill>
                <a:schemeClr val="folHlink"/>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en-US" i="1">
                  <a:latin typeface="+mn-lt"/>
                </a:rPr>
                <a:t>country</a:t>
              </a:r>
              <a:endParaRPr/>
            </a:p>
          </p:txBody>
        </p:sp>
        <p:sp>
          <p:nvSpPr>
            <p:cNvPr id="65543" name="Oval 6"/>
            <p:cNvSpPr>
              <a:spLocks noChangeArrowheads="1"/>
            </p:cNvSpPr>
            <p:nvPr/>
          </p:nvSpPr>
          <p:spPr bwMode="auto">
            <a:xfrm>
              <a:off x="708" y="2952"/>
              <a:ext cx="2256" cy="216"/>
            </a:xfrm>
            <a:prstGeom prst="ellipse">
              <a:avLst/>
            </a:prstGeom>
            <a:noFill/>
            <a:ln w="9525">
              <a:solidFill>
                <a:schemeClr val="folHlink"/>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en-US" i="1">
                  <a:latin typeface="+mn-lt"/>
                </a:rPr>
                <a:t>province_or_ state</a:t>
              </a:r>
              <a:endParaRPr/>
            </a:p>
          </p:txBody>
        </p:sp>
        <p:sp>
          <p:nvSpPr>
            <p:cNvPr id="65544" name="Oval 7"/>
            <p:cNvSpPr>
              <a:spLocks noChangeArrowheads="1"/>
            </p:cNvSpPr>
            <p:nvPr/>
          </p:nvSpPr>
          <p:spPr bwMode="auto">
            <a:xfrm>
              <a:off x="756" y="3456"/>
              <a:ext cx="2256" cy="216"/>
            </a:xfrm>
            <a:prstGeom prst="ellipse">
              <a:avLst/>
            </a:prstGeom>
            <a:noFill/>
            <a:ln w="9525">
              <a:solidFill>
                <a:schemeClr val="folHlink"/>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en-US" i="1">
                  <a:latin typeface="+mn-lt"/>
                </a:rPr>
                <a:t>city</a:t>
              </a:r>
              <a:endParaRPr/>
            </a:p>
          </p:txBody>
        </p:sp>
        <p:sp>
          <p:nvSpPr>
            <p:cNvPr id="65545" name="Oval 8"/>
            <p:cNvSpPr>
              <a:spLocks noChangeArrowheads="1"/>
            </p:cNvSpPr>
            <p:nvPr/>
          </p:nvSpPr>
          <p:spPr bwMode="auto">
            <a:xfrm>
              <a:off x="744" y="3936"/>
              <a:ext cx="2256" cy="216"/>
            </a:xfrm>
            <a:prstGeom prst="ellipse">
              <a:avLst/>
            </a:prstGeom>
            <a:noFill/>
            <a:ln w="9525">
              <a:solidFill>
                <a:schemeClr val="folHlink"/>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en-US" i="1">
                  <a:latin typeface="+mn-lt"/>
                </a:rPr>
                <a:t>street</a:t>
              </a:r>
              <a:endParaRPr/>
            </a:p>
          </p:txBody>
        </p:sp>
        <p:sp>
          <p:nvSpPr>
            <p:cNvPr id="65546" name="Line 9"/>
            <p:cNvSpPr>
              <a:spLocks noChangeShapeType="1"/>
            </p:cNvSpPr>
            <p:nvPr/>
          </p:nvSpPr>
          <p:spPr bwMode="auto">
            <a:xfrm flipH="1">
              <a:off x="1835" y="2736"/>
              <a:ext cx="0" cy="240"/>
            </a:xfrm>
            <a:prstGeom prst="line">
              <a:avLst/>
            </a:prstGeom>
            <a:noFill/>
            <a:ln w="9525">
              <a:solidFill>
                <a:schemeClr val="tx2"/>
              </a:solidFill>
              <a:round/>
              <a:headEnd/>
              <a:tailEnd/>
            </a:ln>
          </p:spPr>
          <p:txBody>
            <a:bodyPr/>
            <a:lstStyle/>
            <a:p>
              <a:pPr>
                <a:defRPr/>
              </a:pPr>
              <a:endParaRPr lang="en-US" sz="2400"/>
            </a:p>
          </p:txBody>
        </p:sp>
        <p:sp>
          <p:nvSpPr>
            <p:cNvPr id="65547" name="Line 10"/>
            <p:cNvSpPr>
              <a:spLocks noChangeShapeType="1"/>
            </p:cNvSpPr>
            <p:nvPr/>
          </p:nvSpPr>
          <p:spPr bwMode="auto">
            <a:xfrm>
              <a:off x="1835" y="3095"/>
              <a:ext cx="0" cy="336"/>
            </a:xfrm>
            <a:prstGeom prst="line">
              <a:avLst/>
            </a:prstGeom>
            <a:noFill/>
            <a:ln w="9525">
              <a:solidFill>
                <a:schemeClr val="tx2"/>
              </a:solidFill>
              <a:round/>
              <a:headEnd/>
              <a:tailEnd/>
            </a:ln>
          </p:spPr>
          <p:txBody>
            <a:bodyPr/>
            <a:lstStyle/>
            <a:p>
              <a:pPr>
                <a:defRPr/>
              </a:pPr>
              <a:endParaRPr lang="en-US" sz="2400"/>
            </a:p>
          </p:txBody>
        </p:sp>
        <p:sp>
          <p:nvSpPr>
            <p:cNvPr id="65548" name="Line 11"/>
            <p:cNvSpPr>
              <a:spLocks noChangeShapeType="1"/>
            </p:cNvSpPr>
            <p:nvPr/>
          </p:nvSpPr>
          <p:spPr bwMode="auto">
            <a:xfrm>
              <a:off x="1835" y="3612"/>
              <a:ext cx="0" cy="348"/>
            </a:xfrm>
            <a:prstGeom prst="line">
              <a:avLst/>
            </a:prstGeom>
            <a:noFill/>
            <a:ln w="9525">
              <a:solidFill>
                <a:schemeClr val="tx2"/>
              </a:solidFill>
              <a:round/>
              <a:headEnd/>
              <a:tailEnd/>
            </a:ln>
          </p:spPr>
          <p:txBody>
            <a:bodyPr/>
            <a:lstStyle/>
            <a:p>
              <a:pPr>
                <a:defRPr/>
              </a:pPr>
              <a:endParaRPr lang="en-US" sz="2400"/>
            </a:p>
          </p:txBody>
        </p:sp>
        <p:sp>
          <p:nvSpPr>
            <p:cNvPr id="65549" name="Text Box 12"/>
            <p:cNvSpPr txBox="1">
              <a:spLocks noChangeArrowheads="1"/>
            </p:cNvSpPr>
            <p:nvPr/>
          </p:nvSpPr>
          <p:spPr bwMode="auto">
            <a:xfrm>
              <a:off x="3534" y="2438"/>
              <a:ext cx="1473" cy="291"/>
            </a:xfrm>
            <a:prstGeom prst="rect">
              <a:avLst/>
            </a:prstGeom>
            <a:noFill/>
            <a:ln>
              <a:noFill/>
            </a:ln>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en-US">
                  <a:latin typeface="+mn-lt"/>
                </a:rPr>
                <a:t>15 distinct values</a:t>
              </a:r>
              <a:endParaRPr/>
            </a:p>
          </p:txBody>
        </p:sp>
        <p:sp>
          <p:nvSpPr>
            <p:cNvPr id="65550" name="Text Box 13"/>
            <p:cNvSpPr txBox="1">
              <a:spLocks noChangeArrowheads="1"/>
            </p:cNvSpPr>
            <p:nvPr/>
          </p:nvSpPr>
          <p:spPr bwMode="auto">
            <a:xfrm>
              <a:off x="3552" y="2942"/>
              <a:ext cx="1570" cy="288"/>
            </a:xfrm>
            <a:prstGeom prst="rect">
              <a:avLst/>
            </a:prstGeom>
            <a:noFill/>
            <a:ln>
              <a:noFill/>
            </a:ln>
          </p:spPr>
          <p:txBody>
            <a:bodyPr>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en-US">
                  <a:latin typeface="+mn-lt"/>
                </a:rPr>
                <a:t>365 distinct values</a:t>
              </a:r>
              <a:endParaRPr/>
            </a:p>
          </p:txBody>
        </p:sp>
        <p:sp>
          <p:nvSpPr>
            <p:cNvPr id="65551" name="Text Box 14"/>
            <p:cNvSpPr txBox="1">
              <a:spLocks noChangeArrowheads="1"/>
            </p:cNvSpPr>
            <p:nvPr/>
          </p:nvSpPr>
          <p:spPr bwMode="auto">
            <a:xfrm>
              <a:off x="3460" y="3410"/>
              <a:ext cx="1669" cy="291"/>
            </a:xfrm>
            <a:prstGeom prst="rect">
              <a:avLst/>
            </a:prstGeom>
            <a:noFill/>
            <a:ln>
              <a:noFill/>
            </a:ln>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en-US">
                  <a:latin typeface="+mn-lt"/>
                </a:rPr>
                <a:t>3567 distinct values</a:t>
              </a:r>
              <a:endParaRPr/>
            </a:p>
          </p:txBody>
        </p:sp>
        <p:sp>
          <p:nvSpPr>
            <p:cNvPr id="65552" name="Text Box 15"/>
            <p:cNvSpPr txBox="1">
              <a:spLocks noChangeArrowheads="1"/>
            </p:cNvSpPr>
            <p:nvPr/>
          </p:nvSpPr>
          <p:spPr bwMode="auto">
            <a:xfrm>
              <a:off x="3278" y="3866"/>
              <a:ext cx="1914" cy="291"/>
            </a:xfrm>
            <a:prstGeom prst="rect">
              <a:avLst/>
            </a:prstGeom>
            <a:noFill/>
            <a:ln>
              <a:noFill/>
            </a:ln>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en-US">
                  <a:latin typeface="+mn-lt"/>
                </a:rPr>
                <a:t>674,339 distinct values</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5220457" name="Rectangle 2"/>
          <p:cNvSpPr>
            <a:spLocks noChangeArrowheads="1" noGrp="1"/>
          </p:cNvSpPr>
          <p:nvPr>
            <p:ph type="title"/>
          </p:nvPr>
        </p:nvSpPr>
        <p:spPr bwMode="auto">
          <a:xfrm>
            <a:off x="1371600" y="152400"/>
            <a:ext cx="9525000" cy="762000"/>
          </a:xfrm>
        </p:spPr>
        <p:txBody>
          <a:bodyPr anchor="t"/>
          <a:lstStyle/>
          <a:p>
            <a:pPr>
              <a:defRPr/>
            </a:pPr>
            <a:r>
              <a:rPr lang="en-US"/>
              <a:t>Lấy mẫu</a:t>
            </a:r>
            <a:endParaRPr/>
          </a:p>
        </p:txBody>
      </p:sp>
      <p:sp>
        <p:nvSpPr>
          <p:cNvPr id="1638060210" name="Rectangle 3"/>
          <p:cNvSpPr>
            <a:spLocks noChangeArrowheads="1" noGrp="1"/>
          </p:cNvSpPr>
          <p:nvPr>
            <p:ph type="body" idx="1"/>
          </p:nvPr>
        </p:nvSpPr>
        <p:spPr bwMode="auto">
          <a:xfrm>
            <a:off x="627017" y="1371600"/>
            <a:ext cx="10711543" cy="5181600"/>
          </a:xfrm>
        </p:spPr>
        <p:txBody>
          <a:bodyPr/>
          <a:lstStyle/>
          <a:p>
            <a:pPr>
              <a:lnSpc>
                <a:spcPct val="120000"/>
              </a:lnSpc>
              <a:defRPr/>
            </a:pPr>
            <a:r>
              <a:rPr lang="en-US" sz="2000"/>
              <a:t>Lấy mẫu: thu được một mẫu nhỏ </a:t>
            </a:r>
            <a:r>
              <a:rPr lang="en-US" sz="2000" i="1"/>
              <a:t>s</a:t>
            </a:r>
            <a:r>
              <a:rPr lang="en-US" sz="2000"/>
              <a:t> để đại diện cho toàn bộ tập dữ liệu </a:t>
            </a:r>
            <a:r>
              <a:rPr lang="en-US" sz="2000" i="1"/>
              <a:t>N</a:t>
            </a:r>
            <a:endParaRPr/>
          </a:p>
          <a:p>
            <a:pPr>
              <a:lnSpc>
                <a:spcPct val="120000"/>
              </a:lnSpc>
              <a:defRPr/>
            </a:pPr>
            <a:r>
              <a:rPr lang="en-US" sz="2000"/>
              <a:t>Cho phép thuật toán khai phá chạy với độ phức tạp có thể dưới tuyến tính so với kích thước dữ liệu</a:t>
            </a:r>
            <a:endParaRPr/>
          </a:p>
          <a:p>
            <a:pPr>
              <a:lnSpc>
                <a:spcPct val="120000"/>
              </a:lnSpc>
              <a:defRPr/>
            </a:pPr>
            <a:r>
              <a:rPr lang="en-US" sz="2000"/>
              <a:t>Nguyên tắc cốt lõi: Chọn một tập con </a:t>
            </a:r>
            <a:r>
              <a:rPr lang="en-US" sz="2000" b="1"/>
              <a:t>đại diện</a:t>
            </a:r>
            <a:r>
              <a:rPr lang="en-US" sz="2000"/>
              <a:t> của dữ liệu</a:t>
            </a:r>
            <a:endParaRPr/>
          </a:p>
          <a:p>
            <a:pPr lvl="1">
              <a:lnSpc>
                <a:spcPct val="120000"/>
              </a:lnSpc>
              <a:defRPr/>
            </a:pPr>
            <a:r>
              <a:rPr lang="en-US" sz="2000"/>
              <a:t>Lấy mẫu ngẫu nhiên đơn giản có thể có hiệu năng rất kém khi dữ liệu bị lệch</a:t>
            </a:r>
            <a:endParaRPr/>
          </a:p>
          <a:p>
            <a:pPr lvl="1">
              <a:lnSpc>
                <a:spcPct val="120000"/>
              </a:lnSpc>
              <a:defRPr/>
            </a:pPr>
            <a:r>
              <a:rPr lang="en-US" sz="2000"/>
              <a:t>Phát triển các phương pháp lấy mẫu thích ứng, ví dụ: lấy mẫu phân tầng: </a:t>
            </a:r>
            <a:endParaRPr/>
          </a:p>
          <a:p>
            <a:pPr>
              <a:lnSpc>
                <a:spcPct val="120000"/>
              </a:lnSpc>
              <a:defRPr/>
            </a:pPr>
            <a:r>
              <a:rPr lang="en-US" sz="2000"/>
              <a:t>Lưu ý: Lấy mẫu có thể không giảm số lượt I/O của cơ sở dữ liệu (mỗi lần một trang)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2035282333" name="Group 56"/>
          <p:cNvGrpSpPr/>
          <p:nvPr/>
        </p:nvGrpSpPr>
        <p:grpSpPr bwMode="auto">
          <a:xfrm>
            <a:off x="6895101" y="1224527"/>
            <a:ext cx="4579843" cy="2415511"/>
            <a:chOff x="2400300" y="1771650"/>
            <a:chExt cx="7334250" cy="4362450"/>
          </a:xfrm>
        </p:grpSpPr>
        <p:sp>
          <p:nvSpPr>
            <p:cNvPr id="58" name="Text Box 3"/>
            <p:cNvSpPr txBox="1">
              <a:spLocks noChangeArrowheads="1"/>
            </p:cNvSpPr>
            <p:nvPr/>
          </p:nvSpPr>
          <p:spPr bwMode="auto">
            <a:xfrm rot="20586437">
              <a:off x="5267677" y="2702929"/>
              <a:ext cx="2185286" cy="1785515"/>
            </a:xfrm>
            <a:prstGeom prst="rect">
              <a:avLst/>
            </a:prstGeom>
            <a:noFill/>
            <a:ln>
              <a:noFill/>
            </a:ln>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r>
                <a:rPr lang="en-US" sz="2000">
                  <a:latin typeface="+mj-lt"/>
                </a:rPr>
                <a:t>SRSWOR</a:t>
              </a:r>
              <a:endParaRPr/>
            </a:p>
            <a:p>
              <a:pPr>
                <a:defRPr/>
              </a:pPr>
              <a:r>
                <a:rPr lang="en-US" sz="2000">
                  <a:latin typeface="+mj-lt"/>
                </a:rPr>
                <a:t>(simple random</a:t>
              </a:r>
              <a:endParaRPr/>
            </a:p>
            <a:p>
              <a:pPr>
                <a:defRPr/>
              </a:pPr>
              <a:r>
                <a:rPr lang="en-US" sz="2000">
                  <a:latin typeface="+mj-lt"/>
                </a:rPr>
                <a:t> sample without </a:t>
              </a:r>
              <a:endParaRPr/>
            </a:p>
            <a:p>
              <a:pPr>
                <a:defRPr/>
              </a:pPr>
              <a:r>
                <a:rPr lang="en-US" sz="2000">
                  <a:latin typeface="+mj-lt"/>
                </a:rPr>
                <a:t>replacement)</a:t>
              </a:r>
              <a:endParaRPr/>
            </a:p>
          </p:txBody>
        </p:sp>
        <p:grpSp>
          <p:nvGrpSpPr>
            <p:cNvPr id="59" name="Group 4"/>
            <p:cNvGrpSpPr/>
            <p:nvPr/>
          </p:nvGrpSpPr>
          <p:grpSpPr bwMode="auto">
            <a:xfrm>
              <a:off x="7219950" y="1771650"/>
              <a:ext cx="2438400" cy="1676400"/>
              <a:chOff x="3588" y="1116"/>
              <a:chExt cx="1536" cy="1056"/>
            </a:xfrm>
          </p:grpSpPr>
          <p:sp>
            <p:nvSpPr>
              <p:cNvPr id="80" name="AutoShape 5"/>
              <p:cNvSpPr>
                <a:spLocks noChangeArrowheads="1"/>
              </p:cNvSpPr>
              <p:nvPr/>
            </p:nvSpPr>
            <p:spPr bwMode="auto">
              <a:xfrm>
                <a:off x="3588" y="1116"/>
                <a:ext cx="1536" cy="1056"/>
              </a:xfrm>
              <a:prstGeom prst="can">
                <a:avLst>
                  <a:gd name="adj" fmla="val 25000"/>
                </a:avLst>
              </a:prstGeom>
              <a:no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81" name="Oval 6"/>
              <p:cNvSpPr>
                <a:spLocks noChangeArrowheads="1"/>
              </p:cNvSpPr>
              <p:nvPr/>
            </p:nvSpPr>
            <p:spPr bwMode="auto">
              <a:xfrm>
                <a:off x="4092" y="1788"/>
                <a:ext cx="540" cy="360"/>
              </a:xfrm>
              <a:prstGeom prst="ellipse">
                <a:avLst/>
              </a:prstGeom>
              <a:solidFill>
                <a:schemeClr val="bg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82" name="Oval 7"/>
              <p:cNvSpPr>
                <a:spLocks noChangeArrowheads="1"/>
              </p:cNvSpPr>
              <p:nvPr/>
            </p:nvSpPr>
            <p:spPr bwMode="auto">
              <a:xfrm>
                <a:off x="4632" y="1632"/>
                <a:ext cx="492" cy="396"/>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83" name="Oval 8"/>
              <p:cNvSpPr>
                <a:spLocks noChangeArrowheads="1"/>
              </p:cNvSpPr>
              <p:nvPr/>
            </p:nvSpPr>
            <p:spPr bwMode="auto">
              <a:xfrm>
                <a:off x="3588" y="1668"/>
                <a:ext cx="540" cy="360"/>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grpSp>
        <p:sp>
          <p:nvSpPr>
            <p:cNvPr id="60" name="Text Box 9"/>
            <p:cNvSpPr txBox="1">
              <a:spLocks noChangeArrowheads="1"/>
            </p:cNvSpPr>
            <p:nvPr/>
          </p:nvSpPr>
          <p:spPr bwMode="auto">
            <a:xfrm rot="848056">
              <a:off x="5573222" y="5064096"/>
              <a:ext cx="1043971" cy="539808"/>
            </a:xfrm>
            <a:prstGeom prst="rect">
              <a:avLst/>
            </a:prstGeom>
            <a:noFill/>
            <a:ln>
              <a:noFill/>
            </a:ln>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r>
                <a:rPr lang="en-US" sz="2000">
                  <a:latin typeface="+mj-lt"/>
                </a:rPr>
                <a:t>SRSWR</a:t>
              </a:r>
              <a:endParaRPr/>
            </a:p>
          </p:txBody>
        </p:sp>
        <p:grpSp>
          <p:nvGrpSpPr>
            <p:cNvPr id="61" name="Group 10"/>
            <p:cNvGrpSpPr/>
            <p:nvPr/>
          </p:nvGrpSpPr>
          <p:grpSpPr bwMode="auto">
            <a:xfrm>
              <a:off x="7296149" y="4457700"/>
              <a:ext cx="2438400" cy="1676400"/>
              <a:chOff x="3636" y="2808"/>
              <a:chExt cx="1536" cy="1056"/>
            </a:xfrm>
          </p:grpSpPr>
          <p:sp>
            <p:nvSpPr>
              <p:cNvPr id="76" name="AutoShape 11"/>
              <p:cNvSpPr>
                <a:spLocks noChangeArrowheads="1"/>
              </p:cNvSpPr>
              <p:nvPr/>
            </p:nvSpPr>
            <p:spPr bwMode="auto">
              <a:xfrm>
                <a:off x="3636" y="2808"/>
                <a:ext cx="1536" cy="1056"/>
              </a:xfrm>
              <a:prstGeom prst="can">
                <a:avLst>
                  <a:gd name="adj" fmla="val 25000"/>
                </a:avLst>
              </a:prstGeom>
              <a:no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77" name="Oval 12"/>
              <p:cNvSpPr>
                <a:spLocks noChangeArrowheads="1"/>
              </p:cNvSpPr>
              <p:nvPr/>
            </p:nvSpPr>
            <p:spPr bwMode="auto">
              <a:xfrm>
                <a:off x="3648" y="3372"/>
                <a:ext cx="540" cy="360"/>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78" name="Oval 13"/>
              <p:cNvSpPr>
                <a:spLocks noChangeArrowheads="1"/>
              </p:cNvSpPr>
              <p:nvPr/>
            </p:nvSpPr>
            <p:spPr bwMode="auto">
              <a:xfrm>
                <a:off x="4188" y="3480"/>
                <a:ext cx="540" cy="360"/>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79" name="Oval 14"/>
              <p:cNvSpPr>
                <a:spLocks noChangeArrowheads="1"/>
              </p:cNvSpPr>
              <p:nvPr/>
            </p:nvSpPr>
            <p:spPr bwMode="auto">
              <a:xfrm>
                <a:off x="4656" y="3288"/>
                <a:ext cx="516" cy="396"/>
              </a:xfrm>
              <a:prstGeom prst="ellipse">
                <a:avLst/>
              </a:prstGeom>
              <a:solidFill>
                <a:srgbClr val="FAE2F6"/>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grpSp>
        <p:grpSp>
          <p:nvGrpSpPr>
            <p:cNvPr id="62" name="Group 15"/>
            <p:cNvGrpSpPr/>
            <p:nvPr/>
          </p:nvGrpSpPr>
          <p:grpSpPr bwMode="auto">
            <a:xfrm>
              <a:off x="2400300" y="1905001"/>
              <a:ext cx="2724150" cy="4152900"/>
              <a:chOff x="564" y="1284"/>
              <a:chExt cx="1716" cy="2616"/>
            </a:xfrm>
          </p:grpSpPr>
          <p:sp>
            <p:nvSpPr>
              <p:cNvPr id="65" name="AutoShape 16"/>
              <p:cNvSpPr>
                <a:spLocks noChangeArrowheads="1"/>
              </p:cNvSpPr>
              <p:nvPr/>
            </p:nvSpPr>
            <p:spPr bwMode="auto">
              <a:xfrm>
                <a:off x="564" y="1284"/>
                <a:ext cx="1716" cy="2616"/>
              </a:xfrm>
              <a:prstGeom prst="can">
                <a:avLst>
                  <a:gd name="adj" fmla="val 38112"/>
                </a:avLst>
              </a:prstGeom>
              <a:no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66" name="Oval 17"/>
              <p:cNvSpPr>
                <a:spLocks noChangeArrowheads="1"/>
              </p:cNvSpPr>
              <p:nvPr/>
            </p:nvSpPr>
            <p:spPr bwMode="auto">
              <a:xfrm>
                <a:off x="672" y="3336"/>
                <a:ext cx="516" cy="396"/>
              </a:xfrm>
              <a:prstGeom prst="ellipse">
                <a:avLst/>
              </a:prstGeom>
              <a:solidFill>
                <a:srgbClr val="FAE2F6"/>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67" name="Oval 18"/>
              <p:cNvSpPr>
                <a:spLocks noChangeArrowheads="1"/>
              </p:cNvSpPr>
              <p:nvPr/>
            </p:nvSpPr>
            <p:spPr bwMode="auto">
              <a:xfrm>
                <a:off x="660" y="2916"/>
                <a:ext cx="540" cy="360"/>
              </a:xfrm>
              <a:prstGeom prst="ellipse">
                <a:avLst/>
              </a:prstGeom>
              <a:solidFill>
                <a:srgbClr val="006666"/>
              </a:solidFill>
              <a:ln w="9525">
                <a:solidFill>
                  <a:schemeClr val="accent2"/>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68" name="Oval 19"/>
              <p:cNvSpPr>
                <a:spLocks noChangeArrowheads="1"/>
              </p:cNvSpPr>
              <p:nvPr/>
            </p:nvSpPr>
            <p:spPr bwMode="auto">
              <a:xfrm>
                <a:off x="1236" y="3468"/>
                <a:ext cx="564" cy="396"/>
              </a:xfrm>
              <a:prstGeom prst="ellipse">
                <a:avLst/>
              </a:prstGeom>
              <a:solidFill>
                <a:srgbClr val="121328"/>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69" name="Oval 20"/>
              <p:cNvSpPr>
                <a:spLocks noChangeArrowheads="1"/>
              </p:cNvSpPr>
              <p:nvPr/>
            </p:nvSpPr>
            <p:spPr bwMode="auto">
              <a:xfrm>
                <a:off x="1764" y="3240"/>
                <a:ext cx="492" cy="396"/>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70" name="Oval 21"/>
              <p:cNvSpPr>
                <a:spLocks noChangeArrowheads="1"/>
              </p:cNvSpPr>
              <p:nvPr/>
            </p:nvSpPr>
            <p:spPr bwMode="auto">
              <a:xfrm>
                <a:off x="1236" y="3084"/>
                <a:ext cx="468" cy="372"/>
              </a:xfrm>
              <a:prstGeom prst="ellipse">
                <a:avLst/>
              </a:prstGeom>
              <a:solidFill>
                <a:srgbClr val="CCFF99"/>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71" name="Oval 22"/>
              <p:cNvSpPr>
                <a:spLocks noChangeArrowheads="1"/>
              </p:cNvSpPr>
              <p:nvPr/>
            </p:nvSpPr>
            <p:spPr bwMode="auto">
              <a:xfrm>
                <a:off x="1680" y="2808"/>
                <a:ext cx="540" cy="360"/>
              </a:xfrm>
              <a:prstGeom prst="ellipse">
                <a:avLst/>
              </a:prstGeom>
              <a:solidFill>
                <a:schemeClr val="hlink"/>
              </a:solidFill>
              <a:ln w="9525">
                <a:solidFill>
                  <a:schemeClr val="hlink"/>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72" name="Oval 23"/>
              <p:cNvSpPr>
                <a:spLocks noChangeArrowheads="1"/>
              </p:cNvSpPr>
              <p:nvPr/>
            </p:nvSpPr>
            <p:spPr bwMode="auto">
              <a:xfrm>
                <a:off x="1092" y="2664"/>
                <a:ext cx="540" cy="360"/>
              </a:xfrm>
              <a:prstGeom prst="ellipse">
                <a:avLst/>
              </a:prstGeom>
              <a:solidFill>
                <a:schemeClr val="bg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73" name="Oval 24"/>
              <p:cNvSpPr>
                <a:spLocks noChangeArrowheads="1"/>
              </p:cNvSpPr>
              <p:nvPr/>
            </p:nvSpPr>
            <p:spPr bwMode="auto">
              <a:xfrm>
                <a:off x="564" y="2555"/>
                <a:ext cx="540" cy="360"/>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74" name="Oval 25"/>
              <p:cNvSpPr>
                <a:spLocks noChangeArrowheads="1"/>
              </p:cNvSpPr>
              <p:nvPr/>
            </p:nvSpPr>
            <p:spPr bwMode="auto">
              <a:xfrm>
                <a:off x="1620" y="2424"/>
                <a:ext cx="540" cy="360"/>
              </a:xfrm>
              <a:prstGeom prst="ellipse">
                <a:avLst/>
              </a:prstGeom>
              <a:solidFill>
                <a:srgbClr val="423E78"/>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75" name="Text Box 26"/>
              <p:cNvSpPr txBox="1">
                <a:spLocks noChangeArrowheads="1"/>
              </p:cNvSpPr>
              <p:nvPr/>
            </p:nvSpPr>
            <p:spPr bwMode="auto">
              <a:xfrm>
                <a:off x="829" y="1447"/>
                <a:ext cx="1162" cy="455"/>
              </a:xfrm>
              <a:prstGeom prst="rect">
                <a:avLst/>
              </a:prstGeom>
              <a:solidFill>
                <a:srgbClr val="FFFF00"/>
              </a:solidFill>
              <a:ln>
                <a:noFill/>
              </a:ln>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r>
                  <a:rPr lang="en-US" sz="2000" b="1">
                    <a:latin typeface="+mj-lt"/>
                  </a:rPr>
                  <a:t>Raw Data</a:t>
                </a:r>
                <a:endParaRPr/>
              </a:p>
            </p:txBody>
          </p:sp>
        </p:grpSp>
        <p:sp>
          <p:nvSpPr>
            <p:cNvPr id="63" name="Line 27"/>
            <p:cNvSpPr>
              <a:spLocks noChangeShapeType="1"/>
            </p:cNvSpPr>
            <p:nvPr/>
          </p:nvSpPr>
          <p:spPr bwMode="auto">
            <a:xfrm flipV="1">
              <a:off x="5334000" y="2971800"/>
              <a:ext cx="1657350" cy="552450"/>
            </a:xfrm>
            <a:prstGeom prst="line">
              <a:avLst/>
            </a:prstGeom>
            <a:noFill/>
            <a:ln w="9525">
              <a:solidFill>
                <a:schemeClr val="tx1"/>
              </a:solidFill>
              <a:round/>
              <a:headEnd/>
              <a:tailEnd type="triangle" w="med" len="med"/>
            </a:ln>
          </p:spPr>
          <p:txBody>
            <a:bodyPr wrap="none" anchor="ctr"/>
            <a:lstStyle/>
            <a:p>
              <a:pPr>
                <a:defRPr/>
              </a:pPr>
              <a:endParaRPr lang="en-US"/>
            </a:p>
          </p:txBody>
        </p:sp>
        <p:sp>
          <p:nvSpPr>
            <p:cNvPr id="64" name="Line 28"/>
            <p:cNvSpPr>
              <a:spLocks noChangeShapeType="1"/>
            </p:cNvSpPr>
            <p:nvPr/>
          </p:nvSpPr>
          <p:spPr bwMode="auto">
            <a:xfrm>
              <a:off x="5353050" y="4895850"/>
              <a:ext cx="1790700" cy="495300"/>
            </a:xfrm>
            <a:prstGeom prst="line">
              <a:avLst/>
            </a:prstGeom>
            <a:noFill/>
            <a:ln w="9525">
              <a:solidFill>
                <a:schemeClr val="tx1"/>
              </a:solidFill>
              <a:round/>
              <a:headEnd/>
              <a:tailEnd type="triangle" w="med" len="med"/>
            </a:ln>
          </p:spPr>
          <p:txBody>
            <a:bodyPr wrap="none" anchor="ctr"/>
            <a:lstStyle/>
            <a:p>
              <a:pPr>
                <a:defRPr/>
              </a:pPr>
              <a:endParaRPr lang="en-US"/>
            </a:p>
          </p:txBody>
        </p:sp>
      </p:grpSp>
      <p:sp>
        <p:nvSpPr>
          <p:cNvPr id="517672807" name="Rectangle 2"/>
          <p:cNvSpPr>
            <a:spLocks noChangeArrowheads="1" noGrp="1"/>
          </p:cNvSpPr>
          <p:nvPr>
            <p:ph type="title"/>
          </p:nvPr>
        </p:nvSpPr>
        <p:spPr bwMode="auto">
          <a:xfrm>
            <a:off x="1371600" y="152400"/>
            <a:ext cx="9525000" cy="762000"/>
          </a:xfrm>
        </p:spPr>
        <p:txBody>
          <a:bodyPr anchor="t"/>
          <a:lstStyle/>
          <a:p>
            <a:pPr>
              <a:defRPr/>
            </a:pPr>
            <a:r>
              <a:rPr lang="en-US"/>
              <a:t>Các loại lấy mẫu</a:t>
            </a:r>
            <a:endParaRPr/>
          </a:p>
        </p:txBody>
      </p:sp>
      <p:sp>
        <p:nvSpPr>
          <p:cNvPr id="2115313886" name="Rectangle 3"/>
          <p:cNvSpPr>
            <a:spLocks noChangeArrowheads="1" noGrp="1"/>
          </p:cNvSpPr>
          <p:nvPr>
            <p:ph type="body" idx="1"/>
          </p:nvPr>
        </p:nvSpPr>
        <p:spPr bwMode="auto">
          <a:xfrm>
            <a:off x="571351" y="1139926"/>
            <a:ext cx="6222412" cy="5592568"/>
          </a:xfrm>
        </p:spPr>
        <p:txBody>
          <a:bodyPr/>
          <a:lstStyle/>
          <a:p>
            <a:pPr>
              <a:spcAft>
                <a:spcPts val="300"/>
              </a:spcAft>
              <a:defRPr/>
            </a:pPr>
            <a:r>
              <a:rPr lang="en-US" sz="2000" b="1"/>
              <a:t>Lấy mẫu ngẫu nhiên đơn giản:  </a:t>
            </a:r>
            <a:r>
              <a:rPr lang="en-US" sz="2000"/>
              <a:t>xác suất chọn bất kỳ mục nào là như nhau</a:t>
            </a:r>
            <a:endParaRPr/>
          </a:p>
          <a:p>
            <a:pPr>
              <a:spcAft>
                <a:spcPts val="300"/>
              </a:spcAft>
              <a:defRPr/>
            </a:pPr>
            <a:r>
              <a:rPr lang="en-US" sz="2000" b="1"/>
              <a:t>Lấy mẫu không hoàn lại</a:t>
            </a:r>
            <a:endParaRPr/>
          </a:p>
          <a:p>
            <a:pPr lvl="1">
              <a:spcAft>
                <a:spcPts val="300"/>
              </a:spcAft>
              <a:defRPr/>
            </a:pPr>
            <a:r>
              <a:rPr lang="en-US" sz="2000"/>
              <a:t>Khi một đối tượng đã được chọn, nó bị loại khỏi tổng thể</a:t>
            </a:r>
            <a:endParaRPr/>
          </a:p>
          <a:p>
            <a:pPr>
              <a:spcAft>
                <a:spcPts val="300"/>
              </a:spcAft>
              <a:defRPr/>
            </a:pPr>
            <a:r>
              <a:rPr lang="en-US" sz="2000" b="1"/>
              <a:t>Lấy mẫu có hoàn lại</a:t>
            </a:r>
            <a:endParaRPr/>
          </a:p>
          <a:p>
            <a:pPr lvl="1">
              <a:spcAft>
                <a:spcPts val="300"/>
              </a:spcAft>
              <a:defRPr/>
            </a:pPr>
            <a:r>
              <a:rPr lang="en-US" sz="2000"/>
              <a:t>Đối tượng đã chọn không bị loại khỏi tổng thể</a:t>
            </a:r>
            <a:endParaRPr/>
          </a:p>
          <a:p>
            <a:pPr>
              <a:spcAft>
                <a:spcPts val="300"/>
              </a:spcAft>
              <a:defRPr/>
            </a:pPr>
            <a:r>
              <a:rPr lang="en-US" sz="2000" b="1"/>
              <a:t>Lấy mẫu phân tầng</a:t>
            </a:r>
            <a:endParaRPr/>
          </a:p>
          <a:p>
            <a:pPr lvl="1">
              <a:spcAft>
                <a:spcPts val="300"/>
              </a:spcAft>
              <a:defRPr/>
            </a:pPr>
            <a:r>
              <a:rPr lang="en-US" sz="2000"/>
              <a:t>Chia (hoặc phân cụm) tập dữ liệu, và lấy mẫu từ mỗi phần (theo tỷ lệ, tức xấp xỉ cùng phần trăm dữ liệu)</a:t>
            </a:r>
            <a:endParaRPr lang="en-US" sz="2400" b="1"/>
          </a:p>
        </p:txBody>
      </p:sp>
      <p:pic>
        <p:nvPicPr>
          <p:cNvPr id="812341476" name="Picture 2" descr="Image result for stratified sampling"/>
          <p:cNvPicPr>
            <a:picLocks noChangeAspect="1" noChangeArrowheads="1"/>
          </p:cNvPicPr>
          <p:nvPr/>
        </p:nvPicPr>
        <p:blipFill rotWithShape="1">
          <a:blip r:embed="rId3"/>
          <a:stretch/>
        </p:blipFill>
        <p:spPr bwMode="auto">
          <a:xfrm>
            <a:off x="7572160" y="3870104"/>
            <a:ext cx="3718432" cy="2862390"/>
          </a:xfrm>
          <a:prstGeom prst="rect">
            <a:avLst/>
          </a:prstGeom>
          <a:noFill/>
        </p:spPr>
      </p:pic>
      <p:sp>
        <p:nvSpPr>
          <p:cNvPr id="673434799" name="Text Box 26"/>
          <p:cNvSpPr txBox="1">
            <a:spLocks noChangeArrowheads="1"/>
          </p:cNvSpPr>
          <p:nvPr/>
        </p:nvSpPr>
        <p:spPr bwMode="auto">
          <a:xfrm>
            <a:off x="6649407" y="4593651"/>
            <a:ext cx="2073516" cy="400110"/>
          </a:xfrm>
          <a:prstGeom prst="rect">
            <a:avLst/>
          </a:prstGeom>
          <a:solidFill>
            <a:srgbClr val="92D050"/>
          </a:solidFill>
          <a:ln>
            <a:noFill/>
          </a:ln>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r>
              <a:rPr lang="en-US" sz="1700" b="1">
                <a:latin typeface="+mj-lt"/>
              </a:rPr>
              <a:t>Lấy mẫu phân tầng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5746527" name="Rectangle 2"/>
          <p:cNvSpPr>
            <a:spLocks noChangeArrowheads="1" noGrp="1"/>
          </p:cNvSpPr>
          <p:nvPr>
            <p:ph type="title"/>
          </p:nvPr>
        </p:nvSpPr>
        <p:spPr bwMode="auto">
          <a:xfrm>
            <a:off x="1515290" y="306977"/>
            <a:ext cx="8908869" cy="685800"/>
          </a:xfrm>
        </p:spPr>
        <p:txBody>
          <a:bodyPr anchor="t">
            <a:normAutofit/>
          </a:bodyPr>
          <a:lstStyle/>
          <a:p>
            <a:pPr>
              <a:defRPr/>
            </a:pPr>
            <a:r>
              <a:rPr lang="en-US"/>
              <a:t>Giảm dữ liệu</a:t>
            </a:r>
            <a:endParaRPr/>
          </a:p>
        </p:txBody>
      </p:sp>
      <p:sp>
        <p:nvSpPr>
          <p:cNvPr id="949753547" name="Rectangle 3"/>
          <p:cNvSpPr>
            <a:spLocks noChangeArrowheads="1" noGrp="1"/>
          </p:cNvSpPr>
          <p:nvPr>
            <p:ph type="body" idx="1"/>
          </p:nvPr>
        </p:nvSpPr>
        <p:spPr bwMode="auto">
          <a:xfrm>
            <a:off x="596536" y="1162594"/>
            <a:ext cx="10959737" cy="5543006"/>
          </a:xfrm>
        </p:spPr>
        <p:txBody>
          <a:bodyPr/>
          <a:lstStyle/>
          <a:p>
            <a:pPr>
              <a:spcAft>
                <a:spcPts val="600"/>
              </a:spcAft>
              <a:defRPr/>
            </a:pPr>
            <a:r>
              <a:rPr lang="en-US" sz="2000" b="1"/>
              <a:t>Giảm dữ liệu</a:t>
            </a:r>
            <a:r>
              <a:rPr lang="en-US" sz="2000"/>
              <a:t>: </a:t>
            </a:r>
            <a:endParaRPr/>
          </a:p>
          <a:p>
            <a:pPr lvl="1">
              <a:spcAft>
                <a:spcPts val="600"/>
              </a:spcAft>
              <a:defRPr/>
            </a:pPr>
            <a:r>
              <a:rPr lang="en-US" sz="2000"/>
              <a:t>Thu được một biểu diễn thu gọn của tập dữ liệu </a:t>
            </a:r>
            <a:endParaRPr/>
          </a:p>
          <a:p>
            <a:pPr lvl="2">
              <a:spcAft>
                <a:spcPts val="600"/>
              </a:spcAft>
              <a:defRPr/>
            </a:pPr>
            <a:r>
              <a:rPr lang="en-US" sz="2000"/>
              <a:t>Có dung lượng nhỏ hơn nhiều nhưng vẫn cho ra </a:t>
            </a:r>
            <a:r>
              <a:rPr lang="en-US" sz="2000" i="1"/>
              <a:t>gần như</a:t>
            </a:r>
            <a:r>
              <a:rPr lang="en-US" sz="2000"/>
              <a:t> cùng kết quả phân tích</a:t>
            </a:r>
            <a:endParaRPr/>
          </a:p>
          <a:p>
            <a:pPr>
              <a:spcAft>
                <a:spcPts val="600"/>
              </a:spcAft>
              <a:defRPr/>
            </a:pPr>
            <a:r>
              <a:rPr lang="en-US" sz="2000"/>
              <a:t>Tại sao cần giảm dữ liệu?</a:t>
            </a:r>
            <a:r>
              <a:rPr lang="en-US" sz="2000">
                <a:cs typeface="Tahoma"/>
              </a:rPr>
              <a:t>—</a:t>
            </a:r>
            <a:r>
              <a:rPr lang="en-US" sz="2000"/>
              <a:t>Một cơ sở dữ liệu/kho dữ liệu có thể lưu trữ hàng terabyte dữ liệu</a:t>
            </a:r>
            <a:endParaRPr/>
          </a:p>
          <a:p>
            <a:pPr lvl="1">
              <a:spcAft>
                <a:spcPts val="600"/>
              </a:spcAft>
              <a:defRPr/>
            </a:pPr>
            <a:r>
              <a:rPr lang="en-US" sz="2000"/>
              <a:t>Phân tích phức tạp có thể mất rất nhiều thời gian để chạy trên toàn bộ tập dữ liệu</a:t>
            </a:r>
            <a:endParaRPr/>
          </a:p>
          <a:p>
            <a:pPr>
              <a:spcAft>
                <a:spcPts val="600"/>
              </a:spcAft>
              <a:defRPr/>
            </a:pPr>
            <a:r>
              <a:rPr lang="en-US" sz="2000" b="1"/>
              <a:t>Các phương pháp giảm dữ liệu </a:t>
            </a:r>
            <a:r>
              <a:rPr lang="en-US" sz="2000"/>
              <a:t>(còn gọi là </a:t>
            </a:r>
            <a:r>
              <a:rPr lang="en-US" sz="2000" i="1"/>
              <a:t>giảm kích thước dữ liệu </a:t>
            </a:r>
            <a:r>
              <a:rPr lang="en-US" sz="2000"/>
              <a:t>hoặc </a:t>
            </a:r>
            <a:r>
              <a:rPr lang="en-US" sz="2000" i="1"/>
              <a:t>giảm số lượng</a:t>
            </a:r>
            <a:r>
              <a:rPr lang="en-US" sz="2000" i="1"/>
              <a:t> bản ghi</a:t>
            </a:r>
            <a:r>
              <a:rPr lang="en-US" sz="2000"/>
              <a:t>) </a:t>
            </a:r>
            <a:endParaRPr/>
          </a:p>
          <a:p>
            <a:pPr lvl="1">
              <a:spcAft>
                <a:spcPts val="600"/>
              </a:spcAft>
              <a:defRPr/>
            </a:pPr>
            <a:r>
              <a:rPr lang="en-US" sz="2000"/>
              <a:t>Hồi quy và mô hình log-tuyến tính</a:t>
            </a:r>
            <a:endParaRPr/>
          </a:p>
          <a:p>
            <a:pPr lvl="1">
              <a:spcAft>
                <a:spcPts val="600"/>
              </a:spcAft>
              <a:defRPr/>
            </a:pPr>
            <a:r>
              <a:rPr lang="en-US" sz="2000"/>
              <a:t>Biểu đồ tần suất, phân cụm, lấy mẫu</a:t>
            </a:r>
            <a:endParaRPr/>
          </a:p>
          <a:p>
            <a:pPr lvl="1">
              <a:spcAft>
                <a:spcPts val="600"/>
              </a:spcAft>
              <a:defRPr/>
            </a:pPr>
            <a:r>
              <a:rPr lang="en-US" sz="2000"/>
              <a:t>Tổng hợp khối dữ liệu</a:t>
            </a:r>
            <a:endParaRPr/>
          </a:p>
          <a:p>
            <a:pPr lvl="1">
              <a:spcAft>
                <a:spcPts val="600"/>
              </a:spcAft>
              <a:defRPr/>
            </a:pPr>
            <a:r>
              <a:rPr lang="en-US" sz="2000"/>
              <a:t>Nén dữ liệu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17880536" name="Picture 11" descr="histogram, seaborn.pdf"/>
          <p:cNvPicPr>
            <a:picLocks noChangeAspect="1"/>
          </p:cNvPicPr>
          <p:nvPr/>
        </p:nvPicPr>
        <p:blipFill rotWithShape="1">
          <a:blip r:embed="rId3"/>
          <a:srcRect l="6662" t="6662" r="6662" b="6662"/>
          <a:stretch/>
        </p:blipFill>
        <p:spPr bwMode="auto">
          <a:xfrm>
            <a:off x="6563196" y="4232248"/>
            <a:ext cx="2080960" cy="1455609"/>
          </a:xfrm>
          <a:prstGeom prst="rect">
            <a:avLst/>
          </a:prstGeom>
          <a:noFill/>
          <a:ln>
            <a:noFill/>
          </a:ln>
          <a:effectLst/>
        </p:spPr>
      </p:pic>
      <p:sp>
        <p:nvSpPr>
          <p:cNvPr id="1556171896" name="Rectangle 2"/>
          <p:cNvSpPr>
            <a:spLocks noChangeArrowheads="1" noGrp="1"/>
          </p:cNvSpPr>
          <p:nvPr>
            <p:ph type="title"/>
          </p:nvPr>
        </p:nvSpPr>
        <p:spPr bwMode="auto">
          <a:xfrm>
            <a:off x="-71718" y="139336"/>
            <a:ext cx="12263717" cy="846781"/>
          </a:xfrm>
        </p:spPr>
        <p:txBody>
          <a:bodyPr anchor="t">
            <a:normAutofit/>
          </a:bodyPr>
          <a:lstStyle/>
          <a:p>
            <a:pPr>
              <a:defRPr/>
            </a:pPr>
            <a:r>
              <a:rPr lang="en-US" sz="3000"/>
              <a:t>Giảm dữ liệu: </a:t>
            </a:r>
            <a:r>
              <a:rPr lang="en-US" sz="3000" b="1"/>
              <a:t>Phương pháp tham số và phi tham số</a:t>
            </a:r>
            <a:r>
              <a:rPr lang="en-US" sz="3000"/>
              <a:t> </a:t>
            </a:r>
            <a:endParaRPr/>
          </a:p>
        </p:txBody>
      </p:sp>
      <p:sp>
        <p:nvSpPr>
          <p:cNvPr id="1612689763" name="Rectangle 3"/>
          <p:cNvSpPr>
            <a:spLocks noChangeArrowheads="1" noGrp="1"/>
          </p:cNvSpPr>
          <p:nvPr>
            <p:ph type="body" idx="1"/>
          </p:nvPr>
        </p:nvSpPr>
        <p:spPr bwMode="auto">
          <a:xfrm>
            <a:off x="600891" y="1245325"/>
            <a:ext cx="7828733" cy="5469799"/>
          </a:xfrm>
        </p:spPr>
        <p:txBody>
          <a:bodyPr/>
          <a:lstStyle/>
          <a:p>
            <a:pPr>
              <a:spcAft>
                <a:spcPts val="600"/>
              </a:spcAft>
              <a:defRPr/>
            </a:pPr>
            <a:r>
              <a:rPr lang="en-US" sz="2000"/>
              <a:t>Giảm dung lượng dữ liệu bằng cách chọn các </a:t>
            </a:r>
            <a:r>
              <a:rPr lang="en-US" sz="2000" i="1"/>
              <a:t>dạng biểu diễn dữ liệu thay thế, nhỏ hơn</a:t>
            </a:r>
            <a:endParaRPr/>
          </a:p>
          <a:p>
            <a:pPr>
              <a:spcAft>
                <a:spcPts val="600"/>
              </a:spcAft>
              <a:defRPr/>
            </a:pPr>
            <a:r>
              <a:rPr lang="en-US" sz="2000" b="1"/>
              <a:t>Phương pháp tham số</a:t>
            </a:r>
            <a:r>
              <a:rPr lang="en-US" sz="2000"/>
              <a:t> (ví dụ: hồi quy)</a:t>
            </a:r>
            <a:endParaRPr/>
          </a:p>
          <a:p>
            <a:pPr lvl="1">
              <a:spcAft>
                <a:spcPts val="600"/>
              </a:spcAft>
              <a:defRPr/>
            </a:pPr>
            <a:r>
              <a:rPr lang="en-US" sz="2000"/>
              <a:t>Giả định dữ liệu khớp với một mô hình nào đó, ước lượng các tham số mô hình, chỉ lưu trữ các tham số, và bỏ dữ liệu (trừ các ngoại lệ có thể có)</a:t>
            </a:r>
            <a:endParaRPr lang="en-US" sz="2400"/>
          </a:p>
          <a:p>
            <a:pPr lvl="1">
              <a:spcAft>
                <a:spcPts val="600"/>
              </a:spcAft>
              <a:defRPr/>
            </a:pPr>
            <a:r>
              <a:rPr lang="en-US" sz="2000"/>
              <a:t>Ví dụ: mô hình log-tuyến tính—thu được giá trị tại một điểm trong không gian </a:t>
            </a:r>
            <a:r>
              <a:rPr lang="en-US" sz="2000" i="1"/>
              <a:t>m</a:t>
            </a:r>
            <a:r>
              <a:rPr lang="en-US" sz="2000"/>
              <a:t> chiều dưới dạng tích trên các không gian con biên phù hợp </a:t>
            </a:r>
            <a:endParaRPr/>
          </a:p>
          <a:p>
            <a:pPr>
              <a:spcAft>
                <a:spcPts val="600"/>
              </a:spcAft>
              <a:defRPr/>
            </a:pPr>
            <a:r>
              <a:rPr lang="en-US" sz="2000" b="1"/>
              <a:t>Phương pháp phi </a:t>
            </a:r>
            <a:r>
              <a:rPr lang="en-US" sz="2000"/>
              <a:t>tham số</a:t>
            </a:r>
            <a:r>
              <a:rPr lang="en-US" sz="2000"/>
              <a:t> </a:t>
            </a:r>
            <a:endParaRPr/>
          </a:p>
          <a:p>
            <a:pPr lvl="1">
              <a:spcAft>
                <a:spcPts val="600"/>
              </a:spcAft>
              <a:defRPr/>
            </a:pPr>
            <a:r>
              <a:rPr lang="en-US" sz="2000"/>
              <a:t>Không giả định mô hình</a:t>
            </a:r>
            <a:endParaRPr/>
          </a:p>
          <a:p>
            <a:pPr lvl="1">
              <a:spcAft>
                <a:spcPts val="600"/>
              </a:spcAft>
              <a:defRPr/>
            </a:pPr>
            <a:r>
              <a:rPr lang="en-US" sz="2000"/>
              <a:t>Các họ chính: biểu đồ tần suất, phân cụm, lấy mẫu, … </a:t>
            </a:r>
            <a:endParaRPr/>
          </a:p>
        </p:txBody>
      </p:sp>
      <p:grpSp>
        <p:nvGrpSpPr>
          <p:cNvPr id="1725039067" name="Group 5"/>
          <p:cNvGrpSpPr/>
          <p:nvPr/>
        </p:nvGrpSpPr>
        <p:grpSpPr bwMode="auto">
          <a:xfrm>
            <a:off x="8780795" y="1514262"/>
            <a:ext cx="2663824" cy="2226687"/>
            <a:chOff x="32758" y="-198621"/>
            <a:chExt cx="3053735" cy="2655651"/>
          </a:xfrm>
        </p:grpSpPr>
        <p:pic>
          <p:nvPicPr>
            <p:cNvPr id="5" name="Picture 6" descr="pasted-image.tiff"/>
            <p:cNvPicPr>
              <a:picLocks noChangeAspect="1"/>
            </p:cNvPicPr>
            <p:nvPr/>
          </p:nvPicPr>
          <p:blipFill rotWithShape="1">
            <a:blip r:embed="rId4"/>
            <a:stretch/>
          </p:blipFill>
          <p:spPr bwMode="auto">
            <a:xfrm>
              <a:off x="32758" y="-198621"/>
              <a:ext cx="3053735" cy="2655651"/>
            </a:xfrm>
            <a:prstGeom prst="rect">
              <a:avLst/>
            </a:prstGeom>
            <a:noFill/>
            <a:ln>
              <a:noFill/>
            </a:ln>
            <a:effectLst/>
          </p:spPr>
        </p:pic>
        <p:sp>
          <p:nvSpPr>
            <p:cNvPr id="6" name="Rectangle 7"/>
            <p:cNvSpPr/>
            <p:nvPr/>
          </p:nvSpPr>
          <p:spPr bwMode="auto">
            <a:xfrm>
              <a:off x="798644" y="-99891"/>
              <a:ext cx="1250109" cy="489425"/>
            </a:xfrm>
            <a:prstGeom prst="rect">
              <a:avLst/>
            </a:prstGeom>
            <a:solidFill>
              <a:srgbClr val="FFFF00"/>
            </a:solidFill>
            <a:ln>
              <a:noFill/>
            </a:ln>
            <a:effectLst/>
          </p:spPr>
          <p:txBody>
            <a:bodyPr wrap="none" lIns="50800" tIns="50800" rIns="50800" bIns="50800" anchor="ctr">
              <a:spAutoFit/>
            </a:bodyPr>
            <a:lstStyle/>
            <a:p>
              <a:pPr>
                <a:defRPr/>
              </a:pPr>
              <a:r>
                <a:rPr lang="en-US" sz="2000"/>
                <a:t>tip vs. bill</a:t>
              </a:r>
              <a:endParaRPr/>
            </a:p>
          </p:txBody>
        </p:sp>
      </p:grpSp>
      <p:sp>
        <p:nvSpPr>
          <p:cNvPr id="1927984483" name="Text Box 54"/>
          <p:cNvSpPr txBox="1">
            <a:spLocks noChangeArrowheads="1"/>
          </p:cNvSpPr>
          <p:nvPr/>
        </p:nvSpPr>
        <p:spPr bwMode="auto">
          <a:xfrm>
            <a:off x="8789347" y="5669334"/>
            <a:ext cx="1517988" cy="646331"/>
          </a:xfrm>
          <a:prstGeom prst="rect">
            <a:avLst/>
          </a:prstGeom>
          <a:solidFill>
            <a:srgbClr val="F0CDBC"/>
          </a:solidFill>
          <a:ln>
            <a:noFill/>
          </a:ln>
        </p:spPr>
        <p:txBody>
          <a:bodyPr wrap="squar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r>
              <a:rPr lang="en-US" sz="1500">
                <a:latin typeface="+mn-lt"/>
              </a:rPr>
              <a:t>Phân cụm trên dữ liệu thô </a:t>
            </a:r>
            <a:endParaRPr/>
          </a:p>
        </p:txBody>
      </p:sp>
      <p:grpSp>
        <p:nvGrpSpPr>
          <p:cNvPr id="1690136264" name="Group 8"/>
          <p:cNvGrpSpPr/>
          <p:nvPr/>
        </p:nvGrpSpPr>
        <p:grpSpPr bwMode="auto">
          <a:xfrm>
            <a:off x="10314343" y="4137489"/>
            <a:ext cx="1598480" cy="1511140"/>
            <a:chOff x="5670901" y="3594846"/>
            <a:chExt cx="3122800" cy="2353760"/>
          </a:xfrm>
        </p:grpSpPr>
        <p:sp>
          <p:nvSpPr>
            <p:cNvPr id="10" name="Rectangle 36"/>
            <p:cNvSpPr>
              <a:spLocks noChangeArrowheads="1"/>
            </p:cNvSpPr>
            <p:nvPr/>
          </p:nvSpPr>
          <p:spPr bwMode="auto">
            <a:xfrm>
              <a:off x="5670901" y="3594846"/>
              <a:ext cx="3122800" cy="2353760"/>
            </a:xfrm>
            <a:prstGeom prst="rect">
              <a:avLst/>
            </a:prstGeom>
            <a:noFill/>
            <a:ln w="9525">
              <a:solidFill>
                <a:schemeClr val="tx1"/>
              </a:solidFill>
              <a:miter lim="800000"/>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grpSp>
          <p:nvGrpSpPr>
            <p:cNvPr id="11" name="Group 37"/>
            <p:cNvGrpSpPr/>
            <p:nvPr/>
          </p:nvGrpSpPr>
          <p:grpSpPr bwMode="auto">
            <a:xfrm>
              <a:off x="6001108" y="3979885"/>
              <a:ext cx="1996848" cy="1556897"/>
              <a:chOff x="3302" y="2032"/>
              <a:chExt cx="1511" cy="1395"/>
            </a:xfrm>
          </p:grpSpPr>
          <p:sp>
            <p:nvSpPr>
              <p:cNvPr id="12" name="AutoShape 38"/>
              <p:cNvSpPr>
                <a:spLocks noChangeArrowheads="1"/>
              </p:cNvSpPr>
              <p:nvPr/>
            </p:nvSpPr>
            <p:spPr bwMode="auto">
              <a:xfrm>
                <a:off x="3366" y="2777"/>
                <a:ext cx="56" cy="75"/>
              </a:xfrm>
              <a:prstGeom prst="flowChartConnector">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13" name="AutoShape 39"/>
              <p:cNvSpPr>
                <a:spLocks noChangeArrowheads="1"/>
              </p:cNvSpPr>
              <p:nvPr/>
            </p:nvSpPr>
            <p:spPr bwMode="auto">
              <a:xfrm>
                <a:off x="3420" y="2537"/>
                <a:ext cx="56" cy="75"/>
              </a:xfrm>
              <a:prstGeom prst="flowChartConnector">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14" name="AutoShape 40"/>
              <p:cNvSpPr>
                <a:spLocks noChangeArrowheads="1"/>
              </p:cNvSpPr>
              <p:nvPr/>
            </p:nvSpPr>
            <p:spPr bwMode="auto">
              <a:xfrm>
                <a:off x="4360" y="2262"/>
                <a:ext cx="56" cy="75"/>
              </a:xfrm>
              <a:prstGeom prst="flowChartConnector">
                <a:avLst/>
              </a:prstGeom>
              <a:solidFill>
                <a:schemeClr val="bg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15" name="AutoShape 41"/>
              <p:cNvSpPr>
                <a:spLocks noChangeArrowheads="1"/>
              </p:cNvSpPr>
              <p:nvPr/>
            </p:nvSpPr>
            <p:spPr bwMode="auto">
              <a:xfrm>
                <a:off x="4317" y="2585"/>
                <a:ext cx="56" cy="75"/>
              </a:xfrm>
              <a:prstGeom prst="flowChartConnector">
                <a:avLst/>
              </a:prstGeom>
              <a:solidFill>
                <a:schemeClr val="bg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16" name="AutoShape 42"/>
              <p:cNvSpPr>
                <a:spLocks noChangeArrowheads="1"/>
              </p:cNvSpPr>
              <p:nvPr/>
            </p:nvSpPr>
            <p:spPr bwMode="auto">
              <a:xfrm>
                <a:off x="4694" y="2464"/>
                <a:ext cx="56" cy="74"/>
              </a:xfrm>
              <a:prstGeom prst="flowChartConnector">
                <a:avLst/>
              </a:prstGeom>
              <a:solidFill>
                <a:schemeClr val="bg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17" name="AutoShape 43"/>
              <p:cNvSpPr>
                <a:spLocks noChangeArrowheads="1"/>
              </p:cNvSpPr>
              <p:nvPr/>
            </p:nvSpPr>
            <p:spPr bwMode="auto">
              <a:xfrm>
                <a:off x="3608" y="2835"/>
                <a:ext cx="56" cy="75"/>
              </a:xfrm>
              <a:prstGeom prst="flowChartConnector">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18" name="AutoShape 44"/>
              <p:cNvSpPr>
                <a:spLocks noChangeArrowheads="1"/>
              </p:cNvSpPr>
              <p:nvPr/>
            </p:nvSpPr>
            <p:spPr bwMode="auto">
              <a:xfrm>
                <a:off x="4037" y="3172"/>
                <a:ext cx="56" cy="75"/>
              </a:xfrm>
              <a:prstGeom prst="flowChartConnector">
                <a:avLst/>
              </a:prstGeom>
              <a:solidFill>
                <a:schemeClr val="tx2"/>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19" name="AutoShape 45"/>
              <p:cNvSpPr>
                <a:spLocks noChangeArrowheads="1"/>
              </p:cNvSpPr>
              <p:nvPr/>
            </p:nvSpPr>
            <p:spPr bwMode="auto">
              <a:xfrm>
                <a:off x="4096" y="3064"/>
                <a:ext cx="56" cy="75"/>
              </a:xfrm>
              <a:prstGeom prst="flowChartConnector">
                <a:avLst/>
              </a:prstGeom>
              <a:solidFill>
                <a:schemeClr val="tx2"/>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20" name="AutoShape 46"/>
              <p:cNvSpPr>
                <a:spLocks noChangeArrowheads="1"/>
              </p:cNvSpPr>
              <p:nvPr/>
            </p:nvSpPr>
            <p:spPr bwMode="auto">
              <a:xfrm>
                <a:off x="3675" y="2529"/>
                <a:ext cx="56" cy="75"/>
              </a:xfrm>
              <a:prstGeom prst="flowChartConnector">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21" name="AutoShape 47"/>
              <p:cNvSpPr>
                <a:spLocks noChangeArrowheads="1"/>
              </p:cNvSpPr>
              <p:nvPr/>
            </p:nvSpPr>
            <p:spPr bwMode="auto">
              <a:xfrm>
                <a:off x="3922" y="3021"/>
                <a:ext cx="56" cy="75"/>
              </a:xfrm>
              <a:prstGeom prst="flowChartConnector">
                <a:avLst/>
              </a:prstGeom>
              <a:solidFill>
                <a:schemeClr val="tx2"/>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22" name="AutoShape 48"/>
              <p:cNvSpPr>
                <a:spLocks noChangeArrowheads="1"/>
              </p:cNvSpPr>
              <p:nvPr/>
            </p:nvSpPr>
            <p:spPr bwMode="auto">
              <a:xfrm>
                <a:off x="3682" y="2360"/>
                <a:ext cx="56" cy="75"/>
              </a:xfrm>
              <a:prstGeom prst="flowChartConnector">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23" name="AutoShape 49"/>
              <p:cNvSpPr>
                <a:spLocks noChangeArrowheads="1"/>
              </p:cNvSpPr>
              <p:nvPr/>
            </p:nvSpPr>
            <p:spPr bwMode="auto">
              <a:xfrm>
                <a:off x="4184" y="2114"/>
                <a:ext cx="56" cy="74"/>
              </a:xfrm>
              <a:prstGeom prst="flowChartConnector">
                <a:avLst/>
              </a:prstGeom>
              <a:solidFill>
                <a:schemeClr val="bg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24" name="AutoShape 50"/>
              <p:cNvSpPr>
                <a:spLocks noChangeArrowheads="1"/>
              </p:cNvSpPr>
              <p:nvPr/>
            </p:nvSpPr>
            <p:spPr bwMode="auto">
              <a:xfrm>
                <a:off x="3975" y="2773"/>
                <a:ext cx="56" cy="75"/>
              </a:xfrm>
              <a:prstGeom prst="flowChartConnector">
                <a:avLst/>
              </a:prstGeom>
              <a:solidFill>
                <a:schemeClr val="tx2"/>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25" name="Freeform 51"/>
              <p:cNvSpPr/>
              <p:nvPr/>
            </p:nvSpPr>
            <p:spPr bwMode="auto">
              <a:xfrm>
                <a:off x="4127" y="2032"/>
                <a:ext cx="686" cy="877"/>
              </a:xfrm>
              <a:custGeom>
                <a:avLst/>
                <a:gdLst>
                  <a:gd name="T0" fmla="*/ 15 w 1101"/>
                  <a:gd name="T1" fmla="*/ 46 h 1077"/>
                  <a:gd name="T2" fmla="*/ 15 w 1101"/>
                  <a:gd name="T3" fmla="*/ 77 h 1077"/>
                  <a:gd name="T4" fmla="*/ 14 w 1101"/>
                  <a:gd name="T5" fmla="*/ 147 h 1077"/>
                  <a:gd name="T6" fmla="*/ 13 w 1101"/>
                  <a:gd name="T7" fmla="*/ 164 h 1077"/>
                  <a:gd name="T8" fmla="*/ 12 w 1101"/>
                  <a:gd name="T9" fmla="*/ 169 h 1077"/>
                  <a:gd name="T10" fmla="*/ 9 w 1101"/>
                  <a:gd name="T11" fmla="*/ 164 h 1077"/>
                  <a:gd name="T12" fmla="*/ 7 w 1101"/>
                  <a:gd name="T13" fmla="*/ 156 h 1077"/>
                  <a:gd name="T14" fmla="*/ 7 w 1101"/>
                  <a:gd name="T15" fmla="*/ 156 h 1077"/>
                  <a:gd name="T16" fmla="*/ 4 w 1101"/>
                  <a:gd name="T17" fmla="*/ 138 h 1077"/>
                  <a:gd name="T18" fmla="*/ 4 w 1101"/>
                  <a:gd name="T19" fmla="*/ 127 h 1077"/>
                  <a:gd name="T20" fmla="*/ 1 w 1101"/>
                  <a:gd name="T21" fmla="*/ 108 h 1077"/>
                  <a:gd name="T22" fmla="*/ 1 w 1101"/>
                  <a:gd name="T23" fmla="*/ 71 h 1077"/>
                  <a:gd name="T24" fmla="*/ 1 w 1101"/>
                  <a:gd name="T25" fmla="*/ 20 h 1077"/>
                  <a:gd name="T26" fmla="*/ 2 w 1101"/>
                  <a:gd name="T27" fmla="*/ 3 h 1077"/>
                  <a:gd name="T28" fmla="*/ 3 w 1101"/>
                  <a:gd name="T29" fmla="*/ 2 h 1077"/>
                  <a:gd name="T30" fmla="*/ 6 w 1101"/>
                  <a:gd name="T31" fmla="*/ 5 h 1077"/>
                  <a:gd name="T32" fmla="*/ 8 w 1101"/>
                  <a:gd name="T33" fmla="*/ 16 h 1077"/>
                  <a:gd name="T34" fmla="*/ 10 w 1101"/>
                  <a:gd name="T35" fmla="*/ 28 h 1077"/>
                  <a:gd name="T36" fmla="*/ 11 w 1101"/>
                  <a:gd name="T37" fmla="*/ 32 h 1077"/>
                  <a:gd name="T38" fmla="*/ 15 w 1101"/>
                  <a:gd name="T39" fmla="*/ 46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01"/>
                  <a:gd name="T61" fmla="*/ 0 h 1077"/>
                  <a:gd name="T62" fmla="*/ 1101 w 1101"/>
                  <a:gd name="T63" fmla="*/ 1077 h 10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01" h="1077" fill="norm" stroke="1" extrusionOk="0">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p:spPr>
            <p:txBody>
              <a:bodyPr wrap="none" anchor="ctr"/>
              <a:lstStyle/>
              <a:p>
                <a:pPr>
                  <a:defRPr/>
                </a:pPr>
                <a:endParaRPr lang="en-US"/>
              </a:p>
            </p:txBody>
          </p:sp>
          <p:sp>
            <p:nvSpPr>
              <p:cNvPr id="26" name="Freeform 52"/>
              <p:cNvSpPr/>
              <p:nvPr/>
            </p:nvSpPr>
            <p:spPr bwMode="auto">
              <a:xfrm>
                <a:off x="3812" y="2642"/>
                <a:ext cx="573" cy="785"/>
              </a:xfrm>
              <a:custGeom>
                <a:avLst/>
                <a:gdLst>
                  <a:gd name="T0" fmla="*/ 4 w 918"/>
                  <a:gd name="T1" fmla="*/ 128 h 965"/>
                  <a:gd name="T2" fmla="*/ 2 w 918"/>
                  <a:gd name="T3" fmla="*/ 122 h 965"/>
                  <a:gd name="T4" fmla="*/ 1 w 918"/>
                  <a:gd name="T5" fmla="*/ 116 h 965"/>
                  <a:gd name="T6" fmla="*/ 1 w 918"/>
                  <a:gd name="T7" fmla="*/ 109 h 965"/>
                  <a:gd name="T8" fmla="*/ 1 w 918"/>
                  <a:gd name="T9" fmla="*/ 101 h 965"/>
                  <a:gd name="T10" fmla="*/ 0 w 918"/>
                  <a:gd name="T11" fmla="*/ 72 h 965"/>
                  <a:gd name="T12" fmla="*/ 1 w 918"/>
                  <a:gd name="T13" fmla="*/ 32 h 965"/>
                  <a:gd name="T14" fmla="*/ 1 w 918"/>
                  <a:gd name="T15" fmla="*/ 21 h 965"/>
                  <a:gd name="T16" fmla="*/ 4 w 918"/>
                  <a:gd name="T17" fmla="*/ 0 h 965"/>
                  <a:gd name="T18" fmla="*/ 6 w 918"/>
                  <a:gd name="T19" fmla="*/ 3 h 965"/>
                  <a:gd name="T20" fmla="*/ 7 w 918"/>
                  <a:gd name="T21" fmla="*/ 9 h 965"/>
                  <a:gd name="T22" fmla="*/ 10 w 918"/>
                  <a:gd name="T23" fmla="*/ 26 h 965"/>
                  <a:gd name="T24" fmla="*/ 10 w 918"/>
                  <a:gd name="T25" fmla="*/ 33 h 965"/>
                  <a:gd name="T26" fmla="*/ 11 w 918"/>
                  <a:gd name="T27" fmla="*/ 39 h 965"/>
                  <a:gd name="T28" fmla="*/ 12 w 918"/>
                  <a:gd name="T29" fmla="*/ 54 h 965"/>
                  <a:gd name="T30" fmla="*/ 12 w 918"/>
                  <a:gd name="T31" fmla="*/ 66 h 965"/>
                  <a:gd name="T32" fmla="*/ 12 w 918"/>
                  <a:gd name="T33" fmla="*/ 81 h 965"/>
                  <a:gd name="T34" fmla="*/ 12 w 918"/>
                  <a:gd name="T35" fmla="*/ 95 h 965"/>
                  <a:gd name="T36" fmla="*/ 13 w 918"/>
                  <a:gd name="T37" fmla="*/ 120 h 965"/>
                  <a:gd name="T38" fmla="*/ 12 w 918"/>
                  <a:gd name="T39" fmla="*/ 144 h 965"/>
                  <a:gd name="T40" fmla="*/ 11 w 918"/>
                  <a:gd name="T41" fmla="*/ 147 h 965"/>
                  <a:gd name="T42" fmla="*/ 10 w 918"/>
                  <a:gd name="T43" fmla="*/ 149 h 965"/>
                  <a:gd name="T44" fmla="*/ 5 w 918"/>
                  <a:gd name="T45" fmla="*/ 146 h 965"/>
                  <a:gd name="T46" fmla="*/ 4 w 918"/>
                  <a:gd name="T47" fmla="*/ 134 h 965"/>
                  <a:gd name="T48" fmla="*/ 4 w 918"/>
                  <a:gd name="T49" fmla="*/ 128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18"/>
                  <a:gd name="T76" fmla="*/ 0 h 965"/>
                  <a:gd name="T77" fmla="*/ 918 w 918"/>
                  <a:gd name="T78" fmla="*/ 965 h 9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18" h="965" fill="norm" stroke="1" extrusionOk="0">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p:spPr>
            <p:txBody>
              <a:bodyPr wrap="none" anchor="ctr"/>
              <a:lstStyle/>
              <a:p>
                <a:pPr>
                  <a:defRPr/>
                </a:pPr>
                <a:endParaRPr lang="en-US"/>
              </a:p>
            </p:txBody>
          </p:sp>
          <p:sp>
            <p:nvSpPr>
              <p:cNvPr id="27" name="Freeform 53"/>
              <p:cNvSpPr/>
              <p:nvPr/>
            </p:nvSpPr>
            <p:spPr bwMode="auto">
              <a:xfrm>
                <a:off x="3302" y="2065"/>
                <a:ext cx="542" cy="954"/>
              </a:xfrm>
              <a:custGeom>
                <a:avLst/>
                <a:gdLst>
                  <a:gd name="T0" fmla="*/ 11 w 869"/>
                  <a:gd name="T1" fmla="*/ 123 h 1173"/>
                  <a:gd name="T2" fmla="*/ 10 w 869"/>
                  <a:gd name="T3" fmla="*/ 147 h 1173"/>
                  <a:gd name="T4" fmla="*/ 9 w 869"/>
                  <a:gd name="T5" fmla="*/ 168 h 1173"/>
                  <a:gd name="T6" fmla="*/ 9 w 869"/>
                  <a:gd name="T7" fmla="*/ 177 h 1173"/>
                  <a:gd name="T8" fmla="*/ 9 w 869"/>
                  <a:gd name="T9" fmla="*/ 180 h 1173"/>
                  <a:gd name="T10" fmla="*/ 8 w 869"/>
                  <a:gd name="T11" fmla="*/ 182 h 1173"/>
                  <a:gd name="T12" fmla="*/ 4 w 869"/>
                  <a:gd name="T13" fmla="*/ 178 h 1173"/>
                  <a:gd name="T14" fmla="*/ 1 w 869"/>
                  <a:gd name="T15" fmla="*/ 167 h 1173"/>
                  <a:gd name="T16" fmla="*/ 1 w 869"/>
                  <a:gd name="T17" fmla="*/ 157 h 1173"/>
                  <a:gd name="T18" fmla="*/ 0 w 869"/>
                  <a:gd name="T19" fmla="*/ 149 h 1173"/>
                  <a:gd name="T20" fmla="*/ 1 w 869"/>
                  <a:gd name="T21" fmla="*/ 78 h 1173"/>
                  <a:gd name="T22" fmla="*/ 1 w 869"/>
                  <a:gd name="T23" fmla="*/ 37 h 1173"/>
                  <a:gd name="T24" fmla="*/ 2 w 869"/>
                  <a:gd name="T25" fmla="*/ 26 h 1173"/>
                  <a:gd name="T26" fmla="*/ 2 w 869"/>
                  <a:gd name="T27" fmla="*/ 21 h 1173"/>
                  <a:gd name="T28" fmla="*/ 4 w 869"/>
                  <a:gd name="T29" fmla="*/ 11 h 1173"/>
                  <a:gd name="T30" fmla="*/ 5 w 869"/>
                  <a:gd name="T31" fmla="*/ 7 h 1173"/>
                  <a:gd name="T32" fmla="*/ 6 w 869"/>
                  <a:gd name="T33" fmla="*/ 0 h 1173"/>
                  <a:gd name="T34" fmla="*/ 10 w 869"/>
                  <a:gd name="T35" fmla="*/ 13 h 1173"/>
                  <a:gd name="T36" fmla="*/ 11 w 869"/>
                  <a:gd name="T37" fmla="*/ 32 h 1173"/>
                  <a:gd name="T38" fmla="*/ 12 w 869"/>
                  <a:gd name="T39" fmla="*/ 39 h 1173"/>
                  <a:gd name="T40" fmla="*/ 12 w 869"/>
                  <a:gd name="T41" fmla="*/ 48 h 1173"/>
                  <a:gd name="T42" fmla="*/ 11 w 869"/>
                  <a:gd name="T43" fmla="*/ 111 h 1173"/>
                  <a:gd name="T44" fmla="*/ 11 w 869"/>
                  <a:gd name="T45" fmla="*/ 123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69"/>
                  <a:gd name="T70" fmla="*/ 0 h 1173"/>
                  <a:gd name="T71" fmla="*/ 869 w 869"/>
                  <a:gd name="T72" fmla="*/ 1173 h 11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69" h="1173" fill="norm" stroke="1" extrusionOk="0">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p:spPr>
            <p:txBody>
              <a:bodyPr wrap="none" anchor="ctr"/>
              <a:lstStyle/>
              <a:p>
                <a:pPr>
                  <a:defRPr/>
                </a:pPr>
                <a:endParaRPr lang="en-US"/>
              </a:p>
            </p:txBody>
          </p:sp>
        </p:grpSp>
      </p:grpSp>
      <p:grpSp>
        <p:nvGrpSpPr>
          <p:cNvPr id="470468771" name="Group 3"/>
          <p:cNvGrpSpPr/>
          <p:nvPr/>
        </p:nvGrpSpPr>
        <p:grpSpPr bwMode="auto">
          <a:xfrm>
            <a:off x="8665803" y="4146728"/>
            <a:ext cx="1598481" cy="1511141"/>
            <a:chOff x="274" y="1418"/>
            <a:chExt cx="2363" cy="2109"/>
          </a:xfrm>
        </p:grpSpPr>
        <p:sp>
          <p:nvSpPr>
            <p:cNvPr id="29" name="Rectangle 4"/>
            <p:cNvSpPr>
              <a:spLocks noChangeArrowheads="1"/>
            </p:cNvSpPr>
            <p:nvPr/>
          </p:nvSpPr>
          <p:spPr bwMode="auto">
            <a:xfrm>
              <a:off x="274" y="1418"/>
              <a:ext cx="2363" cy="2109"/>
            </a:xfrm>
            <a:prstGeom prst="rect">
              <a:avLst/>
            </a:prstGeom>
            <a:noFill/>
            <a:ln w="9525">
              <a:solidFill>
                <a:schemeClr val="tx1"/>
              </a:solidFill>
              <a:miter lim="800000"/>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30" name="AutoShape 5"/>
            <p:cNvSpPr>
              <a:spLocks noChangeArrowheads="1"/>
            </p:cNvSpPr>
            <p:nvPr/>
          </p:nvSpPr>
          <p:spPr bwMode="auto">
            <a:xfrm>
              <a:off x="1609" y="1993"/>
              <a:ext cx="56" cy="75"/>
            </a:xfrm>
            <a:prstGeom prst="flowChartConnector">
              <a:avLst/>
            </a:prstGeom>
            <a:solidFill>
              <a:schemeClr val="bg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31" name="AutoShape 6"/>
            <p:cNvSpPr>
              <a:spLocks noChangeArrowheads="1"/>
            </p:cNvSpPr>
            <p:nvPr/>
          </p:nvSpPr>
          <p:spPr bwMode="auto">
            <a:xfrm>
              <a:off x="1566" y="2316"/>
              <a:ext cx="56" cy="75"/>
            </a:xfrm>
            <a:prstGeom prst="flowChartConnector">
              <a:avLst/>
            </a:prstGeom>
            <a:solidFill>
              <a:schemeClr val="bg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32" name="AutoShape 7"/>
            <p:cNvSpPr>
              <a:spLocks noChangeArrowheads="1"/>
            </p:cNvSpPr>
            <p:nvPr/>
          </p:nvSpPr>
          <p:spPr bwMode="auto">
            <a:xfrm>
              <a:off x="1711" y="2134"/>
              <a:ext cx="56" cy="75"/>
            </a:xfrm>
            <a:prstGeom prst="flowChartConnector">
              <a:avLst/>
            </a:prstGeom>
            <a:solidFill>
              <a:schemeClr val="bg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33" name="AutoShape 8"/>
            <p:cNvSpPr>
              <a:spLocks noChangeArrowheads="1"/>
            </p:cNvSpPr>
            <p:nvPr/>
          </p:nvSpPr>
          <p:spPr bwMode="auto">
            <a:xfrm>
              <a:off x="1510" y="2168"/>
              <a:ext cx="56" cy="75"/>
            </a:xfrm>
            <a:prstGeom prst="flowChartConnector">
              <a:avLst/>
            </a:prstGeom>
            <a:solidFill>
              <a:schemeClr val="bg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34" name="AutoShape 9"/>
            <p:cNvSpPr>
              <a:spLocks noChangeArrowheads="1"/>
            </p:cNvSpPr>
            <p:nvPr/>
          </p:nvSpPr>
          <p:spPr bwMode="auto">
            <a:xfrm>
              <a:off x="1944" y="2195"/>
              <a:ext cx="56" cy="74"/>
            </a:xfrm>
            <a:prstGeom prst="flowChartConnector">
              <a:avLst/>
            </a:prstGeom>
            <a:solidFill>
              <a:schemeClr val="bg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35" name="AutoShape 10"/>
            <p:cNvSpPr>
              <a:spLocks noChangeArrowheads="1"/>
            </p:cNvSpPr>
            <p:nvPr/>
          </p:nvSpPr>
          <p:spPr bwMode="auto">
            <a:xfrm>
              <a:off x="1874" y="2354"/>
              <a:ext cx="56" cy="75"/>
            </a:xfrm>
            <a:prstGeom prst="flowChartConnector">
              <a:avLst/>
            </a:prstGeom>
            <a:solidFill>
              <a:schemeClr val="bg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36" name="AutoShape 11"/>
            <p:cNvSpPr>
              <a:spLocks noChangeArrowheads="1"/>
            </p:cNvSpPr>
            <p:nvPr/>
          </p:nvSpPr>
          <p:spPr bwMode="auto">
            <a:xfrm>
              <a:off x="1740" y="2393"/>
              <a:ext cx="57" cy="75"/>
            </a:xfrm>
            <a:prstGeom prst="flowChartConnector">
              <a:avLst/>
            </a:prstGeom>
            <a:solidFill>
              <a:schemeClr val="bg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37" name="AutoShape 12"/>
            <p:cNvSpPr>
              <a:spLocks noChangeArrowheads="1"/>
            </p:cNvSpPr>
            <p:nvPr/>
          </p:nvSpPr>
          <p:spPr bwMode="auto">
            <a:xfrm>
              <a:off x="1432" y="1845"/>
              <a:ext cx="56" cy="74"/>
            </a:xfrm>
            <a:prstGeom prst="flowChartConnector">
              <a:avLst/>
            </a:prstGeom>
            <a:solidFill>
              <a:schemeClr val="bg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38" name="Freeform 13"/>
            <p:cNvSpPr/>
            <p:nvPr/>
          </p:nvSpPr>
          <p:spPr bwMode="auto">
            <a:xfrm>
              <a:off x="1376" y="1763"/>
              <a:ext cx="686" cy="877"/>
            </a:xfrm>
            <a:custGeom>
              <a:avLst/>
              <a:gdLst>
                <a:gd name="T0" fmla="*/ 15 w 1101"/>
                <a:gd name="T1" fmla="*/ 46 h 1077"/>
                <a:gd name="T2" fmla="*/ 15 w 1101"/>
                <a:gd name="T3" fmla="*/ 77 h 1077"/>
                <a:gd name="T4" fmla="*/ 14 w 1101"/>
                <a:gd name="T5" fmla="*/ 147 h 1077"/>
                <a:gd name="T6" fmla="*/ 13 w 1101"/>
                <a:gd name="T7" fmla="*/ 164 h 1077"/>
                <a:gd name="T8" fmla="*/ 12 w 1101"/>
                <a:gd name="T9" fmla="*/ 169 h 1077"/>
                <a:gd name="T10" fmla="*/ 9 w 1101"/>
                <a:gd name="T11" fmla="*/ 164 h 1077"/>
                <a:gd name="T12" fmla="*/ 7 w 1101"/>
                <a:gd name="T13" fmla="*/ 156 h 1077"/>
                <a:gd name="T14" fmla="*/ 7 w 1101"/>
                <a:gd name="T15" fmla="*/ 156 h 1077"/>
                <a:gd name="T16" fmla="*/ 4 w 1101"/>
                <a:gd name="T17" fmla="*/ 138 h 1077"/>
                <a:gd name="T18" fmla="*/ 4 w 1101"/>
                <a:gd name="T19" fmla="*/ 127 h 1077"/>
                <a:gd name="T20" fmla="*/ 1 w 1101"/>
                <a:gd name="T21" fmla="*/ 108 h 1077"/>
                <a:gd name="T22" fmla="*/ 1 w 1101"/>
                <a:gd name="T23" fmla="*/ 71 h 1077"/>
                <a:gd name="T24" fmla="*/ 1 w 1101"/>
                <a:gd name="T25" fmla="*/ 20 h 1077"/>
                <a:gd name="T26" fmla="*/ 2 w 1101"/>
                <a:gd name="T27" fmla="*/ 3 h 1077"/>
                <a:gd name="T28" fmla="*/ 3 w 1101"/>
                <a:gd name="T29" fmla="*/ 2 h 1077"/>
                <a:gd name="T30" fmla="*/ 6 w 1101"/>
                <a:gd name="T31" fmla="*/ 5 h 1077"/>
                <a:gd name="T32" fmla="*/ 8 w 1101"/>
                <a:gd name="T33" fmla="*/ 16 h 1077"/>
                <a:gd name="T34" fmla="*/ 10 w 1101"/>
                <a:gd name="T35" fmla="*/ 28 h 1077"/>
                <a:gd name="T36" fmla="*/ 11 w 1101"/>
                <a:gd name="T37" fmla="*/ 32 h 1077"/>
                <a:gd name="T38" fmla="*/ 15 w 1101"/>
                <a:gd name="T39" fmla="*/ 46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01"/>
                <a:gd name="T61" fmla="*/ 0 h 1077"/>
                <a:gd name="T62" fmla="*/ 1101 w 1101"/>
                <a:gd name="T63" fmla="*/ 1077 h 10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01" h="1077" fill="norm" stroke="1" extrusionOk="0">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p:spPr>
          <p:txBody>
            <a:bodyPr wrap="none" anchor="ctr"/>
            <a:lstStyle/>
            <a:p>
              <a:pPr>
                <a:defRPr/>
              </a:pPr>
              <a:endParaRPr lang="en-US"/>
            </a:p>
          </p:txBody>
        </p:sp>
        <p:sp>
          <p:nvSpPr>
            <p:cNvPr id="39" name="AutoShape 14"/>
            <p:cNvSpPr>
              <a:spLocks noChangeArrowheads="1"/>
            </p:cNvSpPr>
            <p:nvPr/>
          </p:nvSpPr>
          <p:spPr bwMode="auto">
            <a:xfrm>
              <a:off x="1104" y="2584"/>
              <a:ext cx="56" cy="75"/>
            </a:xfrm>
            <a:prstGeom prst="flowChartConnector">
              <a:avLst/>
            </a:prstGeom>
            <a:solidFill>
              <a:schemeClr val="tx2"/>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0" name="AutoShape 15"/>
            <p:cNvSpPr>
              <a:spLocks noChangeArrowheads="1"/>
            </p:cNvSpPr>
            <p:nvPr/>
          </p:nvSpPr>
          <p:spPr bwMode="auto">
            <a:xfrm>
              <a:off x="1391" y="2647"/>
              <a:ext cx="56" cy="75"/>
            </a:xfrm>
            <a:prstGeom prst="flowChartConnector">
              <a:avLst/>
            </a:prstGeom>
            <a:solidFill>
              <a:schemeClr val="tx2"/>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1" name="AutoShape 16"/>
            <p:cNvSpPr>
              <a:spLocks noChangeArrowheads="1"/>
            </p:cNvSpPr>
            <p:nvPr/>
          </p:nvSpPr>
          <p:spPr bwMode="auto">
            <a:xfrm>
              <a:off x="1286" y="2903"/>
              <a:ext cx="56" cy="75"/>
            </a:xfrm>
            <a:prstGeom prst="flowChartConnector">
              <a:avLst/>
            </a:prstGeom>
            <a:solidFill>
              <a:schemeClr val="tx2"/>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2" name="AutoShape 17"/>
            <p:cNvSpPr>
              <a:spLocks noChangeArrowheads="1"/>
            </p:cNvSpPr>
            <p:nvPr/>
          </p:nvSpPr>
          <p:spPr bwMode="auto">
            <a:xfrm>
              <a:off x="1345" y="2794"/>
              <a:ext cx="56" cy="75"/>
            </a:xfrm>
            <a:prstGeom prst="flowChartConnector">
              <a:avLst/>
            </a:prstGeom>
            <a:solidFill>
              <a:schemeClr val="tx2"/>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3" name="AutoShape 18"/>
            <p:cNvSpPr>
              <a:spLocks noChangeArrowheads="1"/>
            </p:cNvSpPr>
            <p:nvPr/>
          </p:nvSpPr>
          <p:spPr bwMode="auto">
            <a:xfrm>
              <a:off x="1171" y="2752"/>
              <a:ext cx="56" cy="75"/>
            </a:xfrm>
            <a:prstGeom prst="flowChartConnector">
              <a:avLst/>
            </a:prstGeom>
            <a:solidFill>
              <a:schemeClr val="tx2"/>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4" name="AutoShape 19"/>
            <p:cNvSpPr>
              <a:spLocks noChangeArrowheads="1"/>
            </p:cNvSpPr>
            <p:nvPr/>
          </p:nvSpPr>
          <p:spPr bwMode="auto">
            <a:xfrm>
              <a:off x="1168" y="2875"/>
              <a:ext cx="56" cy="75"/>
            </a:xfrm>
            <a:prstGeom prst="flowChartConnector">
              <a:avLst/>
            </a:prstGeom>
            <a:solidFill>
              <a:schemeClr val="tx2"/>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5" name="AutoShape 20"/>
            <p:cNvSpPr>
              <a:spLocks noChangeArrowheads="1"/>
            </p:cNvSpPr>
            <p:nvPr/>
          </p:nvSpPr>
          <p:spPr bwMode="auto">
            <a:xfrm>
              <a:off x="1224" y="2504"/>
              <a:ext cx="56" cy="75"/>
            </a:xfrm>
            <a:prstGeom prst="flowChartConnector">
              <a:avLst/>
            </a:prstGeom>
            <a:solidFill>
              <a:schemeClr val="tx2"/>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6" name="AutoShape 21"/>
            <p:cNvSpPr>
              <a:spLocks noChangeArrowheads="1"/>
            </p:cNvSpPr>
            <p:nvPr/>
          </p:nvSpPr>
          <p:spPr bwMode="auto">
            <a:xfrm>
              <a:off x="1289" y="2628"/>
              <a:ext cx="56" cy="74"/>
            </a:xfrm>
            <a:prstGeom prst="flowChartConnector">
              <a:avLst/>
            </a:prstGeom>
            <a:solidFill>
              <a:schemeClr val="tx2"/>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7" name="AutoShape 22"/>
            <p:cNvSpPr>
              <a:spLocks noChangeArrowheads="1"/>
            </p:cNvSpPr>
            <p:nvPr/>
          </p:nvSpPr>
          <p:spPr bwMode="auto">
            <a:xfrm>
              <a:off x="1429" y="2882"/>
              <a:ext cx="56" cy="75"/>
            </a:xfrm>
            <a:prstGeom prst="flowChartConnector">
              <a:avLst/>
            </a:prstGeom>
            <a:solidFill>
              <a:schemeClr val="tx2"/>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8" name="Freeform 23"/>
            <p:cNvSpPr/>
            <p:nvPr/>
          </p:nvSpPr>
          <p:spPr bwMode="auto">
            <a:xfrm>
              <a:off x="1061" y="2373"/>
              <a:ext cx="573" cy="785"/>
            </a:xfrm>
            <a:custGeom>
              <a:avLst/>
              <a:gdLst>
                <a:gd name="T0" fmla="*/ 4 w 918"/>
                <a:gd name="T1" fmla="*/ 128 h 965"/>
                <a:gd name="T2" fmla="*/ 2 w 918"/>
                <a:gd name="T3" fmla="*/ 122 h 965"/>
                <a:gd name="T4" fmla="*/ 1 w 918"/>
                <a:gd name="T5" fmla="*/ 116 h 965"/>
                <a:gd name="T6" fmla="*/ 1 w 918"/>
                <a:gd name="T7" fmla="*/ 109 h 965"/>
                <a:gd name="T8" fmla="*/ 1 w 918"/>
                <a:gd name="T9" fmla="*/ 101 h 965"/>
                <a:gd name="T10" fmla="*/ 0 w 918"/>
                <a:gd name="T11" fmla="*/ 72 h 965"/>
                <a:gd name="T12" fmla="*/ 1 w 918"/>
                <a:gd name="T13" fmla="*/ 32 h 965"/>
                <a:gd name="T14" fmla="*/ 1 w 918"/>
                <a:gd name="T15" fmla="*/ 21 h 965"/>
                <a:gd name="T16" fmla="*/ 4 w 918"/>
                <a:gd name="T17" fmla="*/ 0 h 965"/>
                <a:gd name="T18" fmla="*/ 6 w 918"/>
                <a:gd name="T19" fmla="*/ 3 h 965"/>
                <a:gd name="T20" fmla="*/ 7 w 918"/>
                <a:gd name="T21" fmla="*/ 9 h 965"/>
                <a:gd name="T22" fmla="*/ 10 w 918"/>
                <a:gd name="T23" fmla="*/ 26 h 965"/>
                <a:gd name="T24" fmla="*/ 10 w 918"/>
                <a:gd name="T25" fmla="*/ 33 h 965"/>
                <a:gd name="T26" fmla="*/ 11 w 918"/>
                <a:gd name="T27" fmla="*/ 39 h 965"/>
                <a:gd name="T28" fmla="*/ 12 w 918"/>
                <a:gd name="T29" fmla="*/ 54 h 965"/>
                <a:gd name="T30" fmla="*/ 12 w 918"/>
                <a:gd name="T31" fmla="*/ 66 h 965"/>
                <a:gd name="T32" fmla="*/ 12 w 918"/>
                <a:gd name="T33" fmla="*/ 81 h 965"/>
                <a:gd name="T34" fmla="*/ 12 w 918"/>
                <a:gd name="T35" fmla="*/ 95 h 965"/>
                <a:gd name="T36" fmla="*/ 13 w 918"/>
                <a:gd name="T37" fmla="*/ 120 h 965"/>
                <a:gd name="T38" fmla="*/ 12 w 918"/>
                <a:gd name="T39" fmla="*/ 144 h 965"/>
                <a:gd name="T40" fmla="*/ 11 w 918"/>
                <a:gd name="T41" fmla="*/ 147 h 965"/>
                <a:gd name="T42" fmla="*/ 10 w 918"/>
                <a:gd name="T43" fmla="*/ 149 h 965"/>
                <a:gd name="T44" fmla="*/ 5 w 918"/>
                <a:gd name="T45" fmla="*/ 146 h 965"/>
                <a:gd name="T46" fmla="*/ 4 w 918"/>
                <a:gd name="T47" fmla="*/ 134 h 965"/>
                <a:gd name="T48" fmla="*/ 4 w 918"/>
                <a:gd name="T49" fmla="*/ 128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18"/>
                <a:gd name="T76" fmla="*/ 0 h 965"/>
                <a:gd name="T77" fmla="*/ 918 w 918"/>
                <a:gd name="T78" fmla="*/ 965 h 9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18" h="965" fill="norm" stroke="1" extrusionOk="0">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p:spPr>
          <p:txBody>
            <a:bodyPr wrap="none" anchor="ctr"/>
            <a:lstStyle/>
            <a:p>
              <a:pPr>
                <a:defRPr/>
              </a:pPr>
              <a:endParaRPr lang="en-US"/>
            </a:p>
          </p:txBody>
        </p:sp>
        <p:grpSp>
          <p:nvGrpSpPr>
            <p:cNvPr id="49" name="Group 24"/>
            <p:cNvGrpSpPr/>
            <p:nvPr/>
          </p:nvGrpSpPr>
          <p:grpSpPr bwMode="auto">
            <a:xfrm>
              <a:off x="551" y="1796"/>
              <a:ext cx="542" cy="954"/>
              <a:chOff x="551" y="1796"/>
              <a:chExt cx="542" cy="954"/>
            </a:xfrm>
          </p:grpSpPr>
          <p:sp>
            <p:nvSpPr>
              <p:cNvPr id="50" name="AutoShape 25"/>
              <p:cNvSpPr>
                <a:spLocks noChangeArrowheads="1"/>
              </p:cNvSpPr>
              <p:nvPr/>
            </p:nvSpPr>
            <p:spPr bwMode="auto">
              <a:xfrm>
                <a:off x="727" y="2492"/>
                <a:ext cx="56" cy="75"/>
              </a:xfrm>
              <a:prstGeom prst="flowChartConnector">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51" name="AutoShape 26"/>
              <p:cNvSpPr>
                <a:spLocks noChangeArrowheads="1"/>
              </p:cNvSpPr>
              <p:nvPr/>
            </p:nvSpPr>
            <p:spPr bwMode="auto">
              <a:xfrm>
                <a:off x="651" y="2392"/>
                <a:ext cx="56" cy="75"/>
              </a:xfrm>
              <a:prstGeom prst="flowChartConnector">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52" name="AutoShape 27"/>
              <p:cNvSpPr>
                <a:spLocks noChangeArrowheads="1"/>
              </p:cNvSpPr>
              <p:nvPr/>
            </p:nvSpPr>
            <p:spPr bwMode="auto">
              <a:xfrm>
                <a:off x="848" y="2405"/>
                <a:ext cx="56" cy="74"/>
              </a:xfrm>
              <a:prstGeom prst="flowChartConnector">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53" name="AutoShape 28"/>
              <p:cNvSpPr>
                <a:spLocks noChangeArrowheads="1"/>
              </p:cNvSpPr>
              <p:nvPr/>
            </p:nvSpPr>
            <p:spPr bwMode="auto">
              <a:xfrm>
                <a:off x="753" y="2230"/>
                <a:ext cx="57" cy="75"/>
              </a:xfrm>
              <a:prstGeom prst="flowChartConnector">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54" name="AutoShape 29"/>
              <p:cNvSpPr>
                <a:spLocks noChangeArrowheads="1"/>
              </p:cNvSpPr>
              <p:nvPr/>
            </p:nvSpPr>
            <p:spPr bwMode="auto">
              <a:xfrm>
                <a:off x="615" y="2508"/>
                <a:ext cx="56" cy="75"/>
              </a:xfrm>
              <a:prstGeom prst="flowChartConnector">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55" name="AutoShape 30"/>
              <p:cNvSpPr>
                <a:spLocks noChangeArrowheads="1"/>
              </p:cNvSpPr>
              <p:nvPr/>
            </p:nvSpPr>
            <p:spPr bwMode="auto">
              <a:xfrm>
                <a:off x="669" y="2268"/>
                <a:ext cx="56" cy="75"/>
              </a:xfrm>
              <a:prstGeom prst="flowChartConnector">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56" name="AutoShape 31"/>
              <p:cNvSpPr>
                <a:spLocks noChangeArrowheads="1"/>
              </p:cNvSpPr>
              <p:nvPr/>
            </p:nvSpPr>
            <p:spPr bwMode="auto">
              <a:xfrm>
                <a:off x="857" y="2566"/>
                <a:ext cx="56" cy="75"/>
              </a:xfrm>
              <a:prstGeom prst="flowChartConnector">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57" name="AutoShape 32"/>
              <p:cNvSpPr>
                <a:spLocks noChangeArrowheads="1"/>
              </p:cNvSpPr>
              <p:nvPr/>
            </p:nvSpPr>
            <p:spPr bwMode="auto">
              <a:xfrm>
                <a:off x="924" y="2260"/>
                <a:ext cx="56" cy="75"/>
              </a:xfrm>
              <a:prstGeom prst="flowChartConnector">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58" name="AutoShape 33"/>
              <p:cNvSpPr>
                <a:spLocks noChangeArrowheads="1"/>
              </p:cNvSpPr>
              <p:nvPr/>
            </p:nvSpPr>
            <p:spPr bwMode="auto">
              <a:xfrm>
                <a:off x="931" y="2092"/>
                <a:ext cx="56" cy="75"/>
              </a:xfrm>
              <a:prstGeom prst="flowChartConnector">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59" name="AutoShape 34"/>
              <p:cNvSpPr>
                <a:spLocks noChangeArrowheads="1"/>
              </p:cNvSpPr>
              <p:nvPr/>
            </p:nvSpPr>
            <p:spPr bwMode="auto">
              <a:xfrm>
                <a:off x="881" y="1945"/>
                <a:ext cx="56" cy="75"/>
              </a:xfrm>
              <a:prstGeom prst="flowChartConnector">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60" name="Freeform 35"/>
              <p:cNvSpPr/>
              <p:nvPr/>
            </p:nvSpPr>
            <p:spPr bwMode="auto">
              <a:xfrm>
                <a:off x="551" y="1796"/>
                <a:ext cx="542" cy="954"/>
              </a:xfrm>
              <a:custGeom>
                <a:avLst/>
                <a:gdLst>
                  <a:gd name="T0" fmla="*/ 11 w 869"/>
                  <a:gd name="T1" fmla="*/ 123 h 1173"/>
                  <a:gd name="T2" fmla="*/ 10 w 869"/>
                  <a:gd name="T3" fmla="*/ 147 h 1173"/>
                  <a:gd name="T4" fmla="*/ 9 w 869"/>
                  <a:gd name="T5" fmla="*/ 168 h 1173"/>
                  <a:gd name="T6" fmla="*/ 9 w 869"/>
                  <a:gd name="T7" fmla="*/ 177 h 1173"/>
                  <a:gd name="T8" fmla="*/ 9 w 869"/>
                  <a:gd name="T9" fmla="*/ 180 h 1173"/>
                  <a:gd name="T10" fmla="*/ 8 w 869"/>
                  <a:gd name="T11" fmla="*/ 182 h 1173"/>
                  <a:gd name="T12" fmla="*/ 4 w 869"/>
                  <a:gd name="T13" fmla="*/ 178 h 1173"/>
                  <a:gd name="T14" fmla="*/ 1 w 869"/>
                  <a:gd name="T15" fmla="*/ 167 h 1173"/>
                  <a:gd name="T16" fmla="*/ 1 w 869"/>
                  <a:gd name="T17" fmla="*/ 157 h 1173"/>
                  <a:gd name="T18" fmla="*/ 0 w 869"/>
                  <a:gd name="T19" fmla="*/ 149 h 1173"/>
                  <a:gd name="T20" fmla="*/ 1 w 869"/>
                  <a:gd name="T21" fmla="*/ 78 h 1173"/>
                  <a:gd name="T22" fmla="*/ 1 w 869"/>
                  <a:gd name="T23" fmla="*/ 37 h 1173"/>
                  <a:gd name="T24" fmla="*/ 2 w 869"/>
                  <a:gd name="T25" fmla="*/ 26 h 1173"/>
                  <a:gd name="T26" fmla="*/ 2 w 869"/>
                  <a:gd name="T27" fmla="*/ 21 h 1173"/>
                  <a:gd name="T28" fmla="*/ 4 w 869"/>
                  <a:gd name="T29" fmla="*/ 11 h 1173"/>
                  <a:gd name="T30" fmla="*/ 5 w 869"/>
                  <a:gd name="T31" fmla="*/ 7 h 1173"/>
                  <a:gd name="T32" fmla="*/ 6 w 869"/>
                  <a:gd name="T33" fmla="*/ 0 h 1173"/>
                  <a:gd name="T34" fmla="*/ 10 w 869"/>
                  <a:gd name="T35" fmla="*/ 13 h 1173"/>
                  <a:gd name="T36" fmla="*/ 11 w 869"/>
                  <a:gd name="T37" fmla="*/ 32 h 1173"/>
                  <a:gd name="T38" fmla="*/ 12 w 869"/>
                  <a:gd name="T39" fmla="*/ 39 h 1173"/>
                  <a:gd name="T40" fmla="*/ 12 w 869"/>
                  <a:gd name="T41" fmla="*/ 48 h 1173"/>
                  <a:gd name="T42" fmla="*/ 11 w 869"/>
                  <a:gd name="T43" fmla="*/ 111 h 1173"/>
                  <a:gd name="T44" fmla="*/ 11 w 869"/>
                  <a:gd name="T45" fmla="*/ 123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69"/>
                  <a:gd name="T70" fmla="*/ 0 h 1173"/>
                  <a:gd name="T71" fmla="*/ 869 w 869"/>
                  <a:gd name="T72" fmla="*/ 1173 h 11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69" h="1173" fill="norm" stroke="1" extrusionOk="0">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p:spPr>
            <p:txBody>
              <a:bodyPr wrap="none" anchor="ctr"/>
              <a:lstStyle/>
              <a:p>
                <a:pPr>
                  <a:defRPr/>
                </a:pPr>
                <a:endParaRPr lang="en-US"/>
              </a:p>
            </p:txBody>
          </p:sp>
        </p:grpSp>
      </p:grpSp>
      <p:sp>
        <p:nvSpPr>
          <p:cNvPr id="1271459071" name="Text Box 55"/>
          <p:cNvSpPr txBox="1">
            <a:spLocks noChangeArrowheads="1"/>
          </p:cNvSpPr>
          <p:nvPr/>
        </p:nvSpPr>
        <p:spPr bwMode="auto">
          <a:xfrm>
            <a:off x="10502184" y="5744791"/>
            <a:ext cx="1326881" cy="707886"/>
          </a:xfrm>
          <a:prstGeom prst="rect">
            <a:avLst/>
          </a:prstGeom>
          <a:solidFill>
            <a:srgbClr val="FFFF00"/>
          </a:solidFill>
          <a:ln>
            <a:noFill/>
          </a:ln>
        </p:spPr>
        <p:txBody>
          <a:bodyPr wrap="squar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en-US" sz="1700">
                <a:latin typeface="+mn-lt"/>
              </a:rPr>
              <a:t>Lấy mẫu phân tầng</a:t>
            </a:r>
            <a:endParaRPr/>
          </a:p>
        </p:txBody>
      </p:sp>
      <p:sp>
        <p:nvSpPr>
          <p:cNvPr id="45997765" name="Text Box 54"/>
          <p:cNvSpPr txBox="1">
            <a:spLocks noChangeArrowheads="1"/>
          </p:cNvSpPr>
          <p:nvPr/>
        </p:nvSpPr>
        <p:spPr bwMode="auto">
          <a:xfrm>
            <a:off x="7084667" y="5832158"/>
            <a:ext cx="1182506" cy="369332"/>
          </a:xfrm>
          <a:prstGeom prst="rect">
            <a:avLst/>
          </a:prstGeom>
          <a:solidFill>
            <a:srgbClr val="92D050"/>
          </a:solidFill>
          <a:ln>
            <a:noFill/>
          </a:ln>
        </p:spPr>
        <p:txBody>
          <a:bodyPr wrap="squar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en-US" sz="1500">
                <a:latin typeface="+mn-lt"/>
              </a:rPr>
              <a:t>Biểu đồ tần suất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05192357" name="Rectangle 2"/>
          <p:cNvSpPr>
            <a:spLocks noChangeArrowheads="1" noGrp="1"/>
          </p:cNvSpPr>
          <p:nvPr>
            <p:ph type="title"/>
          </p:nvPr>
        </p:nvSpPr>
        <p:spPr bwMode="auto">
          <a:xfrm>
            <a:off x="0" y="254000"/>
            <a:ext cx="12191999" cy="609600"/>
          </a:xfrm>
        </p:spPr>
        <p:txBody>
          <a:bodyPr anchor="t">
            <a:noAutofit/>
          </a:bodyPr>
          <a:lstStyle/>
          <a:p>
            <a:pPr>
              <a:defRPr/>
            </a:pPr>
            <a:r>
              <a:rPr lang="en-US"/>
              <a:t>Giảm dữ liệu tham số: Phân tích hồi quy</a:t>
            </a:r>
            <a:endParaRPr/>
          </a:p>
        </p:txBody>
      </p:sp>
      <p:sp>
        <p:nvSpPr>
          <p:cNvPr id="1513919643" name="Rectangle 28"/>
          <p:cNvSpPr>
            <a:spLocks noChangeArrowheads="1" noGrp="1"/>
          </p:cNvSpPr>
          <p:nvPr>
            <p:ph type="body" sz="half" idx="1"/>
          </p:nvPr>
        </p:nvSpPr>
        <p:spPr bwMode="auto">
          <a:xfrm>
            <a:off x="553246" y="1152707"/>
            <a:ext cx="6667499" cy="5548718"/>
          </a:xfrm>
        </p:spPr>
        <p:txBody>
          <a:bodyPr/>
          <a:lstStyle/>
          <a:p>
            <a:pPr>
              <a:spcBef>
                <a:spcPts val="1200"/>
              </a:spcBef>
              <a:spcAft>
                <a:spcPts val="600"/>
              </a:spcAft>
              <a:defRPr/>
            </a:pPr>
            <a:r>
              <a:rPr lang="en-US" sz="2000">
                <a:latin typeface="Calibri"/>
              </a:rPr>
              <a:t>Phân tích hồi quy:</a:t>
            </a:r>
            <a:r>
              <a:rPr lang="en-US" sz="2000" b="1">
                <a:latin typeface="Calibri"/>
              </a:rPr>
              <a:t> </a:t>
            </a:r>
            <a:r>
              <a:rPr lang="en-US" sz="2000">
                <a:latin typeface="Calibri"/>
              </a:rPr>
              <a:t>Tên gọi chung cho các kỹ thuật mô hình hóa và phân tích dữ liệu số, bao gồm giá trị của một </a:t>
            </a:r>
            <a:r>
              <a:rPr lang="en-US" sz="2000" b="1" i="1">
                <a:latin typeface="Calibri"/>
              </a:rPr>
              <a:t>biến phụ thuộc</a:t>
            </a:r>
            <a:r>
              <a:rPr lang="en-US" sz="2000" b="1">
                <a:latin typeface="Calibri"/>
              </a:rPr>
              <a:t> </a:t>
            </a:r>
            <a:r>
              <a:rPr lang="en-US" sz="2000">
                <a:latin typeface="Calibri"/>
              </a:rPr>
              <a:t> (còn gọi là </a:t>
            </a:r>
            <a:r>
              <a:rPr lang="en-US" sz="2000" b="1" i="1">
                <a:latin typeface="Calibri"/>
              </a:rPr>
              <a:t>biến phản hồi</a:t>
            </a:r>
            <a:r>
              <a:rPr lang="en-US" sz="2000" b="1">
                <a:latin typeface="Calibri"/>
              </a:rPr>
              <a:t> </a:t>
            </a:r>
            <a:r>
              <a:rPr lang="en-US" sz="2000">
                <a:latin typeface="Calibri"/>
              </a:rPr>
              <a:t> hay </a:t>
            </a:r>
            <a:r>
              <a:rPr lang="en-US" sz="2000" i="1">
                <a:latin typeface="Calibri"/>
              </a:rPr>
              <a:t>phép đo</a:t>
            </a:r>
            <a:r>
              <a:rPr lang="en-US" sz="2000">
                <a:latin typeface="Calibri"/>
              </a:rPr>
              <a:t>) và một hoặc nhiều </a:t>
            </a:r>
            <a:r>
              <a:rPr lang="en-US" sz="2000" i="1">
                <a:latin typeface="Calibri"/>
              </a:rPr>
              <a:t>biến độc lập</a:t>
            </a:r>
            <a:r>
              <a:rPr lang="en-US" sz="2000">
                <a:latin typeface="Calibri"/>
              </a:rPr>
              <a:t> (còn gọi là </a:t>
            </a:r>
            <a:r>
              <a:rPr lang="en-US" sz="2000" b="1" i="1">
                <a:latin typeface="Calibri"/>
              </a:rPr>
              <a:t>biến giải thích</a:t>
            </a:r>
            <a:r>
              <a:rPr lang="en-US" sz="2000" b="1">
                <a:latin typeface="Calibri"/>
              </a:rPr>
              <a:t> </a:t>
            </a:r>
            <a:r>
              <a:rPr lang="en-US" sz="2000">
                <a:latin typeface="Calibri"/>
              </a:rPr>
              <a:t> hay </a:t>
            </a:r>
            <a:r>
              <a:rPr lang="en-US" sz="2000" b="1" i="1">
                <a:latin typeface="Calibri"/>
              </a:rPr>
              <a:t>biến dự đoán</a:t>
            </a:r>
            <a:r>
              <a:rPr lang="en-US" sz="2000">
                <a:latin typeface="Calibri"/>
              </a:rPr>
              <a:t>)</a:t>
            </a:r>
            <a:endParaRPr/>
          </a:p>
          <a:p>
            <a:pPr>
              <a:spcBef>
                <a:spcPts val="1200"/>
              </a:spcBef>
              <a:spcAft>
                <a:spcPts val="600"/>
              </a:spcAft>
              <a:defRPr/>
            </a:pPr>
            <a:r>
              <a:rPr lang="en-US" sz="2000">
                <a:latin typeface="Calibri"/>
              </a:rPr>
              <a:t>Các tham số được ước lượng sao cho tạo ra sự "</a:t>
            </a:r>
            <a:r>
              <a:rPr lang="en-US" sz="2000" b="1">
                <a:latin typeface="Calibri"/>
              </a:rPr>
              <a:t>khớp tốt nhất</a:t>
            </a:r>
            <a:r>
              <a:rPr lang="en-US" sz="2000">
                <a:latin typeface="Calibri"/>
              </a:rPr>
              <a:t>" với dữ liệu</a:t>
            </a:r>
            <a:endParaRPr/>
          </a:p>
          <a:p>
            <a:pPr>
              <a:spcBef>
                <a:spcPts val="1200"/>
              </a:spcBef>
              <a:spcAft>
                <a:spcPts val="600"/>
              </a:spcAft>
              <a:defRPr/>
            </a:pPr>
            <a:r>
              <a:rPr lang="en-US" sz="2000">
                <a:latin typeface="Calibri"/>
              </a:rPr>
              <a:t>Thông thường, độ khớp tốt nhất được đánh giá bằng </a:t>
            </a:r>
            <a:r>
              <a:rPr lang="en-US" sz="2000" b="1" i="1">
                <a:latin typeface="Calibri"/>
              </a:rPr>
              <a:t>phương pháp bình phương tối thiểu</a:t>
            </a:r>
            <a:r>
              <a:rPr lang="en-US" sz="2000">
                <a:latin typeface="Calibri"/>
              </a:rPr>
              <a:t>, nhưng các tiêu chí khác cũng được sử dụng</a:t>
            </a:r>
            <a:endParaRPr/>
          </a:p>
        </p:txBody>
      </p:sp>
      <p:sp>
        <p:nvSpPr>
          <p:cNvPr id="2128675925" name="Rectangle 31"/>
          <p:cNvSpPr>
            <a:spLocks noChangeArrowheads="1" noGrp="1"/>
          </p:cNvSpPr>
          <p:nvPr>
            <p:ph type="body" sz="half" idx="2"/>
          </p:nvPr>
        </p:nvSpPr>
        <p:spPr bwMode="auto">
          <a:xfrm>
            <a:off x="7620002" y="3982857"/>
            <a:ext cx="3810000" cy="2286000"/>
          </a:xfrm>
        </p:spPr>
        <p:txBody>
          <a:bodyPr/>
          <a:lstStyle/>
          <a:p>
            <a:pPr>
              <a:defRPr/>
            </a:pPr>
            <a:r>
              <a:rPr lang="en-US" sz="2000">
                <a:latin typeface="Calibri"/>
              </a:rPr>
              <a:t>Được dùng để dự đoán (bao gồm dự báo dữ liệu chuỗi thời gian), suy luận, kiểm định giả thuyết, và mô hình hóa quan hệ nhân quả</a:t>
            </a:r>
            <a:endParaRPr lang="en-US">
              <a:latin typeface="Calibri"/>
            </a:endParaRPr>
          </a:p>
        </p:txBody>
      </p:sp>
      <p:sp>
        <p:nvSpPr>
          <p:cNvPr id="1207710924" name="Text Box 20"/>
          <p:cNvSpPr txBox="1">
            <a:spLocks noChangeArrowheads="1"/>
          </p:cNvSpPr>
          <p:nvPr/>
        </p:nvSpPr>
        <p:spPr bwMode="auto">
          <a:xfrm>
            <a:off x="7544308" y="1253649"/>
            <a:ext cx="336550" cy="457200"/>
          </a:xfrm>
          <a:prstGeom prst="rect">
            <a:avLst/>
          </a:prstGeom>
          <a:noFill/>
          <a:ln>
            <a:noFill/>
          </a:ln>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r>
              <a:rPr lang="en-US">
                <a:latin typeface="Times New Roman"/>
              </a:rPr>
              <a:t>y</a:t>
            </a:r>
            <a:endParaRPr/>
          </a:p>
        </p:txBody>
      </p:sp>
      <p:grpSp>
        <p:nvGrpSpPr>
          <p:cNvPr id="721990281" name="Group 30"/>
          <p:cNvGrpSpPr/>
          <p:nvPr/>
        </p:nvGrpSpPr>
        <p:grpSpPr bwMode="auto">
          <a:xfrm>
            <a:off x="7620003" y="1533525"/>
            <a:ext cx="2978350" cy="2377722"/>
            <a:chOff x="3456" y="64"/>
            <a:chExt cx="2078" cy="2015"/>
          </a:xfrm>
        </p:grpSpPr>
        <p:sp>
          <p:nvSpPr>
            <p:cNvPr id="43016" name="Line 3"/>
            <p:cNvSpPr>
              <a:spLocks noChangeShapeType="1"/>
            </p:cNvSpPr>
            <p:nvPr/>
          </p:nvSpPr>
          <p:spPr bwMode="auto">
            <a:xfrm flipV="1">
              <a:off x="3456" y="1776"/>
              <a:ext cx="2064" cy="0"/>
            </a:xfrm>
            <a:prstGeom prst="line">
              <a:avLst/>
            </a:prstGeom>
            <a:noFill/>
            <a:ln w="9525">
              <a:solidFill>
                <a:schemeClr val="tx1"/>
              </a:solidFill>
              <a:round/>
              <a:headEnd/>
              <a:tailEnd type="triangle" w="med" len="med"/>
            </a:ln>
          </p:spPr>
          <p:txBody>
            <a:bodyPr/>
            <a:lstStyle/>
            <a:p>
              <a:pPr>
                <a:defRPr/>
              </a:pPr>
              <a:endParaRPr lang="en-US"/>
            </a:p>
          </p:txBody>
        </p:sp>
        <p:sp>
          <p:nvSpPr>
            <p:cNvPr id="43017" name="Line 4"/>
            <p:cNvSpPr>
              <a:spLocks noChangeShapeType="1"/>
            </p:cNvSpPr>
            <p:nvPr/>
          </p:nvSpPr>
          <p:spPr bwMode="auto">
            <a:xfrm flipV="1">
              <a:off x="3648" y="64"/>
              <a:ext cx="1" cy="2000"/>
            </a:xfrm>
            <a:prstGeom prst="line">
              <a:avLst/>
            </a:prstGeom>
            <a:noFill/>
            <a:ln w="9525">
              <a:solidFill>
                <a:schemeClr val="tx1"/>
              </a:solidFill>
              <a:round/>
              <a:headEnd/>
              <a:tailEnd type="triangle" w="med" len="med"/>
            </a:ln>
          </p:spPr>
          <p:txBody>
            <a:bodyPr/>
            <a:lstStyle/>
            <a:p>
              <a:pPr>
                <a:defRPr/>
              </a:pPr>
              <a:endParaRPr lang="en-US"/>
            </a:p>
          </p:txBody>
        </p:sp>
        <p:sp>
          <p:nvSpPr>
            <p:cNvPr id="43018" name="Oval 5"/>
            <p:cNvSpPr>
              <a:spLocks noChangeArrowheads="1"/>
            </p:cNvSpPr>
            <p:nvPr/>
          </p:nvSpPr>
          <p:spPr bwMode="auto">
            <a:xfrm flipV="1">
              <a:off x="4522" y="1116"/>
              <a:ext cx="27" cy="27"/>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3019" name="Oval 6"/>
            <p:cNvSpPr>
              <a:spLocks noChangeArrowheads="1"/>
            </p:cNvSpPr>
            <p:nvPr/>
          </p:nvSpPr>
          <p:spPr bwMode="auto">
            <a:xfrm flipV="1">
              <a:off x="4259" y="1182"/>
              <a:ext cx="27" cy="27"/>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3020" name="Oval 7"/>
            <p:cNvSpPr>
              <a:spLocks noChangeArrowheads="1"/>
            </p:cNvSpPr>
            <p:nvPr/>
          </p:nvSpPr>
          <p:spPr bwMode="auto">
            <a:xfrm flipV="1">
              <a:off x="4149" y="600"/>
              <a:ext cx="27" cy="27"/>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3021" name="Oval 8"/>
            <p:cNvSpPr>
              <a:spLocks noChangeArrowheads="1"/>
            </p:cNvSpPr>
            <p:nvPr/>
          </p:nvSpPr>
          <p:spPr bwMode="auto">
            <a:xfrm flipV="1">
              <a:off x="4039" y="1477"/>
              <a:ext cx="27" cy="27"/>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3022" name="Oval 9"/>
            <p:cNvSpPr>
              <a:spLocks noChangeArrowheads="1"/>
            </p:cNvSpPr>
            <p:nvPr/>
          </p:nvSpPr>
          <p:spPr bwMode="auto">
            <a:xfrm flipV="1">
              <a:off x="4588" y="894"/>
              <a:ext cx="27" cy="27"/>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3023" name="Oval 10"/>
            <p:cNvSpPr>
              <a:spLocks noChangeArrowheads="1"/>
            </p:cNvSpPr>
            <p:nvPr/>
          </p:nvSpPr>
          <p:spPr bwMode="auto">
            <a:xfrm flipV="1">
              <a:off x="4715" y="722"/>
              <a:ext cx="27" cy="27"/>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3024" name="Oval 11"/>
            <p:cNvSpPr>
              <a:spLocks noChangeArrowheads="1"/>
            </p:cNvSpPr>
            <p:nvPr/>
          </p:nvSpPr>
          <p:spPr bwMode="auto">
            <a:xfrm flipV="1">
              <a:off x="3813" y="1538"/>
              <a:ext cx="27" cy="27"/>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3025" name="Oval 12"/>
            <p:cNvSpPr>
              <a:spLocks noChangeArrowheads="1"/>
            </p:cNvSpPr>
            <p:nvPr/>
          </p:nvSpPr>
          <p:spPr bwMode="auto">
            <a:xfrm flipV="1">
              <a:off x="4917" y="719"/>
              <a:ext cx="27" cy="27"/>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3026" name="Oval 13"/>
            <p:cNvSpPr>
              <a:spLocks noChangeArrowheads="1"/>
            </p:cNvSpPr>
            <p:nvPr/>
          </p:nvSpPr>
          <p:spPr bwMode="auto">
            <a:xfrm flipV="1">
              <a:off x="4930" y="568"/>
              <a:ext cx="27" cy="27"/>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3027" name="Oval 14"/>
            <p:cNvSpPr>
              <a:spLocks noChangeArrowheads="1"/>
            </p:cNvSpPr>
            <p:nvPr/>
          </p:nvSpPr>
          <p:spPr bwMode="auto">
            <a:xfrm flipV="1">
              <a:off x="5190" y="551"/>
              <a:ext cx="27" cy="27"/>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3028" name="Oval 15"/>
            <p:cNvSpPr>
              <a:spLocks noChangeArrowheads="1"/>
            </p:cNvSpPr>
            <p:nvPr/>
          </p:nvSpPr>
          <p:spPr bwMode="auto">
            <a:xfrm flipV="1">
              <a:off x="3785" y="1706"/>
              <a:ext cx="27" cy="27"/>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3029" name="Oval 16"/>
            <p:cNvSpPr>
              <a:spLocks noChangeArrowheads="1"/>
            </p:cNvSpPr>
            <p:nvPr/>
          </p:nvSpPr>
          <p:spPr bwMode="auto">
            <a:xfrm flipV="1">
              <a:off x="5178" y="393"/>
              <a:ext cx="27" cy="27"/>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3030" name="Oval 17"/>
            <p:cNvSpPr>
              <a:spLocks noChangeArrowheads="1"/>
            </p:cNvSpPr>
            <p:nvPr/>
          </p:nvSpPr>
          <p:spPr bwMode="auto">
            <a:xfrm flipV="1">
              <a:off x="5386" y="314"/>
              <a:ext cx="27" cy="27"/>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endParaRPr lang="en-US"/>
            </a:p>
          </p:txBody>
        </p:sp>
        <p:sp>
          <p:nvSpPr>
            <p:cNvPr id="43031" name="Line 18"/>
            <p:cNvSpPr>
              <a:spLocks noChangeShapeType="1"/>
            </p:cNvSpPr>
            <p:nvPr/>
          </p:nvSpPr>
          <p:spPr bwMode="auto">
            <a:xfrm flipV="1">
              <a:off x="3638" y="259"/>
              <a:ext cx="1831" cy="1430"/>
            </a:xfrm>
            <a:prstGeom prst="line">
              <a:avLst/>
            </a:prstGeom>
            <a:noFill/>
            <a:ln w="9525">
              <a:solidFill>
                <a:schemeClr val="tx2"/>
              </a:solidFill>
              <a:round/>
              <a:headEnd/>
              <a:tailEnd/>
            </a:ln>
          </p:spPr>
          <p:txBody>
            <a:bodyPr/>
            <a:lstStyle/>
            <a:p>
              <a:pPr>
                <a:defRPr/>
              </a:pPr>
              <a:endParaRPr lang="en-US"/>
            </a:p>
          </p:txBody>
        </p:sp>
        <p:sp>
          <p:nvSpPr>
            <p:cNvPr id="43032" name="Text Box 19"/>
            <p:cNvSpPr txBox="1">
              <a:spLocks noChangeArrowheads="1"/>
            </p:cNvSpPr>
            <p:nvPr/>
          </p:nvSpPr>
          <p:spPr bwMode="auto">
            <a:xfrm>
              <a:off x="5328" y="1728"/>
              <a:ext cx="206" cy="339"/>
            </a:xfrm>
            <a:prstGeom prst="rect">
              <a:avLst/>
            </a:prstGeom>
            <a:noFill/>
            <a:ln>
              <a:noFill/>
            </a:ln>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r>
                <a:rPr lang="en-US" sz="2000">
                  <a:latin typeface="+mn-lt"/>
                </a:rPr>
                <a:t>x</a:t>
              </a:r>
              <a:endParaRPr/>
            </a:p>
          </p:txBody>
        </p:sp>
        <p:sp>
          <p:nvSpPr>
            <p:cNvPr id="43033" name="Text Box 21"/>
            <p:cNvSpPr txBox="1">
              <a:spLocks noChangeArrowheads="1"/>
            </p:cNvSpPr>
            <p:nvPr/>
          </p:nvSpPr>
          <p:spPr bwMode="auto">
            <a:xfrm>
              <a:off x="4763" y="1063"/>
              <a:ext cx="717" cy="339"/>
            </a:xfrm>
            <a:prstGeom prst="rect">
              <a:avLst/>
            </a:prstGeom>
            <a:noFill/>
            <a:ln>
              <a:noFill/>
            </a:ln>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r>
                <a:rPr lang="en-US" sz="2000">
                  <a:latin typeface="+mn-lt"/>
                </a:rPr>
                <a:t>y = x + 1</a:t>
              </a:r>
              <a:endParaRPr/>
            </a:p>
          </p:txBody>
        </p:sp>
        <p:sp>
          <p:nvSpPr>
            <p:cNvPr id="43034" name="Line 22"/>
            <p:cNvSpPr>
              <a:spLocks noChangeShapeType="1"/>
            </p:cNvSpPr>
            <p:nvPr/>
          </p:nvSpPr>
          <p:spPr bwMode="auto">
            <a:xfrm>
              <a:off x="4163" y="609"/>
              <a:ext cx="0" cy="1203"/>
            </a:xfrm>
            <a:prstGeom prst="line">
              <a:avLst/>
            </a:prstGeom>
            <a:noFill/>
            <a:ln w="9525">
              <a:solidFill>
                <a:srgbClr val="006666"/>
              </a:solidFill>
              <a:prstDash val="dash"/>
              <a:round/>
              <a:headEnd/>
              <a:tailEnd/>
            </a:ln>
          </p:spPr>
          <p:txBody>
            <a:bodyPr/>
            <a:lstStyle/>
            <a:p>
              <a:pPr>
                <a:defRPr/>
              </a:pPr>
              <a:endParaRPr lang="en-US"/>
            </a:p>
          </p:txBody>
        </p:sp>
        <p:sp>
          <p:nvSpPr>
            <p:cNvPr id="43035" name="Line 23"/>
            <p:cNvSpPr>
              <a:spLocks noChangeShapeType="1"/>
            </p:cNvSpPr>
            <p:nvPr/>
          </p:nvSpPr>
          <p:spPr bwMode="auto">
            <a:xfrm flipH="1">
              <a:off x="3649" y="618"/>
              <a:ext cx="504" cy="0"/>
            </a:xfrm>
            <a:prstGeom prst="line">
              <a:avLst/>
            </a:prstGeom>
            <a:noFill/>
            <a:ln w="9525">
              <a:solidFill>
                <a:srgbClr val="006666"/>
              </a:solidFill>
              <a:prstDash val="dash"/>
              <a:round/>
              <a:headEnd/>
              <a:tailEnd/>
            </a:ln>
          </p:spPr>
          <p:txBody>
            <a:bodyPr/>
            <a:lstStyle/>
            <a:p>
              <a:pPr>
                <a:defRPr/>
              </a:pPr>
              <a:endParaRPr lang="en-US"/>
            </a:p>
          </p:txBody>
        </p:sp>
        <p:sp>
          <p:nvSpPr>
            <p:cNvPr id="43036" name="Line 24"/>
            <p:cNvSpPr>
              <a:spLocks noChangeShapeType="1"/>
            </p:cNvSpPr>
            <p:nvPr/>
          </p:nvSpPr>
          <p:spPr bwMode="auto">
            <a:xfrm flipH="1">
              <a:off x="3639" y="1256"/>
              <a:ext cx="514" cy="0"/>
            </a:xfrm>
            <a:prstGeom prst="line">
              <a:avLst/>
            </a:prstGeom>
            <a:noFill/>
            <a:ln w="9525">
              <a:solidFill>
                <a:srgbClr val="006666"/>
              </a:solidFill>
              <a:prstDash val="dash"/>
              <a:round/>
              <a:headEnd/>
              <a:tailEnd/>
            </a:ln>
          </p:spPr>
          <p:txBody>
            <a:bodyPr/>
            <a:lstStyle/>
            <a:p>
              <a:pPr>
                <a:defRPr/>
              </a:pPr>
              <a:endParaRPr lang="en-US"/>
            </a:p>
          </p:txBody>
        </p:sp>
        <p:sp>
          <p:nvSpPr>
            <p:cNvPr id="43037" name="Text Box 25"/>
            <p:cNvSpPr txBox="1">
              <a:spLocks noChangeArrowheads="1"/>
            </p:cNvSpPr>
            <p:nvPr/>
          </p:nvSpPr>
          <p:spPr bwMode="auto">
            <a:xfrm>
              <a:off x="4168" y="1740"/>
              <a:ext cx="313" cy="339"/>
            </a:xfrm>
            <a:prstGeom prst="rect">
              <a:avLst/>
            </a:prstGeom>
            <a:noFill/>
            <a:ln>
              <a:noFill/>
            </a:ln>
          </p:spPr>
          <p:txBody>
            <a:bodyPr wrap="squar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r>
                <a:rPr lang="en-US" sz="2000">
                  <a:latin typeface="+mn-lt"/>
                </a:rPr>
                <a:t>X</a:t>
              </a:r>
              <a:r>
                <a:rPr lang="en-US" sz="2000" baseline="-25000">
                  <a:latin typeface="+mn-lt"/>
                </a:rPr>
                <a:t>1</a:t>
              </a:r>
              <a:endParaRPr/>
            </a:p>
          </p:txBody>
        </p:sp>
        <p:sp>
          <p:nvSpPr>
            <p:cNvPr id="43038" name="Text Box 26"/>
            <p:cNvSpPr txBox="1">
              <a:spLocks noChangeArrowheads="1"/>
            </p:cNvSpPr>
            <p:nvPr/>
          </p:nvSpPr>
          <p:spPr bwMode="auto">
            <a:xfrm>
              <a:off x="3600" y="432"/>
              <a:ext cx="276" cy="339"/>
            </a:xfrm>
            <a:prstGeom prst="rect">
              <a:avLst/>
            </a:prstGeom>
            <a:noFill/>
            <a:ln>
              <a:noFill/>
            </a:ln>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r>
                <a:rPr lang="en-US" sz="2000">
                  <a:latin typeface="+mn-lt"/>
                </a:rPr>
                <a:t>Y</a:t>
              </a:r>
              <a:r>
                <a:rPr lang="en-US" sz="2000" baseline="-25000">
                  <a:latin typeface="+mn-lt"/>
                </a:rPr>
                <a:t>1</a:t>
              </a:r>
              <a:endParaRPr/>
            </a:p>
          </p:txBody>
        </p:sp>
        <p:sp>
          <p:nvSpPr>
            <p:cNvPr id="43039" name="Text Box 27"/>
            <p:cNvSpPr txBox="1">
              <a:spLocks noChangeArrowheads="1"/>
            </p:cNvSpPr>
            <p:nvPr/>
          </p:nvSpPr>
          <p:spPr bwMode="auto">
            <a:xfrm>
              <a:off x="3619" y="1008"/>
              <a:ext cx="321" cy="339"/>
            </a:xfrm>
            <a:prstGeom prst="rect">
              <a:avLst/>
            </a:prstGeom>
            <a:noFill/>
            <a:ln>
              <a:noFill/>
            </a:ln>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r>
                <a:rPr lang="en-US" sz="2000">
                  <a:latin typeface="+mn-lt"/>
                </a:rPr>
                <a:t>Y</a:t>
              </a:r>
              <a:r>
                <a:rPr lang="en-US" sz="2000" baseline="-25000">
                  <a:latin typeface="+mn-lt"/>
                </a:rPr>
                <a:t>1</a:t>
              </a:r>
              <a:r>
                <a:rPr lang="en-US" sz="2000">
                  <a:latin typeface="+mn-lt"/>
                </a:rPr>
                <a:t>’</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39862632" name="Rectangle 2"/>
          <p:cNvSpPr>
            <a:spLocks noChangeArrowheads="1" noGrp="1"/>
          </p:cNvSpPr>
          <p:nvPr>
            <p:ph type="body" idx="1"/>
          </p:nvPr>
        </p:nvSpPr>
        <p:spPr bwMode="auto">
          <a:xfrm>
            <a:off x="614226" y="1190624"/>
            <a:ext cx="7529649" cy="5419725"/>
          </a:xfrm>
          <a:prstGeom prst="rect">
            <a:avLst/>
          </a:prstGeom>
          <a:noFill/>
        </p:spPr>
        <p:txBody>
          <a:bodyPr vert="horz" lIns="92075" tIns="46038" rIns="92075" bIns="46038" rtlCol="0">
            <a:noAutofit/>
          </a:bodyPr>
          <a:lstStyle/>
          <a:p>
            <a:pPr>
              <a:defRPr/>
            </a:pPr>
            <a:r>
              <a:rPr lang="en-US" sz="2000" u="sng"/>
              <a:t>Hồi quy tuyến tính</a:t>
            </a:r>
            <a:r>
              <a:rPr lang="en-US" sz="2000"/>
              <a:t>: </a:t>
            </a:r>
            <a:r>
              <a:rPr lang="en-US" sz="2000" i="1"/>
              <a:t>Y = </a:t>
            </a:r>
            <a:r>
              <a:rPr lang="en-US" sz="2000" i="1"/>
              <a:t>w X + b</a:t>
            </a:r>
            <a:endParaRPr lang="en-US" sz="2400" i="1"/>
          </a:p>
          <a:p>
            <a:pPr lvl="1">
              <a:defRPr/>
            </a:pPr>
            <a:r>
              <a:rPr lang="en-US" sz="2000"/>
              <a:t>Dữ liệu được mô hình hóa để khớp với một đường thẳng</a:t>
            </a:r>
            <a:endParaRPr/>
          </a:p>
          <a:p>
            <a:pPr lvl="1">
              <a:defRPr/>
            </a:pPr>
            <a:r>
              <a:rPr lang="en-US" sz="2000"/>
              <a:t>Thường dùng phương pháp bình phương tối thiểu để khớp đường thẳng</a:t>
            </a:r>
            <a:endParaRPr/>
          </a:p>
          <a:p>
            <a:pPr lvl="1">
              <a:defRPr/>
            </a:pPr>
            <a:r>
              <a:rPr lang="en-US" sz="2000"/>
              <a:t>Hai hệ số hồi quy, </a:t>
            </a:r>
            <a:r>
              <a:rPr lang="en-US" sz="2000" i="1"/>
              <a:t>w</a:t>
            </a:r>
            <a:r>
              <a:rPr lang="en-US" sz="2000"/>
              <a:t> và </a:t>
            </a:r>
            <a:r>
              <a:rPr lang="en-US" sz="2000" i="1"/>
              <a:t>b,</a:t>
            </a:r>
            <a:r>
              <a:rPr lang="en-US" sz="2000"/>
              <a:t> xác định đường thẳng và được ước lượng dựa trên dữ liệu hiện có</a:t>
            </a:r>
            <a:endParaRPr/>
          </a:p>
          <a:p>
            <a:pPr lvl="1">
              <a:defRPr/>
            </a:pPr>
            <a:r>
              <a:rPr lang="en-US" sz="2000"/>
              <a:t>Sử dụng tiêu chí bình phương tối thiểu với các giá trị đã biết của </a:t>
            </a:r>
            <a:r>
              <a:rPr lang="en-US" sz="2000" i="1"/>
              <a:t>Y</a:t>
            </a:r>
            <a:r>
              <a:rPr lang="en-US" sz="2000" i="1" baseline="-25000"/>
              <a:t>1</a:t>
            </a:r>
            <a:r>
              <a:rPr lang="en-US" sz="2000" i="1"/>
              <a:t>, Y</a:t>
            </a:r>
            <a:r>
              <a:rPr lang="en-US" sz="2000" i="1" baseline="-25000"/>
              <a:t>2</a:t>
            </a:r>
            <a:r>
              <a:rPr lang="en-US" sz="2000" i="1"/>
              <a:t>, …, X</a:t>
            </a:r>
            <a:r>
              <a:rPr lang="en-US" sz="2000" i="1" baseline="-25000"/>
              <a:t>1</a:t>
            </a:r>
            <a:r>
              <a:rPr lang="en-US" sz="2000" i="1"/>
              <a:t>, X</a:t>
            </a:r>
            <a:r>
              <a:rPr lang="en-US" sz="2000" i="1" baseline="-25000"/>
              <a:t>2</a:t>
            </a:r>
            <a:r>
              <a:rPr lang="en-US" sz="2000" i="1"/>
              <a:t>, ….</a:t>
            </a:r>
            <a:endParaRPr/>
          </a:p>
          <a:p>
            <a:pPr>
              <a:defRPr/>
            </a:pPr>
            <a:r>
              <a:rPr lang="en-US" sz="2000" u="sng"/>
              <a:t>Hồi quy phi tuyến</a:t>
            </a:r>
            <a:r>
              <a:rPr lang="en-US" sz="2000"/>
              <a:t>:</a:t>
            </a:r>
            <a:endParaRPr/>
          </a:p>
          <a:p>
            <a:pPr lvl="1">
              <a:defRPr/>
            </a:pPr>
            <a:r>
              <a:rPr lang="en-US" sz="2000"/>
              <a:t>Dữ liệu được mô hình hóa bằng một hàm là tổ hợp phi tuyến của các tham số mô hình và phụ thuộc vào một hoặc nhiều biến độc lập</a:t>
            </a:r>
            <a:endParaRPr/>
          </a:p>
          <a:p>
            <a:pPr lvl="1">
              <a:defRPr/>
            </a:pPr>
            <a:r>
              <a:rPr lang="en-US" sz="2000"/>
              <a:t>Dữ liệu được khớp bằng phương pháp xấp xỉ liên tiếp</a:t>
            </a:r>
            <a:endParaRPr lang="en-US" sz="2400" i="1"/>
          </a:p>
        </p:txBody>
      </p:sp>
      <p:sp>
        <p:nvSpPr>
          <p:cNvPr id="21313131" name="Rectangle 3"/>
          <p:cNvSpPr>
            <a:spLocks noChangeArrowheads="1" noGrp="1"/>
          </p:cNvSpPr>
          <p:nvPr>
            <p:ph type="title"/>
          </p:nvPr>
        </p:nvSpPr>
        <p:spPr bwMode="auto">
          <a:xfrm>
            <a:off x="513805" y="228600"/>
            <a:ext cx="11051177" cy="838200"/>
          </a:xfrm>
          <a:prstGeom prst="rect">
            <a:avLst/>
          </a:prstGeom>
          <a:noFill/>
        </p:spPr>
        <p:txBody>
          <a:bodyPr vert="horz" lIns="92075" tIns="46038" rIns="92075" bIns="46038" rtlCol="0" anchor="t">
            <a:normAutofit/>
          </a:bodyPr>
          <a:lstStyle/>
          <a:p>
            <a:pPr>
              <a:defRPr/>
            </a:pPr>
            <a:r>
              <a:rPr lang="en-US"/>
              <a:t>Hồi quy tuyến tính và hồi quy bội</a:t>
            </a:r>
            <a:endParaRPr lang="en-US" sz="2400"/>
          </a:p>
        </p:txBody>
      </p:sp>
      <p:pic>
        <p:nvPicPr>
          <p:cNvPr id="44732523" name="Picture 2" descr="Image result for nonlinear regressions"/>
          <p:cNvPicPr>
            <a:picLocks noChangeAspect="1" noChangeArrowheads="1"/>
          </p:cNvPicPr>
          <p:nvPr/>
        </p:nvPicPr>
        <p:blipFill rotWithShape="1">
          <a:blip r:embed="rId3"/>
          <a:stretch/>
        </p:blipFill>
        <p:spPr bwMode="auto">
          <a:xfrm>
            <a:off x="8539034" y="3819525"/>
            <a:ext cx="2928937" cy="2928938"/>
          </a:xfrm>
          <a:prstGeom prst="rect">
            <a:avLst/>
          </a:prstGeom>
          <a:noFill/>
        </p:spPr>
      </p:pic>
      <p:pic>
        <p:nvPicPr>
          <p:cNvPr id="1794108861" name="Picture 2" descr="Image result for linear regression"/>
          <p:cNvPicPr>
            <a:picLocks noChangeAspect="1" noChangeArrowheads="1"/>
          </p:cNvPicPr>
          <p:nvPr/>
        </p:nvPicPr>
        <p:blipFill rotWithShape="1">
          <a:blip r:embed="rId4"/>
          <a:stretch/>
        </p:blipFill>
        <p:spPr bwMode="auto">
          <a:xfrm>
            <a:off x="8442023" y="1390650"/>
            <a:ext cx="3122958" cy="2300287"/>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41271374" name="Picture 8" descr="Image result for loglinear model"/>
          <p:cNvPicPr>
            <a:picLocks noChangeAspect="1" noChangeArrowheads="1"/>
          </p:cNvPicPr>
          <p:nvPr/>
        </p:nvPicPr>
        <p:blipFill rotWithShape="1">
          <a:blip r:embed="rId3"/>
          <a:stretch/>
        </p:blipFill>
        <p:spPr bwMode="auto">
          <a:xfrm>
            <a:off x="8698209" y="3643177"/>
            <a:ext cx="3214823" cy="3214823"/>
          </a:xfrm>
          <a:prstGeom prst="rect">
            <a:avLst/>
          </a:prstGeom>
          <a:noFill/>
        </p:spPr>
      </p:pic>
      <p:pic>
        <p:nvPicPr>
          <p:cNvPr id="1615030238" name="Picture 3" descr="Image result for multiple regressions"/>
          <p:cNvPicPr>
            <a:picLocks noChangeAspect="1" noChangeArrowheads="1"/>
          </p:cNvPicPr>
          <p:nvPr/>
        </p:nvPicPr>
        <p:blipFill rotWithShape="1">
          <a:blip r:embed="rId4"/>
          <a:stretch/>
        </p:blipFill>
        <p:spPr bwMode="auto">
          <a:xfrm>
            <a:off x="8501362" y="876299"/>
            <a:ext cx="3411670" cy="3224087"/>
          </a:xfrm>
          <a:prstGeom prst="rect">
            <a:avLst/>
          </a:prstGeom>
          <a:noFill/>
        </p:spPr>
      </p:pic>
      <p:sp>
        <p:nvSpPr>
          <p:cNvPr id="785385021" name="Rectangle 2"/>
          <p:cNvSpPr>
            <a:spLocks noChangeArrowheads="1" noGrp="1"/>
          </p:cNvSpPr>
          <p:nvPr>
            <p:ph type="body" idx="1"/>
          </p:nvPr>
        </p:nvSpPr>
        <p:spPr bwMode="auto">
          <a:xfrm>
            <a:off x="628378" y="1162050"/>
            <a:ext cx="8490570" cy="5313906"/>
          </a:xfrm>
          <a:prstGeom prst="rect">
            <a:avLst/>
          </a:prstGeom>
          <a:noFill/>
        </p:spPr>
        <p:txBody>
          <a:bodyPr vert="horz" lIns="92075" tIns="46038" rIns="92075" bIns="46038" rtlCol="0">
            <a:noAutofit/>
          </a:bodyPr>
          <a:lstStyle/>
          <a:p>
            <a:pPr>
              <a:defRPr/>
            </a:pPr>
            <a:r>
              <a:rPr lang="en-US" sz="2000" u="sng"/>
              <a:t>Hồi quy bội</a:t>
            </a:r>
            <a:r>
              <a:rPr lang="en-US" sz="2000"/>
              <a:t>: </a:t>
            </a:r>
            <a:r>
              <a:rPr lang="en-US" sz="2000" i="1"/>
              <a:t>Y = b</a:t>
            </a:r>
            <a:r>
              <a:rPr lang="en-US" sz="2000" i="1" baseline="-25000"/>
              <a:t>0</a:t>
            </a:r>
            <a:r>
              <a:rPr lang="en-US" sz="2000" i="1"/>
              <a:t> + b</a:t>
            </a:r>
            <a:r>
              <a:rPr lang="en-US" sz="2000" i="1" baseline="-25000"/>
              <a:t>1</a:t>
            </a:r>
            <a:r>
              <a:rPr lang="en-US" sz="2000" i="1"/>
              <a:t> X</a:t>
            </a:r>
            <a:r>
              <a:rPr lang="en-US" sz="2000" i="1" baseline="-25000"/>
              <a:t>1</a:t>
            </a:r>
            <a:r>
              <a:rPr lang="en-US" sz="2000" i="1"/>
              <a:t> + b</a:t>
            </a:r>
            <a:r>
              <a:rPr lang="en-US" sz="2000" i="1" baseline="-25000"/>
              <a:t>2</a:t>
            </a:r>
            <a:r>
              <a:rPr lang="en-US" sz="2000" i="1"/>
              <a:t> X</a:t>
            </a:r>
            <a:r>
              <a:rPr lang="en-US" sz="2000" i="1" baseline="-25000"/>
              <a:t>2</a:t>
            </a:r>
            <a:endParaRPr lang="en-US" sz="2400" i="1"/>
          </a:p>
          <a:p>
            <a:pPr lvl="1">
              <a:defRPr/>
            </a:pPr>
            <a:r>
              <a:rPr lang="en-US" sz="2000"/>
              <a:t>Cho phép biến phản hồi Y được mô hình hóa như một hàm tuyến tính của vectơ đặc trưng đa chiều</a:t>
            </a:r>
            <a:endParaRPr/>
          </a:p>
          <a:p>
            <a:pPr lvl="1">
              <a:defRPr/>
            </a:pPr>
            <a:r>
              <a:rPr lang="en-US" sz="2000"/>
              <a:t>Nhiều hàm phi tuyến có thể được biến đổi về dạng trên</a:t>
            </a:r>
            <a:endParaRPr/>
          </a:p>
          <a:p>
            <a:pPr>
              <a:defRPr/>
            </a:pPr>
            <a:r>
              <a:rPr lang="en-US" sz="2000" u="sng"/>
              <a:t>Mô hình log-tuyến tính</a:t>
            </a:r>
            <a:r>
              <a:rPr lang="en-US" sz="2000"/>
              <a:t>:</a:t>
            </a:r>
            <a:endParaRPr/>
          </a:p>
          <a:p>
            <a:pPr lvl="1">
              <a:defRPr/>
            </a:pPr>
            <a:r>
              <a:rPr lang="en-US" sz="2000"/>
              <a:t>Một mô hình toán học có dạng một hàm mà logarit của nó là tổ hợp tuyến tính của các tham số mô hình, giúp có thể áp dụng hồi quy tuyến tính (có thể đa biến)</a:t>
            </a:r>
            <a:endParaRPr/>
          </a:p>
          <a:p>
            <a:pPr lvl="1">
              <a:defRPr/>
            </a:pPr>
            <a:r>
              <a:rPr lang="en-US" sz="2000"/>
              <a:t>Ước lượng xác suất của mỗi điểm (bộ dữ liệu) trong không gian </a:t>
            </a:r>
            <a:r>
              <a:rPr lang="en-US" sz="2000"/>
              <a:t>đa</a:t>
            </a:r>
            <a:r>
              <a:rPr lang="en-US" sz="2000"/>
              <a:t> chiều cho một tập thuộc tính đã rời rạc hóa, dựa trên một tập con nhỏ hơn các tổ hợp chiều</a:t>
            </a:r>
            <a:endParaRPr/>
          </a:p>
          <a:p>
            <a:pPr lvl="1">
              <a:defRPr/>
            </a:pPr>
            <a:r>
              <a:rPr lang="en-US" sz="2000"/>
              <a:t>Hữu ích cho việc giảm số chiều và làm mượt dữ liệu</a:t>
            </a:r>
            <a:endParaRPr lang="en-US" sz="2400" i="1" baseline="-25000"/>
          </a:p>
        </p:txBody>
      </p:sp>
      <p:sp>
        <p:nvSpPr>
          <p:cNvPr id="253636715" name="Rectangle 3"/>
          <p:cNvSpPr>
            <a:spLocks noChangeArrowheads="1" noGrp="1"/>
          </p:cNvSpPr>
          <p:nvPr>
            <p:ph type="title"/>
          </p:nvPr>
        </p:nvSpPr>
        <p:spPr bwMode="auto">
          <a:xfrm>
            <a:off x="513805" y="228600"/>
            <a:ext cx="11051177" cy="838200"/>
          </a:xfrm>
          <a:prstGeom prst="rect">
            <a:avLst/>
          </a:prstGeom>
          <a:noFill/>
        </p:spPr>
        <p:txBody>
          <a:bodyPr vert="horz" lIns="92075" tIns="46038" rIns="92075" bIns="46038" rtlCol="0" anchor="t">
            <a:normAutofit/>
          </a:bodyPr>
          <a:lstStyle/>
          <a:p>
            <a:pPr>
              <a:defRPr/>
            </a:pPr>
            <a:r>
              <a:rPr lang="en-US"/>
              <a:t>Hồi quy bội và mô hình log-tuyến tính</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8497562" name="Rectangle 2"/>
          <p:cNvSpPr>
            <a:spLocks noChangeArrowheads="1" noGrp="1"/>
          </p:cNvSpPr>
          <p:nvPr>
            <p:ph type="title"/>
          </p:nvPr>
        </p:nvSpPr>
        <p:spPr bwMode="auto">
          <a:xfrm>
            <a:off x="2057400" y="152400"/>
            <a:ext cx="7924800" cy="838200"/>
          </a:xfrm>
        </p:spPr>
        <p:txBody>
          <a:bodyPr anchor="t"/>
          <a:lstStyle/>
          <a:p>
            <a:pPr>
              <a:defRPr/>
            </a:pPr>
            <a:r>
              <a:rPr lang="en-US"/>
              <a:t>Phân tích biểu đồ tần suất</a:t>
            </a:r>
            <a:endParaRPr/>
          </a:p>
        </p:txBody>
      </p:sp>
      <p:sp>
        <p:nvSpPr>
          <p:cNvPr id="21906229" name="Rectangle 3"/>
          <p:cNvSpPr>
            <a:spLocks noChangeArrowheads="1" noGrp="1"/>
          </p:cNvSpPr>
          <p:nvPr>
            <p:ph type="body" idx="1"/>
          </p:nvPr>
        </p:nvSpPr>
        <p:spPr bwMode="auto">
          <a:xfrm>
            <a:off x="583474" y="1371600"/>
            <a:ext cx="5588726" cy="2847975"/>
          </a:xfrm>
        </p:spPr>
        <p:txBody>
          <a:bodyPr/>
          <a:lstStyle/>
          <a:p>
            <a:pPr>
              <a:lnSpc>
                <a:spcPct val="120000"/>
              </a:lnSpc>
              <a:defRPr/>
            </a:pPr>
            <a:r>
              <a:rPr lang="en-US" sz="2000"/>
              <a:t>Chia dữ liệu thành các nhóm (bucket) và lưu trung bình (tổng) cho mỗi nhóm</a:t>
            </a:r>
            <a:endParaRPr/>
          </a:p>
          <a:p>
            <a:pPr>
              <a:lnSpc>
                <a:spcPct val="120000"/>
              </a:lnSpc>
              <a:defRPr/>
            </a:pPr>
            <a:r>
              <a:rPr lang="en-US" sz="2000"/>
              <a:t>Quy tắc phân chia:</a:t>
            </a:r>
            <a:endParaRPr/>
          </a:p>
          <a:p>
            <a:pPr lvl="1">
              <a:lnSpc>
                <a:spcPct val="120000"/>
              </a:lnSpc>
              <a:defRPr/>
            </a:pPr>
            <a:r>
              <a:rPr lang="en-US" sz="2000"/>
              <a:t>Đẳng khoảng: phạm vi nhóm bằng nhau</a:t>
            </a:r>
            <a:endParaRPr/>
          </a:p>
          <a:p>
            <a:pPr lvl="1">
              <a:lnSpc>
                <a:spcPct val="120000"/>
              </a:lnSpc>
              <a:defRPr/>
            </a:pPr>
            <a:r>
              <a:rPr lang="en-US" sz="2000"/>
              <a:t>Đẳng tần (hay đẳng độ sâu)</a:t>
            </a:r>
            <a:endParaRPr/>
          </a:p>
          <a:p>
            <a:pPr lvl="1">
              <a:lnSpc>
                <a:spcPct val="120000"/>
              </a:lnSpc>
              <a:defRPr/>
            </a:pPr>
            <a:endParaRPr lang="en-US" sz="2400"/>
          </a:p>
        </p:txBody>
      </p:sp>
      <p:graphicFrame>
        <p:nvGraphicFramePr>
          <p:cNvPr id="481340486" name="Object 4"/>
          <p:cNvGraphicFramePr>
            <a:graphicFrameLocks xmlns:a="http://schemas.openxmlformats.org/drawingml/2006/main" noChangeAspect="1"/>
          </p:cNvGraphicFramePr>
          <p:nvPr/>
        </p:nvGraphicFramePr>
        <p:xfrm>
          <a:off x="6019800" y="1072243"/>
          <a:ext cx="6477000" cy="5410200"/>
        </p:xfrm>
        <a:graphic>
          <a:graphicData uri="http://schemas.openxmlformats.org/presentationml/2006/ole">
            <p:oleObj name="oleObj" r:id="rId4" imgW="7914640" imgH="3848100" progId="MSGraph.Chart.8">
              <p:embed/>
              <p:pic>
                <p:nvPicPr>
                  <p:cNvPr id="481340486" name="Object 4"/>
                  <p:cNvPicPr/>
                  <p:nvPr/>
                </p:nvPicPr>
                <p:blipFill rotWithShape="1">
                  <a:blip r:embed="rId3"/>
                  <a:stretch/>
                </p:blipFill>
                <p:spPr bwMode="auto">
                  <a:xfrm>
                    <a:off x="6019800" y="1072243"/>
                    <a:ext cx="6477000" cy="5410200"/>
                  </a:xfrm>
                  <a:prstGeom prst="rect">
                    <a:avLst/>
                  </a:prstGeom>
                  <a:noFill/>
                  <a:ln>
                    <a:noFill/>
                  </a:ln>
                  <a:effectLst/>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34750731" name="pasted-image.tiff"/>
          <p:cNvPicPr>
            <a:picLocks noChangeAspect="1"/>
          </p:cNvPicPr>
          <p:nvPr/>
        </p:nvPicPr>
        <p:blipFill rotWithShape="1">
          <a:blip r:embed="rId3"/>
          <a:srcRect l="5639" t="5639" r="5638" b="5638"/>
          <a:stretch/>
        </p:blipFill>
        <p:spPr bwMode="auto">
          <a:xfrm>
            <a:off x="7738062" y="1162049"/>
            <a:ext cx="4076699" cy="3057525"/>
          </a:xfrm>
          <a:prstGeom prst="rect">
            <a:avLst/>
          </a:prstGeom>
          <a:ln w="12700">
            <a:miter lim="400000"/>
          </a:ln>
        </p:spPr>
      </p:pic>
      <p:sp>
        <p:nvSpPr>
          <p:cNvPr id="467361115" name="Rectangle 2"/>
          <p:cNvSpPr>
            <a:spLocks noChangeArrowheads="1" noGrp="1"/>
          </p:cNvSpPr>
          <p:nvPr>
            <p:ph type="title"/>
          </p:nvPr>
        </p:nvSpPr>
        <p:spPr bwMode="auto">
          <a:xfrm>
            <a:off x="1524000" y="381000"/>
            <a:ext cx="9144000" cy="609600"/>
          </a:xfrm>
        </p:spPr>
        <p:txBody>
          <a:bodyPr anchor="t">
            <a:noAutofit/>
          </a:bodyPr>
          <a:lstStyle/>
          <a:p>
            <a:pPr>
              <a:defRPr/>
            </a:pPr>
            <a:r>
              <a:rPr lang="en-US"/>
              <a:t>Phân cụm</a:t>
            </a:r>
            <a:endParaRPr/>
          </a:p>
        </p:txBody>
      </p:sp>
      <p:sp>
        <p:nvSpPr>
          <p:cNvPr id="724702338" name="Rectangle 3"/>
          <p:cNvSpPr>
            <a:spLocks noChangeArrowheads="1" noGrp="1"/>
          </p:cNvSpPr>
          <p:nvPr>
            <p:ph type="body" idx="1"/>
          </p:nvPr>
        </p:nvSpPr>
        <p:spPr bwMode="auto">
          <a:xfrm>
            <a:off x="499927" y="1304925"/>
            <a:ext cx="7596323" cy="5105400"/>
          </a:xfrm>
        </p:spPr>
        <p:txBody>
          <a:bodyPr/>
          <a:lstStyle/>
          <a:p>
            <a:pPr>
              <a:lnSpc>
                <a:spcPct val="120000"/>
              </a:lnSpc>
              <a:defRPr/>
            </a:pPr>
            <a:r>
              <a:rPr lang="en-US" sz="2000"/>
              <a:t>Chia tập dữ liệu thành các cụm dựa trên độ tương tự, và chỉ lưu biểu diễn cụm (ví dụ: tâm cụm và đường kính)</a:t>
            </a:r>
            <a:endParaRPr/>
          </a:p>
          <a:p>
            <a:pPr>
              <a:lnSpc>
                <a:spcPct val="120000"/>
              </a:lnSpc>
              <a:defRPr/>
            </a:pPr>
            <a:r>
              <a:rPr lang="en-US" sz="2000"/>
              <a:t>Có thể rất hiệu quả nếu dữ liệu tạo thành cụm rõ ràng, nhưng không hiệu quả nếu dữ liệu bị “nhòe”</a:t>
            </a:r>
            <a:endParaRPr/>
          </a:p>
          <a:p>
            <a:pPr>
              <a:lnSpc>
                <a:spcPct val="120000"/>
              </a:lnSpc>
              <a:defRPr/>
            </a:pPr>
            <a:r>
              <a:rPr lang="en-US" sz="2000"/>
              <a:t>Có thể phân cụm phân cấp và lưu trữ trong cấu trúc cây chỉ mục đa chiều</a:t>
            </a:r>
            <a:endParaRPr/>
          </a:p>
          <a:p>
            <a:pPr>
              <a:lnSpc>
                <a:spcPct val="120000"/>
              </a:lnSpc>
              <a:defRPr/>
            </a:pPr>
            <a:r>
              <a:rPr lang="en-US" sz="2000"/>
              <a:t>Có nhiều lựa chọn về định nghĩa phân cụm và thuật toán phân cụm</a:t>
            </a:r>
            <a:endParaRPr/>
          </a:p>
          <a:p>
            <a:pPr>
              <a:lnSpc>
                <a:spcPct val="120000"/>
              </a:lnSpc>
              <a:defRPr/>
            </a:pPr>
            <a:r>
              <a:rPr lang="en-US" sz="2000"/>
              <a:t>Phân tích cụm sẽ được nghiên cứu sâu ở Chương 10</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5851988" name="Rectangle 2"/>
          <p:cNvSpPr>
            <a:spLocks noChangeArrowheads="1" noGrp="1"/>
          </p:cNvSpPr>
          <p:nvPr>
            <p:ph type="title"/>
          </p:nvPr>
        </p:nvSpPr>
        <p:spPr bwMode="auto">
          <a:xfrm>
            <a:off x="542925" y="81481"/>
            <a:ext cx="11106150" cy="887240"/>
          </a:xfrm>
        </p:spPr>
        <p:txBody>
          <a:bodyPr anchor="t">
            <a:normAutofit/>
          </a:bodyPr>
          <a:lstStyle/>
          <a:p>
            <a:pPr>
              <a:defRPr/>
            </a:pPr>
            <a:r>
              <a:rPr lang="en-US"/>
              <a:t>Giảm chiều dữ liệu</a:t>
            </a:r>
            <a:endParaRPr/>
          </a:p>
        </p:txBody>
      </p:sp>
      <p:sp>
        <p:nvSpPr>
          <p:cNvPr id="2063637789" name="Rectangle 3"/>
          <p:cNvSpPr>
            <a:spLocks noChangeArrowheads="1" noGrp="1"/>
          </p:cNvSpPr>
          <p:nvPr>
            <p:ph type="body" idx="1"/>
          </p:nvPr>
        </p:nvSpPr>
        <p:spPr bwMode="auto">
          <a:xfrm>
            <a:off x="663388" y="1209235"/>
            <a:ext cx="10865223" cy="5257800"/>
          </a:xfrm>
        </p:spPr>
        <p:txBody>
          <a:bodyPr/>
          <a:lstStyle/>
          <a:p>
            <a:pPr>
              <a:spcAft>
                <a:spcPts val="600"/>
              </a:spcAft>
              <a:defRPr/>
            </a:pPr>
            <a:r>
              <a:rPr lang="en-US"/>
              <a:t>Giảm chiều dữ liệu là gì?</a:t>
            </a:r>
            <a:endParaRPr/>
          </a:p>
          <a:p>
            <a:pPr>
              <a:spcAft>
                <a:spcPts val="600"/>
              </a:spcAft>
              <a:defRPr/>
            </a:pPr>
            <a:r>
              <a:rPr lang="en-US"/>
              <a:t>Các phương pháp giảm chiều dữ liệu</a:t>
            </a:r>
            <a:endParaRPr/>
          </a:p>
          <a:p>
            <a:pPr lvl="1">
              <a:spcAft>
                <a:spcPts val="600"/>
              </a:spcAft>
              <a:defRPr/>
            </a:pPr>
            <a:r>
              <a:rPr lang="en-US"/>
              <a:t>Phân tích thành phần chính (PCA) </a:t>
            </a:r>
            <a:endParaRPr/>
          </a:p>
          <a:p>
            <a:pPr lvl="1">
              <a:spcAft>
                <a:spcPts val="600"/>
              </a:spcAft>
              <a:defRPr/>
            </a:pPr>
            <a:r>
              <a:rPr lang="en-US"/>
              <a:t>Lựa chọn tập con thuộc tính </a:t>
            </a:r>
            <a:endParaRPr/>
          </a:p>
          <a:p>
            <a:pPr lvl="1">
              <a:spcAft>
                <a:spcPts val="600"/>
              </a:spcAft>
              <a:defRPr/>
            </a:pPr>
            <a:r>
              <a:rPr lang="en-US"/>
              <a:t>Các phương pháp giảm chiều phi tuyến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61204764" name="Rectangle 2"/>
          <p:cNvSpPr>
            <a:spLocks noChangeArrowheads="1" noGrp="1"/>
          </p:cNvSpPr>
          <p:nvPr>
            <p:ph type="title" idx="4294967295"/>
          </p:nvPr>
        </p:nvSpPr>
        <p:spPr bwMode="auto">
          <a:xfrm>
            <a:off x="161109" y="304800"/>
            <a:ext cx="11869781" cy="609600"/>
          </a:xfrm>
        </p:spPr>
        <p:txBody>
          <a:bodyPr anchor="t">
            <a:noAutofit/>
          </a:bodyPr>
          <a:lstStyle/>
          <a:p>
            <a:pPr>
              <a:defRPr/>
            </a:pPr>
            <a:r>
              <a:rPr lang="en-US"/>
              <a:t>Giảm chiều dữ liệu là gì?</a:t>
            </a:r>
            <a:endParaRPr/>
          </a:p>
        </p:txBody>
      </p:sp>
      <p:sp>
        <p:nvSpPr>
          <p:cNvPr id="1896288868" name="Rectangle 3"/>
          <p:cNvSpPr>
            <a:spLocks noChangeArrowheads="1" noGrp="1"/>
          </p:cNvSpPr>
          <p:nvPr>
            <p:ph type="body" idx="4294967295"/>
          </p:nvPr>
        </p:nvSpPr>
        <p:spPr bwMode="auto">
          <a:xfrm>
            <a:off x="548640" y="1144089"/>
            <a:ext cx="10976609" cy="5514702"/>
          </a:xfrm>
        </p:spPr>
        <p:txBody>
          <a:bodyPr/>
          <a:lstStyle/>
          <a:p>
            <a:pPr>
              <a:defRPr/>
            </a:pPr>
            <a:r>
              <a:rPr lang="en-US" b="1"/>
              <a:t>Lời nguyền của số chiều (curse of dimensionality)</a:t>
            </a:r>
            <a:endParaRPr/>
          </a:p>
          <a:p>
            <a:pPr lvl="1">
              <a:defRPr/>
            </a:pPr>
            <a:r>
              <a:rPr lang="en-US"/>
              <a:t>Khi số chiều tăng, dữ liệu trở nên ngày càng thưa</a:t>
            </a:r>
            <a:endParaRPr/>
          </a:p>
          <a:p>
            <a:pPr lvl="1">
              <a:defRPr/>
            </a:pPr>
            <a:r>
              <a:rPr lang="en-US"/>
              <a:t>Mật độ và khoảng cách giữa các điểm, vốn rất quan trọng đối với phân cụm và phân tích ngoại lệ, trở nên kém ý nghĩa hơn</a:t>
            </a:r>
            <a:endParaRPr/>
          </a:p>
          <a:p>
            <a:pPr lvl="1">
              <a:defRPr/>
            </a:pPr>
            <a:r>
              <a:rPr lang="en-US"/>
              <a:t>Số tổ hợp không gian con có thể có sẽ tăng theo cấp số nhân</a:t>
            </a:r>
            <a:endParaRPr/>
          </a:p>
          <a:p>
            <a:pPr>
              <a:defRPr/>
            </a:pPr>
            <a:r>
              <a:rPr lang="en-US" b="1"/>
              <a:t>Giảm chiều dữ liệu</a:t>
            </a:r>
            <a:endParaRPr/>
          </a:p>
          <a:p>
            <a:pPr lvl="1">
              <a:defRPr/>
            </a:pPr>
            <a:r>
              <a:rPr lang="en-US"/>
              <a:t>Giảm số lượng biến ngẫu nhiên đang xét, bằng cách thu được một tập các biến chính</a:t>
            </a:r>
            <a:endParaRPr/>
          </a:p>
          <a:p>
            <a:pPr>
              <a:defRPr/>
            </a:pPr>
            <a:r>
              <a:rPr lang="en-US" b="1"/>
              <a:t>Lợi ích của việc giảm chiều dữ liệu</a:t>
            </a:r>
            <a:endParaRPr lang="en-US"/>
          </a:p>
          <a:p>
            <a:pPr lvl="1">
              <a:defRPr/>
            </a:pPr>
            <a:r>
              <a:rPr lang="en-US">
                <a:latin typeface="Calibri"/>
              </a:rPr>
              <a:t>Tránh lời nguyền của số chiều</a:t>
            </a:r>
            <a:endParaRPr/>
          </a:p>
          <a:p>
            <a:pPr lvl="1">
              <a:defRPr/>
            </a:pPr>
            <a:r>
              <a:rPr lang="en-US">
                <a:latin typeface="Calibri"/>
              </a:rPr>
              <a:t>Giúp loại bỏ các đặc trưng không liên quan và giảm nhiễu</a:t>
            </a:r>
            <a:endParaRPr/>
          </a:p>
          <a:p>
            <a:pPr lvl="1">
              <a:defRPr/>
            </a:pPr>
            <a:r>
              <a:rPr lang="en-US">
                <a:latin typeface="Calibri"/>
              </a:rPr>
              <a:t>Giảm thời gian và không gian cần thiết trong khai phá dữ liệu</a:t>
            </a:r>
            <a:endParaRPr/>
          </a:p>
          <a:p>
            <a:pPr lvl="1">
              <a:defRPr/>
            </a:pPr>
            <a:r>
              <a:rPr lang="en-US">
                <a:latin typeface="Calibri"/>
              </a:rPr>
              <a:t>Giúp trực quan hóa dễ dàng hơn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17882045" name="Rectangle 2"/>
          <p:cNvSpPr>
            <a:spLocks noChangeArrowheads="1" noGrp="1"/>
          </p:cNvSpPr>
          <p:nvPr>
            <p:ph type="title" idx="4294967295"/>
          </p:nvPr>
        </p:nvSpPr>
        <p:spPr bwMode="auto">
          <a:xfrm>
            <a:off x="-200025" y="285749"/>
            <a:ext cx="12525375" cy="714375"/>
          </a:xfrm>
        </p:spPr>
        <p:txBody>
          <a:bodyPr anchor="t">
            <a:noAutofit/>
          </a:bodyPr>
          <a:lstStyle/>
          <a:p>
            <a:pPr>
              <a:defRPr/>
            </a:pPr>
            <a:r>
              <a:rPr lang="en-US"/>
              <a:t>Các phương pháp giảm chiều dữ liệu</a:t>
            </a:r>
            <a:endParaRPr/>
          </a:p>
        </p:txBody>
      </p:sp>
      <p:sp>
        <p:nvSpPr>
          <p:cNvPr id="1879704057" name="Rectangle 3"/>
          <p:cNvSpPr>
            <a:spLocks noChangeArrowheads="1" noGrp="1"/>
          </p:cNvSpPr>
          <p:nvPr>
            <p:ph type="body" idx="4294967295"/>
          </p:nvPr>
        </p:nvSpPr>
        <p:spPr bwMode="auto">
          <a:xfrm>
            <a:off x="615450" y="1182189"/>
            <a:ext cx="10894423" cy="5514702"/>
          </a:xfrm>
        </p:spPr>
        <p:txBody>
          <a:bodyPr/>
          <a:lstStyle/>
          <a:p>
            <a:pPr>
              <a:spcAft>
                <a:spcPts val="600"/>
              </a:spcAft>
              <a:defRPr/>
            </a:pPr>
            <a:r>
              <a:rPr lang="en-US"/>
              <a:t>Các phương pháp luận giảm chiều dữ liệu</a:t>
            </a:r>
            <a:endParaRPr/>
          </a:p>
          <a:p>
            <a:pPr lvl="1">
              <a:spcAft>
                <a:spcPts val="600"/>
              </a:spcAft>
              <a:defRPr/>
            </a:pPr>
            <a:r>
              <a:rPr lang="en-US" b="1"/>
              <a:t>Lựa chọn đặc trưng</a:t>
            </a:r>
            <a:r>
              <a:rPr lang="en-US"/>
              <a:t>: Tìm một tập con của các biến (hoặc đặc trưng, thuộc tính) gốc</a:t>
            </a:r>
            <a:endParaRPr/>
          </a:p>
          <a:p>
            <a:pPr lvl="1">
              <a:spcAft>
                <a:spcPts val="600"/>
              </a:spcAft>
              <a:defRPr/>
            </a:pPr>
            <a:r>
              <a:rPr lang="en-US" b="1"/>
              <a:t>Trích xuất đặc trưng</a:t>
            </a:r>
            <a:r>
              <a:rPr lang="en-US"/>
              <a:t>: Biến đổi dữ liệu từ không gian nhiều chiều sang không gian ít chiều hơn</a:t>
            </a:r>
            <a:endParaRPr/>
          </a:p>
          <a:p>
            <a:pPr>
              <a:spcAft>
                <a:spcPts val="600"/>
              </a:spcAft>
              <a:defRPr/>
            </a:pPr>
            <a:r>
              <a:rPr lang="en-US"/>
              <a:t>Một số phương pháp giảm chiều tiêu biểu</a:t>
            </a:r>
            <a:endParaRPr/>
          </a:p>
          <a:p>
            <a:pPr lvl="1">
              <a:spcAft>
                <a:spcPts val="600"/>
              </a:spcAft>
              <a:defRPr/>
            </a:pPr>
            <a:r>
              <a:rPr lang="en-US"/>
              <a:t>Phân tích thành phần chính</a:t>
            </a:r>
            <a:endParaRPr lang="en-US"/>
          </a:p>
          <a:p>
            <a:pPr lvl="1">
              <a:spcAft>
                <a:spcPts val="600"/>
              </a:spcAft>
              <a:defRPr/>
            </a:pPr>
            <a:r>
              <a:rPr lang="en-US"/>
              <a:t>Lựa chọn tập con thuộc tính </a:t>
            </a:r>
            <a:endParaRPr/>
          </a:p>
          <a:p>
            <a:pPr lvl="1">
              <a:spcAft>
                <a:spcPts val="600"/>
              </a:spcAft>
              <a:defRPr/>
            </a:pPr>
            <a:r>
              <a:rPr lang="en-US"/>
              <a:t>Giảm chiều phi tuyến</a:t>
            </a:r>
            <a:endParaRPr/>
          </a:p>
          <a:p>
            <a:pPr lvl="2">
              <a:spcAft>
                <a:spcPts val="600"/>
              </a:spcAft>
              <a:defRPr/>
            </a:pPr>
            <a:endParaRPr lang="en-US"/>
          </a:p>
          <a:p>
            <a:pPr lvl="2">
              <a:spcAft>
                <a:spcPts val="600"/>
              </a:spcAft>
              <a:defRPr/>
            </a:pPr>
            <a:endParaRPr lang="en-US"/>
          </a:p>
          <a:p>
            <a:pPr marL="0" indent="0">
              <a:spcAft>
                <a:spcPts val="600"/>
              </a:spcAft>
              <a:buNone/>
              <a:defRPr/>
            </a:pPr>
            <a:endParaRPr lang="en-US">
              <a:latin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zoom dir="out"/>
      </p:transition>
    </mc:Choice>
    <mc:Fallback>
      <p:transition spd="fast" advClick="1">
        <p:zoom dir="out"/>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7918352" name="Picture 5" descr="Untitled.pdf"/>
          <p:cNvPicPr>
            <a:picLocks noChangeAspect="1"/>
          </p:cNvPicPr>
          <p:nvPr/>
        </p:nvPicPr>
        <p:blipFill rotWithShape="1">
          <a:blip r:embed="rId3"/>
          <a:stretch/>
        </p:blipFill>
        <p:spPr bwMode="auto">
          <a:xfrm>
            <a:off x="7096736" y="1231936"/>
            <a:ext cx="4433412" cy="4213293"/>
          </a:xfrm>
          <a:prstGeom prst="rect">
            <a:avLst/>
          </a:prstGeom>
          <a:noFill/>
          <a:ln>
            <a:noFill/>
          </a:ln>
          <a:effectLst/>
        </p:spPr>
      </p:pic>
      <p:sp>
        <p:nvSpPr>
          <p:cNvPr id="1063203135" name="Rectangle 40"/>
          <p:cNvSpPr>
            <a:spLocks noChangeArrowheads="1" noGrp="1"/>
          </p:cNvSpPr>
          <p:nvPr>
            <p:ph type="title"/>
          </p:nvPr>
        </p:nvSpPr>
        <p:spPr bwMode="auto">
          <a:xfrm>
            <a:off x="609599" y="152400"/>
            <a:ext cx="10920549" cy="838200"/>
          </a:xfrm>
        </p:spPr>
        <p:txBody>
          <a:bodyPr anchor="t">
            <a:normAutofit/>
          </a:bodyPr>
          <a:lstStyle/>
          <a:p>
            <a:pPr>
              <a:defRPr/>
            </a:pPr>
            <a:r>
              <a:rPr lang="en-US"/>
              <a:t>Phân tích thành phần chính (PCA)</a:t>
            </a:r>
            <a:endParaRPr/>
          </a:p>
        </p:txBody>
      </p:sp>
      <p:sp>
        <p:nvSpPr>
          <p:cNvPr id="1186033029" name="Rectangle 41"/>
          <p:cNvSpPr>
            <a:spLocks noChangeArrowheads="1" noGrp="1"/>
          </p:cNvSpPr>
          <p:nvPr>
            <p:ph type="body" idx="1"/>
          </p:nvPr>
        </p:nvSpPr>
        <p:spPr bwMode="auto">
          <a:xfrm>
            <a:off x="609599" y="1260611"/>
            <a:ext cx="6838951" cy="4810124"/>
          </a:xfrm>
        </p:spPr>
        <p:txBody>
          <a:bodyPr/>
          <a:lstStyle/>
          <a:p>
            <a:pPr>
              <a:lnSpc>
                <a:spcPct val="110000"/>
              </a:lnSpc>
              <a:defRPr/>
            </a:pPr>
            <a:r>
              <a:rPr lang="en-US" sz="2000"/>
              <a:t>PCA:  Một quy trình thống kê sử dụng phép biến đổi trực giao để chuyển một tập các quan sát của các biến có thể tương quan thành một tập giá trị của các biến không tương quan tuyến tính, gọi là </a:t>
            </a:r>
            <a:r>
              <a:rPr lang="en-US" sz="2000" b="1" i="1"/>
              <a:t>các thành phần chính</a:t>
            </a:r>
            <a:endParaRPr lang="en-US" sz="2400"/>
          </a:p>
          <a:p>
            <a:pPr>
              <a:lnSpc>
                <a:spcPct val="110000"/>
              </a:lnSpc>
              <a:defRPr/>
            </a:pPr>
            <a:r>
              <a:rPr lang="en-US" sz="2000"/>
              <a:t>Dữ liệu gốc được chiếu lên một không gian nhỏ hơn nhiều, dẫn đến việc giảm số chiều</a:t>
            </a:r>
            <a:endParaRPr/>
          </a:p>
          <a:p>
            <a:pPr>
              <a:lnSpc>
                <a:spcPct val="110000"/>
              </a:lnSpc>
              <a:defRPr/>
            </a:pPr>
            <a:r>
              <a:rPr lang="en-US" sz="2000"/>
              <a:t>Phương pháp:  Tìm các vectơ riêng (eigenvector) của ma trận hiệp phương sai, các vectơ riêng này xác định không gian mới</a:t>
            </a:r>
            <a:endParaRPr/>
          </a:p>
        </p:txBody>
      </p:sp>
      <p:sp>
        <p:nvSpPr>
          <p:cNvPr id="400887892" name="TextBox 6"/>
          <p:cNvSpPr txBox="1"/>
          <p:nvPr/>
        </p:nvSpPr>
        <p:spPr bwMode="auto">
          <a:xfrm>
            <a:off x="7448550" y="5613452"/>
            <a:ext cx="4019550" cy="646331"/>
          </a:xfrm>
          <a:prstGeom prst="rect">
            <a:avLst/>
          </a:prstGeom>
          <a:solidFill>
            <a:srgbClr val="92D050"/>
          </a:solidFill>
        </p:spPr>
        <p:txBody>
          <a:bodyPr wrap="square" rtlCol="0">
            <a:spAutoFit/>
          </a:bodyPr>
          <a:lstStyle/>
          <a:p>
            <a:pPr algn="ctr">
              <a:defRPr/>
            </a:pPr>
            <a:r>
              <a:rPr lang="en-US" sz="1500"/>
              <a:t>Quả bóng di chuyển theo đường thẳng. Dữ liệu từ </a:t>
            </a:r>
            <a:r>
              <a:rPr lang="en-US" sz="1500"/>
              <a:t>ba camera chứa nhiều sự dư thừa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96574538" name="Picture 2" descr="https://upload.wikimedia.org/wikipedia/commons/thumb/f/f5/GaussianScatterPCA.svg/720px-GaussianScatterPCA.svg.png"/>
          <p:cNvPicPr>
            <a:picLocks noChangeAspect="1" noChangeArrowheads="1"/>
          </p:cNvPicPr>
          <p:nvPr/>
        </p:nvPicPr>
        <p:blipFill rotWithShape="1">
          <a:blip r:embed="rId3"/>
          <a:stretch/>
        </p:blipFill>
        <p:spPr bwMode="auto">
          <a:xfrm>
            <a:off x="9128327" y="1361734"/>
            <a:ext cx="3063673" cy="3063674"/>
          </a:xfrm>
          <a:prstGeom prst="rect">
            <a:avLst/>
          </a:prstGeom>
          <a:noFill/>
        </p:spPr>
      </p:pic>
      <p:sp>
        <p:nvSpPr>
          <p:cNvPr id="1533579864" name="Rectangle 2"/>
          <p:cNvSpPr>
            <a:spLocks noChangeArrowheads="1" noGrp="1"/>
          </p:cNvSpPr>
          <p:nvPr>
            <p:ph type="body" idx="1"/>
          </p:nvPr>
        </p:nvSpPr>
        <p:spPr bwMode="auto">
          <a:xfrm>
            <a:off x="451758" y="1143000"/>
            <a:ext cx="8987518" cy="5623288"/>
          </a:xfrm>
        </p:spPr>
        <p:txBody>
          <a:bodyPr/>
          <a:lstStyle/>
          <a:p>
            <a:pPr>
              <a:spcAft>
                <a:spcPts val="200"/>
              </a:spcAft>
              <a:defRPr/>
            </a:pPr>
            <a:r>
              <a:rPr lang="en-US" sz="2000"/>
              <a:t>Cho </a:t>
            </a:r>
            <a:r>
              <a:rPr lang="en-US" sz="2000" i="1"/>
              <a:t>N</a:t>
            </a:r>
            <a:r>
              <a:rPr lang="en-US" sz="2000"/>
              <a:t> vectơ dữ liệu từ không gian </a:t>
            </a:r>
            <a:r>
              <a:rPr lang="en-US" sz="2000" i="1"/>
              <a:t>n</a:t>
            </a:r>
            <a:r>
              <a:rPr lang="en-US" sz="2000"/>
              <a:t> chiều, tìm </a:t>
            </a:r>
            <a:r>
              <a:rPr lang="en-US" sz="2000" i="1"/>
              <a:t>k</a:t>
            </a:r>
            <a:r>
              <a:rPr lang="en-US" sz="2000"/>
              <a:t> ≤ </a:t>
            </a:r>
            <a:r>
              <a:rPr lang="en-US" sz="2000" i="1"/>
              <a:t>n </a:t>
            </a:r>
            <a:r>
              <a:rPr lang="en-US" sz="2000"/>
              <a:t>vectơ trực giao (</a:t>
            </a:r>
            <a:r>
              <a:rPr lang="en-US" sz="2000" i="1"/>
              <a:t>thành phần chính</a:t>
            </a:r>
            <a:r>
              <a:rPr lang="en-US" sz="2000"/>
              <a:t>) tốt nhất để biểu diễn dữ liệu </a:t>
            </a:r>
            <a:endParaRPr/>
          </a:p>
          <a:p>
            <a:pPr lvl="1">
              <a:spcAft>
                <a:spcPts val="200"/>
              </a:spcAft>
              <a:defRPr/>
            </a:pPr>
            <a:r>
              <a:rPr lang="en-US" sz="2000"/>
              <a:t>Chuẩn hóa dữ liệu đầu vào: mỗi thuộc tính nằm trong cùng một khoảng</a:t>
            </a:r>
            <a:endParaRPr/>
          </a:p>
          <a:p>
            <a:pPr lvl="1">
              <a:spcAft>
                <a:spcPts val="200"/>
              </a:spcAft>
              <a:defRPr/>
            </a:pPr>
            <a:r>
              <a:rPr lang="en-US" sz="2000"/>
              <a:t>Tính </a:t>
            </a:r>
            <a:r>
              <a:rPr lang="en-US" sz="2000" i="1"/>
              <a:t>k</a:t>
            </a:r>
            <a:r>
              <a:rPr lang="en-US" sz="2000"/>
              <a:t> vectơ trực chuẩn (đơn vị), tức các </a:t>
            </a:r>
            <a:r>
              <a:rPr lang="en-US" sz="2000" i="1"/>
              <a:t>thành phần chính</a:t>
            </a:r>
            <a:endParaRPr lang="en-US" sz="2400"/>
          </a:p>
          <a:p>
            <a:pPr lvl="1">
              <a:spcAft>
                <a:spcPts val="200"/>
              </a:spcAft>
              <a:defRPr/>
            </a:pPr>
            <a:r>
              <a:rPr lang="en-US" sz="2000"/>
              <a:t>Mỗi dữ liệu (vectơ) đầu vào là tổ hợp tuyến tính của </a:t>
            </a:r>
            <a:r>
              <a:rPr lang="en-US" sz="2000" i="1"/>
              <a:t>k</a:t>
            </a:r>
            <a:r>
              <a:rPr lang="en-US" sz="2000"/>
              <a:t> vectơ thành phần chính</a:t>
            </a:r>
            <a:endParaRPr/>
          </a:p>
          <a:p>
            <a:pPr lvl="1">
              <a:spcAft>
                <a:spcPts val="200"/>
              </a:spcAft>
              <a:defRPr/>
            </a:pPr>
            <a:r>
              <a:rPr lang="en-US" sz="2000"/>
              <a:t>Các thành phần chính được sắp theo thứ tự giảm dần “mức độ quan trọng” hoặc độ mạnh</a:t>
            </a:r>
            <a:endParaRPr/>
          </a:p>
          <a:p>
            <a:pPr lvl="1">
              <a:spcAft>
                <a:spcPts val="200"/>
              </a:spcAft>
              <a:defRPr/>
            </a:pPr>
            <a:r>
              <a:rPr lang="en-US" sz="2000"/>
              <a:t>Vì các thành phần đã được sắp xếp, có thể giảm kích thước dữ liệu bằng cách loại bỏ các </a:t>
            </a:r>
            <a:r>
              <a:rPr lang="en-US" sz="2000" i="1"/>
              <a:t>thành phần yếu</a:t>
            </a:r>
            <a:r>
              <a:rPr lang="en-US" sz="2000"/>
              <a:t>, tức những thành phần có phương sai thấp (tức dùng các thành phần chính mạnh nhất để tái tạo một xấp xỉ tốt của dữ liệu gốc)</a:t>
            </a:r>
            <a:endParaRPr/>
          </a:p>
          <a:p>
            <a:pPr>
              <a:spcAft>
                <a:spcPts val="200"/>
              </a:spcAft>
              <a:defRPr/>
            </a:pPr>
            <a:r>
              <a:rPr lang="en-US" sz="2000"/>
              <a:t>Chỉ hoạt động với dữ liệu số</a:t>
            </a:r>
            <a:endParaRPr/>
          </a:p>
        </p:txBody>
      </p:sp>
      <p:sp>
        <p:nvSpPr>
          <p:cNvPr id="816858495" name="Text Box 3"/>
          <p:cNvSpPr>
            <a:spLocks noChangeArrowheads="1" noGrp="1"/>
          </p:cNvSpPr>
          <p:nvPr>
            <p:ph type="title"/>
          </p:nvPr>
        </p:nvSpPr>
        <p:spPr bwMode="auto">
          <a:xfrm>
            <a:off x="627017" y="152400"/>
            <a:ext cx="11042469" cy="990600"/>
          </a:xfrm>
          <a:prstGeom prst="rect">
            <a:avLst/>
          </a:prstGeom>
          <a:noFill/>
        </p:spPr>
        <p:txBody>
          <a:bodyPr anchor="t">
            <a:noAutofit/>
          </a:bodyPr>
          <a:lstStyle/>
          <a:p>
            <a:pPr>
              <a:defRPr/>
            </a:pPr>
            <a:r>
              <a:rPr lang="en-US"/>
              <a:t>Phân tích thành phần chính (Phương pháp)</a:t>
            </a:r>
            <a:endParaRPr/>
          </a:p>
        </p:txBody>
      </p:sp>
      <p:sp>
        <p:nvSpPr>
          <p:cNvPr id="523681296" name="TextBox 4"/>
          <p:cNvSpPr txBox="1"/>
          <p:nvPr/>
        </p:nvSpPr>
        <p:spPr bwMode="auto">
          <a:xfrm>
            <a:off x="9515475" y="4425408"/>
            <a:ext cx="2314575" cy="584775"/>
          </a:xfrm>
          <a:prstGeom prst="rect">
            <a:avLst/>
          </a:prstGeom>
          <a:solidFill>
            <a:srgbClr val="FFFF00"/>
          </a:solidFill>
        </p:spPr>
        <p:txBody>
          <a:bodyPr wrap="square" rtlCol="0">
            <a:spAutoFit/>
          </a:bodyPr>
          <a:lstStyle/>
          <a:p>
            <a:pPr algn="ctr">
              <a:defRPr/>
            </a:pPr>
            <a:r>
              <a:rPr lang="en-US" sz="1400"/>
              <a:t>Nguồn:  Wikipedia: </a:t>
            </a:r>
            <a:r>
              <a:rPr lang="en-US" sz="1400"/>
              <a:t>Phân tích thành phần chính </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85703947" name="Rectangle 2"/>
          <p:cNvSpPr>
            <a:spLocks noChangeArrowheads="1" noGrp="1"/>
          </p:cNvSpPr>
          <p:nvPr>
            <p:ph type="title"/>
          </p:nvPr>
        </p:nvSpPr>
        <p:spPr bwMode="auto"/>
        <p:txBody>
          <a:bodyPr anchor="t"/>
          <a:lstStyle/>
          <a:p>
            <a:pPr>
              <a:defRPr/>
            </a:pPr>
            <a:r>
              <a:rPr lang="en-US"/>
              <a:t>Lựa chọn tập con thuộc tính</a:t>
            </a:r>
            <a:endParaRPr/>
          </a:p>
        </p:txBody>
      </p:sp>
      <p:sp>
        <p:nvSpPr>
          <p:cNvPr id="1421110225" name="Rectangle 3"/>
          <p:cNvSpPr>
            <a:spLocks noChangeArrowheads="1" noGrp="1"/>
          </p:cNvSpPr>
          <p:nvPr>
            <p:ph type="body" idx="1"/>
          </p:nvPr>
        </p:nvSpPr>
        <p:spPr bwMode="auto">
          <a:xfrm>
            <a:off x="579583" y="1219200"/>
            <a:ext cx="6811817" cy="5372100"/>
          </a:xfrm>
        </p:spPr>
        <p:txBody>
          <a:bodyPr/>
          <a:lstStyle/>
          <a:p>
            <a:pPr>
              <a:lnSpc>
                <a:spcPct val="110000"/>
              </a:lnSpc>
              <a:defRPr/>
            </a:pPr>
            <a:r>
              <a:rPr lang="en-US" sz="2000"/>
              <a:t>Một cách khác để giảm số chiều dữ liệu</a:t>
            </a:r>
            <a:endParaRPr/>
          </a:p>
          <a:p>
            <a:pPr>
              <a:lnSpc>
                <a:spcPct val="110000"/>
              </a:lnSpc>
              <a:defRPr/>
            </a:pPr>
            <a:r>
              <a:rPr lang="en-US" sz="2000"/>
              <a:t>Thuộc tính dư thừa </a:t>
            </a:r>
            <a:endParaRPr/>
          </a:p>
          <a:p>
            <a:pPr lvl="1">
              <a:lnSpc>
                <a:spcPct val="110000"/>
              </a:lnSpc>
              <a:defRPr/>
            </a:pPr>
            <a:r>
              <a:rPr lang="en-US" sz="2000"/>
              <a:t>Trùng lặp phần lớn hoặc toàn bộ thông tin chứa trong một hoặc nhiều thuộc tính khác</a:t>
            </a:r>
            <a:endParaRPr/>
          </a:p>
          <a:p>
            <a:pPr lvl="2">
              <a:lnSpc>
                <a:spcPct val="110000"/>
              </a:lnSpc>
              <a:defRPr/>
            </a:pPr>
            <a:r>
              <a:rPr lang="en-US" sz="2000"/>
              <a:t>Ví dụ, giá mua sản phẩm và số thuế bán hàng đã nộp</a:t>
            </a:r>
            <a:endParaRPr/>
          </a:p>
          <a:p>
            <a:pPr>
              <a:lnSpc>
                <a:spcPct val="110000"/>
              </a:lnSpc>
              <a:defRPr/>
            </a:pPr>
            <a:r>
              <a:rPr lang="en-US" sz="2000"/>
              <a:t>Thuộc tính không liên quan</a:t>
            </a:r>
            <a:endParaRPr/>
          </a:p>
          <a:p>
            <a:pPr lvl="1">
              <a:lnSpc>
                <a:spcPct val="110000"/>
              </a:lnSpc>
              <a:defRPr/>
            </a:pPr>
            <a:r>
              <a:rPr lang="en-US" sz="2000"/>
              <a:t>Không chứa thông tin hữu ích cho tác vụ khai phá dữ liệu hiện tại</a:t>
            </a:r>
            <a:endParaRPr/>
          </a:p>
          <a:p>
            <a:pPr lvl="2">
              <a:lnSpc>
                <a:spcPct val="110000"/>
              </a:lnSpc>
              <a:defRPr/>
            </a:pPr>
            <a:r>
              <a:rPr lang="en-US" sz="2000"/>
              <a:t>Ví dụ. Mã số sinh viên thường không liên quan đến việc dự đoán điểm GPA của họ</a:t>
            </a:r>
            <a:endParaRPr/>
          </a:p>
        </p:txBody>
      </p:sp>
      <p:sp>
        <p:nvSpPr>
          <p:cNvPr id="1124307288" name="Text Box 4"/>
          <p:cNvSpPr txBox="1">
            <a:spLocks noChangeArrowheads="1"/>
          </p:cNvSpPr>
          <p:nvPr/>
        </p:nvSpPr>
        <p:spPr bwMode="auto">
          <a:xfrm>
            <a:off x="3200400" y="3657600"/>
            <a:ext cx="1600200" cy="304800"/>
          </a:xfrm>
          <a:prstGeom prst="rect">
            <a:avLst/>
          </a:prstGeom>
          <a:noFill/>
          <a:ln>
            <a:noFill/>
          </a:ln>
        </p:spPr>
        <p:txBody>
          <a:bodyPr>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spcBef>
                <a:spcPts val="0"/>
              </a:spcBef>
              <a:defRPr/>
            </a:pPr>
            <a:endParaRPr lang="en-US" sz="1400" b="1">
              <a:latin typeface="Arial"/>
            </a:endParaRPr>
          </a:p>
        </p:txBody>
      </p:sp>
      <p:sp>
        <p:nvSpPr>
          <p:cNvPr id="1010105374" name="Rectangle 5"/>
          <p:cNvSpPr>
            <a:spLocks noChangeArrowheads="1"/>
          </p:cNvSpPr>
          <p:nvPr/>
        </p:nvSpPr>
        <p:spPr bwMode="auto">
          <a:xfrm>
            <a:off x="3241675" y="5984875"/>
            <a:ext cx="184150" cy="304800"/>
          </a:xfrm>
          <a:prstGeom prst="rect">
            <a:avLst/>
          </a:prstGeom>
          <a:noFill/>
          <a:ln>
            <a:noFill/>
          </a:ln>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spcBef>
                <a:spcPts val="0"/>
              </a:spcBef>
              <a:defRPr/>
            </a:pPr>
            <a:endParaRPr lang="en-US" sz="1400" b="1">
              <a:latin typeface="Arial"/>
            </a:endParaRPr>
          </a:p>
        </p:txBody>
      </p:sp>
      <p:pic>
        <p:nvPicPr>
          <p:cNvPr id="765313058" name="Picture 4" descr="Image result for feature selection"/>
          <p:cNvPicPr>
            <a:picLocks noChangeAspect="1" noChangeArrowheads="1"/>
          </p:cNvPicPr>
          <p:nvPr/>
        </p:nvPicPr>
        <p:blipFill rotWithShape="1">
          <a:blip r:embed="rId3"/>
          <a:stretch/>
        </p:blipFill>
        <p:spPr bwMode="auto">
          <a:xfrm>
            <a:off x="7117924" y="1257300"/>
            <a:ext cx="4675957" cy="27051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02982582" name="Rectangle 2"/>
          <p:cNvSpPr>
            <a:spLocks noChangeArrowheads="1" noGrp="1"/>
          </p:cNvSpPr>
          <p:nvPr>
            <p:ph type="title"/>
          </p:nvPr>
        </p:nvSpPr>
        <p:spPr bwMode="auto"/>
        <p:txBody>
          <a:bodyPr anchor="t">
            <a:normAutofit/>
          </a:bodyPr>
          <a:lstStyle/>
          <a:p>
            <a:pPr>
              <a:defRPr/>
            </a:pPr>
            <a:r>
              <a:rPr lang="en-US"/>
              <a:t>Tìm kiếm heuristic trong lựa chọn thuộc tính</a:t>
            </a:r>
            <a:endParaRPr/>
          </a:p>
        </p:txBody>
      </p:sp>
      <p:sp>
        <p:nvSpPr>
          <p:cNvPr id="2038211520" name="Rectangle 3"/>
          <p:cNvSpPr>
            <a:spLocks noChangeArrowheads="1" noGrp="1"/>
          </p:cNvSpPr>
          <p:nvPr>
            <p:ph type="body" idx="1"/>
          </p:nvPr>
        </p:nvSpPr>
        <p:spPr bwMode="auto">
          <a:xfrm>
            <a:off x="583473" y="1295400"/>
            <a:ext cx="10807337" cy="5181600"/>
          </a:xfrm>
        </p:spPr>
        <p:txBody>
          <a:bodyPr/>
          <a:lstStyle/>
          <a:p>
            <a:pPr>
              <a:defRPr/>
            </a:pPr>
            <a:r>
              <a:rPr lang="en-US" sz="2000"/>
              <a:t>Có </a:t>
            </a:r>
            <a:r>
              <a:rPr lang="en-US" sz="2000" i="1"/>
              <a:t>2</a:t>
            </a:r>
            <a:r>
              <a:rPr lang="en-US" sz="2000" i="1" baseline="30000"/>
              <a:t>d</a:t>
            </a:r>
            <a:r>
              <a:rPr lang="en-US" sz="2000"/>
              <a:t> tổ hợp thuộc tính khả dĩ với </a:t>
            </a:r>
            <a:r>
              <a:rPr lang="en-US" sz="2000" i="1"/>
              <a:t>d</a:t>
            </a:r>
            <a:r>
              <a:rPr lang="en-US" sz="2000"/>
              <a:t>  thuộc tính</a:t>
            </a:r>
            <a:endParaRPr/>
          </a:p>
          <a:p>
            <a:pPr>
              <a:defRPr/>
            </a:pPr>
            <a:r>
              <a:rPr lang="en-US" sz="2000"/>
              <a:t>Các phương pháp lựa chọn thuộc tính heuristic tiêu biểu:</a:t>
            </a:r>
            <a:endParaRPr/>
          </a:p>
          <a:p>
            <a:pPr lvl="1">
              <a:defRPr/>
            </a:pPr>
            <a:r>
              <a:rPr lang="en-US" sz="2000"/>
              <a:t>Thuộc tính đơn tốt nhất theo giả định độc lập thuộc tính: chọn bằng kiểm định ý nghĩa thống kê</a:t>
            </a:r>
            <a:endParaRPr/>
          </a:p>
          <a:p>
            <a:pPr lvl="1">
              <a:defRPr/>
            </a:pPr>
            <a:r>
              <a:rPr lang="en-US" sz="2000"/>
              <a:t>Lựa chọn đặc trưng từng bước tốt nhất:</a:t>
            </a:r>
            <a:endParaRPr/>
          </a:p>
          <a:p>
            <a:pPr lvl="2">
              <a:defRPr/>
            </a:pPr>
            <a:r>
              <a:rPr lang="en-US" sz="2000"/>
              <a:t>Thuộc tính đơn tốt nhất được chọn trước tiên</a:t>
            </a:r>
            <a:endParaRPr/>
          </a:p>
          <a:p>
            <a:pPr lvl="2">
              <a:defRPr/>
            </a:pPr>
            <a:r>
              <a:rPr lang="en-US" sz="2000"/>
              <a:t>Sau đó chọn thuộc tính tốt nhất tiếp theo với điều kiện thuộc tính đầu tiên, ...</a:t>
            </a:r>
            <a:endParaRPr/>
          </a:p>
          <a:p>
            <a:pPr lvl="1">
              <a:defRPr/>
            </a:pPr>
            <a:r>
              <a:rPr lang="en-US" sz="2000"/>
              <a:t>Loại bỏ thuộc tính từng bước:</a:t>
            </a:r>
            <a:endParaRPr/>
          </a:p>
          <a:p>
            <a:pPr lvl="2">
              <a:defRPr/>
            </a:pPr>
            <a:r>
              <a:rPr lang="en-US" sz="2000"/>
              <a:t>Liên tục loại bỏ thuộc tính tệ nhất</a:t>
            </a:r>
            <a:endParaRPr/>
          </a:p>
          <a:p>
            <a:pPr lvl="1">
              <a:defRPr/>
            </a:pPr>
            <a:r>
              <a:rPr lang="en-US" sz="2000"/>
              <a:t>Kết hợp tốt nhất giữa lựa chọn và loại bỏ thuộc tính</a:t>
            </a:r>
            <a:endParaRPr/>
          </a:p>
          <a:p>
            <a:pPr lvl="1">
              <a:defRPr/>
            </a:pPr>
            <a:r>
              <a:rPr lang="en-US" sz="2000"/>
              <a:t>Nhánh và cận tối ưu:</a:t>
            </a:r>
            <a:endParaRPr/>
          </a:p>
          <a:p>
            <a:pPr lvl="2">
              <a:defRPr/>
            </a:pPr>
            <a:r>
              <a:rPr lang="en-US" sz="2000"/>
              <a:t>Sử dụng loại bỏ thuộc tính và quay lui</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39598243" name="Rectangle 2"/>
          <p:cNvSpPr>
            <a:spLocks noChangeArrowheads="1" noGrp="1"/>
          </p:cNvSpPr>
          <p:nvPr>
            <p:ph type="title" idx="4294967295"/>
          </p:nvPr>
        </p:nvSpPr>
        <p:spPr bwMode="auto"/>
        <p:txBody>
          <a:bodyPr anchor="t"/>
          <a:lstStyle/>
          <a:p>
            <a:pPr>
              <a:defRPr/>
            </a:pPr>
            <a:r>
              <a:rPr lang="en-US"/>
              <a:t>Tạo thuộc tính (sinh đặc trưng)</a:t>
            </a:r>
            <a:endParaRPr/>
          </a:p>
        </p:txBody>
      </p:sp>
      <p:sp>
        <p:nvSpPr>
          <p:cNvPr id="1597521414" name="Rectangle 3"/>
          <p:cNvSpPr>
            <a:spLocks noChangeArrowheads="1" noGrp="1"/>
          </p:cNvSpPr>
          <p:nvPr>
            <p:ph type="body" idx="4294967295"/>
          </p:nvPr>
        </p:nvSpPr>
        <p:spPr bwMode="auto">
          <a:xfrm>
            <a:off x="600891" y="1219203"/>
            <a:ext cx="10824755" cy="5209309"/>
          </a:xfrm>
        </p:spPr>
        <p:txBody>
          <a:bodyPr/>
          <a:lstStyle/>
          <a:p>
            <a:pPr>
              <a:defRPr/>
            </a:pPr>
            <a:r>
              <a:rPr lang="en-US">
                <a:latin typeface="Calibri"/>
              </a:rPr>
              <a:t>Tạo các thuộc tính (đặc trưng) mới có thể nắm bắt thông tin quan trọng trong tập dữ liệu hiệu quả hơn các thuộc tính gốc</a:t>
            </a:r>
            <a:endParaRPr/>
          </a:p>
          <a:p>
            <a:pPr>
              <a:defRPr/>
            </a:pPr>
            <a:r>
              <a:rPr lang="en-US">
                <a:latin typeface="Calibri"/>
              </a:rPr>
              <a:t>Ba phương pháp luận chung</a:t>
            </a:r>
            <a:endParaRPr/>
          </a:p>
          <a:p>
            <a:pPr lvl="1">
              <a:defRPr/>
            </a:pPr>
            <a:r>
              <a:rPr lang="en-US">
                <a:latin typeface="Calibri"/>
              </a:rPr>
              <a:t>Trích xuất thuộc tính</a:t>
            </a:r>
            <a:endParaRPr/>
          </a:p>
          <a:p>
            <a:pPr lvl="2">
              <a:defRPr/>
            </a:pPr>
            <a:r>
              <a:rPr lang="en-US">
                <a:latin typeface="Calibri"/>
              </a:rPr>
              <a:t> Đặc thù theo miền</a:t>
            </a:r>
            <a:endParaRPr/>
          </a:p>
          <a:p>
            <a:pPr lvl="1">
              <a:defRPr/>
            </a:pPr>
            <a:r>
              <a:rPr lang="en-US">
                <a:latin typeface="Calibri"/>
              </a:rPr>
              <a:t>Ánh xạ dữ liệu sang không gian mới (xem phần giảm dữ liệu)</a:t>
            </a:r>
            <a:endParaRPr/>
          </a:p>
          <a:p>
            <a:pPr lvl="2">
              <a:defRPr/>
            </a:pPr>
            <a:r>
              <a:rPr lang="en-US">
                <a:latin typeface="Calibri"/>
              </a:rPr>
              <a:t>Ví dụ: biến đổi Fourier, biến đổi wavelet, các phương pháp đa tạp (manifold) (không đề cập ở đây)</a:t>
            </a:r>
            <a:endParaRPr/>
          </a:p>
          <a:p>
            <a:pPr lvl="1">
              <a:defRPr/>
            </a:pPr>
            <a:r>
              <a:rPr lang="en-US">
                <a:latin typeface="Calibri"/>
              </a:rPr>
              <a:t>Xây dựng thuộc tính </a:t>
            </a:r>
            <a:endParaRPr/>
          </a:p>
          <a:p>
            <a:pPr lvl="2">
              <a:defRPr/>
            </a:pPr>
            <a:r>
              <a:rPr lang="en-US">
                <a:latin typeface="Calibri"/>
              </a:rPr>
              <a:t>Kết hợp các đặc trưng (xem các mẫu phổ biến phân biệt trong chương “Phân lớp nâng cao”)</a:t>
            </a:r>
            <a:endParaRPr/>
          </a:p>
          <a:p>
            <a:pPr lvl="2">
              <a:defRPr/>
            </a:pPr>
            <a:r>
              <a:rPr lang="en-US">
                <a:latin typeface="Calibri"/>
              </a:rPr>
              <a:t>Rời rạc hóa dữ liệu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59527375" name="Title 1"/>
          <p:cNvSpPr>
            <a:spLocks noGrp="1"/>
          </p:cNvSpPr>
          <p:nvPr>
            <p:ph type="title"/>
          </p:nvPr>
        </p:nvSpPr>
        <p:spPr bwMode="auto"/>
        <p:txBody>
          <a:bodyPr anchor="t">
            <a:normAutofit/>
          </a:bodyPr>
          <a:lstStyle/>
          <a:p>
            <a:pPr>
              <a:defRPr/>
            </a:pPr>
            <a:r>
              <a:rPr lang="en-US"/>
              <a:t>Các phương pháp giảm chiều phi tuyến</a:t>
            </a:r>
            <a:endParaRPr lang="en-US"/>
          </a:p>
        </p:txBody>
      </p:sp>
      <p:sp>
        <p:nvSpPr>
          <p:cNvPr id="1232100587" name="Content Placeholder 2"/>
          <p:cNvSpPr>
            <a:spLocks noGrp="1"/>
          </p:cNvSpPr>
          <p:nvPr>
            <p:ph idx="1"/>
          </p:nvPr>
        </p:nvSpPr>
        <p:spPr bwMode="auto"/>
        <p:txBody>
          <a:bodyPr/>
          <a:lstStyle/>
          <a:p>
            <a:pPr algn="l">
              <a:defRPr/>
            </a:pPr>
            <a:r>
              <a:rPr lang="en-US" sz="2400" b="0" i="0" u="none" strike="noStrike"/>
              <a:t>PCA là một phương pháp tuyến tính để giảm chiều</a:t>
            </a:r>
            <a:endParaRPr/>
          </a:p>
          <a:p>
            <a:pPr lvl="1">
              <a:defRPr/>
            </a:pPr>
            <a:r>
              <a:rPr lang="en-US" sz="2400" b="0" i="0" u="none" strike="noStrike"/>
              <a:t>Mỗi thành phần chính là tổ hợp tuyến tính của các thuộc tính đầu vào gốc</a:t>
            </a:r>
            <a:endParaRPr/>
          </a:p>
          <a:p>
            <a:pPr lvl="1">
              <a:defRPr/>
            </a:pPr>
            <a:r>
              <a:rPr lang="en-US" sz="2400" b="0" i="0" u="none" strike="noStrike"/>
              <a:t>Hoạt động tốt nếu dữ liệu đầu vào xấp xỉ theo phân bố Gauss hoặc tạo thành một vài cụm phân tách tuyến tính</a:t>
            </a:r>
            <a:endParaRPr/>
          </a:p>
          <a:p>
            <a:pPr>
              <a:defRPr/>
            </a:pPr>
            <a:r>
              <a:rPr lang="en-US" sz="2400" b="0" i="0" u="none" strike="noStrike"/>
              <a:t>Khi dữ liệu đầu vào không thể phân tách tuyến tính, ta cần xây dựng một ma trận độ gần (P) và học một ma trận mới với </a:t>
            </a:r>
            <a:r>
              <a:rPr lang="en-US" sz="2400" b="0" i="1" u="none" strike="noStrike"/>
              <a:t>k</a:t>
            </a:r>
            <a:r>
              <a:rPr lang="en-US" sz="2400" b="0" i="0" u="none" strike="noStrike"/>
              <a:t> đặc trưng (</a:t>
            </a:r>
            <a:r>
              <a:rPr lang="en-US" sz="2400" b="0" i="1" u="none" strike="noStrike"/>
              <a:t>k</a:t>
            </a:r>
            <a:r>
              <a:rPr lang="en-US" sz="2400" b="0" i="0" u="none" strike="noStrike"/>
              <a:t> &lt;&lt; </a:t>
            </a:r>
            <a:r>
              <a:rPr lang="en-US" sz="2400" b="0" i="1" u="none" strike="noStrike"/>
              <a:t>d</a:t>
            </a:r>
            <a:r>
              <a:rPr lang="en-US" sz="2400" b="0" i="0" u="none" strike="noStrike"/>
              <a:t>) sao cho bảo toàn được độ gần</a:t>
            </a:r>
            <a:endParaRPr/>
          </a:p>
        </p:txBody>
      </p:sp>
      <p:pic>
        <p:nvPicPr>
          <p:cNvPr id="605983591" name="Picture 8"/>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1441875" y="3911600"/>
            <a:ext cx="9837827" cy="267436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80267634" name="Picture 7"/>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5075610" y="3410773"/>
            <a:ext cx="3180521" cy="781878"/>
          </a:xfrm>
          <a:prstGeom prst="rect">
            <a:avLst/>
          </a:prstGeom>
        </p:spPr>
      </p:pic>
      <p:sp>
        <p:nvSpPr>
          <p:cNvPr id="155039675" name="Title 1"/>
          <p:cNvSpPr>
            <a:spLocks noGrp="1"/>
          </p:cNvSpPr>
          <p:nvPr>
            <p:ph type="title"/>
          </p:nvPr>
        </p:nvSpPr>
        <p:spPr bwMode="auto">
          <a:xfrm>
            <a:off x="0" y="221676"/>
            <a:ext cx="12191999" cy="738909"/>
          </a:xfrm>
        </p:spPr>
        <p:txBody>
          <a:bodyPr anchor="t">
            <a:noAutofit/>
          </a:bodyPr>
          <a:lstStyle/>
          <a:p>
            <a:pPr>
              <a:defRPr/>
            </a:pPr>
            <a:r>
              <a:rPr lang="en-US" sz="3600"/>
              <a:t>Giảm chiều phi tuyến (I): </a:t>
            </a:r>
            <a:r>
              <a:rPr lang="en-US" sz="3600" b="0" i="0" u="none" strike="noStrike"/>
              <a:t>PCA nhân (</a:t>
            </a:r>
            <a:r>
              <a:rPr lang="en-US" sz="3600"/>
              <a:t>KPCA)</a:t>
            </a:r>
            <a:endParaRPr lang="en-US" sz="3600"/>
          </a:p>
        </p:txBody>
      </p:sp>
      <p:sp>
        <p:nvSpPr>
          <p:cNvPr id="198231719" name="Content Placeholder 2"/>
          <p:cNvSpPr>
            <a:spLocks noGrp="1"/>
          </p:cNvSpPr>
          <p:nvPr>
            <p:ph idx="1"/>
          </p:nvPr>
        </p:nvSpPr>
        <p:spPr bwMode="auto">
          <a:xfrm>
            <a:off x="314040" y="1219200"/>
            <a:ext cx="11500732" cy="5384800"/>
          </a:xfrm>
        </p:spPr>
        <p:txBody>
          <a:bodyPr/>
          <a:lstStyle/>
          <a:p>
            <a:pPr>
              <a:defRPr/>
            </a:pPr>
            <a:r>
              <a:rPr lang="en-US" sz="2400" b="0" i="0" u="none" strike="noStrike"/>
              <a:t>Sử dụng một hàm nhân </a:t>
            </a:r>
            <a:r>
              <a:rPr lang="en-US" sz="2400" b="0" i="1" u="none" strike="noStrike"/>
              <a:t>κ</a:t>
            </a:r>
            <a:r>
              <a:rPr lang="en-US" sz="2400" b="0" i="0" u="none" strike="noStrike"/>
              <a:t>(·) để xây dựng ma trận nhân: P(</a:t>
            </a:r>
            <a:r>
              <a:rPr lang="en-US" sz="2400" b="0" i="1" u="none" strike="noStrike"/>
              <a:t>i</a:t>
            </a:r>
            <a:r>
              <a:rPr lang="en-US" sz="2400" b="0" i="0" u="none" strike="noStrike"/>
              <a:t>, </a:t>
            </a:r>
            <a:r>
              <a:rPr lang="en-US" sz="2400" b="0" i="1" u="none" strike="noStrike"/>
              <a:t>j</a:t>
            </a:r>
            <a:r>
              <a:rPr lang="en-US" sz="2400" b="0" i="0" u="none" strike="noStrike"/>
              <a:t>) = </a:t>
            </a:r>
            <a:r>
              <a:rPr lang="en-US" sz="2400" b="0" i="1" u="none" strike="noStrike"/>
              <a:t>κ</a:t>
            </a:r>
            <a:r>
              <a:rPr lang="en-US" sz="2400" b="0" i="0" u="none" strike="noStrike"/>
              <a:t>(x</a:t>
            </a:r>
            <a:r>
              <a:rPr lang="en-US" sz="2400" b="0" i="0" u="none" strike="noStrike" baseline="-25000"/>
              <a:t>i</a:t>
            </a:r>
            <a:r>
              <a:rPr lang="en-US" sz="2400" b="0" i="0" u="none" strike="noStrike"/>
              <a:t>, </a:t>
            </a:r>
            <a:r>
              <a:rPr lang="en-US" sz="2400" b="0" i="0" u="none" strike="noStrike"/>
              <a:t>x</a:t>
            </a:r>
            <a:r>
              <a:rPr lang="en-US" sz="2400" b="0" i="0" u="none" strike="noStrike" baseline="-25000"/>
              <a:t>j</a:t>
            </a:r>
            <a:r>
              <a:rPr lang="en-US" sz="2400" b="0" i="0" u="none" strike="noStrike"/>
              <a:t>), và học biểu diễn chiều thấp tốt nhất sao cho ma trận độ gần ước lượng Pˆ càng gần với ma trận nhân P càng tốt</a:t>
            </a:r>
            <a:endParaRPr/>
          </a:p>
          <a:p>
            <a:pPr>
              <a:defRPr/>
            </a:pPr>
            <a:r>
              <a:rPr lang="en-US" sz="2400" b="0" i="0" u="none" strike="noStrike"/>
              <a:t>Điều này có thể đạt được bằng cách dùng </a:t>
            </a:r>
            <a:r>
              <a:rPr lang="en-US" sz="2400" b="0" i="1" u="none" strike="noStrike"/>
              <a:t>k </a:t>
            </a:r>
            <a:r>
              <a:rPr lang="en-US" sz="2400" b="0" i="0" u="none" strike="noStrike"/>
              <a:t>vectơ riêng và giá trị riêng lớn nhất của ma trận nhân P</a:t>
            </a:r>
            <a:endParaRPr/>
          </a:p>
          <a:p>
            <a:pPr>
              <a:defRPr/>
            </a:pPr>
            <a:r>
              <a:rPr lang="en-US" sz="2400" b="0" i="0" u="none" strike="noStrike"/>
              <a:t>Các hàm nhân tiêu biểu: </a:t>
            </a:r>
            <a:endParaRPr/>
          </a:p>
          <a:p>
            <a:pPr lvl="1">
              <a:defRPr/>
            </a:pPr>
            <a:r>
              <a:rPr lang="en-US" sz="2400" b="0" i="0" u="none" strike="noStrike"/>
              <a:t>(1) nhân đa thức:   </a:t>
            </a:r>
            <a:endParaRPr/>
          </a:p>
          <a:p>
            <a:pPr lvl="1">
              <a:defRPr/>
            </a:pPr>
            <a:r>
              <a:rPr lang="en-US" sz="2400" b="0" i="0" u="none" strike="noStrike"/>
              <a:t>(2) hàm cơ sở xuyên tâm (RBF):</a:t>
            </a:r>
            <a:endParaRPr/>
          </a:p>
          <a:p>
            <a:pPr lvl="1">
              <a:defRPr/>
            </a:pPr>
            <a:r>
              <a:rPr lang="en-US" sz="2400" b="0" i="0" u="none" strike="noStrike"/>
              <a:t>Nếu ta chọn một nhân tuyến tính: </a:t>
            </a:r>
            <a:r>
              <a:rPr lang="el-GR" sz="2400" b="0" i="0" u="none" strike="noStrike"/>
              <a:t>κ(</a:t>
            </a:r>
            <a:r>
              <a:rPr lang="en-US" sz="2400" b="0" i="0" u="none" strike="noStrike"/>
              <a:t>x</a:t>
            </a:r>
            <a:r>
              <a:rPr lang="en-US" sz="2400" b="0" i="0" u="none" strike="noStrike" baseline="-25000"/>
              <a:t>i </a:t>
            </a:r>
            <a:r>
              <a:rPr lang="en-US" sz="2400" b="0" i="0" u="none" strike="noStrike"/>
              <a:t>, </a:t>
            </a:r>
            <a:r>
              <a:rPr lang="en-US" sz="2400" b="0" i="0" u="none" strike="noStrike"/>
              <a:t>x</a:t>
            </a:r>
            <a:r>
              <a:rPr lang="en-US" sz="2400" b="0" i="0" u="none" strike="noStrike" baseline="-25000"/>
              <a:t>j</a:t>
            </a:r>
            <a:r>
              <a:rPr lang="en-US" sz="2400" b="0" i="0" u="none" strike="noStrike"/>
              <a:t>) = </a:t>
            </a:r>
            <a:r>
              <a:rPr lang="en-US" sz="2400" b="0" i="0" u="none" strike="noStrike"/>
              <a:t>x</a:t>
            </a:r>
            <a:r>
              <a:rPr lang="en-US" sz="2400" b="0" i="0" u="none" strike="noStrike" baseline="-25000"/>
              <a:t>i</a:t>
            </a:r>
            <a:r>
              <a:rPr lang="en-US" sz="2400" b="0" i="0" u="none" strike="noStrike"/>
              <a:t>・x</a:t>
            </a:r>
            <a:r>
              <a:rPr lang="en-US" sz="2400" b="0" i="0" u="none" strike="noStrike" baseline="-25000"/>
              <a:t>j</a:t>
            </a:r>
            <a:r>
              <a:rPr lang="en-US" sz="2400" b="0" i="0" u="none" strike="noStrike"/>
              <a:t>, KPCA suy biến về PCA chuẩn</a:t>
            </a:r>
            <a:endParaRPr/>
          </a:p>
          <a:p>
            <a:pPr>
              <a:defRPr/>
            </a:pPr>
            <a:r>
              <a:rPr lang="en-US" sz="2400" b="0" i="0" u="none" strike="noStrike"/>
              <a:t>Các công thức chính của Kernel PCA </a:t>
            </a:r>
            <a:r>
              <a:rPr lang="en-US" sz="2400"/>
              <a:t>so với </a:t>
            </a:r>
            <a:r>
              <a:rPr lang="en-US" sz="2400" b="0" i="0" u="none" strike="noStrike"/>
              <a:t>SNE (nhúng lân cận ngẫu nhiên)</a:t>
            </a:r>
            <a:endParaRPr/>
          </a:p>
        </p:txBody>
      </p:sp>
      <p:pic>
        <p:nvPicPr>
          <p:cNvPr id="874464228" name="Picture 4"/>
          <p:cNvPicPr>
            <a:picLocks noChangeAspect="1"/>
          </p:cNvPicPr>
          <p:nvPr/>
        </p:nvPicPr>
        <p:blipFill rotWithShape="1">
          <a:blip r:embed="rId5">
            <a:extLst>
              <a:ext uri="{96DAC541-7B7A-43D3-8B79-37D633B846F1}">
                <asvg:svgBlip xmlns:asvg="http://schemas.microsoft.com/office/drawing/2016/SVG/main" r:embed="rId6"/>
              </a:ext>
            </a:extLst>
          </a:blip>
          <a:stretch/>
        </p:blipFill>
        <p:spPr bwMode="auto">
          <a:xfrm>
            <a:off x="1122629" y="5189633"/>
            <a:ext cx="9714368" cy="1668367"/>
          </a:xfrm>
          <a:prstGeom prst="rect">
            <a:avLst/>
          </a:prstGeom>
        </p:spPr>
      </p:pic>
      <p:pic>
        <p:nvPicPr>
          <p:cNvPr id="1298355919" name="Picture 5"/>
          <p:cNvPicPr>
            <a:picLocks noChangeAspect="1"/>
          </p:cNvPicPr>
          <p:nvPr/>
        </p:nvPicPr>
        <p:blipFill rotWithShape="1">
          <a:blip r:embed="rId7">
            <a:extLst>
              <a:ext uri="{96DAC541-7B7A-43D3-8B79-37D633B846F1}">
                <asvg:svgBlip xmlns:asvg="http://schemas.microsoft.com/office/drawing/2016/SVG/main" r:embed="rId8"/>
              </a:ext>
            </a:extLst>
          </a:blip>
          <a:stretch/>
        </p:blipFill>
        <p:spPr bwMode="auto">
          <a:xfrm>
            <a:off x="3992945" y="3298304"/>
            <a:ext cx="3032544" cy="41081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9221936" name="Title 1"/>
          <p:cNvSpPr>
            <a:spLocks noGrp="1"/>
          </p:cNvSpPr>
          <p:nvPr>
            <p:ph type="title"/>
          </p:nvPr>
        </p:nvSpPr>
        <p:spPr bwMode="auto">
          <a:xfrm>
            <a:off x="0" y="221676"/>
            <a:ext cx="12191999" cy="738909"/>
          </a:xfrm>
        </p:spPr>
        <p:txBody>
          <a:bodyPr anchor="t">
            <a:noAutofit/>
          </a:bodyPr>
          <a:lstStyle/>
          <a:p>
            <a:pPr>
              <a:defRPr/>
            </a:pPr>
            <a:r>
              <a:rPr lang="en-US" sz="4000"/>
              <a:t>Giảm chiều phi tuyến (II): </a:t>
            </a:r>
            <a:r>
              <a:rPr lang="en-US" sz="4000" b="0" i="0" u="none" strike="noStrike"/>
              <a:t>SNE</a:t>
            </a:r>
            <a:endParaRPr lang="en-US" sz="4000"/>
          </a:p>
        </p:txBody>
      </p:sp>
      <p:sp>
        <p:nvSpPr>
          <p:cNvPr id="254101342" name="Content Placeholder 2"/>
          <p:cNvSpPr>
            <a:spLocks noGrp="1"/>
          </p:cNvSpPr>
          <p:nvPr>
            <p:ph idx="1"/>
          </p:nvPr>
        </p:nvSpPr>
        <p:spPr bwMode="auto">
          <a:xfrm>
            <a:off x="314040" y="1219200"/>
            <a:ext cx="11500732" cy="5384800"/>
          </a:xfrm>
        </p:spPr>
        <p:txBody>
          <a:bodyPr/>
          <a:lstStyle/>
          <a:p>
            <a:pPr>
              <a:defRPr/>
            </a:pPr>
            <a:r>
              <a:rPr lang="en-US" sz="2400" b="0" i="0" u="none" strike="noStrike"/>
              <a:t>SNE (nhúng lân cận ngẫu nhiên - Stochastic neighborhood embedding) </a:t>
            </a:r>
            <a:endParaRPr/>
          </a:p>
          <a:p>
            <a:pPr lvl="1">
              <a:defRPr/>
            </a:pPr>
            <a:r>
              <a:rPr lang="en-US" sz="2400" b="0" i="0" u="none" strike="noStrike"/>
              <a:t>Xây dựng một ma trận độ gần </a:t>
            </a:r>
            <a:r>
              <a:rPr lang="en-US" sz="2400"/>
              <a:t>P </a:t>
            </a:r>
            <a:r>
              <a:rPr lang="en-US" sz="2400" b="0" i="0" u="none" strike="noStrike"/>
              <a:t>bằng công thức:</a:t>
            </a:r>
            <a:endParaRPr/>
          </a:p>
          <a:p>
            <a:pPr lvl="2">
              <a:defRPr/>
            </a:pPr>
            <a:r>
              <a:rPr lang="en-US" sz="2400" b="0" i="0" u="none" strike="noStrike"/>
              <a:t> biểu thị xác suất mà </a:t>
            </a:r>
            <a:r>
              <a:rPr lang="en-US" sz="2400" b="0" i="1" u="none" strike="noStrike"/>
              <a:t>x</a:t>
            </a:r>
            <a:r>
              <a:rPr lang="en-US" sz="2400" b="0" i="1" u="none" strike="noStrike" baseline="-25000"/>
              <a:t>j</a:t>
            </a:r>
            <a:r>
              <a:rPr lang="en-US" sz="2400" b="0" i="0" u="none" strike="noStrike"/>
              <a:t> là lân cận của </a:t>
            </a:r>
            <a:r>
              <a:rPr lang="en-US" sz="2400" b="0" i="1" u="none" strike="noStrike"/>
              <a:t>x</a:t>
            </a:r>
            <a:r>
              <a:rPr lang="en-US" sz="2400" b="0" i="1" u="none" strike="noStrike" baseline="-25000"/>
              <a:t>i</a:t>
            </a:r>
            <a:r>
              <a:rPr lang="en-US" sz="2400" b="0" i="0" u="none" strike="noStrike"/>
              <a:t> </a:t>
            </a:r>
            <a:endParaRPr/>
          </a:p>
          <a:p>
            <a:pPr lvl="1">
              <a:defRPr/>
            </a:pPr>
            <a:r>
              <a:rPr lang="en-US" sz="2400" b="0" i="0" u="none" strike="noStrike"/>
              <a:t>Giả sử ta đã học được biểu diễn chiều thấp x</a:t>
            </a:r>
            <a:r>
              <a:rPr lang="en-US" sz="2400" b="0" i="0" u="none" strike="noStrike" baseline="-25000"/>
              <a:t>i</a:t>
            </a:r>
            <a:r>
              <a:rPr lang="en-US" sz="2400" b="0" i="0" u="none" strike="noStrike"/>
              <a:t>ˆ, ta có thể tính một ma trận độ gần ước lượng khác theo cách tương tự: </a:t>
            </a:r>
            <a:r>
              <a:rPr lang="en-US" sz="2400" b="0" i="1" u="none" strike="noStrike"/>
              <a:t>Pˆ (</a:t>
            </a:r>
            <a:r>
              <a:rPr lang="en-US" sz="2400" b="0" i="1" u="none" strike="noStrike"/>
              <a:t>i</a:t>
            </a:r>
            <a:r>
              <a:rPr lang="en-US" sz="2400" b="0" i="1" u="none" strike="noStrike"/>
              <a:t>, j) </a:t>
            </a:r>
            <a:endParaRPr/>
          </a:p>
          <a:p>
            <a:pPr lvl="1">
              <a:defRPr/>
            </a:pPr>
            <a:r>
              <a:rPr lang="en-US" sz="2400" b="0" u="none" strike="noStrike"/>
              <a:t>Ta muốn ma trận </a:t>
            </a:r>
            <a:r>
              <a:rPr lang="en-US" sz="2400" b="0" i="0" u="none" strike="noStrike"/>
              <a:t>độ gần ước lượng P^ càng gần với P càng tốt</a:t>
            </a:r>
            <a:endParaRPr/>
          </a:p>
          <a:p>
            <a:pPr lvl="1">
              <a:defRPr/>
            </a:pPr>
            <a:r>
              <a:rPr lang="en-US" sz="2400" b="0" u="none" strike="noStrike"/>
              <a:t>Tức là, ta muốn tối thiểu hóa tổng độ phân kỳ K-L, cụ thể là, </a:t>
            </a:r>
            <a:endParaRPr/>
          </a:p>
          <a:p>
            <a:pPr lvl="1">
              <a:defRPr/>
            </a:pPr>
            <a:endParaRPr lang="en-US" sz="2400" b="0" u="none" strike="noStrike"/>
          </a:p>
        </p:txBody>
      </p:sp>
      <p:pic>
        <p:nvPicPr>
          <p:cNvPr id="160119128" name="Picture 4"/>
          <p:cNvPicPr>
            <a:picLocks noChangeAspect="1"/>
          </p:cNvPicPr>
          <p:nvPr/>
        </p:nvPicPr>
        <p:blipFill rotWithShape="1">
          <a:blip r:embed="rId3"/>
          <a:stretch/>
        </p:blipFill>
        <p:spPr bwMode="auto">
          <a:xfrm>
            <a:off x="923453" y="4935633"/>
            <a:ext cx="9714368" cy="1668367"/>
          </a:xfrm>
          <a:prstGeom prst="rect">
            <a:avLst/>
          </a:prstGeom>
        </p:spPr>
      </p:pic>
      <p:pic>
        <p:nvPicPr>
          <p:cNvPr id="1091628147" name="Picture 5"/>
          <p:cNvPicPr>
            <a:picLocks noChangeAspect="1"/>
          </p:cNvPicPr>
          <p:nvPr/>
        </p:nvPicPr>
        <p:blipFill rotWithShape="1">
          <a:blip r:embed="rId4">
            <a:extLst>
              <a:ext uri="{96DAC541-7B7A-43D3-8B79-37D633B846F1}">
                <asvg:svgBlip xmlns:asvg="http://schemas.microsoft.com/office/drawing/2016/SVG/main" r:embed="rId5"/>
              </a:ext>
            </a:extLst>
          </a:blip>
          <a:stretch/>
        </p:blipFill>
        <p:spPr bwMode="auto">
          <a:xfrm>
            <a:off x="7342360" y="1525625"/>
            <a:ext cx="4472412" cy="793483"/>
          </a:xfrm>
          <a:prstGeom prst="rect">
            <a:avLst/>
          </a:prstGeom>
        </p:spPr>
      </p:pic>
      <p:pic>
        <p:nvPicPr>
          <p:cNvPr id="1661741657" name="Picture 7"/>
          <p:cNvPicPr>
            <a:picLocks noChangeAspect="1"/>
          </p:cNvPicPr>
          <p:nvPr/>
        </p:nvPicPr>
        <p:blipFill rotWithShape="1">
          <a:blip r:embed="rId6">
            <a:extLst>
              <a:ext uri="{96DAC541-7B7A-43D3-8B79-37D633B846F1}">
                <asvg:svgBlip xmlns:asvg="http://schemas.microsoft.com/office/drawing/2016/SVG/main" r:embed="rId7"/>
              </a:ext>
            </a:extLst>
          </a:blip>
          <a:stretch/>
        </p:blipFill>
        <p:spPr bwMode="auto">
          <a:xfrm>
            <a:off x="5284206" y="4234093"/>
            <a:ext cx="6096000" cy="6096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9126441" name="Title 1"/>
          <p:cNvSpPr>
            <a:spLocks noGrp="1"/>
          </p:cNvSpPr>
          <p:nvPr>
            <p:ph type="title"/>
          </p:nvPr>
        </p:nvSpPr>
        <p:spPr bwMode="auto">
          <a:xfrm>
            <a:off x="269502" y="0"/>
            <a:ext cx="11369963" cy="1177227"/>
          </a:xfrm>
        </p:spPr>
        <p:txBody>
          <a:bodyPr anchor="t">
            <a:noAutofit/>
          </a:bodyPr>
          <a:lstStyle/>
          <a:p>
            <a:pPr>
              <a:defRPr/>
            </a:pPr>
            <a:r>
              <a:rPr lang="en-US" sz="3000"/>
              <a:t>Ví dụ:  So sánh trên dữ liệu phi tuyến: phương pháp giảm chiều tuyến tính và phi tuyến</a:t>
            </a:r>
            <a:endParaRPr lang="en-US" sz="3600"/>
          </a:p>
        </p:txBody>
      </p:sp>
      <p:sp>
        <p:nvSpPr>
          <p:cNvPr id="1987299851" name="Content Placeholder 2"/>
          <p:cNvSpPr>
            <a:spLocks noGrp="1"/>
          </p:cNvSpPr>
          <p:nvPr>
            <p:ph idx="1"/>
          </p:nvPr>
        </p:nvSpPr>
        <p:spPr bwMode="auto">
          <a:xfrm>
            <a:off x="269502" y="1473201"/>
            <a:ext cx="6152648" cy="4719370"/>
          </a:xfrm>
        </p:spPr>
        <p:txBody>
          <a:bodyPr/>
          <a:lstStyle/>
          <a:p>
            <a:pPr>
              <a:defRPr/>
            </a:pPr>
            <a:r>
              <a:rPr lang="en-US" sz="2400" b="0" i="0" u="none" strike="noStrike"/>
              <a:t>Trực quan hóa: một ví dụ về phương pháp giảm chiều tuyến tính và phi tuyến</a:t>
            </a:r>
            <a:endParaRPr/>
          </a:p>
          <a:p>
            <a:pPr lvl="1">
              <a:defRPr/>
            </a:pPr>
            <a:r>
              <a:rPr lang="en-US" sz="2400" b="0" i="0" u="none" strike="noStrike"/>
              <a:t>Cho một tập dữ liệu đầu vào trong không gian 2 chiều (Hình (a)): các điểm dữ liệu đỏ và xanh không thể phân tách tuyến tính</a:t>
            </a:r>
            <a:endParaRPr/>
          </a:p>
          <a:p>
            <a:pPr lvl="1">
              <a:defRPr/>
            </a:pPr>
            <a:r>
              <a:rPr lang="en-US" sz="2400" b="0" i="0" u="none" strike="noStrike"/>
              <a:t>Phép biến đổi PCA không thể làm cho chúng phân tách tuyến tính</a:t>
            </a:r>
            <a:endParaRPr lang="en-US" sz="2400"/>
          </a:p>
          <a:p>
            <a:pPr lvl="1">
              <a:defRPr/>
            </a:pPr>
            <a:r>
              <a:rPr lang="en-US" sz="2400" b="0" i="0" u="none" strike="noStrike"/>
              <a:t>KPCA có thể làm cho </a:t>
            </a:r>
            <a:r>
              <a:rPr lang="en-US" sz="2400"/>
              <a:t>các điểm phân tách tuyến tính</a:t>
            </a:r>
            <a:endParaRPr/>
          </a:p>
          <a:p>
            <a:pPr lvl="1">
              <a:defRPr/>
            </a:pPr>
            <a:r>
              <a:rPr lang="en-US" sz="2400" b="0" i="0" u="none" strike="noStrike"/>
              <a:t>t-SNE (t-distributional NSE) có thể làm cho chúng phân tách tuyến tính</a:t>
            </a:r>
            <a:endParaRPr/>
          </a:p>
        </p:txBody>
      </p:sp>
      <p:pic>
        <p:nvPicPr>
          <p:cNvPr id="507687382" name="Picture 9"/>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6422150" y="1339912"/>
            <a:ext cx="5678410" cy="551808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33451893" name="Title 1"/>
          <p:cNvSpPr>
            <a:spLocks noGrp="1"/>
          </p:cNvSpPr>
          <p:nvPr>
            <p:ph type="title"/>
          </p:nvPr>
        </p:nvSpPr>
        <p:spPr bwMode="auto">
          <a:xfrm>
            <a:off x="0" y="0"/>
            <a:ext cx="12191999" cy="1083125"/>
          </a:xfrm>
        </p:spPr>
        <p:txBody>
          <a:bodyPr anchor="t">
            <a:noAutofit/>
          </a:bodyPr>
          <a:lstStyle/>
          <a:p>
            <a:pPr>
              <a:defRPr/>
            </a:pPr>
            <a:r>
              <a:rPr lang="en-US" sz="3000"/>
              <a:t>Bản đồ nhiệt của các ma trận độ gần:</a:t>
            </a:r>
            <a:br>
              <a:rPr lang="en-US" sz="3600"/>
            </a:br>
            <a:r>
              <a:rPr lang="en-US" sz="3000"/>
              <a:t>Phương pháp giảm chiều tuyến tính và phi tuyến</a:t>
            </a:r>
            <a:endParaRPr lang="en-US" sz="3600"/>
          </a:p>
        </p:txBody>
      </p:sp>
      <p:sp>
        <p:nvSpPr>
          <p:cNvPr id="606367993" name="Content Placeholder 2"/>
          <p:cNvSpPr>
            <a:spLocks noGrp="1"/>
          </p:cNvSpPr>
          <p:nvPr>
            <p:ph idx="1"/>
          </p:nvPr>
        </p:nvSpPr>
        <p:spPr bwMode="auto">
          <a:xfrm>
            <a:off x="392546" y="4757485"/>
            <a:ext cx="11406908" cy="1570887"/>
          </a:xfrm>
        </p:spPr>
        <p:txBody>
          <a:bodyPr/>
          <a:lstStyle/>
          <a:p>
            <a:pPr lvl="1">
              <a:defRPr/>
            </a:pPr>
            <a:r>
              <a:rPr lang="en-US" sz="2200" b="0" i="0" u="none" strike="noStrike"/>
              <a:t>Hai khối đường chéo lần lượt biểu thị độ gần trong nội bộ hai cụm</a:t>
            </a:r>
            <a:endParaRPr/>
          </a:p>
          <a:p>
            <a:pPr lvl="1">
              <a:defRPr/>
            </a:pPr>
            <a:r>
              <a:rPr lang="en-US" sz="2200" b="0" i="0" u="none" strike="noStrike"/>
              <a:t>Hai khối ngoài đường chéo biểu thị độ gần giữa dữ liệu của hai cụm</a:t>
            </a:r>
            <a:endParaRPr/>
          </a:p>
          <a:p>
            <a:pPr lvl="1">
              <a:defRPr/>
            </a:pPr>
            <a:r>
              <a:rPr lang="en-US" sz="2200" b="0" i="0" u="none" strike="noStrike"/>
              <a:t>Với các phương pháp phi tuyến (KPCA và t-SNE), độ gần giữa các bộ dữ liệu cùng cụm cao hơn nhiều so với độ gần giữa các bộ dữ liệu khác cụm</a:t>
            </a:r>
            <a:endParaRPr/>
          </a:p>
        </p:txBody>
      </p:sp>
      <p:pic>
        <p:nvPicPr>
          <p:cNvPr id="2087706642" name="Picture 6"/>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1953452" y="1284960"/>
            <a:ext cx="8285093" cy="2989605"/>
          </a:xfrm>
          <a:prstGeom prst="rect">
            <a:avLst/>
          </a:prstGeom>
        </p:spPr>
      </p:pic>
      <p:sp>
        <p:nvSpPr>
          <p:cNvPr id="1530490498" name="TextBox 3"/>
          <p:cNvSpPr txBox="1"/>
          <p:nvPr/>
        </p:nvSpPr>
        <p:spPr bwMode="auto">
          <a:xfrm>
            <a:off x="2112475" y="4274565"/>
            <a:ext cx="7967050" cy="400110"/>
          </a:xfrm>
          <a:prstGeom prst="rect">
            <a:avLst/>
          </a:prstGeom>
          <a:noFill/>
        </p:spPr>
        <p:txBody>
          <a:bodyPr wrap="square" rtlCol="0">
            <a:spAutoFit/>
          </a:bodyPr>
          <a:lstStyle/>
          <a:p>
            <a:pPr algn="ctr">
              <a:defRPr/>
            </a:pPr>
            <a:r>
              <a:rPr lang="en-US" sz="1700" b="0" i="0" u="none" strike="noStrike"/>
              <a:t>Bản đồ nhiệt của ma trận độ gần trong PCA (a), KPCA (b), và t-SNE (c)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7604298" name="Rectangle 2"/>
          <p:cNvSpPr>
            <a:spLocks noChangeArrowheads="1" noGrp="1"/>
          </p:cNvSpPr>
          <p:nvPr>
            <p:ph type="title"/>
          </p:nvPr>
        </p:nvSpPr>
        <p:spPr bwMode="auto">
          <a:xfrm>
            <a:off x="2590800" y="404814"/>
            <a:ext cx="7010399" cy="528637"/>
          </a:xfrm>
          <a:prstGeom prst="rect">
            <a:avLst/>
          </a:prstGeom>
          <a:noFill/>
        </p:spPr>
        <p:txBody>
          <a:bodyPr vert="horz" lIns="92075" tIns="46038" rIns="92075" bIns="46038" rtlCol="0" anchor="t">
            <a:noAutofit/>
          </a:bodyPr>
          <a:lstStyle/>
          <a:p>
            <a:pPr>
              <a:defRPr/>
            </a:pPr>
            <a:r>
              <a:rPr lang="en-US" b="1"/>
              <a:t>Tóm tắt</a:t>
            </a:r>
            <a:endParaRPr/>
          </a:p>
        </p:txBody>
      </p:sp>
      <p:sp>
        <p:nvSpPr>
          <p:cNvPr id="1785807712" name="Rectangle 3"/>
          <p:cNvSpPr>
            <a:spLocks noChangeArrowheads="1" noGrp="1"/>
          </p:cNvSpPr>
          <p:nvPr>
            <p:ph type="body" idx="1"/>
          </p:nvPr>
        </p:nvSpPr>
        <p:spPr bwMode="auto">
          <a:xfrm>
            <a:off x="598394" y="1196789"/>
            <a:ext cx="10995212" cy="5593309"/>
          </a:xfrm>
          <a:prstGeom prst="rect">
            <a:avLst/>
          </a:prstGeom>
          <a:noFill/>
        </p:spPr>
        <p:txBody>
          <a:bodyPr vert="horz" lIns="92075" tIns="46038" rIns="92075" bIns="46038" rtlCol="0">
            <a:noAutofit/>
          </a:bodyPr>
          <a:lstStyle/>
          <a:p>
            <a:pPr>
              <a:spcAft>
                <a:spcPts val="600"/>
              </a:spcAft>
              <a:defRPr/>
            </a:pPr>
            <a:r>
              <a:rPr lang="en-US" sz="1900"/>
              <a:t>Các loại dữ liệu và loại thuộc tính</a:t>
            </a:r>
            <a:endParaRPr/>
          </a:p>
          <a:p>
            <a:pPr lvl="1">
              <a:spcAft>
                <a:spcPts val="600"/>
              </a:spcAft>
              <a:defRPr/>
            </a:pPr>
            <a:r>
              <a:rPr lang="en-US" sz="1900"/>
              <a:t>Định danh, nhị phân, thứ bậc, số, thuộc tính rời rạc và liên tục</a:t>
            </a:r>
            <a:endParaRPr/>
          </a:p>
          <a:p>
            <a:pPr>
              <a:spcAft>
                <a:spcPts val="600"/>
              </a:spcAft>
              <a:defRPr/>
            </a:pPr>
            <a:r>
              <a:rPr lang="en-US" sz="1900"/>
              <a:t>Thống kê dữ liệu</a:t>
            </a:r>
            <a:endParaRPr/>
          </a:p>
          <a:p>
            <a:pPr lvl="1">
              <a:spcAft>
                <a:spcPts val="600"/>
              </a:spcAft>
              <a:defRPr/>
            </a:pPr>
            <a:r>
              <a:rPr lang="en-US" sz="1900"/>
              <a:t>Xu hướng trung tâm, độ phân tán, hiệp phương sai và tương quan, biểu diễn đồ họa</a:t>
            </a:r>
            <a:endParaRPr/>
          </a:p>
          <a:p>
            <a:pPr>
              <a:spcAft>
                <a:spcPts val="600"/>
              </a:spcAft>
              <a:defRPr/>
            </a:pPr>
            <a:r>
              <a:rPr lang="en-US" sz="1900"/>
              <a:t>Đo độ tương tự và tương quan dữ liệu</a:t>
            </a:r>
            <a:endParaRPr/>
          </a:p>
          <a:p>
            <a:pPr lvl="1">
              <a:spcAft>
                <a:spcPts val="600"/>
              </a:spcAft>
              <a:defRPr/>
            </a:pPr>
            <a:r>
              <a:rPr lang="en-US" sz="1900"/>
              <a:t>Độ đo gần cho các loại định danh, nhị phân, số, thứ bậc và hỗn hợp</a:t>
            </a:r>
            <a:endParaRPr/>
          </a:p>
          <a:p>
            <a:pPr lvl="1">
              <a:spcAft>
                <a:spcPts val="600"/>
              </a:spcAft>
              <a:defRPr/>
            </a:pPr>
            <a:r>
              <a:rPr lang="en-US" sz="1900"/>
              <a:t>Độ tương tự Cosine, độ phân kỳ KL</a:t>
            </a:r>
            <a:endParaRPr/>
          </a:p>
          <a:p>
            <a:pPr>
              <a:spcAft>
                <a:spcPts val="600"/>
              </a:spcAft>
              <a:defRPr/>
            </a:pPr>
            <a:r>
              <a:rPr lang="en-US" sz="1900"/>
              <a:t>Các độ đo chất lượng dữ liệu, làm sạch dữ liệu, và tích hợp dữ liệu</a:t>
            </a:r>
            <a:endParaRPr/>
          </a:p>
          <a:p>
            <a:pPr>
              <a:spcAft>
                <a:spcPts val="600"/>
              </a:spcAft>
              <a:defRPr/>
            </a:pPr>
            <a:r>
              <a:rPr lang="en-US" sz="1900"/>
              <a:t>Biến đổi dữ liệu: chuẩn hóa, rời rạc hóa, nén dữ liệu và lấy mẫu  </a:t>
            </a:r>
            <a:endParaRPr/>
          </a:p>
          <a:p>
            <a:pPr>
              <a:spcAft>
                <a:spcPts val="600"/>
              </a:spcAft>
              <a:defRPr/>
            </a:pPr>
            <a:r>
              <a:rPr lang="en-US" sz="1900"/>
              <a:t>Các phương pháp luận giảm chiều dữ liệu</a:t>
            </a:r>
            <a:endParaRPr/>
          </a:p>
          <a:p>
            <a:pPr lvl="1">
              <a:spcAft>
                <a:spcPts val="600"/>
              </a:spcAft>
              <a:defRPr/>
            </a:pPr>
            <a:r>
              <a:rPr lang="en-US" sz="1900"/>
              <a:t>Phân tích thành phần chính (PCA), lựa chọn tập con thuộc tính, và giảm chiều phi tuyến</a:t>
            </a:r>
            <a:endParaRPr/>
          </a:p>
          <a:p>
            <a:pPr>
              <a:spcAft>
                <a:spcPts val="600"/>
              </a:spcAft>
              <a:defRPr/>
            </a:pPr>
            <a:endParaRPr lang="en-US" sz="2400"/>
          </a:p>
          <a:p>
            <a:pPr>
              <a:spcAft>
                <a:spcPts val="600"/>
              </a:spcAft>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Arial"/>
        <a:cs typeface="Arial"/>
      </a:majorFont>
      <a:minorFont>
        <a:latin typeface="Calibri"/>
        <a:ea typeface="Arial"/>
        <a:cs typeface="Arial"/>
      </a:minorFont>
    </a:fontScheme>
    <a:fmtScheme name="Retrospect">
      <a:fillStyleLst>
        <a:solidFill>
          <a:schemeClr val="phClr"/>
        </a:solidFill>
        <a:gradFill>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gradFill>
        <a:gradFill>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ONLYOFFICE/9.4.0.129</Application>
  <PresentationFormat>On-screen Show (4:3)</PresentationFormat>
  <Paragraphs>0</Paragraphs>
  <Slides>108</Slides>
  <Notes>108</Notes>
  <HiddenSlides>0</HiddenSlides>
  <MMClips>2</MMClips>
  <ScaleCrop>0</ScaleCrop>
  <HeadingPairs>
    <vt:vector size="4" baseType="variant">
      <vt:variant>
        <vt:lpstr>Theme</vt:lpstr>
      </vt:variant>
      <vt:variant>
        <vt:i4>1</vt:i4>
      </vt:variant>
      <vt:variant>
        <vt:lpstr>Slide Titles</vt:lpstr>
      </vt:variant>
      <vt:variant>
        <vt:i4>108</vt:i4>
      </vt:variant>
    </vt:vector>
  </HeadingPairs>
  <TitlesOfParts>
    <vt:vector size="109"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vector>
  </TitlesOfParts>
  <Company>UIUC</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Latent Entity Structures</dc:title>
  <dc:creator>Jiawei Han</dc:creator>
  <cp:lastModifiedBy/>
  <cp:revision>963</cp:revision>
  <dcterms:created xsi:type="dcterms:W3CDTF">2014-06-02T15:06:14Z</dcterms:created>
  <dcterms:modified xsi:type="dcterms:W3CDTF">2026-09-10T04:55:21Z</dcterms:modified>
</cp:coreProperties>
</file>